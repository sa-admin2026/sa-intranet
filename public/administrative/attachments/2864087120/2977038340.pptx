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3" r:id="rId4"/>
    <p:sldId id="267" r:id="rId5"/>
    <p:sldId id="262" r:id="rId6"/>
    <p:sldId id="266" r:id="rId7"/>
    <p:sldId id="26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0" autoAdjust="0"/>
    <p:restoredTop sz="86410" autoAdjust="0"/>
  </p:normalViewPr>
  <p:slideViewPr>
    <p:cSldViewPr snapToGrid="0">
      <p:cViewPr varScale="1">
        <p:scale>
          <a:sx n="61" d="100"/>
          <a:sy n="61" d="100"/>
        </p:scale>
        <p:origin x="90" y="180"/>
      </p:cViewPr>
      <p:guideLst/>
    </p:cSldViewPr>
  </p:slideViewPr>
  <p:outlineViewPr>
    <p:cViewPr>
      <p:scale>
        <a:sx n="33" d="100"/>
        <a:sy n="33" d="100"/>
      </p:scale>
      <p:origin x="0" y="-8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AAFCC-C51F-4B93-B8F1-1ABF1BDE1DFF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9648E-65E0-4140-A3F4-1E6322132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47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something to offer:  Your time and your talent.  What do you want to get for it?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9648E-65E0-4140-A3F4-1E63221320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Future Viability: (not going bankrupt!)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9648E-65E0-4140-A3F4-1E63221320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41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(Pre-President)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9648E-65E0-4140-A3F4-1E63221320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28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  <a:r>
              <a:rPr lang="en-US" baseline="0" dirty="0"/>
              <a:t> s/s: Pay Rate Example.xlsx</a:t>
            </a:r>
          </a:p>
          <a:p>
            <a:r>
              <a:rPr lang="en-US" baseline="0" dirty="0"/>
              <a:t>Demo Pay rate given Lean Times options of working OH or Limiting Hours</a:t>
            </a:r>
          </a:p>
          <a:p>
            <a:r>
              <a:rPr lang="en-US" baseline="0" dirty="0"/>
              <a:t>Note: Pay over year is about same w/ No Work No Pay Gap (slightly better)</a:t>
            </a:r>
          </a:p>
          <a:p>
            <a:r>
              <a:rPr lang="en-US" baseline="0" dirty="0"/>
              <a:t>Note Payroll when I don't bill OH vs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9648E-65E0-4140-A3F4-1E63221320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39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F996C-D468-206D-1513-39A365A7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496CA-847E-0CC3-B938-E795ADBDB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FC6F7-8E68-61DB-9D94-BB1C17D87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something to offer:  Your time and your talent.  What do you want to get for it?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685EE-041A-7F3A-74A4-BF2CBFB0F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9648E-65E0-4140-A3F4-1E63221320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98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8446-DA43-A1A3-6F0A-9CF603573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D3D5C-E5EE-5ACF-7AA4-A58ABB4E3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8AAD5-53EB-1C0F-D6A5-FC6486F0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531D1-E1F8-4FD5-A0D0-3B0BBB18EB6D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9F17B-C994-9A58-7118-8EB3E744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53488-A4B5-CA99-4824-F2C7DF6C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7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D94A-D467-3553-3D44-7D8C46DD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C6703-BAB3-A935-6337-9C41F6EAD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46B89-E647-2A8A-4AF3-544B8875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39E9-EFB4-4B2F-9B7A-791713527664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A5FD0-F7FE-B5DB-9EA0-36533767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44DE-9A6C-79F0-1ED1-3709169E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E389-468E-91B8-43DC-48DCB9EB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5A9B1-2689-131C-BBE5-E89C9ADF3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9873-8496-868E-CA8B-95248500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6F8D2-8D5F-45E8-A9E3-E3C5E3F40DEA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B5DF-B23A-4DD9-8632-16C4BC6C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BF355-F349-B49E-4286-047CD95F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5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F50B-EB03-6F09-B974-C270EE9B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D623A-7E25-9324-A17F-3A5616F4F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DC99D-833F-5D62-F8F1-370558D6F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0C7AB-517D-7CFA-A2B9-0BECE213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80374-2884-4033-B480-AD9E07064158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04FF4-BFF0-01E3-6801-219D8CD5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9662A-0408-3181-2848-412EBBBB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3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9542-E582-1E83-715A-53F16130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E61F0-ABF0-0005-6030-2AC0957C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8DE2B-D539-A905-C8B0-518029B7F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1FB43-7F35-220C-5190-7D7282663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76305-F505-68EF-53AF-AFC3AD47F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DC013-6175-8605-A2CA-FF1EBBF2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8AF7-C2D9-4829-97F4-2A2114B215E6}" type="datetime1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DBC50-F593-50D8-0CD6-EE6EC330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E1FEE-376E-D977-89B3-BAB18700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3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877F-BD81-B62E-3D46-826CB2D9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4856E-5D71-E195-9187-5D4132B0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CBAC-379D-4F51-92D8-2069BD33D008}" type="datetime1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45341-32FC-3893-621E-1DD5868E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5ED9D-2EC2-083A-6B1A-FD753400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6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9DD39-566A-8886-3E22-BC9C746B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C8E2-C747-4858-A047-95A853C14700}" type="datetime1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C79EB-5310-D1DB-E1E9-9CE5FA5B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0538C-85C7-6557-31F3-B3ACFC32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4361-D225-EF6E-900B-7452DE3D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B543-4BD8-A574-50BF-B3DA56491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00E65-FCD7-A12D-F491-753AE252F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5B642-1DCD-0CD9-6A12-5017B193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29C2-D75D-4C52-84FB-CA35C7EE1F9C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436C7-60F6-6346-B1C8-78093CBA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32136-5B89-DB51-025A-6FD29BF1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1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FCF7-9153-7B9E-DE59-E08BF74E0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D00B8-B390-4C11-84C5-E24E6B632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C5934-F354-0390-1E2B-9ACFBAF08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E5AF9-A282-323C-8569-6C5DDED8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C754-6D27-4810-BF10-22C92F424744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0C863-CF86-A515-03D3-D36469B5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4622B-ECA8-2DAC-A0A1-F2E0892E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836D-4E6E-48C7-4C35-EC429312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B3958-8E3E-CE52-9F9C-57C72EE20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3B6A2-01B4-37C2-E44B-2CEC5CEC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77C7D-4182-417E-BD3C-6E068D622F91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8A893-AD94-4BE0-3426-B73930B0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BAE4A-7FC6-0B4F-EDED-2CF9F7C1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5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B94EC-077B-01F7-D84A-5D637B330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41276-439A-7CE5-D8DC-64A92116E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CB79-B315-266C-4432-45C208B4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0AD6-4855-4498-9555-7DE2F37C0B21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E0A7D-07D9-963F-DB00-5B935C4A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D8BA-2C4F-809C-3F3D-7305A7B9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2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5CF2C-38DC-5C82-8B9A-D2864124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0D24-A5CA-8168-951B-EF5C0A4F7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4845"/>
            <a:ext cx="5257800" cy="4682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7435-C807-0BD8-359A-BB7C23A84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9C3F6-96BE-4A19-8087-1123E13BFDC1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5C7E4-CDDF-1865-15E3-5E3EE0889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2AF-C73B-5737-0EBC-496FD7926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5668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24326-9181-4E22-8D2C-66145E89206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54ACD2-E3A3-0D8D-5A4F-A9A4E1709123}"/>
              </a:ext>
            </a:extLst>
          </p:cNvPr>
          <p:cNvSpPr/>
          <p:nvPr/>
        </p:nvSpPr>
        <p:spPr>
          <a:xfrm>
            <a:off x="588397" y="365126"/>
            <a:ext cx="45719" cy="784156"/>
          </a:xfrm>
          <a:prstGeom prst="roundRect">
            <a:avLst/>
          </a:prstGeom>
          <a:solidFill>
            <a:srgbClr val="25597B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ogo with dots and blue text&#10;&#10;Description automatically generated">
            <a:extLst>
              <a:ext uri="{FF2B5EF4-FFF2-40B4-BE49-F238E27FC236}">
                <a16:creationId xmlns:a16="http://schemas.microsoft.com/office/drawing/2014/main" id="{4C6DDCE3-7196-9C03-7224-C690D137C4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791" y="6041137"/>
            <a:ext cx="1566862" cy="7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2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2E59-435A-7889-8458-74226443F4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The Consulting Intra-</a:t>
            </a:r>
            <a:r>
              <a:rPr lang="en-US" dirty="0" err="1"/>
              <a:t>Prenuer</a:t>
            </a:r>
            <a:r>
              <a:rPr lang="en-US" dirty="0"/>
              <a:t> Life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4CF69-8B8D-61F2-58AD-05D4A190E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dirty="0"/>
              <a:t>April 2025</a:t>
            </a:r>
          </a:p>
          <a:p>
            <a:pPr lvl="0"/>
            <a:r>
              <a:rPr lang="en-US" dirty="0"/>
              <a:t>Semantic Arts Summit</a:t>
            </a:r>
          </a:p>
          <a:p>
            <a:pPr lvl="0"/>
            <a:r>
              <a:rPr lang="en-US" dirty="0"/>
              <a:t>by Mark Wallace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0A415-1BC6-B08D-9C46-366763CD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5C74E-22DF-12B9-91F0-10C7556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4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CFF2-EAD4-5CC0-37BD-6EB93DD1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Business</a:t>
            </a:r>
            <a:r>
              <a:rPr lang="en-US" baseline="0" dirty="0"/>
              <a:t> of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0FCB-6517-0C03-36F9-0D3F05F6B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Helpful </a:t>
            </a:r>
            <a:r>
              <a:rPr lang="en-US" dirty="0"/>
              <a:t>to think of self as a 'business of one'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(I.e., make choices about…)</a:t>
            </a:r>
          </a:p>
          <a:p>
            <a:endParaRPr lang="en-US" i="1" dirty="0"/>
          </a:p>
          <a:p>
            <a:r>
              <a:rPr lang="en-US" dirty="0"/>
              <a:t>Your Product Offering</a:t>
            </a:r>
          </a:p>
          <a:p>
            <a:pPr lvl="1"/>
            <a:r>
              <a:rPr lang="en-US" dirty="0"/>
              <a:t>(what you do)</a:t>
            </a:r>
          </a:p>
          <a:p>
            <a:r>
              <a:rPr lang="en-US" dirty="0"/>
              <a:t>Your Return on Investment</a:t>
            </a:r>
          </a:p>
          <a:p>
            <a:pPr lvl="1"/>
            <a:r>
              <a:rPr lang="en-US" dirty="0"/>
              <a:t>(hours in, pay out, lifestyle)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4DE46-CD03-1FD3-F219-EBF3F9C5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1DC98-7BEF-0851-9FF4-79831D44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F1562-6B14-9A23-C636-692FEA6320FC}"/>
              </a:ext>
            </a:extLst>
          </p:cNvPr>
          <p:cNvSpPr txBox="1"/>
          <p:nvPr/>
        </p:nvSpPr>
        <p:spPr>
          <a:xfrm>
            <a:off x="5959366" y="2506718"/>
            <a:ext cx="5567856" cy="1200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masis MT Pro Medium" panose="02040604050005020304" pitchFamily="18" charset="0"/>
              </a:rPr>
              <a:t>You have something to offer:  </a:t>
            </a:r>
          </a:p>
          <a:p>
            <a:pPr algn="ctr"/>
            <a:r>
              <a:rPr lang="en-US" sz="2400" dirty="0">
                <a:latin typeface="Amasis MT Pro Medium" panose="02040604050005020304" pitchFamily="18" charset="0"/>
              </a:rPr>
              <a:t>your time and your talent.  </a:t>
            </a:r>
          </a:p>
          <a:p>
            <a:pPr algn="ctr"/>
            <a:r>
              <a:rPr lang="en-US" sz="2400" dirty="0">
                <a:latin typeface="Amasis MT Pro Medium" panose="02040604050005020304" pitchFamily="18" charset="0"/>
              </a:rPr>
              <a:t>What do you want to get for it?  </a:t>
            </a:r>
          </a:p>
        </p:txBody>
      </p:sp>
    </p:spTree>
    <p:extLst>
      <p:ext uri="{BB962C8B-B14F-4D97-AF65-F5344CB8AC3E}">
        <p14:creationId xmlns:p14="http://schemas.microsoft.com/office/powerpoint/2010/main" val="373698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0A37-BCFB-0ACE-5BFB-525ACC38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Business of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E1E9A-00FD-5A25-8284-F89BC9EFB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(Also Consider…)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Who Is Your Customer?</a:t>
            </a:r>
          </a:p>
          <a:p>
            <a:pPr lvl="1"/>
            <a:r>
              <a:rPr lang="en-US" dirty="0"/>
              <a:t>(who you work for)</a:t>
            </a:r>
          </a:p>
          <a:p>
            <a:r>
              <a:rPr lang="en-US" dirty="0"/>
              <a:t>Future viability</a:t>
            </a:r>
          </a:p>
          <a:p>
            <a:pPr lvl="1"/>
            <a:r>
              <a:rPr lang="en-US" dirty="0"/>
              <a:t>(how to handle 'lean times?')</a:t>
            </a:r>
          </a:p>
          <a:p>
            <a:pPr lvl="1"/>
            <a:r>
              <a:rPr lang="en-US" dirty="0"/>
              <a:t>(keeping your 'product' relevant)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F42FC-CBCF-2212-9906-B60EF208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F8820-CD10-45FF-DC1C-301382FA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3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3AA4-0840-64FE-E801-46A3E3CD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How</a:t>
            </a:r>
            <a:r>
              <a:rPr lang="en-US" sz="440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It Applies at SA (for</a:t>
            </a:r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Me)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0F8C-2A04-6A8C-695C-E4341421C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845"/>
            <a:ext cx="8431925" cy="46821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Customer: </a:t>
            </a:r>
          </a:p>
          <a:p>
            <a:r>
              <a:rPr lang="en-US" dirty="0"/>
              <a:t>SA</a:t>
            </a:r>
          </a:p>
          <a:p>
            <a:pPr marL="0" indent="0">
              <a:buNone/>
            </a:pPr>
            <a:r>
              <a:rPr lang="en-US" dirty="0"/>
              <a:t>Product Offering:</a:t>
            </a:r>
            <a:r>
              <a:rPr lang="en-US" baseline="0" dirty="0"/>
              <a:t> </a:t>
            </a:r>
          </a:p>
          <a:p>
            <a:r>
              <a:rPr lang="en-US" baseline="0" dirty="0" err="1"/>
              <a:t>Ontologist</a:t>
            </a:r>
            <a:r>
              <a:rPr lang="en-US" dirty="0"/>
              <a:t>, PM, KG Eng</a:t>
            </a:r>
          </a:p>
          <a:p>
            <a:pPr marL="0" indent="0">
              <a:buNone/>
            </a:pPr>
            <a:r>
              <a:rPr lang="en-US" dirty="0"/>
              <a:t>ROI: </a:t>
            </a:r>
          </a:p>
          <a:p>
            <a:r>
              <a:rPr lang="en-US" dirty="0"/>
              <a:t>Good pay for my hours</a:t>
            </a:r>
          </a:p>
          <a:p>
            <a:r>
              <a:rPr lang="en-US" dirty="0"/>
              <a:t>Good lifestyle (remote, travel, flexible)</a:t>
            </a:r>
          </a:p>
          <a:p>
            <a:pPr marL="0" indent="0">
              <a:buNone/>
            </a:pPr>
            <a:r>
              <a:rPr lang="en-US" dirty="0"/>
              <a:t>Future Viability:</a:t>
            </a:r>
          </a:p>
          <a:p>
            <a:r>
              <a:rPr lang="en-US" dirty="0"/>
              <a:t>Lean Times:  Save 2 Mos. Pay, don't charge OH hours</a:t>
            </a:r>
          </a:p>
          <a:p>
            <a:r>
              <a:rPr lang="en-US" dirty="0"/>
              <a:t>Relevant Product:  Self-Training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DFF3E-3F6F-24BD-2BB9-217956B1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24717-576B-3429-6518-3FB82EF0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A47B9081-2B64-7EBD-C6EA-DE9A0CDC5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395" y="2357222"/>
            <a:ext cx="2131969" cy="214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71BA-0A7A-DD9F-FF07-3F13D444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  <a:r>
              <a:rPr lang="en-US" baseline="0" dirty="0"/>
              <a:t> SA Pay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E9730-3B4F-672D-AF39-9BE38C768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845"/>
            <a:ext cx="5609897" cy="46821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Non-Consultants: fixed</a:t>
            </a:r>
            <a:r>
              <a:rPr lang="en-US" baseline="0" dirty="0"/>
              <a:t> $/</a:t>
            </a:r>
            <a:r>
              <a:rPr lang="en-US" baseline="0" dirty="0" err="1"/>
              <a:t>hr</a:t>
            </a:r>
            <a:endParaRPr lang="en-US" baseline="0" dirty="0"/>
          </a:p>
          <a:p>
            <a:r>
              <a:rPr lang="en-US" baseline="0" dirty="0"/>
              <a:t>Consultants: 50% of billed $ / </a:t>
            </a:r>
            <a:r>
              <a:rPr lang="en-US" baseline="0" dirty="0" err="1"/>
              <a:t>hrs</a:t>
            </a:r>
            <a:endParaRPr lang="en-US" baseline="0" dirty="0"/>
          </a:p>
          <a:p>
            <a:r>
              <a:rPr lang="en-US" baseline="0" dirty="0"/>
              <a:t>E.g.</a:t>
            </a:r>
          </a:p>
          <a:p>
            <a:pPr lvl="1"/>
            <a:r>
              <a:rPr lang="en-US" baseline="0" dirty="0"/>
              <a:t>You bill out at $160/</a:t>
            </a:r>
            <a:r>
              <a:rPr lang="en-US" baseline="0" dirty="0" err="1"/>
              <a:t>hr</a:t>
            </a:r>
            <a:endParaRPr lang="en-US" baseline="0" dirty="0"/>
          </a:p>
          <a:p>
            <a:pPr lvl="1"/>
            <a:r>
              <a:rPr lang="en-US" baseline="0" dirty="0"/>
              <a:t>You work 30 hours</a:t>
            </a:r>
          </a:p>
          <a:p>
            <a:pPr lvl="1"/>
            <a:r>
              <a:rPr lang="en-US" baseline="0" dirty="0"/>
              <a:t>Co makes $4800</a:t>
            </a:r>
          </a:p>
          <a:p>
            <a:pPr lvl="1"/>
            <a:r>
              <a:rPr lang="en-US" baseline="0" dirty="0"/>
              <a:t>Your 50% = $2400</a:t>
            </a:r>
          </a:p>
          <a:p>
            <a:pPr lvl="1"/>
            <a:r>
              <a:rPr lang="en-US" baseline="0" dirty="0"/>
              <a:t>You also work 10 hours non-billable</a:t>
            </a:r>
          </a:p>
          <a:p>
            <a:pPr lvl="1"/>
            <a:r>
              <a:rPr lang="en-US" baseline="0" dirty="0"/>
              <a:t>Your Pay rate: $2400/40 = $60/</a:t>
            </a:r>
            <a:r>
              <a:rPr lang="en-US" baseline="0" dirty="0" err="1"/>
              <a:t>hr</a:t>
            </a:r>
            <a:r>
              <a:rPr lang="en-US" baseline="0" dirty="0"/>
              <a:t> </a:t>
            </a:r>
            <a:endParaRPr lang="en-US" dirty="0"/>
          </a:p>
          <a:p>
            <a:r>
              <a:rPr lang="en-US" dirty="0"/>
              <a:t>(Compute this over past 52 weeks)</a:t>
            </a:r>
          </a:p>
          <a:p>
            <a:pPr lvl="1"/>
            <a:r>
              <a:rPr lang="en-US" baseline="0" dirty="0"/>
              <a:t>Evens out the 'bumps'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F3ADB-2906-F408-3D67-6D2400B0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5276B-86F0-2E49-AF61-B6BD3003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5</a:t>
            </a:fld>
            <a:endParaRPr lang="en-US"/>
          </a:p>
        </p:txBody>
      </p:sp>
      <p:pic>
        <p:nvPicPr>
          <p:cNvPr id="1028" name="Picture 4" descr="Money bag - Free business and finance icons">
            <a:extLst>
              <a:ext uri="{FF2B5EF4-FFF2-40B4-BE49-F238E27FC236}">
                <a16:creationId xmlns:a16="http://schemas.microsoft.com/office/drawing/2014/main" id="{3F59AD8B-D0CB-CBEE-FE0C-4EA6BD05F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527" y="2219708"/>
            <a:ext cx="2645979" cy="264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4D7E-44AD-EC0A-CE90-9DB5FF976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 Rate Demo / Simulation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4FB972-8299-6783-29BA-C719A8670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Gap Example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3CFDC-B73D-69C4-3427-29E8BC42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620B3-6486-2334-13AE-7387B983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6406-4A38-6805-1645-B8133729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2251-CCAB-B786-DEA0-E9B423D3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2E022-3FF8-35B8-5C3B-9DB62C593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aseline="0" dirty="0"/>
              <a:t>Helpful </a:t>
            </a:r>
            <a:r>
              <a:rPr lang="en-US" dirty="0"/>
              <a:t>to think of self as a 'business of one'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(I.e., make choices about…)</a:t>
            </a:r>
          </a:p>
          <a:p>
            <a:endParaRPr lang="en-US" i="1" dirty="0"/>
          </a:p>
          <a:p>
            <a:r>
              <a:rPr lang="en-US" dirty="0"/>
              <a:t>Your Product Offering</a:t>
            </a:r>
          </a:p>
          <a:p>
            <a:pPr lvl="1"/>
            <a:r>
              <a:rPr lang="en-US" dirty="0"/>
              <a:t>(what you do)</a:t>
            </a:r>
          </a:p>
          <a:p>
            <a:r>
              <a:rPr lang="en-US" dirty="0"/>
              <a:t>Your Return on Investment</a:t>
            </a:r>
          </a:p>
          <a:p>
            <a:pPr lvl="1"/>
            <a:r>
              <a:rPr lang="en-US" dirty="0"/>
              <a:t>(hours in, pay out, lifestyle)</a:t>
            </a:r>
          </a:p>
          <a:p>
            <a:pPr rtl="0" eaLnBrk="1" latinLnBrk="0" hangingPunct="1"/>
            <a:r>
              <a:rPr lang="en-US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Is Your Customer?</a:t>
            </a:r>
            <a:endParaRPr lang="en-US" sz="2800" dirty="0">
              <a:effectLst/>
            </a:endParaRPr>
          </a:p>
          <a:p>
            <a:pPr lvl="1" rtl="0" eaLnBrk="1" latinLnBrk="0" hangingPunct="1"/>
            <a:r>
              <a:rPr 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(who you work for)</a:t>
            </a:r>
            <a:endParaRPr lang="en-US" dirty="0">
              <a:effectLst/>
            </a:endParaRPr>
          </a:p>
          <a:p>
            <a:pPr rtl="0" eaLnBrk="1" latinLnBrk="0" hangingPunct="1"/>
            <a:r>
              <a:rPr lang="en-US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viability</a:t>
            </a:r>
            <a:endParaRPr lang="en-US" dirty="0">
              <a:effectLst/>
            </a:endParaRPr>
          </a:p>
          <a:p>
            <a:pPr lvl="1" rtl="0" eaLnBrk="1" latinLnBrk="0" hangingPunct="1"/>
            <a:r>
              <a:rPr 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(how to handle 'lean times?')</a:t>
            </a:r>
            <a:endParaRPr lang="en-US" dirty="0">
              <a:effectLst/>
            </a:endParaRPr>
          </a:p>
          <a:p>
            <a:pPr lvl="1" rtl="0" eaLnBrk="1" latinLnBrk="0" hangingPunct="1"/>
            <a:r>
              <a:rPr 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(keeping your 'product' relevant)</a:t>
            </a:r>
            <a:endParaRPr lang="en-US" dirty="0">
              <a:effectLst/>
            </a:endParaRPr>
          </a:p>
          <a:p>
            <a:pPr lv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592F8-0EC6-ACF2-6040-BE084BC4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BF347-2E15-A6F2-DCF2-151494C2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8243B-B63B-5312-D608-003E9A96A8C9}"/>
              </a:ext>
            </a:extLst>
          </p:cNvPr>
          <p:cNvSpPr txBox="1"/>
          <p:nvPr/>
        </p:nvSpPr>
        <p:spPr>
          <a:xfrm>
            <a:off x="5959366" y="2506718"/>
            <a:ext cx="5567856" cy="1200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masis MT Pro Medium" panose="02040604050005020304" pitchFamily="18" charset="0"/>
              </a:rPr>
              <a:t>You have something to offer:  </a:t>
            </a:r>
          </a:p>
          <a:p>
            <a:pPr algn="ctr"/>
            <a:r>
              <a:rPr lang="en-US" sz="2400" dirty="0">
                <a:latin typeface="Amasis MT Pro Medium" panose="02040604050005020304" pitchFamily="18" charset="0"/>
              </a:rPr>
              <a:t>your time and your talent.  </a:t>
            </a:r>
          </a:p>
          <a:p>
            <a:pPr algn="ctr"/>
            <a:r>
              <a:rPr lang="en-US" sz="2400" dirty="0">
                <a:latin typeface="Amasis MT Pro Medium" panose="02040604050005020304" pitchFamily="18" charset="0"/>
              </a:rPr>
              <a:t>What do you want to get for it?  </a:t>
            </a:r>
          </a:p>
        </p:txBody>
      </p:sp>
    </p:spTree>
    <p:extLst>
      <p:ext uri="{BB962C8B-B14F-4D97-AF65-F5344CB8AC3E}">
        <p14:creationId xmlns:p14="http://schemas.microsoft.com/office/powerpoint/2010/main" val="202166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9657-205E-F351-37D4-07FE9DC1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156"/>
          </a:xfrm>
        </p:spPr>
        <p:txBody>
          <a:bodyPr/>
          <a:lstStyle/>
          <a:p>
            <a:pPr lvl="0"/>
            <a:r>
              <a:rPr lang="en-US" dirty="0"/>
              <a:t>Things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1CBEC-4002-CA19-040D-28E1D9FFA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845"/>
            <a:ext cx="5257800" cy="468211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</a:t>
            </a:r>
            <a:r>
              <a:rPr lang="en-US" sz="28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Gaps</a:t>
            </a:r>
            <a:endParaRPr lang="en-US" sz="2800" dirty="0">
              <a:effectLst/>
            </a:endParaRPr>
          </a:p>
          <a:p>
            <a:pPr lvl="0"/>
            <a:r>
              <a:rPr lang="en-US" dirty="0"/>
              <a:t>Am I OK</a:t>
            </a:r>
            <a:r>
              <a:rPr lang="en-US" baseline="0" dirty="0"/>
              <a:t> with a year of rate</a:t>
            </a:r>
            <a:r>
              <a:rPr lang="en-US" dirty="0"/>
              <a:t> </a:t>
            </a:r>
            <a:r>
              <a:rPr lang="en-US" baseline="0" dirty="0"/>
              <a:t>'consequences'? </a:t>
            </a:r>
          </a:p>
          <a:p>
            <a:pPr lvl="0"/>
            <a:r>
              <a:rPr lang="en-US" dirty="0"/>
              <a:t>What's good</a:t>
            </a:r>
            <a:r>
              <a:rPr lang="en-US" baseline="0" dirty="0"/>
              <a:t> for the Co.? (lean times)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FA80D-5E91-E396-40DA-93EC3F37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AAA2B-4629-E9EC-9ED0-F00E39A9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566862" cy="365125"/>
          </a:xfrm>
        </p:spPr>
        <p:txBody>
          <a:bodyPr/>
          <a:lstStyle/>
          <a:p>
            <a:fld id="{9F324326-9181-4E22-8D2C-66145E89206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50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08D1-AB70-D7AD-DBD5-8DCC42DF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50524-AA90-EDC8-ADBB-B7113F7E7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3DFED-9F27-E8C5-ADBD-34470C07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74CD8-52CC-9194-9657-18B9FC4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4326-9181-4E22-8D2C-66145E89206B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2" descr="The Art of Asking Questions">
            <a:extLst>
              <a:ext uri="{FF2B5EF4-FFF2-40B4-BE49-F238E27FC236}">
                <a16:creationId xmlns:a16="http://schemas.microsoft.com/office/drawing/2014/main" id="{D1F1F9C3-0BCC-4A0E-E84B-A39204EB4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3" y="2215845"/>
            <a:ext cx="4171551" cy="242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354623"/>
      </p:ext>
    </p:extLst>
  </p:cSld>
  <p:clrMapOvr>
    <a:masterClrMapping/>
  </p:clrMapOvr>
</p:sld>
</file>

<file path=ppt/theme/theme1.xml><?xml version="1.0" encoding="utf-8"?>
<a:theme xmlns:a="http://schemas.openxmlformats.org/drawingml/2006/main" name="SA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4488B13-0336-415A-8FFD-E3EAA7E98C40}" vid="{4CC64AC3-0004-4FD9-BD43-47FEA020C0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 Light</Template>
  <TotalTime>2102</TotalTime>
  <Words>489</Words>
  <Application>Microsoft Office PowerPoint</Application>
  <PresentationFormat>Widescreen</PresentationFormat>
  <Paragraphs>93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 Medium</vt:lpstr>
      <vt:lpstr>Aptos</vt:lpstr>
      <vt:lpstr>Arial</vt:lpstr>
      <vt:lpstr>Calibri</vt:lpstr>
      <vt:lpstr>Calibri Light</vt:lpstr>
      <vt:lpstr>SA Light</vt:lpstr>
      <vt:lpstr>The Consulting Intra-Prenuer Life </vt:lpstr>
      <vt:lpstr>A Business of One</vt:lpstr>
      <vt:lpstr>A Business of One</vt:lpstr>
      <vt:lpstr>How It Applies at SA (for Me)</vt:lpstr>
      <vt:lpstr>How SA Pay Works</vt:lpstr>
      <vt:lpstr>Pay Rate Demo / Simulation</vt:lpstr>
      <vt:lpstr>Conclusion</vt:lpstr>
      <vt:lpstr>Things to Consider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Wallace</dc:creator>
  <cp:lastModifiedBy>Mark Wallace</cp:lastModifiedBy>
  <cp:revision>22</cp:revision>
  <dcterms:created xsi:type="dcterms:W3CDTF">2025-04-25T15:40:44Z</dcterms:created>
  <dcterms:modified xsi:type="dcterms:W3CDTF">2025-04-29T02:35:21Z</dcterms:modified>
</cp:coreProperties>
</file>