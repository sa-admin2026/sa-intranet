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87" autoAdjust="0"/>
    <p:restoredTop sz="86364" autoAdjust="0"/>
  </p:normalViewPr>
  <p:slideViewPr>
    <p:cSldViewPr snapToGrid="0">
      <p:cViewPr varScale="1">
        <p:scale>
          <a:sx n="61" d="100"/>
          <a:sy n="61" d="100"/>
        </p:scale>
        <p:origin x="90" y="180"/>
      </p:cViewPr>
      <p:guideLst/>
    </p:cSldViewPr>
  </p:slideViewPr>
  <p:outlineViewPr>
    <p:cViewPr>
      <p:scale>
        <a:sx n="33" d="100"/>
        <a:sy n="33" d="100"/>
      </p:scale>
      <p:origin x="0" y="-8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600968-D933-45D9-B517-2E83FB82458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D9286562-2E93-436D-A274-DDC712A9D4EC}">
      <dgm:prSet phldrT="[Text]"/>
      <dgm:spPr/>
      <dgm:t>
        <a:bodyPr/>
        <a:lstStyle/>
        <a:p>
          <a:r>
            <a:rPr lang="en-US" dirty="0"/>
            <a:t>Analysis &amp; Design</a:t>
          </a:r>
        </a:p>
      </dgm:t>
    </dgm:pt>
    <dgm:pt modelId="{521A30E3-02A3-4546-BBDA-92C0832167CA}" type="parTrans" cxnId="{0D1EC54C-F4E8-4B82-818C-B5FB87D1FD07}">
      <dgm:prSet/>
      <dgm:spPr/>
      <dgm:t>
        <a:bodyPr/>
        <a:lstStyle/>
        <a:p>
          <a:endParaRPr lang="en-US"/>
        </a:p>
      </dgm:t>
    </dgm:pt>
    <dgm:pt modelId="{FFEB2C85-86DA-4D1B-A281-A79A293BA666}" type="sibTrans" cxnId="{0D1EC54C-F4E8-4B82-818C-B5FB87D1FD07}">
      <dgm:prSet/>
      <dgm:spPr/>
      <dgm:t>
        <a:bodyPr/>
        <a:lstStyle/>
        <a:p>
          <a:endParaRPr lang="en-US"/>
        </a:p>
      </dgm:t>
    </dgm:pt>
    <dgm:pt modelId="{99DA8DBB-4D89-4723-AE93-9F6E996061BD}">
      <dgm:prSet phldrT="[Text]"/>
      <dgm:spPr/>
      <dgm:t>
        <a:bodyPr/>
        <a:lstStyle/>
        <a:p>
          <a:r>
            <a:rPr lang="en-US" dirty="0"/>
            <a:t>Code &amp; Test</a:t>
          </a:r>
        </a:p>
      </dgm:t>
    </dgm:pt>
    <dgm:pt modelId="{4EBF84AA-CAC0-4405-9D03-EE56ADDE266A}" type="parTrans" cxnId="{4BD85561-9A4A-48DD-A29E-00CEB0555DE6}">
      <dgm:prSet/>
      <dgm:spPr/>
      <dgm:t>
        <a:bodyPr/>
        <a:lstStyle/>
        <a:p>
          <a:endParaRPr lang="en-US"/>
        </a:p>
      </dgm:t>
    </dgm:pt>
    <dgm:pt modelId="{D6CDD743-058F-4E1B-B871-C2A0D96E89F5}" type="sibTrans" cxnId="{4BD85561-9A4A-48DD-A29E-00CEB0555DE6}">
      <dgm:prSet/>
      <dgm:spPr/>
      <dgm:t>
        <a:bodyPr/>
        <a:lstStyle/>
        <a:p>
          <a:endParaRPr lang="en-US"/>
        </a:p>
      </dgm:t>
    </dgm:pt>
    <dgm:pt modelId="{A1C14EFF-4BB5-44DF-B4B7-144344468608}" type="pres">
      <dgm:prSet presAssocID="{94600968-D933-45D9-B517-2E83FB824583}" presName="CompostProcess" presStyleCnt="0">
        <dgm:presLayoutVars>
          <dgm:dir/>
          <dgm:resizeHandles val="exact"/>
        </dgm:presLayoutVars>
      </dgm:prSet>
      <dgm:spPr/>
    </dgm:pt>
    <dgm:pt modelId="{FA3F0EE8-48A7-4D12-A5B6-AF5B6AC94340}" type="pres">
      <dgm:prSet presAssocID="{94600968-D933-45D9-B517-2E83FB824583}" presName="arrow" presStyleLbl="bgShp" presStyleIdx="0" presStyleCnt="1" custScaleX="117647" custLinFactNeighborX="-8475" custLinFactNeighborY="32287"/>
      <dgm:spPr/>
    </dgm:pt>
    <dgm:pt modelId="{A4CFA0E9-9AC1-471C-900D-B01D048D73F8}" type="pres">
      <dgm:prSet presAssocID="{94600968-D933-45D9-B517-2E83FB824583}" presName="linearProcess" presStyleCnt="0"/>
      <dgm:spPr/>
    </dgm:pt>
    <dgm:pt modelId="{F4D4D1C0-2609-49C5-BA32-0A91C3A8FD95}" type="pres">
      <dgm:prSet presAssocID="{D9286562-2E93-436D-A274-DDC712A9D4EC}" presName="textNode" presStyleLbl="node1" presStyleIdx="0" presStyleCnt="2" custLinFactX="-36983" custLinFactNeighborX="-100000" custLinFactNeighborY="-214">
        <dgm:presLayoutVars>
          <dgm:bulletEnabled val="1"/>
        </dgm:presLayoutVars>
      </dgm:prSet>
      <dgm:spPr/>
    </dgm:pt>
    <dgm:pt modelId="{58C4B660-CAD3-4D85-870E-F7A8F26EE7FB}" type="pres">
      <dgm:prSet presAssocID="{FFEB2C85-86DA-4D1B-A281-A79A293BA666}" presName="sibTrans" presStyleCnt="0"/>
      <dgm:spPr/>
    </dgm:pt>
    <dgm:pt modelId="{A2EE63C8-392A-4C38-AE60-E877666306EF}" type="pres">
      <dgm:prSet presAssocID="{99DA8DBB-4D89-4723-AE93-9F6E996061BD}" presName="textNode" presStyleLbl="node1" presStyleIdx="1" presStyleCnt="2" custLinFactX="-18199" custLinFactNeighborX="-100000" custLinFactNeighborY="1507">
        <dgm:presLayoutVars>
          <dgm:bulletEnabled val="1"/>
        </dgm:presLayoutVars>
      </dgm:prSet>
      <dgm:spPr/>
    </dgm:pt>
  </dgm:ptLst>
  <dgm:cxnLst>
    <dgm:cxn modelId="{4BD85561-9A4A-48DD-A29E-00CEB0555DE6}" srcId="{94600968-D933-45D9-B517-2E83FB824583}" destId="{99DA8DBB-4D89-4723-AE93-9F6E996061BD}" srcOrd="1" destOrd="0" parTransId="{4EBF84AA-CAC0-4405-9D03-EE56ADDE266A}" sibTransId="{D6CDD743-058F-4E1B-B871-C2A0D96E89F5}"/>
    <dgm:cxn modelId="{0D1EC54C-F4E8-4B82-818C-B5FB87D1FD07}" srcId="{94600968-D933-45D9-B517-2E83FB824583}" destId="{D9286562-2E93-436D-A274-DDC712A9D4EC}" srcOrd="0" destOrd="0" parTransId="{521A30E3-02A3-4546-BBDA-92C0832167CA}" sibTransId="{FFEB2C85-86DA-4D1B-A281-A79A293BA666}"/>
    <dgm:cxn modelId="{41C5FB85-3829-436C-979B-2F0688AAFD3E}" type="presOf" srcId="{94600968-D933-45D9-B517-2E83FB824583}" destId="{A1C14EFF-4BB5-44DF-B4B7-144344468608}" srcOrd="0" destOrd="0" presId="urn:microsoft.com/office/officeart/2005/8/layout/hProcess9"/>
    <dgm:cxn modelId="{3E17F48F-ECBB-42A2-B640-31EAF0E4AEAC}" type="presOf" srcId="{D9286562-2E93-436D-A274-DDC712A9D4EC}" destId="{F4D4D1C0-2609-49C5-BA32-0A91C3A8FD95}" srcOrd="0" destOrd="0" presId="urn:microsoft.com/office/officeart/2005/8/layout/hProcess9"/>
    <dgm:cxn modelId="{C96DBEFD-5F4F-4C61-837F-E25373D89BF0}" type="presOf" srcId="{99DA8DBB-4D89-4723-AE93-9F6E996061BD}" destId="{A2EE63C8-392A-4C38-AE60-E877666306EF}" srcOrd="0" destOrd="0" presId="urn:microsoft.com/office/officeart/2005/8/layout/hProcess9"/>
    <dgm:cxn modelId="{48321DF8-7DA7-4025-9E46-5844E2697F8A}" type="presParOf" srcId="{A1C14EFF-4BB5-44DF-B4B7-144344468608}" destId="{FA3F0EE8-48A7-4D12-A5B6-AF5B6AC94340}" srcOrd="0" destOrd="0" presId="urn:microsoft.com/office/officeart/2005/8/layout/hProcess9"/>
    <dgm:cxn modelId="{009CF7F2-6983-4BB9-B581-2648C4D0B422}" type="presParOf" srcId="{A1C14EFF-4BB5-44DF-B4B7-144344468608}" destId="{A4CFA0E9-9AC1-471C-900D-B01D048D73F8}" srcOrd="1" destOrd="0" presId="urn:microsoft.com/office/officeart/2005/8/layout/hProcess9"/>
    <dgm:cxn modelId="{FBFF0FC8-0605-41AF-B1CA-86B745AFDF1A}" type="presParOf" srcId="{A4CFA0E9-9AC1-471C-900D-B01D048D73F8}" destId="{F4D4D1C0-2609-49C5-BA32-0A91C3A8FD95}" srcOrd="0" destOrd="0" presId="urn:microsoft.com/office/officeart/2005/8/layout/hProcess9"/>
    <dgm:cxn modelId="{96726EC6-52DD-44B8-A5C4-B1839D999A17}" type="presParOf" srcId="{A4CFA0E9-9AC1-471C-900D-B01D048D73F8}" destId="{58C4B660-CAD3-4D85-870E-F7A8F26EE7FB}" srcOrd="1" destOrd="0" presId="urn:microsoft.com/office/officeart/2005/8/layout/hProcess9"/>
    <dgm:cxn modelId="{B47F7D3D-CD39-4EF9-A81B-EED98F10B5FB}" type="presParOf" srcId="{A4CFA0E9-9AC1-471C-900D-B01D048D73F8}" destId="{A2EE63C8-392A-4C38-AE60-E877666306EF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600968-D933-45D9-B517-2E83FB82458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D9286562-2E93-436D-A274-DDC712A9D4EC}">
      <dgm:prSet phldrT="[Text]"/>
      <dgm:spPr/>
      <dgm:t>
        <a:bodyPr/>
        <a:lstStyle/>
        <a:p>
          <a:r>
            <a:rPr lang="en-US" dirty="0"/>
            <a:t>Analysis &amp; Design</a:t>
          </a:r>
        </a:p>
      </dgm:t>
    </dgm:pt>
    <dgm:pt modelId="{521A30E3-02A3-4546-BBDA-92C0832167CA}" type="parTrans" cxnId="{0D1EC54C-F4E8-4B82-818C-B5FB87D1FD07}">
      <dgm:prSet/>
      <dgm:spPr/>
      <dgm:t>
        <a:bodyPr/>
        <a:lstStyle/>
        <a:p>
          <a:endParaRPr lang="en-US"/>
        </a:p>
      </dgm:t>
    </dgm:pt>
    <dgm:pt modelId="{FFEB2C85-86DA-4D1B-A281-A79A293BA666}" type="sibTrans" cxnId="{0D1EC54C-F4E8-4B82-818C-B5FB87D1FD07}">
      <dgm:prSet/>
      <dgm:spPr/>
      <dgm:t>
        <a:bodyPr/>
        <a:lstStyle/>
        <a:p>
          <a:endParaRPr lang="en-US"/>
        </a:p>
      </dgm:t>
    </dgm:pt>
    <dgm:pt modelId="{99DA8DBB-4D89-4723-AE93-9F6E996061BD}">
      <dgm:prSet phldrT="[Text]"/>
      <dgm:spPr/>
      <dgm:t>
        <a:bodyPr/>
        <a:lstStyle/>
        <a:p>
          <a:r>
            <a:rPr lang="en-US" dirty="0"/>
            <a:t>Code &amp; Test</a:t>
          </a:r>
        </a:p>
      </dgm:t>
    </dgm:pt>
    <dgm:pt modelId="{4EBF84AA-CAC0-4405-9D03-EE56ADDE266A}" type="parTrans" cxnId="{4BD85561-9A4A-48DD-A29E-00CEB0555DE6}">
      <dgm:prSet/>
      <dgm:spPr/>
      <dgm:t>
        <a:bodyPr/>
        <a:lstStyle/>
        <a:p>
          <a:endParaRPr lang="en-US"/>
        </a:p>
      </dgm:t>
    </dgm:pt>
    <dgm:pt modelId="{D6CDD743-058F-4E1B-B871-C2A0D96E89F5}" type="sibTrans" cxnId="{4BD85561-9A4A-48DD-A29E-00CEB0555DE6}">
      <dgm:prSet/>
      <dgm:spPr/>
      <dgm:t>
        <a:bodyPr/>
        <a:lstStyle/>
        <a:p>
          <a:endParaRPr lang="en-US"/>
        </a:p>
      </dgm:t>
    </dgm:pt>
    <dgm:pt modelId="{A1C14EFF-4BB5-44DF-B4B7-144344468608}" type="pres">
      <dgm:prSet presAssocID="{94600968-D933-45D9-B517-2E83FB824583}" presName="CompostProcess" presStyleCnt="0">
        <dgm:presLayoutVars>
          <dgm:dir/>
          <dgm:resizeHandles val="exact"/>
        </dgm:presLayoutVars>
      </dgm:prSet>
      <dgm:spPr/>
    </dgm:pt>
    <dgm:pt modelId="{FA3F0EE8-48A7-4D12-A5B6-AF5B6AC94340}" type="pres">
      <dgm:prSet presAssocID="{94600968-D933-45D9-B517-2E83FB824583}" presName="arrow" presStyleLbl="bgShp" presStyleIdx="0" presStyleCnt="1" custScaleX="117647" custLinFactNeighborX="-8475" custLinFactNeighborY="32287"/>
      <dgm:spPr/>
    </dgm:pt>
    <dgm:pt modelId="{A4CFA0E9-9AC1-471C-900D-B01D048D73F8}" type="pres">
      <dgm:prSet presAssocID="{94600968-D933-45D9-B517-2E83FB824583}" presName="linearProcess" presStyleCnt="0"/>
      <dgm:spPr/>
    </dgm:pt>
    <dgm:pt modelId="{F4D4D1C0-2609-49C5-BA32-0A91C3A8FD95}" type="pres">
      <dgm:prSet presAssocID="{D9286562-2E93-436D-A274-DDC712A9D4EC}" presName="textNode" presStyleLbl="node1" presStyleIdx="0" presStyleCnt="2" custLinFactX="-36983" custLinFactNeighborX="-100000" custLinFactNeighborY="-214">
        <dgm:presLayoutVars>
          <dgm:bulletEnabled val="1"/>
        </dgm:presLayoutVars>
      </dgm:prSet>
      <dgm:spPr/>
    </dgm:pt>
    <dgm:pt modelId="{58C4B660-CAD3-4D85-870E-F7A8F26EE7FB}" type="pres">
      <dgm:prSet presAssocID="{FFEB2C85-86DA-4D1B-A281-A79A293BA666}" presName="sibTrans" presStyleCnt="0"/>
      <dgm:spPr/>
    </dgm:pt>
    <dgm:pt modelId="{A2EE63C8-392A-4C38-AE60-E877666306EF}" type="pres">
      <dgm:prSet presAssocID="{99DA8DBB-4D89-4723-AE93-9F6E996061BD}" presName="textNode" presStyleLbl="node1" presStyleIdx="1" presStyleCnt="2" custLinFactX="-18199" custLinFactNeighborX="-100000" custLinFactNeighborY="1507">
        <dgm:presLayoutVars>
          <dgm:bulletEnabled val="1"/>
        </dgm:presLayoutVars>
      </dgm:prSet>
      <dgm:spPr/>
    </dgm:pt>
  </dgm:ptLst>
  <dgm:cxnLst>
    <dgm:cxn modelId="{4BD85561-9A4A-48DD-A29E-00CEB0555DE6}" srcId="{94600968-D933-45D9-B517-2E83FB824583}" destId="{99DA8DBB-4D89-4723-AE93-9F6E996061BD}" srcOrd="1" destOrd="0" parTransId="{4EBF84AA-CAC0-4405-9D03-EE56ADDE266A}" sibTransId="{D6CDD743-058F-4E1B-B871-C2A0D96E89F5}"/>
    <dgm:cxn modelId="{0D1EC54C-F4E8-4B82-818C-B5FB87D1FD07}" srcId="{94600968-D933-45D9-B517-2E83FB824583}" destId="{D9286562-2E93-436D-A274-DDC712A9D4EC}" srcOrd="0" destOrd="0" parTransId="{521A30E3-02A3-4546-BBDA-92C0832167CA}" sibTransId="{FFEB2C85-86DA-4D1B-A281-A79A293BA666}"/>
    <dgm:cxn modelId="{41C5FB85-3829-436C-979B-2F0688AAFD3E}" type="presOf" srcId="{94600968-D933-45D9-B517-2E83FB824583}" destId="{A1C14EFF-4BB5-44DF-B4B7-144344468608}" srcOrd="0" destOrd="0" presId="urn:microsoft.com/office/officeart/2005/8/layout/hProcess9"/>
    <dgm:cxn modelId="{3E17F48F-ECBB-42A2-B640-31EAF0E4AEAC}" type="presOf" srcId="{D9286562-2E93-436D-A274-DDC712A9D4EC}" destId="{F4D4D1C0-2609-49C5-BA32-0A91C3A8FD95}" srcOrd="0" destOrd="0" presId="urn:microsoft.com/office/officeart/2005/8/layout/hProcess9"/>
    <dgm:cxn modelId="{C96DBEFD-5F4F-4C61-837F-E25373D89BF0}" type="presOf" srcId="{99DA8DBB-4D89-4723-AE93-9F6E996061BD}" destId="{A2EE63C8-392A-4C38-AE60-E877666306EF}" srcOrd="0" destOrd="0" presId="urn:microsoft.com/office/officeart/2005/8/layout/hProcess9"/>
    <dgm:cxn modelId="{48321DF8-7DA7-4025-9E46-5844E2697F8A}" type="presParOf" srcId="{A1C14EFF-4BB5-44DF-B4B7-144344468608}" destId="{FA3F0EE8-48A7-4D12-A5B6-AF5B6AC94340}" srcOrd="0" destOrd="0" presId="urn:microsoft.com/office/officeart/2005/8/layout/hProcess9"/>
    <dgm:cxn modelId="{009CF7F2-6983-4BB9-B581-2648C4D0B422}" type="presParOf" srcId="{A1C14EFF-4BB5-44DF-B4B7-144344468608}" destId="{A4CFA0E9-9AC1-471C-900D-B01D048D73F8}" srcOrd="1" destOrd="0" presId="urn:microsoft.com/office/officeart/2005/8/layout/hProcess9"/>
    <dgm:cxn modelId="{FBFF0FC8-0605-41AF-B1CA-86B745AFDF1A}" type="presParOf" srcId="{A4CFA0E9-9AC1-471C-900D-B01D048D73F8}" destId="{F4D4D1C0-2609-49C5-BA32-0A91C3A8FD95}" srcOrd="0" destOrd="0" presId="urn:microsoft.com/office/officeart/2005/8/layout/hProcess9"/>
    <dgm:cxn modelId="{96726EC6-52DD-44B8-A5C4-B1839D999A17}" type="presParOf" srcId="{A4CFA0E9-9AC1-471C-900D-B01D048D73F8}" destId="{58C4B660-CAD3-4D85-870E-F7A8F26EE7FB}" srcOrd="1" destOrd="0" presId="urn:microsoft.com/office/officeart/2005/8/layout/hProcess9"/>
    <dgm:cxn modelId="{B47F7D3D-CD39-4EF9-A81B-EED98F10B5FB}" type="presParOf" srcId="{A4CFA0E9-9AC1-471C-900D-B01D048D73F8}" destId="{A2EE63C8-392A-4C38-AE60-E877666306EF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600968-D933-45D9-B517-2E83FB82458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D9286562-2E93-436D-A274-DDC712A9D4EC}">
      <dgm:prSet phldrT="[Text]"/>
      <dgm:spPr/>
      <dgm:t>
        <a:bodyPr/>
        <a:lstStyle/>
        <a:p>
          <a:r>
            <a:rPr lang="en-US" dirty="0"/>
            <a:t>Analysis &amp; Design</a:t>
          </a:r>
        </a:p>
      </dgm:t>
    </dgm:pt>
    <dgm:pt modelId="{521A30E3-02A3-4546-BBDA-92C0832167CA}" type="parTrans" cxnId="{0D1EC54C-F4E8-4B82-818C-B5FB87D1FD07}">
      <dgm:prSet/>
      <dgm:spPr/>
      <dgm:t>
        <a:bodyPr/>
        <a:lstStyle/>
        <a:p>
          <a:endParaRPr lang="en-US"/>
        </a:p>
      </dgm:t>
    </dgm:pt>
    <dgm:pt modelId="{FFEB2C85-86DA-4D1B-A281-A79A293BA666}" type="sibTrans" cxnId="{0D1EC54C-F4E8-4B82-818C-B5FB87D1FD07}">
      <dgm:prSet/>
      <dgm:spPr/>
      <dgm:t>
        <a:bodyPr/>
        <a:lstStyle/>
        <a:p>
          <a:endParaRPr lang="en-US"/>
        </a:p>
      </dgm:t>
    </dgm:pt>
    <dgm:pt modelId="{99DA8DBB-4D89-4723-AE93-9F6E996061BD}">
      <dgm:prSet phldrT="[Text]"/>
      <dgm:spPr/>
      <dgm:t>
        <a:bodyPr/>
        <a:lstStyle/>
        <a:p>
          <a:r>
            <a:rPr lang="en-US" dirty="0"/>
            <a:t>Code &amp; Test</a:t>
          </a:r>
        </a:p>
      </dgm:t>
    </dgm:pt>
    <dgm:pt modelId="{4EBF84AA-CAC0-4405-9D03-EE56ADDE266A}" type="parTrans" cxnId="{4BD85561-9A4A-48DD-A29E-00CEB0555DE6}">
      <dgm:prSet/>
      <dgm:spPr/>
      <dgm:t>
        <a:bodyPr/>
        <a:lstStyle/>
        <a:p>
          <a:endParaRPr lang="en-US"/>
        </a:p>
      </dgm:t>
    </dgm:pt>
    <dgm:pt modelId="{D6CDD743-058F-4E1B-B871-C2A0D96E89F5}" type="sibTrans" cxnId="{4BD85561-9A4A-48DD-A29E-00CEB0555DE6}">
      <dgm:prSet/>
      <dgm:spPr/>
      <dgm:t>
        <a:bodyPr/>
        <a:lstStyle/>
        <a:p>
          <a:endParaRPr lang="en-US"/>
        </a:p>
      </dgm:t>
    </dgm:pt>
    <dgm:pt modelId="{A1C14EFF-4BB5-44DF-B4B7-144344468608}" type="pres">
      <dgm:prSet presAssocID="{94600968-D933-45D9-B517-2E83FB824583}" presName="CompostProcess" presStyleCnt="0">
        <dgm:presLayoutVars>
          <dgm:dir/>
          <dgm:resizeHandles val="exact"/>
        </dgm:presLayoutVars>
      </dgm:prSet>
      <dgm:spPr/>
    </dgm:pt>
    <dgm:pt modelId="{FA3F0EE8-48A7-4D12-A5B6-AF5B6AC94340}" type="pres">
      <dgm:prSet presAssocID="{94600968-D933-45D9-B517-2E83FB824583}" presName="arrow" presStyleLbl="bgShp" presStyleIdx="0" presStyleCnt="1" custScaleX="117647" custLinFactNeighborX="-8475" custLinFactNeighborY="32287"/>
      <dgm:spPr/>
    </dgm:pt>
    <dgm:pt modelId="{A4CFA0E9-9AC1-471C-900D-B01D048D73F8}" type="pres">
      <dgm:prSet presAssocID="{94600968-D933-45D9-B517-2E83FB824583}" presName="linearProcess" presStyleCnt="0"/>
      <dgm:spPr/>
    </dgm:pt>
    <dgm:pt modelId="{F4D4D1C0-2609-49C5-BA32-0A91C3A8FD95}" type="pres">
      <dgm:prSet presAssocID="{D9286562-2E93-436D-A274-DDC712A9D4EC}" presName="textNode" presStyleLbl="node1" presStyleIdx="0" presStyleCnt="2" custLinFactX="-36983" custLinFactNeighborX="-100000" custLinFactNeighborY="-214">
        <dgm:presLayoutVars>
          <dgm:bulletEnabled val="1"/>
        </dgm:presLayoutVars>
      </dgm:prSet>
      <dgm:spPr/>
    </dgm:pt>
    <dgm:pt modelId="{58C4B660-CAD3-4D85-870E-F7A8F26EE7FB}" type="pres">
      <dgm:prSet presAssocID="{FFEB2C85-86DA-4D1B-A281-A79A293BA666}" presName="sibTrans" presStyleCnt="0"/>
      <dgm:spPr/>
    </dgm:pt>
    <dgm:pt modelId="{A2EE63C8-392A-4C38-AE60-E877666306EF}" type="pres">
      <dgm:prSet presAssocID="{99DA8DBB-4D89-4723-AE93-9F6E996061BD}" presName="textNode" presStyleLbl="node1" presStyleIdx="1" presStyleCnt="2" custLinFactX="-18199" custLinFactNeighborX="-100000" custLinFactNeighborY="1507">
        <dgm:presLayoutVars>
          <dgm:bulletEnabled val="1"/>
        </dgm:presLayoutVars>
      </dgm:prSet>
      <dgm:spPr/>
    </dgm:pt>
  </dgm:ptLst>
  <dgm:cxnLst>
    <dgm:cxn modelId="{4BD85561-9A4A-48DD-A29E-00CEB0555DE6}" srcId="{94600968-D933-45D9-B517-2E83FB824583}" destId="{99DA8DBB-4D89-4723-AE93-9F6E996061BD}" srcOrd="1" destOrd="0" parTransId="{4EBF84AA-CAC0-4405-9D03-EE56ADDE266A}" sibTransId="{D6CDD743-058F-4E1B-B871-C2A0D96E89F5}"/>
    <dgm:cxn modelId="{0D1EC54C-F4E8-4B82-818C-B5FB87D1FD07}" srcId="{94600968-D933-45D9-B517-2E83FB824583}" destId="{D9286562-2E93-436D-A274-DDC712A9D4EC}" srcOrd="0" destOrd="0" parTransId="{521A30E3-02A3-4546-BBDA-92C0832167CA}" sibTransId="{FFEB2C85-86DA-4D1B-A281-A79A293BA666}"/>
    <dgm:cxn modelId="{41C5FB85-3829-436C-979B-2F0688AAFD3E}" type="presOf" srcId="{94600968-D933-45D9-B517-2E83FB824583}" destId="{A1C14EFF-4BB5-44DF-B4B7-144344468608}" srcOrd="0" destOrd="0" presId="urn:microsoft.com/office/officeart/2005/8/layout/hProcess9"/>
    <dgm:cxn modelId="{3E17F48F-ECBB-42A2-B640-31EAF0E4AEAC}" type="presOf" srcId="{D9286562-2E93-436D-A274-DDC712A9D4EC}" destId="{F4D4D1C0-2609-49C5-BA32-0A91C3A8FD95}" srcOrd="0" destOrd="0" presId="urn:microsoft.com/office/officeart/2005/8/layout/hProcess9"/>
    <dgm:cxn modelId="{C96DBEFD-5F4F-4C61-837F-E25373D89BF0}" type="presOf" srcId="{99DA8DBB-4D89-4723-AE93-9F6E996061BD}" destId="{A2EE63C8-392A-4C38-AE60-E877666306EF}" srcOrd="0" destOrd="0" presId="urn:microsoft.com/office/officeart/2005/8/layout/hProcess9"/>
    <dgm:cxn modelId="{48321DF8-7DA7-4025-9E46-5844E2697F8A}" type="presParOf" srcId="{A1C14EFF-4BB5-44DF-B4B7-144344468608}" destId="{FA3F0EE8-48A7-4D12-A5B6-AF5B6AC94340}" srcOrd="0" destOrd="0" presId="urn:microsoft.com/office/officeart/2005/8/layout/hProcess9"/>
    <dgm:cxn modelId="{009CF7F2-6983-4BB9-B581-2648C4D0B422}" type="presParOf" srcId="{A1C14EFF-4BB5-44DF-B4B7-144344468608}" destId="{A4CFA0E9-9AC1-471C-900D-B01D048D73F8}" srcOrd="1" destOrd="0" presId="urn:microsoft.com/office/officeart/2005/8/layout/hProcess9"/>
    <dgm:cxn modelId="{FBFF0FC8-0605-41AF-B1CA-86B745AFDF1A}" type="presParOf" srcId="{A4CFA0E9-9AC1-471C-900D-B01D048D73F8}" destId="{F4D4D1C0-2609-49C5-BA32-0A91C3A8FD95}" srcOrd="0" destOrd="0" presId="urn:microsoft.com/office/officeart/2005/8/layout/hProcess9"/>
    <dgm:cxn modelId="{96726EC6-52DD-44B8-A5C4-B1839D999A17}" type="presParOf" srcId="{A4CFA0E9-9AC1-471C-900D-B01D048D73F8}" destId="{58C4B660-CAD3-4D85-870E-F7A8F26EE7FB}" srcOrd="1" destOrd="0" presId="urn:microsoft.com/office/officeart/2005/8/layout/hProcess9"/>
    <dgm:cxn modelId="{B47F7D3D-CD39-4EF9-A81B-EED98F10B5FB}" type="presParOf" srcId="{A4CFA0E9-9AC1-471C-900D-B01D048D73F8}" destId="{A2EE63C8-392A-4C38-AE60-E877666306EF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3F0EE8-48A7-4D12-A5B6-AF5B6AC94340}">
      <dsp:nvSpPr>
        <dsp:cNvPr id="0" name=""/>
        <dsp:cNvSpPr/>
      </dsp:nvSpPr>
      <dsp:spPr>
        <a:xfrm>
          <a:off x="0" y="0"/>
          <a:ext cx="8801889" cy="164400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4D1C0-2609-49C5-BA32-0A91C3A8FD95}">
      <dsp:nvSpPr>
        <dsp:cNvPr id="0" name=""/>
        <dsp:cNvSpPr/>
      </dsp:nvSpPr>
      <dsp:spPr>
        <a:xfrm>
          <a:off x="87494" y="491794"/>
          <a:ext cx="2833109" cy="657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Analysis &amp; Design</a:t>
          </a:r>
        </a:p>
      </dsp:txBody>
      <dsp:txXfrm>
        <a:off x="119595" y="523895"/>
        <a:ext cx="2768907" cy="593400"/>
      </dsp:txXfrm>
    </dsp:sp>
    <dsp:sp modelId="{A2EE63C8-392A-4C38-AE60-E877666306EF}">
      <dsp:nvSpPr>
        <dsp:cNvPr id="0" name=""/>
        <dsp:cNvSpPr/>
      </dsp:nvSpPr>
      <dsp:spPr>
        <a:xfrm>
          <a:off x="3741158" y="503111"/>
          <a:ext cx="2833109" cy="657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Code &amp; Test</a:t>
          </a:r>
        </a:p>
      </dsp:txBody>
      <dsp:txXfrm>
        <a:off x="3773259" y="535212"/>
        <a:ext cx="2768907" cy="593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3F0EE8-48A7-4D12-A5B6-AF5B6AC94340}">
      <dsp:nvSpPr>
        <dsp:cNvPr id="0" name=""/>
        <dsp:cNvSpPr/>
      </dsp:nvSpPr>
      <dsp:spPr>
        <a:xfrm>
          <a:off x="0" y="0"/>
          <a:ext cx="8801889" cy="164400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4D1C0-2609-49C5-BA32-0A91C3A8FD95}">
      <dsp:nvSpPr>
        <dsp:cNvPr id="0" name=""/>
        <dsp:cNvSpPr/>
      </dsp:nvSpPr>
      <dsp:spPr>
        <a:xfrm>
          <a:off x="87494" y="491794"/>
          <a:ext cx="2833109" cy="657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Analysis &amp; Design</a:t>
          </a:r>
        </a:p>
      </dsp:txBody>
      <dsp:txXfrm>
        <a:off x="119595" y="523895"/>
        <a:ext cx="2768907" cy="593400"/>
      </dsp:txXfrm>
    </dsp:sp>
    <dsp:sp modelId="{A2EE63C8-392A-4C38-AE60-E877666306EF}">
      <dsp:nvSpPr>
        <dsp:cNvPr id="0" name=""/>
        <dsp:cNvSpPr/>
      </dsp:nvSpPr>
      <dsp:spPr>
        <a:xfrm>
          <a:off x="3741158" y="503111"/>
          <a:ext cx="2833109" cy="657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Code &amp; Test</a:t>
          </a:r>
        </a:p>
      </dsp:txBody>
      <dsp:txXfrm>
        <a:off x="3773259" y="535212"/>
        <a:ext cx="2768907" cy="593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3F0EE8-48A7-4D12-A5B6-AF5B6AC94340}">
      <dsp:nvSpPr>
        <dsp:cNvPr id="0" name=""/>
        <dsp:cNvSpPr/>
      </dsp:nvSpPr>
      <dsp:spPr>
        <a:xfrm>
          <a:off x="0" y="0"/>
          <a:ext cx="8801889" cy="164400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4D1C0-2609-49C5-BA32-0A91C3A8FD95}">
      <dsp:nvSpPr>
        <dsp:cNvPr id="0" name=""/>
        <dsp:cNvSpPr/>
      </dsp:nvSpPr>
      <dsp:spPr>
        <a:xfrm>
          <a:off x="87494" y="491794"/>
          <a:ext cx="2833109" cy="657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Analysis &amp; Design</a:t>
          </a:r>
        </a:p>
      </dsp:txBody>
      <dsp:txXfrm>
        <a:off x="119595" y="523895"/>
        <a:ext cx="2768907" cy="593400"/>
      </dsp:txXfrm>
    </dsp:sp>
    <dsp:sp modelId="{A2EE63C8-392A-4C38-AE60-E877666306EF}">
      <dsp:nvSpPr>
        <dsp:cNvPr id="0" name=""/>
        <dsp:cNvSpPr/>
      </dsp:nvSpPr>
      <dsp:spPr>
        <a:xfrm>
          <a:off x="3741158" y="503111"/>
          <a:ext cx="2833109" cy="657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Code &amp; Test</a:t>
          </a:r>
        </a:p>
      </dsp:txBody>
      <dsp:txXfrm>
        <a:off x="3773259" y="535212"/>
        <a:ext cx="2768907" cy="593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1899EF-04A0-4C3D-A21C-B91B61A4A7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0B8FD-5C21-44AD-B305-B64D1D685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82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Created</a:t>
            </a:r>
            <a:r>
              <a:rPr lang="en-US" baseline="0" dirty="0"/>
              <a:t> 2021 by Mark Wallace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B8FD-5C21-44AD-B305-B64D1D685A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44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F74C-40A5-47E5-91FF-ABF0A670D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5D264-655C-451F-AECD-CDA57BFD6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8C7DB-BFC6-47A3-9959-6D4A2ED1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Copyright Semantic Arts, 2021,2025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7E748-54BD-43B1-B285-3F5096D2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3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46C1-BA06-40CF-B7F3-C9CDF83C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F8AB5-6B81-4E96-857A-6DA337E74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C2191-A5AD-4EE7-B3E9-6470164F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Copyright Semantic Arts, 2021,2025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3C8F3-ADA3-43C8-9DC8-E44596174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56AE17-356D-48AC-91AF-4E1497058FCD}"/>
              </a:ext>
            </a:extLst>
          </p:cNvPr>
          <p:cNvCxnSpPr>
            <a:cxnSpLocks/>
          </p:cNvCxnSpPr>
          <p:nvPr/>
        </p:nvCxnSpPr>
        <p:spPr>
          <a:xfrm>
            <a:off x="630552" y="585788"/>
            <a:ext cx="0" cy="900112"/>
          </a:xfrm>
          <a:prstGeom prst="line">
            <a:avLst/>
          </a:prstGeom>
          <a:ln w="57150">
            <a:solidFill>
              <a:srgbClr val="4BA7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426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9227-A58F-4225-B695-9390A9F09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913CA-AD23-4886-AA60-40318C22B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F27C-B0EB-4CC6-8CFE-EC56AAA4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Copyright Semantic Arts, 2021,2025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D12A5-F1EA-4344-9535-4D667AA7E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51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2524-FAEF-4E37-9A2C-8314D91F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A3985-21C6-41A4-B810-215897F47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14C28-C293-4CA5-9C5C-D1A509E0A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3FF8E-5FD3-4F55-A5AB-D942ED97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Copyright Semantic Arts, 2021,2025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FCE35-7920-43D4-8D7E-F7542B9BD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7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8184-E19D-48CF-95EE-1F55C21D0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7722D-C505-4C43-8154-A522200FA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A0F63-94EE-4C04-A81E-C435394EB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439B95-4F4A-448B-A6C4-E8700C994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EFB0AA-664B-457C-A7F1-40C2B1F7D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8D0557-4470-4171-AE03-A59A1A4F9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Copyright Semantic Arts, 2021,2025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42C8C-57EF-488A-B4D1-50547001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5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C094B-AED4-4E92-9729-9F941B979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C559EF-6BBB-4FD1-995C-6DD0E0A35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Copyright Semantic Arts, 2021,2025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4E61A-E163-4409-B378-2A71E07D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9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BCE7D1-C2C6-47ED-B5D6-15F8DFEA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Copyright Semantic Arts, 2021,2025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D43AF-1C3E-47F1-BCCF-A69D4166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57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D1719-F939-4070-A3CF-A71B6F6C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E4E0B-D10B-4063-9771-9A8E7C217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9252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8189E-5EE3-4666-97DD-0108BEFF5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39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(c) Copyright Semantic Arts, 2021,2025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9694-4C3F-4BA4-A8EC-6EEB38173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10632" y="6356350"/>
            <a:ext cx="1371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60DAC-B492-4B15-9E6C-397EB27105C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FBD69-9833-4408-90C4-A04D715CB2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9863" y="5864581"/>
            <a:ext cx="1566862" cy="80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331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E52513-371F-41AD-8162-16D51877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599"/>
          </a:xfrm>
        </p:spPr>
        <p:txBody>
          <a:bodyPr/>
          <a:lstStyle/>
          <a:p>
            <a:r>
              <a:rPr lang="en-US" dirty="0"/>
              <a:t>SA Methodology Artifacts 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3F9F21-F4D6-4341-980A-8625E8D0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976" y="3068935"/>
            <a:ext cx="1931126" cy="2009609"/>
          </a:xfrm>
        </p:spPr>
        <p:txBody>
          <a:bodyPr>
            <a:normAutofit/>
          </a:bodyPr>
          <a:lstStyle/>
          <a:p>
            <a:r>
              <a:rPr lang="en-US" sz="2400" dirty="0"/>
              <a:t>CQs</a:t>
            </a:r>
          </a:p>
          <a:p>
            <a:r>
              <a:rPr lang="en-US" sz="2400" dirty="0"/>
              <a:t>Data</a:t>
            </a:r>
          </a:p>
          <a:p>
            <a:r>
              <a:rPr lang="en-US" sz="2400" dirty="0" err="1"/>
              <a:t>Parti</a:t>
            </a:r>
            <a:endParaRPr lang="en-US" sz="24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4500608-DC8D-42D0-8451-14AA576FFC1B}"/>
              </a:ext>
            </a:extLst>
          </p:cNvPr>
          <p:cNvSpPr txBox="1">
            <a:spLocks/>
          </p:cNvSpPr>
          <p:nvPr/>
        </p:nvSpPr>
        <p:spPr>
          <a:xfrm>
            <a:off x="6012974" y="3068935"/>
            <a:ext cx="4471852" cy="3246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Ontology</a:t>
            </a:r>
          </a:p>
          <a:p>
            <a:r>
              <a:rPr lang="en-US" sz="2400" dirty="0"/>
              <a:t>Taxonomies</a:t>
            </a:r>
          </a:p>
          <a:p>
            <a:r>
              <a:rPr lang="en-US" sz="2400" dirty="0"/>
              <a:t>Mappings</a:t>
            </a:r>
          </a:p>
          <a:p>
            <a:r>
              <a:rPr lang="en-US" sz="2400" dirty="0"/>
              <a:t>RDF (Generated)</a:t>
            </a:r>
          </a:p>
          <a:p>
            <a:r>
              <a:rPr lang="en-US" sz="2400" dirty="0"/>
              <a:t>(SHACL: Validation)</a:t>
            </a:r>
          </a:p>
          <a:p>
            <a:r>
              <a:rPr lang="en-US" sz="2400" dirty="0"/>
              <a:t>(SPARQL: CQ and/or Validation)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D1A8B39-C14A-45E9-B4D8-CDD3690972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3233407"/>
              </p:ext>
            </p:extLst>
          </p:nvPr>
        </p:nvGraphicFramePr>
        <p:xfrm>
          <a:off x="1378131" y="1685944"/>
          <a:ext cx="8801894" cy="1644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AA96C9E-6734-4708-A2F4-91884134A6D0}"/>
              </a:ext>
            </a:extLst>
          </p:cNvPr>
          <p:cNvSpPr txBox="1"/>
          <p:nvPr/>
        </p:nvSpPr>
        <p:spPr>
          <a:xfrm>
            <a:off x="1073330" y="1330999"/>
            <a:ext cx="7785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1"/>
                </a:solidFill>
              </a:rPr>
              <a:t>Project cycle or Agile cycle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69CAE8-6561-4F3D-AC82-0616FEB3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BE5E82-3B16-4611-BAB8-71A085C94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Copyright Semantic Arts, 2021,2025</a:t>
            </a:r>
          </a:p>
        </p:txBody>
      </p:sp>
    </p:spTree>
    <p:extLst>
      <p:ext uri="{BB962C8B-B14F-4D97-AF65-F5344CB8AC3E}">
        <p14:creationId xmlns:p14="http://schemas.microsoft.com/office/powerpoint/2010/main" val="235843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E52513-371F-41AD-8162-16D51877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599"/>
          </a:xfrm>
        </p:spPr>
        <p:txBody>
          <a:bodyPr/>
          <a:lstStyle/>
          <a:p>
            <a:r>
              <a:rPr lang="en-US" dirty="0"/>
              <a:t>SA Methodology Artifacts 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3F9F21-F4D6-4341-980A-8625E8D0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976" y="3068935"/>
            <a:ext cx="1931126" cy="2009609"/>
          </a:xfrm>
        </p:spPr>
        <p:txBody>
          <a:bodyPr>
            <a:normAutofit/>
          </a:bodyPr>
          <a:lstStyle/>
          <a:p>
            <a:r>
              <a:rPr lang="en-US" sz="2400" dirty="0"/>
              <a:t>CQs</a:t>
            </a:r>
          </a:p>
          <a:p>
            <a:r>
              <a:rPr lang="en-US" sz="2400" dirty="0"/>
              <a:t>Data</a:t>
            </a:r>
          </a:p>
          <a:p>
            <a:r>
              <a:rPr lang="en-US" sz="2400" dirty="0" err="1"/>
              <a:t>Parti</a:t>
            </a:r>
            <a:endParaRPr lang="en-US" sz="24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4500608-DC8D-42D0-8451-14AA576FFC1B}"/>
              </a:ext>
            </a:extLst>
          </p:cNvPr>
          <p:cNvSpPr txBox="1">
            <a:spLocks/>
          </p:cNvSpPr>
          <p:nvPr/>
        </p:nvSpPr>
        <p:spPr>
          <a:xfrm>
            <a:off x="6012974" y="3068935"/>
            <a:ext cx="4471852" cy="3246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Ontology</a:t>
            </a:r>
          </a:p>
          <a:p>
            <a:r>
              <a:rPr lang="en-US" sz="2400" dirty="0"/>
              <a:t>Taxonomies</a:t>
            </a:r>
          </a:p>
          <a:p>
            <a:r>
              <a:rPr lang="en-US" sz="2400" dirty="0"/>
              <a:t>Mappings</a:t>
            </a:r>
          </a:p>
          <a:p>
            <a:r>
              <a:rPr lang="en-US" sz="2400" dirty="0"/>
              <a:t>RDF (Generated)</a:t>
            </a:r>
          </a:p>
          <a:p>
            <a:r>
              <a:rPr lang="en-US" sz="2400" dirty="0"/>
              <a:t>(SHACL: Validation)</a:t>
            </a:r>
          </a:p>
          <a:p>
            <a:r>
              <a:rPr lang="en-US" sz="2400" dirty="0"/>
              <a:t>(SPARQL: CQ and/or Validation)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D1A8B39-C14A-45E9-B4D8-CDD369097240}"/>
              </a:ext>
            </a:extLst>
          </p:cNvPr>
          <p:cNvGraphicFramePr/>
          <p:nvPr/>
        </p:nvGraphicFramePr>
        <p:xfrm>
          <a:off x="1378131" y="1685944"/>
          <a:ext cx="8801894" cy="1644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AA96C9E-6734-4708-A2F4-91884134A6D0}"/>
              </a:ext>
            </a:extLst>
          </p:cNvPr>
          <p:cNvSpPr txBox="1"/>
          <p:nvPr/>
        </p:nvSpPr>
        <p:spPr>
          <a:xfrm>
            <a:off x="1073330" y="1330999"/>
            <a:ext cx="7785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1"/>
                </a:solidFill>
              </a:rPr>
              <a:t>Project cycle or Agile cycle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69CAE8-6561-4F3D-AC82-0616FEB3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2</a:t>
            </a:fld>
            <a:endParaRPr lang="en-US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E5063D25-B07F-4429-8DCE-3F1D7ACC3629}"/>
              </a:ext>
            </a:extLst>
          </p:cNvPr>
          <p:cNvSpPr/>
          <p:nvPr/>
        </p:nvSpPr>
        <p:spPr>
          <a:xfrm>
            <a:off x="5564777" y="1162724"/>
            <a:ext cx="6244046" cy="822830"/>
          </a:xfrm>
          <a:prstGeom prst="wedgeRoundRectCallout">
            <a:avLst>
              <a:gd name="adj1" fmla="val -56278"/>
              <a:gd name="adj2" fmla="val 525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projects will be waterfall-</a:t>
            </a:r>
            <a:r>
              <a:rPr lang="en-US" dirty="0" err="1"/>
              <a:t>ish</a:t>
            </a:r>
            <a:r>
              <a:rPr lang="en-US" dirty="0"/>
              <a:t>, doing this cycle one time to produce an overall result in a few months.  Others will be agile, with this cycle occurring possibly every sprint (2-4 weeks).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BD94F53E-AA14-44E7-B069-BA764CC9E7E4}"/>
              </a:ext>
            </a:extLst>
          </p:cNvPr>
          <p:cNvSpPr/>
          <p:nvPr/>
        </p:nvSpPr>
        <p:spPr>
          <a:xfrm>
            <a:off x="3431177" y="2800908"/>
            <a:ext cx="5553893" cy="883986"/>
          </a:xfrm>
          <a:prstGeom prst="wedgeRoundRectCallout">
            <a:avLst>
              <a:gd name="adj1" fmla="val -58998"/>
              <a:gd name="adj2" fmla="val 1319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Solicit and document Competency Questions, i.e., things the resulting knowledge graph (KG) should be able to answer when completed.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260413E1-CAC8-4FE7-B9B8-E1ABB73C7506}"/>
              </a:ext>
            </a:extLst>
          </p:cNvPr>
          <p:cNvSpPr/>
          <p:nvPr/>
        </p:nvSpPr>
        <p:spPr>
          <a:xfrm>
            <a:off x="3431177" y="3623952"/>
            <a:ext cx="5704114" cy="477600"/>
          </a:xfrm>
          <a:prstGeom prst="wedgeRoundRectCallout">
            <a:avLst>
              <a:gd name="adj1" fmla="val -58311"/>
              <a:gd name="adj2" fmla="val -1962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Solicit and analyze existing data to be brought into the KG.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14E23BB8-E1E2-4C8F-8317-215DB7D128EA}"/>
              </a:ext>
            </a:extLst>
          </p:cNvPr>
          <p:cNvSpPr/>
          <p:nvPr/>
        </p:nvSpPr>
        <p:spPr>
          <a:xfrm>
            <a:off x="3356065" y="4127103"/>
            <a:ext cx="5779225" cy="862166"/>
          </a:xfrm>
          <a:prstGeom prst="wedgeRoundRectCallout">
            <a:avLst>
              <a:gd name="adj1" fmla="val -57395"/>
              <a:gd name="adj2" fmla="val -2922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Diagram the key classes, attributes, and relationships of the envisioned ontology that will answer the CQs.</a:t>
            </a:r>
          </a:p>
          <a:p>
            <a:pPr algn="ctr"/>
            <a:r>
              <a:rPr lang="en-US" dirty="0"/>
              <a:t>Review it with the customer before moving to Code &amp; Test.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E58A4BE-40E3-4F0C-8031-8929178B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Copyright Semantic Arts, 2021,2025</a:t>
            </a:r>
          </a:p>
        </p:txBody>
      </p:sp>
    </p:spTree>
    <p:extLst>
      <p:ext uri="{BB962C8B-B14F-4D97-AF65-F5344CB8AC3E}">
        <p14:creationId xmlns:p14="http://schemas.microsoft.com/office/powerpoint/2010/main" val="34543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E52513-371F-41AD-8162-16D51877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599"/>
          </a:xfrm>
        </p:spPr>
        <p:txBody>
          <a:bodyPr/>
          <a:lstStyle/>
          <a:p>
            <a:r>
              <a:rPr lang="en-US" dirty="0"/>
              <a:t>SA Methodology Artifacts 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3F9F21-F4D6-4341-980A-8625E8D0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976" y="3068935"/>
            <a:ext cx="1931126" cy="2009609"/>
          </a:xfrm>
        </p:spPr>
        <p:txBody>
          <a:bodyPr>
            <a:normAutofit/>
          </a:bodyPr>
          <a:lstStyle/>
          <a:p>
            <a:r>
              <a:rPr lang="en-US" sz="2400" dirty="0"/>
              <a:t>CQs</a:t>
            </a:r>
          </a:p>
          <a:p>
            <a:r>
              <a:rPr lang="en-US" sz="2400" dirty="0"/>
              <a:t>Data</a:t>
            </a:r>
          </a:p>
          <a:p>
            <a:r>
              <a:rPr lang="en-US" sz="2400" dirty="0"/>
              <a:t>Parti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4500608-DC8D-42D0-8451-14AA576FFC1B}"/>
              </a:ext>
            </a:extLst>
          </p:cNvPr>
          <p:cNvSpPr txBox="1">
            <a:spLocks/>
          </p:cNvSpPr>
          <p:nvPr/>
        </p:nvSpPr>
        <p:spPr>
          <a:xfrm>
            <a:off x="6012974" y="3068935"/>
            <a:ext cx="4471852" cy="3246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Ontology</a:t>
            </a:r>
          </a:p>
          <a:p>
            <a:r>
              <a:rPr lang="en-US" sz="2400" dirty="0"/>
              <a:t>Taxonomies</a:t>
            </a:r>
          </a:p>
          <a:p>
            <a:r>
              <a:rPr lang="en-US" sz="2400" dirty="0"/>
              <a:t>Mappings</a:t>
            </a:r>
          </a:p>
          <a:p>
            <a:r>
              <a:rPr lang="en-US" sz="2400" dirty="0"/>
              <a:t>RDF (Generated)</a:t>
            </a:r>
          </a:p>
          <a:p>
            <a:r>
              <a:rPr lang="en-US" sz="2400" dirty="0"/>
              <a:t>(SHACL: Validation)</a:t>
            </a:r>
          </a:p>
          <a:p>
            <a:r>
              <a:rPr lang="en-US" sz="2400" dirty="0"/>
              <a:t>(SPARQL: CQ and/or Validation)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D1A8B39-C14A-45E9-B4D8-CDD369097240}"/>
              </a:ext>
            </a:extLst>
          </p:cNvPr>
          <p:cNvGraphicFramePr/>
          <p:nvPr/>
        </p:nvGraphicFramePr>
        <p:xfrm>
          <a:off x="1378131" y="1685944"/>
          <a:ext cx="8801894" cy="1644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AA96C9E-6734-4708-A2F4-91884134A6D0}"/>
              </a:ext>
            </a:extLst>
          </p:cNvPr>
          <p:cNvSpPr txBox="1"/>
          <p:nvPr/>
        </p:nvSpPr>
        <p:spPr>
          <a:xfrm>
            <a:off x="1073330" y="1330999"/>
            <a:ext cx="7785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1"/>
                </a:solidFill>
              </a:rPr>
              <a:t>Project cycle or Agile cycle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69CAE8-6561-4F3D-AC82-0616FEB3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3</a:t>
            </a:fld>
            <a:endParaRPr lang="en-US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BD94F53E-AA14-44E7-B069-BA764CC9E7E4}"/>
              </a:ext>
            </a:extLst>
          </p:cNvPr>
          <p:cNvSpPr/>
          <p:nvPr/>
        </p:nvSpPr>
        <p:spPr>
          <a:xfrm>
            <a:off x="225185" y="2731992"/>
            <a:ext cx="5553893" cy="910399"/>
          </a:xfrm>
          <a:prstGeom prst="wedgeRoundRectCallout">
            <a:avLst>
              <a:gd name="adj1" fmla="val 56016"/>
              <a:gd name="adj2" fmla="val 1665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the agreed-upon Ontology in OWL or SHACL (as desired by client).  This should include labels, text definitions, and formal definitions.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7C0322E4-B78E-4626-88B0-ED76AA605008}"/>
              </a:ext>
            </a:extLst>
          </p:cNvPr>
          <p:cNvSpPr/>
          <p:nvPr/>
        </p:nvSpPr>
        <p:spPr>
          <a:xfrm>
            <a:off x="225185" y="3642391"/>
            <a:ext cx="5543006" cy="640964"/>
          </a:xfrm>
          <a:prstGeom prst="wedgeRoundRectCallout">
            <a:avLst>
              <a:gd name="adj1" fmla="val 57897"/>
              <a:gd name="adj2" fmla="val -5104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any needed Taxonomies (aka "</a:t>
            </a:r>
            <a:r>
              <a:rPr lang="en-US" dirty="0" err="1"/>
              <a:t>CBoxes</a:t>
            </a:r>
            <a:r>
              <a:rPr lang="en-US" dirty="0"/>
              <a:t>"), often using SKOS, </a:t>
            </a:r>
            <a:r>
              <a:rPr lang="en-US" dirty="0" err="1"/>
              <a:t>gist:Category</a:t>
            </a:r>
            <a:r>
              <a:rPr lang="en-US" dirty="0"/>
              <a:t>, or a combination of both. 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FA38B868-ED84-43D1-9724-B3209B8F2C13}"/>
              </a:ext>
            </a:extLst>
          </p:cNvPr>
          <p:cNvSpPr/>
          <p:nvPr/>
        </p:nvSpPr>
        <p:spPr>
          <a:xfrm>
            <a:off x="206036" y="4291778"/>
            <a:ext cx="5543006" cy="786766"/>
          </a:xfrm>
          <a:prstGeom prst="wedgeRoundRectCallout">
            <a:avLst>
              <a:gd name="adj1" fmla="val 57897"/>
              <a:gd name="adj2" fmla="val -5104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mappings from exiting data to the RDF "instance model" (aka "</a:t>
            </a:r>
            <a:r>
              <a:rPr lang="en-US" dirty="0" err="1"/>
              <a:t>ABox</a:t>
            </a:r>
            <a:r>
              <a:rPr lang="en-US" dirty="0"/>
              <a:t>"), using </a:t>
            </a:r>
            <a:r>
              <a:rPr lang="en-US" dirty="0" err="1"/>
              <a:t>Tarql</a:t>
            </a:r>
            <a:r>
              <a:rPr lang="en-US" dirty="0"/>
              <a:t>, R2RML, RML, </a:t>
            </a:r>
            <a:r>
              <a:rPr lang="en-US" dirty="0" err="1"/>
              <a:t>Stardog</a:t>
            </a:r>
            <a:r>
              <a:rPr lang="en-US" dirty="0"/>
              <a:t> SMS, etc.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3EA0EABD-1BDE-46A8-A696-09C9DCA65075}"/>
              </a:ext>
            </a:extLst>
          </p:cNvPr>
          <p:cNvSpPr/>
          <p:nvPr/>
        </p:nvSpPr>
        <p:spPr>
          <a:xfrm>
            <a:off x="7950200" y="2770093"/>
            <a:ext cx="4241800" cy="1408934"/>
          </a:xfrm>
          <a:prstGeom prst="wedgeRoundRectCallout">
            <a:avLst>
              <a:gd name="adj1" fmla="val -48822"/>
              <a:gd name="adj2" fmla="val 7464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RDF will be generated, either as files for loading, or virtually on the fly from data sources.  Additionally, you may provide "RDF exemplars" prior to generation, </a:t>
            </a:r>
            <a:r>
              <a:rPr lang="en-US"/>
              <a:t>especially in Agile.</a:t>
            </a:r>
            <a:endParaRPr lang="en-US" dirty="0"/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D6102F5F-B6D8-4EF1-9185-C2C3E1C3FB98}"/>
              </a:ext>
            </a:extLst>
          </p:cNvPr>
          <p:cNvSpPr/>
          <p:nvPr/>
        </p:nvSpPr>
        <p:spPr>
          <a:xfrm>
            <a:off x="8884626" y="4396747"/>
            <a:ext cx="3200400" cy="681798"/>
          </a:xfrm>
          <a:prstGeom prst="wedgeRoundRectCallout">
            <a:avLst>
              <a:gd name="adj1" fmla="val -67078"/>
              <a:gd name="adj2" fmla="val 3857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client may request SHACL to validate the RDF.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84A5A29E-FE1A-4134-A60E-B8E5AA218F1B}"/>
              </a:ext>
            </a:extLst>
          </p:cNvPr>
          <p:cNvSpPr/>
          <p:nvPr/>
        </p:nvSpPr>
        <p:spPr>
          <a:xfrm>
            <a:off x="3162300" y="5725686"/>
            <a:ext cx="6350000" cy="1071990"/>
          </a:xfrm>
          <a:prstGeom prst="wedgeRoundRectCallout">
            <a:avLst>
              <a:gd name="adj1" fmla="val -786"/>
              <a:gd name="adj2" fmla="val -69788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 recommends generating SPARQL to: 1) Prove the CQs can be answered, and/or 2) to validate the resulting RDF </a:t>
            </a:r>
            <a:r>
              <a:rPr lang="en-US" dirty="0" err="1"/>
              <a:t>ABox</a:t>
            </a:r>
            <a:r>
              <a:rPr lang="en-US" dirty="0"/>
              <a:t> shapes in the KG (alternative to SHACL).  Your client may also ask you to assist their developers in writing SPARQL queries.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F7F9E-D83C-414B-A34F-2FC8B81D5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Copyright Semantic Arts, 2021,2025</a:t>
            </a:r>
          </a:p>
        </p:txBody>
      </p:sp>
    </p:spTree>
    <p:extLst>
      <p:ext uri="{BB962C8B-B14F-4D97-AF65-F5344CB8AC3E}">
        <p14:creationId xmlns:p14="http://schemas.microsoft.com/office/powerpoint/2010/main" val="116047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40EE-9624-2C56-1EB2-9F2F856F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</a:t>
            </a:r>
            <a:r>
              <a:rPr lang="en-US" baseline="0" dirty="0"/>
              <a:t> Methodology Stuff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C2A30-2FF6-CC38-1CFC-F0C818749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4646" cy="4351338"/>
          </a:xfrm>
        </p:spPr>
        <p:txBody>
          <a:bodyPr>
            <a:normAutofit/>
          </a:bodyPr>
          <a:lstStyle/>
          <a:p>
            <a:r>
              <a:rPr lang="en-US" dirty="0"/>
              <a:t>Avoid Proprietary Platform Features</a:t>
            </a:r>
          </a:p>
          <a:p>
            <a:r>
              <a:rPr lang="en-US" dirty="0"/>
              <a:t>Ontology:</a:t>
            </a:r>
          </a:p>
          <a:p>
            <a:pPr lvl="1"/>
            <a:r>
              <a:rPr lang="en-US" dirty="0"/>
              <a:t>Prefer small number of Concepts</a:t>
            </a:r>
          </a:p>
          <a:p>
            <a:pPr lvl="1"/>
            <a:r>
              <a:rPr lang="en-US" dirty="0"/>
              <a:t>'</a:t>
            </a:r>
            <a:r>
              <a:rPr lang="en-US" dirty="0" err="1"/>
              <a:t>Distinctionary</a:t>
            </a:r>
            <a:r>
              <a:rPr lang="en-US" dirty="0"/>
              <a:t>' class definitions</a:t>
            </a:r>
          </a:p>
          <a:p>
            <a:pPr lvl="1"/>
            <a:r>
              <a:rPr lang="en-US" dirty="0"/>
              <a:t>Avoid</a:t>
            </a:r>
            <a:r>
              <a:rPr lang="en-US" baseline="0" dirty="0"/>
              <a:t> inverse properties</a:t>
            </a:r>
          </a:p>
          <a:p>
            <a:pPr lvl="1"/>
            <a:r>
              <a:rPr lang="en-US" dirty="0"/>
              <a:t>Prefer reusable properties</a:t>
            </a:r>
          </a:p>
          <a:p>
            <a:pPr lvl="2"/>
            <a:r>
              <a:rPr lang="en-US" dirty="0"/>
              <a:t>e.g.: </a:t>
            </a:r>
            <a:r>
              <a:rPr lang="en-US" baseline="0" dirty="0"/>
              <a:t>owns, supports, </a:t>
            </a:r>
            <a:r>
              <a:rPr lang="en-US" baseline="0" dirty="0" err="1"/>
              <a:t>appliesTo</a:t>
            </a:r>
            <a:endParaRPr lang="en-US" dirty="0"/>
          </a:p>
          <a:p>
            <a:pPr lvl="2"/>
            <a:r>
              <a:rPr lang="en-US" baseline="0" dirty="0"/>
              <a:t>not:</a:t>
            </a:r>
            <a:r>
              <a:rPr lang="en-US" dirty="0"/>
              <a:t> </a:t>
            </a:r>
            <a:r>
              <a:rPr lang="en-US" dirty="0" err="1"/>
              <a:t>hasGovernanceStatus</a:t>
            </a:r>
            <a:endParaRPr lang="en-US" baseline="0" dirty="0"/>
          </a:p>
          <a:p>
            <a:pPr lvl="1"/>
            <a:r>
              <a:rPr lang="en-US" dirty="0"/>
              <a:t>Avoid RDFS domain/range</a:t>
            </a:r>
          </a:p>
          <a:p>
            <a:pPr lvl="1"/>
            <a:r>
              <a:rPr lang="en-US" dirty="0"/>
              <a:t>Class axioms for </a:t>
            </a:r>
            <a:r>
              <a:rPr lang="en-US" i="1" dirty="0"/>
              <a:t>meaning only, </a:t>
            </a:r>
            <a:r>
              <a:rPr lang="en-US" dirty="0"/>
              <a:t>SHACL for</a:t>
            </a:r>
            <a:r>
              <a:rPr lang="en-US" i="1" dirty="0"/>
              <a:t> validation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18A04-3B68-0E06-84CD-25A1182D2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Copyright Semantic Arts, 2021,2025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C0154-2D02-B8FC-61A3-2FD718A3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DBB4D1-C069-2917-8935-F490D981A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202" y="2973733"/>
            <a:ext cx="4307026" cy="14277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713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A4DE3-7D53-700D-B498-4986F974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Methodology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A30D3-740E-E763-CB1D-99C191FE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RDF Triples:</a:t>
            </a:r>
          </a:p>
          <a:p>
            <a:pPr lvl="1"/>
            <a:r>
              <a:rPr lang="en-US" baseline="0" dirty="0"/>
              <a:t>3 types of namespaces</a:t>
            </a:r>
          </a:p>
          <a:p>
            <a:pPr lvl="2"/>
            <a:r>
              <a:rPr lang="en-US" dirty="0"/>
              <a:t>Concept (no suffix char)</a:t>
            </a:r>
          </a:p>
          <a:p>
            <a:pPr lvl="2"/>
            <a:r>
              <a:rPr lang="en-US" dirty="0"/>
              <a:t>Taxonomy ('x', aka '</a:t>
            </a:r>
            <a:r>
              <a:rPr lang="en-US" dirty="0" err="1"/>
              <a:t>CBox</a:t>
            </a:r>
            <a:r>
              <a:rPr lang="en-US" dirty="0"/>
              <a:t>') </a:t>
            </a:r>
          </a:p>
          <a:p>
            <a:pPr lvl="2"/>
            <a:r>
              <a:rPr lang="en-US" dirty="0"/>
              <a:t>Data ('3', or 'd')</a:t>
            </a:r>
          </a:p>
          <a:p>
            <a:pPr lvl="1"/>
            <a:r>
              <a:rPr lang="en-US" dirty="0"/>
              <a:t>Avoid</a:t>
            </a:r>
            <a:r>
              <a:rPr lang="en-US" baseline="0" dirty="0"/>
              <a:t> Blank Nodes</a:t>
            </a:r>
          </a:p>
          <a:p>
            <a:pPr lvl="1"/>
            <a:r>
              <a:rPr lang="en-US" dirty="0"/>
              <a:t>Mid-fix IRIs (Human Interpretable)</a:t>
            </a:r>
          </a:p>
          <a:p>
            <a:pPr lvl="2"/>
            <a:r>
              <a:rPr lang="en-US" dirty="0"/>
              <a:t>e.g.: myorgx:_RiskRanking_P1</a:t>
            </a:r>
          </a:p>
          <a:p>
            <a:pPr lvl="2"/>
            <a:r>
              <a:rPr lang="en-US" dirty="0"/>
              <a:t>e.g.: myorg3:_DataElement_8a4f75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9CDA9-28E5-6FE0-3D71-2771516FB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Copyright Semantic Arts, 2021,2025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5B38C-C228-9DA9-C168-842FCC734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 descr="Introducing RDF and related standards">
            <a:extLst>
              <a:ext uri="{FF2B5EF4-FFF2-40B4-BE49-F238E27FC236}">
                <a16:creationId xmlns:a16="http://schemas.microsoft.com/office/drawing/2014/main" id="{3E7A70E6-236A-6850-76D3-95A1963C9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095" y="2560136"/>
            <a:ext cx="1721137" cy="1769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20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9849-B657-FE86-9C83-E9F16B05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</a:t>
            </a:r>
            <a:r>
              <a:rPr lang="en-US" baseline="0" dirty="0"/>
              <a:t> I Miss?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C6B2EF-4E81-8D61-861E-81533F13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Copyright Semantic Arts, 2021,2025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0E4DB-E138-5299-DC5C-230E22EC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0DAC-B492-4B15-9E6C-397EB27105C4}" type="slidenum">
              <a:rPr lang="en-US" smtClean="0"/>
              <a:t>6</a:t>
            </a:fld>
            <a:endParaRPr lang="en-US"/>
          </a:p>
        </p:txBody>
      </p:sp>
      <p:pic>
        <p:nvPicPr>
          <p:cNvPr id="2050" name="Picture 2" descr="Magnifying glass - Free communications ...">
            <a:extLst>
              <a:ext uri="{FF2B5EF4-FFF2-40B4-BE49-F238E27FC236}">
                <a16:creationId xmlns:a16="http://schemas.microsoft.com/office/drawing/2014/main" id="{D1C9A023-5FE7-A49D-8883-CF63A9E9B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88" y="252888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679458"/>
      </p:ext>
    </p:extLst>
  </p:cSld>
  <p:clrMapOvr>
    <a:masterClrMapping/>
  </p:clrMapOvr>
</p:sld>
</file>

<file path=ppt/theme/theme1.xml><?xml version="1.0" encoding="utf-8"?>
<a:theme xmlns:a="http://schemas.openxmlformats.org/drawingml/2006/main" name="SA New W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 New Wide.potx" id="{651A02F6-1C1B-4B12-82CC-FF8A465D1C41}" vid="{EA777DAB-69B9-4D93-8E22-0428F117EF0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 New Wide</Template>
  <TotalTime>195</TotalTime>
  <Words>571</Words>
  <Application>Microsoft Office PowerPoint</Application>
  <PresentationFormat>Widescreen</PresentationFormat>
  <Paragraphs>86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SA New Wide</vt:lpstr>
      <vt:lpstr>SA Methodology Artifacts Summary</vt:lpstr>
      <vt:lpstr>SA Methodology Artifacts Summary</vt:lpstr>
      <vt:lpstr>SA Methodology Artifacts Summary</vt:lpstr>
      <vt:lpstr>Other Methodology Stuff</vt:lpstr>
      <vt:lpstr>Other Methodology Stuff</vt:lpstr>
      <vt:lpstr>What Did I Miss?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 Methodology Artifacts Summary</dc:title>
  <dc:creator>Mark Wallace</dc:creator>
  <cp:lastModifiedBy>Mark Wallace</cp:lastModifiedBy>
  <cp:revision>13</cp:revision>
  <dcterms:created xsi:type="dcterms:W3CDTF">2021-10-06T13:44:51Z</dcterms:created>
  <dcterms:modified xsi:type="dcterms:W3CDTF">2025-04-29T18:02:07Z</dcterms:modified>
</cp:coreProperties>
</file>