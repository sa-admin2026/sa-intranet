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7"/>
  </p:notesMasterIdLst>
  <p:sldIdLst>
    <p:sldId id="256" r:id="rId2"/>
    <p:sldId id="268" r:id="rId3"/>
    <p:sldId id="258" r:id="rId4"/>
    <p:sldId id="260" r:id="rId5"/>
    <p:sldId id="259" r:id="rId6"/>
    <p:sldId id="266" r:id="rId7"/>
    <p:sldId id="267" r:id="rId8"/>
    <p:sldId id="261" r:id="rId9"/>
    <p:sldId id="269" r:id="rId10"/>
    <p:sldId id="270" r:id="rId11"/>
    <p:sldId id="262" r:id="rId12"/>
    <p:sldId id="272" r:id="rId13"/>
    <p:sldId id="263" r:id="rId14"/>
    <p:sldId id="271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761FFA-DDDD-31CF-81C5-B1CD1ACF8EC0}" name="Joaquin Melara" initials="JM" userId="S::joaquin.melara@semanticarts.com::f1a901a5-d490-44f1-ad9f-df578a25cf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t Heffelfinger" userId="4b323c02-b8bf-4ae7-958a-60b3041010c7" providerId="ADAL" clId="{BAF295B4-8D67-4160-99CB-B0318E9B713D}"/>
    <pc:docChg chg="delSld">
      <pc:chgData name="Brett Heffelfinger" userId="4b323c02-b8bf-4ae7-958a-60b3041010c7" providerId="ADAL" clId="{BAF295B4-8D67-4160-99CB-B0318E9B713D}" dt="2025-05-01T20:19:25.920" v="0" actId="47"/>
      <pc:docMkLst>
        <pc:docMk/>
      </pc:docMkLst>
      <pc:sldChg chg="del">
        <pc:chgData name="Brett Heffelfinger" userId="4b323c02-b8bf-4ae7-958a-60b3041010c7" providerId="ADAL" clId="{BAF295B4-8D67-4160-99CB-B0318E9B713D}" dt="2025-05-01T20:19:25.920" v="0" actId="47"/>
        <pc:sldMkLst>
          <pc:docMk/>
          <pc:sldMk cId="137571376" sldId="257"/>
        </pc:sldMkLst>
      </pc:sldChg>
      <pc:sldChg chg="del">
        <pc:chgData name="Brett Heffelfinger" userId="4b323c02-b8bf-4ae7-958a-60b3041010c7" providerId="ADAL" clId="{BAF295B4-8D67-4160-99CB-B0318E9B713D}" dt="2025-05-01T20:19:25.920" v="0" actId="47"/>
        <pc:sldMkLst>
          <pc:docMk/>
          <pc:sldMk cId="1941156850" sldId="273"/>
        </pc:sldMkLst>
      </pc:sldChg>
      <pc:sldChg chg="del">
        <pc:chgData name="Brett Heffelfinger" userId="4b323c02-b8bf-4ae7-958a-60b3041010c7" providerId="ADAL" clId="{BAF295B4-8D67-4160-99CB-B0318E9B713D}" dt="2025-05-01T20:19:25.920" v="0" actId="47"/>
        <pc:sldMkLst>
          <pc:docMk/>
          <pc:sldMk cId="1686678652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C61E9-84D9-4118-B615-471F54FBB57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58AF9-3D48-4DE3-B10D-E5E40B7AA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5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 crunch, leave questions to the end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Note your question &amp; slide number at the top right corner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Goal: bring everyone here to at least the same </a:t>
            </a:r>
            <a:r>
              <a:rPr lang="en-US" i="1" dirty="0"/>
              <a:t>base level </a:t>
            </a:r>
            <a:r>
              <a:rPr lang="en-US" i="0" dirty="0"/>
              <a:t>of understanding about these technologies</a:t>
            </a:r>
          </a:p>
          <a:p>
            <a:pPr marL="628650" lvl="1" indent="-171450">
              <a:buFontTx/>
              <a:buChar char="-"/>
            </a:pPr>
            <a:r>
              <a:rPr lang="en-US" i="0" dirty="0"/>
              <a:t>Some may know way more than what I’ll talk about, others may not</a:t>
            </a:r>
          </a:p>
          <a:p>
            <a:pPr marL="171450" lvl="0" indent="-171450">
              <a:buFontTx/>
              <a:buChar char="-"/>
            </a:pPr>
            <a:r>
              <a:rPr lang="en-US" i="0" dirty="0"/>
              <a:t>1 math adjacent slide, a few flow-charts/high level architecture 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4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https://www.databricks.com/glossary/large-language-models-llm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0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Quote source: https://developer.nvidia.com/blog/introduction-to-llm-agents/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EDB8-47FA-0FEB-AA76-3BBCC5E7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34EC-C55F-8C66-EA9C-1D59A373E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0E59E-0150-DDCD-CDE8-7272CE22C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Langchain</a:t>
            </a:r>
            <a:r>
              <a:rPr lang="en-US"/>
              <a:t>/Python Agent Tutorial: https://python.langchain.com/docs/tutorials/agents/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2A313-5699-5CFD-B331-57BC63735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57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BCCE-D09A-CC6A-96DC-20C11280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157DA-EAF3-3FC5-32DE-FB9422517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A9C55-5541-AC2C-C18A-5E00A461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Langchain</a:t>
            </a:r>
            <a:r>
              <a:rPr lang="en-US"/>
              <a:t>/Python Agent Tutorial: https://python.langchain.com/docs/tutorials/agents/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AAE0A-8121-9692-32D6-153CB5EEC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7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Demystifying </a:t>
            </a:r>
            <a:r>
              <a:rPr lang="en-US" err="1"/>
              <a:t>GraphRAG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Talking with Irina: originally, </a:t>
            </a:r>
            <a:r>
              <a:rPr lang="en-US" err="1"/>
              <a:t>GraphRAG</a:t>
            </a:r>
            <a:r>
              <a:rPr lang="en-US"/>
              <a:t> was talking about how to use an LLM to make a graph and “communities” of context from data (and this is a terrible idea without a backbone)</a:t>
            </a:r>
          </a:p>
          <a:p>
            <a:pPr marL="171450" indent="-171450">
              <a:buFontTx/>
              <a:buChar char="-"/>
            </a:pPr>
            <a:r>
              <a:rPr lang="en-US"/>
              <a:t>Now: information retrieval utilizing a knowledge graph as a core data structure</a:t>
            </a:r>
          </a:p>
          <a:p>
            <a:r>
              <a:rPr lang="en-US"/>
              <a:t>Neo4J’s article is fairly good at talking about the abstracts of </a:t>
            </a:r>
            <a:r>
              <a:rPr lang="en-US" err="1"/>
              <a:t>GraphRAG</a:t>
            </a:r>
            <a:r>
              <a:rPr lang="en-US"/>
              <a:t>: https://neo4j.com/blog/genai/what-is-graphrag/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96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https://neo4j.com/blog/genai/what-is-graphrag/</a:t>
            </a:r>
          </a:p>
          <a:p>
            <a:r>
              <a:rPr lang="en-US"/>
              <a:t>Note: I changed “Dynamic Cipher Generation” to “Dynamic Query Generation” as the methodology is not exclusive to Cipher, it can be done with SPARQL, SQL, or other query languages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58AF9-3D48-4DE3-B10D-E5E40B7AAE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2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2C60485-29C3-40D6-BC8E-6746A6AF266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2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AA62-E682-4CBE-B0BE-D38145A3ACD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E3EE5-7608-48A8-B245-FFF31803B6E6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5579E-F139-41BD-9895-85E165F29096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853A-D38D-497C-8B78-4BC6421217DD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3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4921-C3A8-450B-B031-A386A84BD55D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2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E1BB-A2B1-4BCD-B61E-8A7268FC3858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8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91EF2-6558-4C8A-A8D8-39CCE47657B0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8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C1A2-EA9F-4CD2-8EB9-FB5F941B1140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1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AA5-4A6B-4187-8C68-B2B5A3A8C7C8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4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D4D7-8E1A-4EA9-90EB-759E7E8DC5E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62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245A-1115-4B65-A488-6A26C32DC72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12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9C2B-F65D-4EEE-AC38-F2DA9272D00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29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8045-48CB-4849-B95F-1DCD069F85B1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62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8C783-3337-43A5-81E4-C1217C5F37AA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50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81A0BE4-8550-4B1D-8CCE-BDAB82D63BF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D5D4CB6-4274-4B86-85A5-FDF0E7BD239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8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9DE11F1-06E9-405E-957D-528AA5D6FA65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BC9299B-21A4-41E9-89F6-83A49EA11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A7D6-8D6E-55BA-E5E4-4A61D975C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LLMs, Agents, </a:t>
            </a:r>
            <a:r>
              <a:rPr lang="en-US" err="1"/>
              <a:t>GraphRAG</a:t>
            </a:r>
            <a:r>
              <a:rPr lang="en-US"/>
              <a:t>, and Semantic 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3DEEC-6AB5-BEBF-2A56-2A0AD403A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Brett Heffelfinger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77F4A-D471-F5F3-39E3-5700EA71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0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48C-E672-0464-0C19-BF1AB1CB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A9BB-2420-FFD5-89C7-B462042D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Outline/Agenda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FECF-4D0F-FEE5-E1FB-6EF36D56A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Understand Large Language Models and how they work</a:t>
            </a:r>
          </a:p>
          <a:p>
            <a:r>
              <a:rPr lang="en-US"/>
              <a:t>Understand RAG and how it works</a:t>
            </a:r>
          </a:p>
          <a:p>
            <a:r>
              <a:rPr lang="en-US"/>
              <a:t>Understand Agents and how they work</a:t>
            </a:r>
          </a:p>
          <a:p>
            <a:r>
              <a:rPr lang="en-US"/>
              <a:t>Understand </a:t>
            </a:r>
            <a:r>
              <a:rPr lang="en-US" err="1"/>
              <a:t>GraphRAG</a:t>
            </a:r>
            <a:r>
              <a:rPr lang="en-US"/>
              <a:t> and how it works</a:t>
            </a:r>
          </a:p>
          <a:p>
            <a:r>
              <a:rPr lang="en-US"/>
              <a:t>Understand the potential places of Semantic Arts within an LLM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39A63-3EEC-BCE4-DC69-E895ADB1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9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3905-BEEF-67A3-E1D5-50B0F446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F3F3-2933-8BD2-5616-C0F38E30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A Large Language Model (LLM) is, at its core, a machine learning model to process language.</a:t>
            </a:r>
          </a:p>
          <a:p>
            <a:r>
              <a:rPr lang="en-US"/>
              <a:t>LLMs are trained on large bodies of text and use statistics to predict sequential responses.</a:t>
            </a:r>
          </a:p>
          <a:p>
            <a:r>
              <a:rPr lang="en-US"/>
              <a:t>Once the model is trained, the model is used in instances of a “context window” (most commonly, one conversation with ChatGPT).</a:t>
            </a:r>
          </a:p>
          <a:p>
            <a:r>
              <a:rPr lang="en-US"/>
              <a:t>Within a “context window”, responses can be directed by “prompts” and instructions.</a:t>
            </a:r>
          </a:p>
          <a:p>
            <a:pPr lvl="1"/>
            <a:r>
              <a:rPr lang="en-US"/>
              <a:t>Typically, there’s a complex background instruction for the model you’re interacting with, for example: “You are a helpful LLM called GPT-4o. You must be polite and respond to user requests to the best of your ability without hallucinating.”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89F97-CC9A-5F3D-0594-7B3AB3CA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2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Large Language Model (LLM)">
            <a:extLst>
              <a:ext uri="{FF2B5EF4-FFF2-40B4-BE49-F238E27FC236}">
                <a16:creationId xmlns:a16="http://schemas.microsoft.com/office/drawing/2014/main" id="{E41E7EAE-EA5C-0AA7-126F-38774F8ADB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39"/>
          <a:stretch/>
        </p:blipFill>
        <p:spPr bwMode="auto">
          <a:xfrm>
            <a:off x="1921669" y="72321"/>
            <a:ext cx="8348662" cy="671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4DA5D1-B3FA-EA6D-2CD0-BF241EB4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85FC-304A-7AE8-7656-F7EAA307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RAG?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CA01F-0534-61B6-B34C-EF203C500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Retrieval Augmented Generation is a method to:</a:t>
            </a:r>
          </a:p>
          <a:p>
            <a:pPr lvl="1"/>
            <a:r>
              <a:rPr lang="en-US" b="1"/>
              <a:t>Retrieve</a:t>
            </a:r>
            <a:r>
              <a:rPr lang="en-US"/>
              <a:t> text relevant to a part of a context window by comparing the vector space of the context window to some set of text resources.</a:t>
            </a:r>
          </a:p>
          <a:p>
            <a:pPr lvl="1"/>
            <a:r>
              <a:rPr lang="en-US" b="1"/>
              <a:t>Augment</a:t>
            </a:r>
            <a:r>
              <a:rPr lang="en-US"/>
              <a:t> the prompt by adding retrieved information to the context window.</a:t>
            </a:r>
          </a:p>
          <a:p>
            <a:pPr lvl="1"/>
            <a:r>
              <a:rPr lang="en-US" b="1"/>
              <a:t>Generate</a:t>
            </a:r>
            <a:r>
              <a:rPr lang="en-US"/>
              <a:t> a higher-accuracy response based on the augmented information.</a:t>
            </a:r>
          </a:p>
          <a:p>
            <a:r>
              <a:rPr lang="en-US"/>
              <a:t>This dramatically reduces the possibility of hallucination but doesn’t eliminate it - LLMs are still inherently random.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0FE54-99AD-E3A8-60EE-5232AF3F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2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B410-325A-AA08-46F3-A516789D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2FD89-BA21-0F43-4581-B98558D7E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I ask a basic LLM (with no extra features) the question: “What is my name?” – The model will be unable to answer accurately or will give a guess.</a:t>
            </a:r>
          </a:p>
          <a:p>
            <a:r>
              <a:rPr lang="en-US"/>
              <a:t>Let’s have a file called </a:t>
            </a:r>
            <a:r>
              <a:rPr lang="en-US" i="1"/>
              <a:t>myname.txt</a:t>
            </a:r>
            <a:r>
              <a:rPr lang="en-US"/>
              <a:t> in a vector database, that contains the sentence “My name is Brett and I work at Semantic Arts as an </a:t>
            </a:r>
            <a:r>
              <a:rPr lang="en-US" err="1"/>
              <a:t>Ontologist</a:t>
            </a:r>
            <a:r>
              <a:rPr lang="en-US"/>
              <a:t>.”</a:t>
            </a:r>
          </a:p>
          <a:p>
            <a:r>
              <a:rPr lang="en-US"/>
              <a:t>The phrase “What is my name?” and “My name is Brett” will be similar in vector space, and a RAG method will pick up the file or text snippet and add it as additional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4CC3B-BE8F-D1F7-A203-65C8C538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1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B85E1FFE-7DE5-F5A9-1B66-9CE5D7CBBC5B}"/>
              </a:ext>
            </a:extLst>
          </p:cNvPr>
          <p:cNvSpPr/>
          <p:nvPr/>
        </p:nvSpPr>
        <p:spPr>
          <a:xfrm>
            <a:off x="5751029" y="4522365"/>
            <a:ext cx="2423335" cy="958814"/>
          </a:xfrm>
          <a:prstGeom prst="wedgeRectCallout">
            <a:avLst>
              <a:gd name="adj1" fmla="val -13214"/>
              <a:gd name="adj2" fmla="val -853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/>
              <a:t>Note: </a:t>
            </a:r>
            <a:r>
              <a:rPr lang="en-US" sz="1100"/>
              <a:t>The “augmentation” is typically coded as part of the LLM workflow (like a formatted string that’s appended to the initial prompt).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B8929F-F364-17E8-D2AE-CBE3D9EB3BA4}"/>
              </a:ext>
            </a:extLst>
          </p:cNvPr>
          <p:cNvCxnSpPr>
            <a:cxnSpLocks/>
          </p:cNvCxnSpPr>
          <p:nvPr/>
        </p:nvCxnSpPr>
        <p:spPr>
          <a:xfrm>
            <a:off x="3670284" y="4010301"/>
            <a:ext cx="0" cy="512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7E9B349-A9D5-B465-01CF-2169FC3B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Example (cont.)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CC00AF-F1F2-9F40-D89D-B14237508BD3}"/>
              </a:ext>
            </a:extLst>
          </p:cNvPr>
          <p:cNvSpPr/>
          <p:nvPr/>
        </p:nvSpPr>
        <p:spPr>
          <a:xfrm>
            <a:off x="139970" y="2853585"/>
            <a:ext cx="2029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/>
              <a:t>User Prompt:</a:t>
            </a:r>
          </a:p>
          <a:p>
            <a:pPr algn="ctr"/>
            <a:r>
              <a:rPr lang="en-US"/>
              <a:t>What is my name?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D2963-1385-D9AC-E787-3A324F1A9406}"/>
              </a:ext>
            </a:extLst>
          </p:cNvPr>
          <p:cNvGrpSpPr/>
          <p:nvPr/>
        </p:nvGrpSpPr>
        <p:grpSpPr>
          <a:xfrm>
            <a:off x="2691177" y="4522365"/>
            <a:ext cx="2982341" cy="2331713"/>
            <a:chOff x="2668651" y="4434840"/>
            <a:chExt cx="2982341" cy="233171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76310C-6F7D-98E5-D2A3-C56E40599771}"/>
                </a:ext>
              </a:extLst>
            </p:cNvPr>
            <p:cNvSpPr/>
            <p:nvPr/>
          </p:nvSpPr>
          <p:spPr>
            <a:xfrm>
              <a:off x="2668651" y="4434840"/>
              <a:ext cx="2982341" cy="233171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/>
                <a:t>Vector Database</a:t>
              </a:r>
            </a:p>
          </p:txBody>
        </p:sp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4E18D52F-D574-4C19-91ED-303BBBA8BD5E}"/>
                </a:ext>
              </a:extLst>
            </p:cNvPr>
            <p:cNvSpPr/>
            <p:nvPr/>
          </p:nvSpPr>
          <p:spPr>
            <a:xfrm>
              <a:off x="3015297" y="4869177"/>
              <a:ext cx="2289048" cy="1783080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i="1" u="sng"/>
                <a:t>myname.txt</a:t>
              </a:r>
            </a:p>
            <a:p>
              <a:pPr algn="ctr"/>
              <a:r>
                <a:rPr lang="en-US"/>
                <a:t>My name is Brett and I work at Semantic Arts as an </a:t>
              </a:r>
              <a:r>
                <a:rPr lang="en-US" err="1"/>
                <a:t>Ontologist</a:t>
              </a:r>
              <a:r>
                <a:rPr lang="en-US"/>
                <a:t>.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6418709-331D-4198-7032-49EA9718B211}"/>
              </a:ext>
            </a:extLst>
          </p:cNvPr>
          <p:cNvSpPr/>
          <p:nvPr/>
        </p:nvSpPr>
        <p:spPr>
          <a:xfrm>
            <a:off x="3167364" y="2611269"/>
            <a:ext cx="2029968" cy="13990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RAG Methodology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B04C6B-C88C-4E49-875B-865D812067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69938" y="3310785"/>
            <a:ext cx="99742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E2F141-0055-9F8B-D08A-5766346BEEC2}"/>
              </a:ext>
            </a:extLst>
          </p:cNvPr>
          <p:cNvCxnSpPr>
            <a:cxnSpLocks/>
          </p:cNvCxnSpPr>
          <p:nvPr/>
        </p:nvCxnSpPr>
        <p:spPr>
          <a:xfrm flipV="1">
            <a:off x="4712700" y="4010301"/>
            <a:ext cx="0" cy="512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6E9075-FD90-0E0E-E72F-5A59456C5108}"/>
              </a:ext>
            </a:extLst>
          </p:cNvPr>
          <p:cNvSpPr/>
          <p:nvPr/>
        </p:nvSpPr>
        <p:spPr>
          <a:xfrm>
            <a:off x="5814975" y="2416959"/>
            <a:ext cx="2359389" cy="1787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/>
              <a:t>Augmented Prompt:</a:t>
            </a:r>
          </a:p>
          <a:p>
            <a:pPr algn="ctr"/>
            <a:r>
              <a:rPr lang="en-US" sz="1400"/>
              <a:t>What is my name?</a:t>
            </a:r>
          </a:p>
          <a:p>
            <a:pPr algn="ctr"/>
            <a:endParaRPr lang="en-US" sz="1400"/>
          </a:p>
          <a:p>
            <a:pPr algn="ctr"/>
            <a:r>
              <a:rPr lang="en-US" sz="1400"/>
              <a:t>This document may be able to help answer my question: {</a:t>
            </a:r>
            <a:r>
              <a:rPr lang="en-US" sz="1400" i="1"/>
              <a:t>text from myname.txt}</a:t>
            </a:r>
            <a:endParaRPr lang="en-US" sz="14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AD11F6-50E5-B48A-8396-DCF78F89DED1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5197332" y="3310785"/>
            <a:ext cx="6176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CB42CFB-18DF-9493-C3E8-321CD3024A22}"/>
              </a:ext>
            </a:extLst>
          </p:cNvPr>
          <p:cNvSpPr/>
          <p:nvPr/>
        </p:nvSpPr>
        <p:spPr>
          <a:xfrm>
            <a:off x="8969828" y="2190318"/>
            <a:ext cx="2577738" cy="22409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/>
              <a:t>LLM Response:</a:t>
            </a:r>
          </a:p>
          <a:p>
            <a:pPr algn="ctr"/>
            <a:r>
              <a:rPr lang="en-US" sz="1600"/>
              <a:t>It looks like your name is Brett, from the information that’s available to me. You also work at Semantic Arts as an </a:t>
            </a:r>
            <a:r>
              <a:rPr lang="en-US" sz="1600" err="1"/>
              <a:t>Ontologist</a:t>
            </a:r>
            <a:r>
              <a:rPr lang="en-US" sz="1600"/>
              <a:t>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77AC40-389E-6610-80F2-70323A71EA9B}"/>
              </a:ext>
            </a:extLst>
          </p:cNvPr>
          <p:cNvCxnSpPr>
            <a:cxnSpLocks/>
            <a:stCxn id="17" idx="3"/>
            <a:endCxn id="26" idx="1"/>
          </p:cNvCxnSpPr>
          <p:nvPr/>
        </p:nvCxnSpPr>
        <p:spPr>
          <a:xfrm>
            <a:off x="8174364" y="3310785"/>
            <a:ext cx="7954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62C534-F069-FFB6-A7D9-ECD85B10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5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 animBg="1"/>
      <p:bldP spid="6" grpId="0" animBg="1"/>
      <p:bldP spid="17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4F79-A314-8D61-32AA-AEE7F965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Agent?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4467-1F42-F24B-C445-B6308D4F0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From NVIDIA: “</a:t>
            </a:r>
            <a:r>
              <a:rPr lang="en-US" i="1"/>
              <a:t>a system that can use an LLM to reason through a problem, create a plan to solve the problem, and execute the plan with the help of a set of tools</a:t>
            </a:r>
            <a:r>
              <a:rPr lang="en-US"/>
              <a:t>”</a:t>
            </a:r>
          </a:p>
          <a:p>
            <a:r>
              <a:rPr lang="en-US"/>
              <a:t>Key example:</a:t>
            </a:r>
          </a:p>
          <a:p>
            <a:pPr lvl="1"/>
            <a:r>
              <a:rPr lang="en-US"/>
              <a:t>An LLM may give an accurate response for simple math (like 2+2=4) – Those characters appear enough together to be statistically likely in that pattern.</a:t>
            </a:r>
          </a:p>
          <a:p>
            <a:pPr lvl="1"/>
            <a:r>
              <a:rPr lang="en-US"/>
              <a:t>For more complicated questions, like calculating key takeaways from a data table of monthly sales, an LLM will </a:t>
            </a:r>
            <a:r>
              <a:rPr lang="en-US" i="1"/>
              <a:t>try</a:t>
            </a:r>
            <a:r>
              <a:rPr lang="en-US"/>
              <a:t> to predict what comes next – it isn’t </a:t>
            </a:r>
            <a:r>
              <a:rPr lang="en-US" i="1"/>
              <a:t>calculating</a:t>
            </a:r>
            <a:r>
              <a:rPr lang="en-US"/>
              <a:t> anything.</a:t>
            </a:r>
          </a:p>
          <a:p>
            <a:r>
              <a:rPr lang="en-US"/>
              <a:t>Real-world example: </a:t>
            </a:r>
            <a:r>
              <a:rPr lang="en-US" err="1"/>
              <a:t>Fluree</a:t>
            </a:r>
            <a:r>
              <a:rPr lang="en-US"/>
              <a:t> Sense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19F8B-CF4B-9343-48A8-78E15E12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05BCE-7125-3E7A-893C-84744553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5C86-3A30-688E-8743-AD441AD1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Simpler Example than </a:t>
            </a:r>
            <a:r>
              <a:rPr lang="en-US" err="1"/>
              <a:t>Fluree</a:t>
            </a:r>
            <a:r>
              <a:rPr lang="en-US"/>
              <a:t> Sense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7DD8-FD5E-9AFD-666F-41154F17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Our RAG-enabled LLM was trained on millions of documents and has access to a document store with additional context.</a:t>
            </a:r>
          </a:p>
          <a:p>
            <a:pPr lvl="1"/>
            <a:r>
              <a:rPr lang="en-US"/>
              <a:t>All of these documents are historical and are not being updated anymore, with limited additions to the corpus.</a:t>
            </a:r>
          </a:p>
          <a:p>
            <a:r>
              <a:rPr lang="en-US"/>
              <a:t>We set up a LLM chat bot for our company to help manage document retrieval and other daily operations.</a:t>
            </a:r>
          </a:p>
          <a:p>
            <a:r>
              <a:rPr lang="en-US"/>
              <a:t>One employee wants to know what the weather is going to be like at the Summit, so asks the question: “What is the weather forecast for Fort Collins next week?”</a:t>
            </a:r>
          </a:p>
          <a:p>
            <a:r>
              <a:rPr lang="en-US"/>
              <a:t>Answers will be based on the historical records (if found in the documents), but not the live forecast (which probably exists somewhere on the internet).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1B29B-67D9-2E18-7168-E6FACF12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8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A8D0-B0B5-0DCA-65B4-DE979D99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327-FBF0-B3D9-880E-42FC2A3F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Simpler Example than </a:t>
            </a:r>
            <a:r>
              <a:rPr lang="en-US" err="1"/>
              <a:t>Fluree</a:t>
            </a:r>
            <a:r>
              <a:rPr lang="en-US"/>
              <a:t> Sense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2CB3D9-4F16-0FE8-3C51-7F59D4695876}"/>
              </a:ext>
            </a:extLst>
          </p:cNvPr>
          <p:cNvSpPr/>
          <p:nvPr/>
        </p:nvSpPr>
        <p:spPr>
          <a:xfrm>
            <a:off x="317703" y="2712451"/>
            <a:ext cx="2870560" cy="1799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/>
              <a:t>User Prompt:</a:t>
            </a:r>
            <a:endParaRPr lang="en-US"/>
          </a:p>
          <a:p>
            <a:r>
              <a:rPr lang="en-US"/>
              <a:t>What is the weather forecast for Fort Collins next week?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918481-10CA-3139-B732-7ED136A26726}"/>
              </a:ext>
            </a:extLst>
          </p:cNvPr>
          <p:cNvSpPr/>
          <p:nvPr/>
        </p:nvSpPr>
        <p:spPr>
          <a:xfrm>
            <a:off x="4129450" y="2997801"/>
            <a:ext cx="2448657" cy="8591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Orchestration Layer (</a:t>
            </a:r>
            <a:r>
              <a:rPr lang="en-US" err="1"/>
              <a:t>Langchain</a:t>
            </a:r>
            <a:r>
              <a:rPr lang="en-US"/>
              <a:t>, etc.)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430C00-73D5-5012-E0D0-9626C0725C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3188263" y="3627480"/>
            <a:ext cx="941187" cy="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6707BA-BBEE-14FC-F8EC-EAEE6BDF32DC}"/>
              </a:ext>
            </a:extLst>
          </p:cNvPr>
          <p:cNvSpPr/>
          <p:nvPr/>
        </p:nvSpPr>
        <p:spPr>
          <a:xfrm>
            <a:off x="7831731" y="2375993"/>
            <a:ext cx="4065910" cy="24567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 u="sng"/>
              <a:t>Augmented Prompt:</a:t>
            </a:r>
            <a:endParaRPr lang="en-US"/>
          </a:p>
          <a:p>
            <a:r>
              <a:rPr lang="en-US" sz="1400"/>
              <a:t>What is the weather forecast for Fort Collins next week?</a:t>
            </a:r>
          </a:p>
          <a:p>
            <a:endParaRPr lang="en-US" sz="1400"/>
          </a:p>
          <a:p>
            <a:r>
              <a:rPr lang="en-US" sz="1400"/>
              <a:t>This information was retrieved from </a:t>
            </a:r>
            <a:r>
              <a:rPr lang="en-US" sz="1400" i="1"/>
              <a:t>{tool source}</a:t>
            </a:r>
            <a:r>
              <a:rPr lang="en-US" sz="1400"/>
              <a:t>: {</a:t>
            </a:r>
            <a:r>
              <a:rPr lang="en-US" sz="1400" i="1"/>
              <a:t>agent-retrieved weather forecast}</a:t>
            </a:r>
          </a:p>
          <a:p>
            <a:endParaRPr lang="en-US" sz="1400" i="1"/>
          </a:p>
          <a:p>
            <a:r>
              <a:rPr lang="en-US" sz="1400"/>
              <a:t>This document text may be able to help answer my question: {</a:t>
            </a:r>
            <a:r>
              <a:rPr lang="en-US" sz="1400" i="1"/>
              <a:t>text from RAG}</a:t>
            </a:r>
            <a:endParaRPr lang="en-US" sz="14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BB1D0F-B852-6E1B-E281-54327969990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593500" y="3588997"/>
            <a:ext cx="1238231" cy="76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78395-5310-8FBF-D364-6A7CE6DB84B8}"/>
              </a:ext>
            </a:extLst>
          </p:cNvPr>
          <p:cNvSpPr/>
          <p:nvPr/>
        </p:nvSpPr>
        <p:spPr>
          <a:xfrm>
            <a:off x="8926946" y="5304522"/>
            <a:ext cx="1884100" cy="7069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/>
              <a:t>LLM Response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0D8122-CA15-5D22-F05D-810FFD059FE6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9864686" y="4832786"/>
            <a:ext cx="4310" cy="4717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CD82FDA-49AE-CBCD-E4EF-E503C2114396}"/>
              </a:ext>
            </a:extLst>
          </p:cNvPr>
          <p:cNvSpPr/>
          <p:nvPr/>
        </p:nvSpPr>
        <p:spPr>
          <a:xfrm>
            <a:off x="2752583" y="5007382"/>
            <a:ext cx="2317226" cy="13042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RAG Methodology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68F6E8-44E0-5BC1-1831-EAB7F5BFF26D}"/>
              </a:ext>
            </a:extLst>
          </p:cNvPr>
          <p:cNvSpPr/>
          <p:nvPr/>
        </p:nvSpPr>
        <p:spPr>
          <a:xfrm>
            <a:off x="5563524" y="5007382"/>
            <a:ext cx="2580306" cy="13101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Agent Toolset</a:t>
            </a:r>
          </a:p>
          <a:p>
            <a:pPr algn="ctr"/>
            <a:r>
              <a:rPr lang="en-US"/>
              <a:t>(Weather API, SPARQL Generator, etc.)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1F4119-3C07-6668-4A88-097B48E02B5D}"/>
              </a:ext>
            </a:extLst>
          </p:cNvPr>
          <p:cNvCxnSpPr>
            <a:cxnSpLocks/>
          </p:cNvCxnSpPr>
          <p:nvPr/>
        </p:nvCxnSpPr>
        <p:spPr>
          <a:xfrm flipH="1">
            <a:off x="3941983" y="3887708"/>
            <a:ext cx="1527249" cy="112737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EA2E25-3163-276E-340F-6090FE5A4D1F}"/>
              </a:ext>
            </a:extLst>
          </p:cNvPr>
          <p:cNvCxnSpPr>
            <a:cxnSpLocks/>
          </p:cNvCxnSpPr>
          <p:nvPr/>
        </p:nvCxnSpPr>
        <p:spPr>
          <a:xfrm>
            <a:off x="5384565" y="3872314"/>
            <a:ext cx="1461416" cy="115046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117E3-EF8E-BCE2-A909-13ACE518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1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7" grpId="0" animBg="1"/>
      <p:bldP spid="29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F0DD-EA5A-8BB5-0CE4-DFFA0229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Putting it all together: What is </a:t>
            </a:r>
            <a:r>
              <a:rPr lang="en-US" err="1"/>
              <a:t>GraphRAG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8356-CF6A-A2F4-5926-A73E1BD4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err="1"/>
              <a:t>GraphRAG</a:t>
            </a:r>
            <a:r>
              <a:rPr lang="en-US"/>
              <a:t> is RAG with the addition of a knowledge graph that’s available to the LLM corpus.</a:t>
            </a:r>
          </a:p>
          <a:p>
            <a:pPr lvl="1"/>
            <a:r>
              <a:rPr lang="en-US"/>
              <a:t>Some architectures add both structured data and unstructured data embeddings to the knowledge graph and some leave the unstructured embeddings out.</a:t>
            </a:r>
          </a:p>
          <a:p>
            <a:r>
              <a:rPr lang="en-US"/>
              <a:t>There are a number of different methods for implementing this retrieval from base vector embedding to agentic architectures.</a:t>
            </a:r>
          </a:p>
          <a:p>
            <a:pPr lvl="1"/>
            <a:r>
              <a:rPr lang="en-US"/>
              <a:t>Vector embedding indexes the graph and uses vector similarity to a user prompt to find a starting point in the graph.</a:t>
            </a:r>
          </a:p>
          <a:p>
            <a:pPr lvl="1"/>
            <a:r>
              <a:rPr lang="en-US"/>
              <a:t>Agentic architectures can use multiple retrieval methods as tools for gathering information related to a user prompt.</a:t>
            </a:r>
          </a:p>
          <a:p>
            <a:pPr lvl="2"/>
            <a:r>
              <a:rPr lang="en-US"/>
              <a:t>For example: One could use vector search to determine a starting point of a graph, then pass that starting point to a query generator for getting more information from traversing nearby nodes.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6258D-C34E-188C-7E13-DB2E2069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2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CB407-DA6D-99D7-2241-5D818DA8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</a:t>
            </a:r>
            <a:r>
              <a:rPr lang="en-US" err="1"/>
              <a:t>GraphRAG</a:t>
            </a:r>
            <a:r>
              <a:rPr lang="en-US"/>
              <a:t> 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8D49-E490-FA88-63FC-FF65B7A18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340864"/>
            <a:ext cx="10259568" cy="4343400"/>
          </a:xfrm>
        </p:spPr>
        <p:txBody>
          <a:bodyPr>
            <a:normAutofit/>
          </a:bodyPr>
          <a:lstStyle/>
          <a:p>
            <a:r>
              <a:rPr lang="en-US" sz="1400" b="1"/>
              <a:t>Vector (Embedding), </a:t>
            </a:r>
            <a:r>
              <a:rPr lang="en-US" sz="1400" b="1" err="1"/>
              <a:t>Fulltext</a:t>
            </a:r>
            <a:r>
              <a:rPr lang="en-US" sz="1400" b="1"/>
              <a:t>, Spatial, or other Search Indexes:</a:t>
            </a:r>
            <a:r>
              <a:rPr lang="en-US" sz="1400"/>
              <a:t> Using index searches with information from the user question to determine starting points in the graph for further exploration.</a:t>
            </a:r>
          </a:p>
          <a:p>
            <a:r>
              <a:rPr lang="en-US" sz="1400" b="1"/>
              <a:t>Neighborhood Traversal: </a:t>
            </a:r>
            <a:r>
              <a:rPr lang="en-US" sz="1400"/>
              <a:t>Access direct or indirect neighbors of a node to put a piece of information into context.</a:t>
            </a:r>
          </a:p>
          <a:p>
            <a:r>
              <a:rPr lang="en-US" sz="1400" b="1"/>
              <a:t>Path Traversals: </a:t>
            </a:r>
            <a:r>
              <a:rPr lang="en-US" sz="1400"/>
              <a:t>Find paths between starting entities, expand relationships to their neighborhood, and retrieve additional related documents, claims, and other entities.</a:t>
            </a:r>
          </a:p>
          <a:p>
            <a:r>
              <a:rPr lang="en-US" sz="1400" b="1"/>
              <a:t>Global Queries: </a:t>
            </a:r>
            <a:r>
              <a:rPr lang="en-US" sz="1400"/>
              <a:t>Using pre-computed, cross-topic summarization and other global representations of insights to answer general questions (see Microsoft’s </a:t>
            </a:r>
            <a:r>
              <a:rPr lang="en-US" sz="1400" err="1"/>
              <a:t>GraphRAG</a:t>
            </a:r>
            <a:r>
              <a:rPr lang="en-US" sz="1400"/>
              <a:t> with Query Focused Summarization).</a:t>
            </a:r>
          </a:p>
          <a:p>
            <a:r>
              <a:rPr lang="en-US" sz="1400" b="1"/>
              <a:t>Query Templates: </a:t>
            </a:r>
            <a:r>
              <a:rPr lang="en-US" sz="1400"/>
              <a:t>Use case-specific queries for categories of questions are provided by a domain expert, can have the same starting points but explore different sub-graphs, and can be selected by categorizing questions.</a:t>
            </a:r>
          </a:p>
          <a:p>
            <a:r>
              <a:rPr lang="en-US" sz="1400" b="1"/>
              <a:t>Dynamic Query Generation: </a:t>
            </a:r>
            <a:r>
              <a:rPr lang="en-US" sz="1400"/>
              <a:t>A (fine-tuned) LLM generates a query from the user question and the graph schema description to answer specific and structural questions.</a:t>
            </a:r>
          </a:p>
          <a:p>
            <a:r>
              <a:rPr lang="en-US" sz="1400" b="1"/>
              <a:t>Agentic Traversal: </a:t>
            </a:r>
            <a:r>
              <a:rPr lang="en-US" sz="1400"/>
              <a:t>Using different retrievers, an LLM selects and executes them in a planned sequence to collect all information to answer the question.</a:t>
            </a:r>
          </a:p>
          <a:p>
            <a:r>
              <a:rPr lang="en-US" sz="1400" b="1"/>
              <a:t>Graph Embedding Retrievers: </a:t>
            </a:r>
            <a:r>
              <a:rPr lang="en-US" sz="1400"/>
              <a:t>Using embeddings to represent the “essence” of a node’s neighborhood and allow fuzzy topological search by matching candidate embeddings.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B0EBE-F476-8E35-5E40-F17CA47C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7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6EA3-B72F-7643-EAEE-03356635FA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177610"/>
            <a:ext cx="8761413" cy="708025"/>
          </a:xfrm>
        </p:spPr>
        <p:txBody>
          <a:bodyPr/>
          <a:lstStyle/>
          <a:p>
            <a:r>
              <a:rPr lang="en-US" sz="2800">
                <a:solidFill>
                  <a:schemeClr val="tx1"/>
                </a:solidFill>
              </a:rPr>
              <a:t>A High-Level </a:t>
            </a:r>
            <a:r>
              <a:rPr lang="en-US" sz="2800" err="1">
                <a:solidFill>
                  <a:schemeClr val="tx1"/>
                </a:solidFill>
              </a:rPr>
              <a:t>GraphRAG</a:t>
            </a:r>
            <a:r>
              <a:rPr lang="en-US" sz="2800">
                <a:solidFill>
                  <a:schemeClr val="tx1"/>
                </a:solidFill>
              </a:rPr>
              <a:t>/Agentic 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4F4678-3FAF-C243-ABC4-1D26B45E0B8E}"/>
              </a:ext>
            </a:extLst>
          </p:cNvPr>
          <p:cNvGrpSpPr/>
          <p:nvPr/>
        </p:nvGrpSpPr>
        <p:grpSpPr>
          <a:xfrm>
            <a:off x="11152632" y="2935224"/>
            <a:ext cx="914400" cy="1222177"/>
            <a:chOff x="10210800" y="3429000"/>
            <a:chExt cx="914400" cy="1222177"/>
          </a:xfrm>
        </p:grpSpPr>
        <p:pic>
          <p:nvPicPr>
            <p:cNvPr id="4" name="Graphic 3" descr="Smart Phone with solid fill">
              <a:extLst>
                <a:ext uri="{FF2B5EF4-FFF2-40B4-BE49-F238E27FC236}">
                  <a16:creationId xmlns:a16="http://schemas.microsoft.com/office/drawing/2014/main" id="{77925CF0-0B8D-F511-AE8B-356E31133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275505-7D48-1811-22C6-5F27F6F2D15A}"/>
                </a:ext>
              </a:extLst>
            </p:cNvPr>
            <p:cNvSpPr txBox="1"/>
            <p:nvPr/>
          </p:nvSpPr>
          <p:spPr>
            <a:xfrm>
              <a:off x="10497119" y="4343400"/>
              <a:ext cx="3417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UI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4BA982-D77F-9C0C-F09E-02399E40724D}"/>
              </a:ext>
            </a:extLst>
          </p:cNvPr>
          <p:cNvGrpSpPr/>
          <p:nvPr/>
        </p:nvGrpSpPr>
        <p:grpSpPr>
          <a:xfrm>
            <a:off x="9472793" y="2252543"/>
            <a:ext cx="1220207" cy="1003102"/>
            <a:chOff x="10057898" y="3429000"/>
            <a:chExt cx="1220207" cy="1003102"/>
          </a:xfrm>
        </p:grpSpPr>
        <p:pic>
          <p:nvPicPr>
            <p:cNvPr id="16" name="Graphic 15" descr="Chat bubble with solid fill">
              <a:extLst>
                <a:ext uri="{FF2B5EF4-FFF2-40B4-BE49-F238E27FC236}">
                  <a16:creationId xmlns:a16="http://schemas.microsoft.com/office/drawing/2014/main" id="{5F8775F9-DE3B-C0B4-1E95-59CB9E40F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EA45AC-C4B0-8805-7769-27A767D125B5}"/>
                </a:ext>
              </a:extLst>
            </p:cNvPr>
            <p:cNvSpPr txBox="1"/>
            <p:nvPr/>
          </p:nvSpPr>
          <p:spPr>
            <a:xfrm>
              <a:off x="10057898" y="4124325"/>
              <a:ext cx="1220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User Prompt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05224A-8B08-B4AE-E2DA-4D6125E4773B}"/>
              </a:ext>
            </a:extLst>
          </p:cNvPr>
          <p:cNvGrpSpPr/>
          <p:nvPr/>
        </p:nvGrpSpPr>
        <p:grpSpPr>
          <a:xfrm>
            <a:off x="9385432" y="3738146"/>
            <a:ext cx="1394934" cy="1003102"/>
            <a:chOff x="9970537" y="3429000"/>
            <a:chExt cx="1394934" cy="1003102"/>
          </a:xfrm>
        </p:grpSpPr>
        <p:pic>
          <p:nvPicPr>
            <p:cNvPr id="21" name="Graphic 20" descr="Chat bubble with solid fill">
              <a:extLst>
                <a:ext uri="{FF2B5EF4-FFF2-40B4-BE49-F238E27FC236}">
                  <a16:creationId xmlns:a16="http://schemas.microsoft.com/office/drawing/2014/main" id="{0789D421-F492-A3B4-67FD-ED0E78494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E6EA10-09A5-A431-0E9A-7FC732FFE4E3}"/>
                </a:ext>
              </a:extLst>
            </p:cNvPr>
            <p:cNvSpPr txBox="1"/>
            <p:nvPr/>
          </p:nvSpPr>
          <p:spPr>
            <a:xfrm>
              <a:off x="9970537" y="4124325"/>
              <a:ext cx="13949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LLM Response</a:t>
              </a:r>
            </a:p>
          </p:txBody>
        </p:sp>
      </p:grp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0DB2785-BE81-DF51-6DBE-D5EDF34EB246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>
            <a:off x="10540096" y="2709744"/>
            <a:ext cx="685657" cy="68268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6ADB7B6-2EA5-8638-2416-39F4B8CEAEBF}"/>
              </a:ext>
            </a:extLst>
          </p:cNvPr>
          <p:cNvCxnSpPr>
            <a:cxnSpLocks/>
          </p:cNvCxnSpPr>
          <p:nvPr/>
        </p:nvCxnSpPr>
        <p:spPr>
          <a:xfrm flipV="1">
            <a:off x="10540095" y="3392425"/>
            <a:ext cx="771033" cy="764976"/>
          </a:xfrm>
          <a:prstGeom prst="bentConnector3">
            <a:avLst>
              <a:gd name="adj1" fmla="val 4452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2C9AB3-5A97-06BA-AF62-25ED4879B99A}"/>
              </a:ext>
            </a:extLst>
          </p:cNvPr>
          <p:cNvGrpSpPr/>
          <p:nvPr/>
        </p:nvGrpSpPr>
        <p:grpSpPr>
          <a:xfrm>
            <a:off x="7573959" y="2746575"/>
            <a:ext cx="1366079" cy="1291697"/>
            <a:chOff x="9984965" y="3429000"/>
            <a:chExt cx="1366079" cy="1291697"/>
          </a:xfrm>
        </p:grpSpPr>
        <p:pic>
          <p:nvPicPr>
            <p:cNvPr id="26" name="Graphic 25" descr="Head with gears with solid fill">
              <a:extLst>
                <a:ext uri="{FF2B5EF4-FFF2-40B4-BE49-F238E27FC236}">
                  <a16:creationId xmlns:a16="http://schemas.microsoft.com/office/drawing/2014/main" id="{22E63034-7E16-7674-6466-C2918EB74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2F1FBD-A0A9-DA49-DC90-972479039AE7}"/>
                </a:ext>
              </a:extLst>
            </p:cNvPr>
            <p:cNvSpPr txBox="1"/>
            <p:nvPr/>
          </p:nvSpPr>
          <p:spPr>
            <a:xfrm>
              <a:off x="9984965" y="4197477"/>
              <a:ext cx="13660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Orchestration</a:t>
              </a:r>
            </a:p>
            <a:p>
              <a:pPr algn="ctr"/>
              <a:r>
                <a:rPr lang="en-US" sz="1400"/>
                <a:t>System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C7D22F-76E8-A15B-3673-18D06C3F6153}"/>
              </a:ext>
            </a:extLst>
          </p:cNvPr>
          <p:cNvGrpSpPr/>
          <p:nvPr/>
        </p:nvGrpSpPr>
        <p:grpSpPr>
          <a:xfrm>
            <a:off x="7990193" y="1303525"/>
            <a:ext cx="2505568" cy="1659912"/>
            <a:chOff x="8132648" y="1348455"/>
            <a:chExt cx="2505568" cy="1659912"/>
          </a:xfrm>
        </p:grpSpPr>
        <p:pic>
          <p:nvPicPr>
            <p:cNvPr id="29" name="Graphic 28" descr="Thought bubble outline">
              <a:extLst>
                <a:ext uri="{FF2B5EF4-FFF2-40B4-BE49-F238E27FC236}">
                  <a16:creationId xmlns:a16="http://schemas.microsoft.com/office/drawing/2014/main" id="{71202FA2-01D4-47BF-0C91-1F269032C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32648" y="1348455"/>
              <a:ext cx="2505568" cy="165991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1C0BC6-BD69-44DC-E819-B85D03A31DE2}"/>
                </a:ext>
              </a:extLst>
            </p:cNvPr>
            <p:cNvSpPr txBox="1"/>
            <p:nvPr/>
          </p:nvSpPr>
          <p:spPr>
            <a:xfrm>
              <a:off x="8654944" y="1687518"/>
              <a:ext cx="172396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Do I know enough information to respond to the user?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9972EB1-18C9-F0BC-599F-34BE46797953}"/>
              </a:ext>
            </a:extLst>
          </p:cNvPr>
          <p:cNvGrpSpPr/>
          <p:nvPr/>
        </p:nvGrpSpPr>
        <p:grpSpPr>
          <a:xfrm>
            <a:off x="5492266" y="2854297"/>
            <a:ext cx="1558440" cy="1076254"/>
            <a:chOff x="9888792" y="3429000"/>
            <a:chExt cx="1558440" cy="1076254"/>
          </a:xfrm>
        </p:grpSpPr>
        <p:pic>
          <p:nvPicPr>
            <p:cNvPr id="32" name="Graphic 31" descr="Tools with solid fill">
              <a:extLst>
                <a:ext uri="{FF2B5EF4-FFF2-40B4-BE49-F238E27FC236}">
                  <a16:creationId xmlns:a16="http://schemas.microsoft.com/office/drawing/2014/main" id="{7B418470-17AE-09F5-5017-6240B70DC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F556B7-6B57-ECD0-D63B-D60799D88E7B}"/>
                </a:ext>
              </a:extLst>
            </p:cNvPr>
            <p:cNvSpPr txBox="1"/>
            <p:nvPr/>
          </p:nvSpPr>
          <p:spPr>
            <a:xfrm>
              <a:off x="9888792" y="4197477"/>
              <a:ext cx="15584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Toolset Decision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8A923A-A8C3-DCE1-E508-8948EF731899}"/>
              </a:ext>
            </a:extLst>
          </p:cNvPr>
          <p:cNvGrpSpPr/>
          <p:nvPr/>
        </p:nvGrpSpPr>
        <p:grpSpPr>
          <a:xfrm>
            <a:off x="3168021" y="851123"/>
            <a:ext cx="995786" cy="1076254"/>
            <a:chOff x="10170114" y="3429000"/>
            <a:chExt cx="995786" cy="1076254"/>
          </a:xfrm>
        </p:grpSpPr>
        <p:pic>
          <p:nvPicPr>
            <p:cNvPr id="49" name="Graphic 48" descr="Workflow with solid fill">
              <a:extLst>
                <a:ext uri="{FF2B5EF4-FFF2-40B4-BE49-F238E27FC236}">
                  <a16:creationId xmlns:a16="http://schemas.microsoft.com/office/drawing/2014/main" id="{4FA55FF4-E0AC-FA64-35B5-934B3A604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3B9301-8CBF-B446-B4D1-69B8E220DCD4}"/>
                </a:ext>
              </a:extLst>
            </p:cNvPr>
            <p:cNvSpPr txBox="1"/>
            <p:nvPr/>
          </p:nvSpPr>
          <p:spPr>
            <a:xfrm>
              <a:off x="10170114" y="4197477"/>
              <a:ext cx="9957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Ontology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9B7C0B-FE8A-A73D-E190-BC6BF5321946}"/>
              </a:ext>
            </a:extLst>
          </p:cNvPr>
          <p:cNvGrpSpPr/>
          <p:nvPr/>
        </p:nvGrpSpPr>
        <p:grpSpPr>
          <a:xfrm>
            <a:off x="2625453" y="2418728"/>
            <a:ext cx="2080923" cy="2242777"/>
            <a:chOff x="10210799" y="2262477"/>
            <a:chExt cx="2080923" cy="2242777"/>
          </a:xfrm>
        </p:grpSpPr>
        <p:pic>
          <p:nvPicPr>
            <p:cNvPr id="47" name="Graphic 46" descr="Connections with solid fill">
              <a:extLst>
                <a:ext uri="{FF2B5EF4-FFF2-40B4-BE49-F238E27FC236}">
                  <a16:creationId xmlns:a16="http://schemas.microsoft.com/office/drawing/2014/main" id="{CE1BB6C1-0206-6C25-1565-4F4BDFA52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0210799" y="2262477"/>
              <a:ext cx="2080923" cy="208092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67F0DD7-AFE8-C46B-FAA2-9A0BD4BA31D0}"/>
                </a:ext>
              </a:extLst>
            </p:cNvPr>
            <p:cNvSpPr txBox="1"/>
            <p:nvPr/>
          </p:nvSpPr>
          <p:spPr>
            <a:xfrm>
              <a:off x="10355428" y="4197477"/>
              <a:ext cx="1794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Knowledge Graph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90DAFA-1268-4A03-98A6-45AE3A9A5CA1}"/>
              </a:ext>
            </a:extLst>
          </p:cNvPr>
          <p:cNvGrpSpPr/>
          <p:nvPr/>
        </p:nvGrpSpPr>
        <p:grpSpPr>
          <a:xfrm>
            <a:off x="297088" y="2232144"/>
            <a:ext cx="1560043" cy="1076254"/>
            <a:chOff x="9887988" y="3429000"/>
            <a:chExt cx="1560043" cy="1076254"/>
          </a:xfrm>
        </p:grpSpPr>
        <p:pic>
          <p:nvPicPr>
            <p:cNvPr id="45" name="Graphic 44" descr="Database with solid fill">
              <a:extLst>
                <a:ext uri="{FF2B5EF4-FFF2-40B4-BE49-F238E27FC236}">
                  <a16:creationId xmlns:a16="http://schemas.microsoft.com/office/drawing/2014/main" id="{CB57519C-3A99-0504-21DE-A262B8F45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2AD4018-F58D-2778-F5EF-BEBD69846F69}"/>
                </a:ext>
              </a:extLst>
            </p:cNvPr>
            <p:cNvSpPr txBox="1"/>
            <p:nvPr/>
          </p:nvSpPr>
          <p:spPr>
            <a:xfrm>
              <a:off x="9887988" y="4197477"/>
              <a:ext cx="1560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Legacy Systems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0136B3D-BB69-B498-1194-46926FFC12CA}"/>
              </a:ext>
            </a:extLst>
          </p:cNvPr>
          <p:cNvGrpSpPr/>
          <p:nvPr/>
        </p:nvGrpSpPr>
        <p:grpSpPr>
          <a:xfrm>
            <a:off x="426128" y="3972402"/>
            <a:ext cx="1334020" cy="1309985"/>
            <a:chOff x="10001000" y="3429000"/>
            <a:chExt cx="1334020" cy="1309985"/>
          </a:xfrm>
        </p:grpSpPr>
        <p:pic>
          <p:nvPicPr>
            <p:cNvPr id="43" name="Graphic 42" descr="Document with solid fill">
              <a:extLst>
                <a:ext uri="{FF2B5EF4-FFF2-40B4-BE49-F238E27FC236}">
                  <a16:creationId xmlns:a16="http://schemas.microsoft.com/office/drawing/2014/main" id="{02D65EAE-8ABA-99AD-75CE-97B2BD0F0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D1F6873-8FAD-2B9A-8FE1-A33CEF0ACF28}"/>
                </a:ext>
              </a:extLst>
            </p:cNvPr>
            <p:cNvSpPr txBox="1"/>
            <p:nvPr/>
          </p:nvSpPr>
          <p:spPr>
            <a:xfrm>
              <a:off x="10001000" y="4215765"/>
              <a:ext cx="13340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Unstructured</a:t>
              </a:r>
            </a:p>
            <a:p>
              <a:pPr algn="ctr"/>
              <a:r>
                <a:rPr lang="en-US" sz="1400"/>
                <a:t>Documents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F41C67-5ECA-6825-BF58-66D098037088}"/>
              </a:ext>
            </a:extLst>
          </p:cNvPr>
          <p:cNvCxnSpPr>
            <a:cxnSpLocks/>
            <a:stCxn id="50" idx="2"/>
            <a:endCxn id="47" idx="0"/>
          </p:cNvCxnSpPr>
          <p:nvPr/>
        </p:nvCxnSpPr>
        <p:spPr>
          <a:xfrm>
            <a:off x="3665914" y="1927377"/>
            <a:ext cx="1" cy="4913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E6EB7B9-3613-DAED-9137-055A3C532D03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472971" y="2336617"/>
            <a:ext cx="1152482" cy="1122573"/>
          </a:xfrm>
          <a:prstGeom prst="bentConnector3">
            <a:avLst>
              <a:gd name="adj1" fmla="val 6308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7571D8E-CB81-AB1A-BBB8-1E2AF37B3A20}"/>
              </a:ext>
            </a:extLst>
          </p:cNvPr>
          <p:cNvCxnSpPr>
            <a:cxnSpLocks/>
            <a:stCxn id="44" idx="3"/>
            <a:endCxn id="47" idx="1"/>
          </p:cNvCxnSpPr>
          <p:nvPr/>
        </p:nvCxnSpPr>
        <p:spPr>
          <a:xfrm flipV="1">
            <a:off x="1760148" y="3459190"/>
            <a:ext cx="865305" cy="1561587"/>
          </a:xfrm>
          <a:prstGeom prst="bentConnector3">
            <a:avLst>
              <a:gd name="adj1" fmla="val 511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23A661C-133B-7466-A704-9D259A8345F0}"/>
              </a:ext>
            </a:extLst>
          </p:cNvPr>
          <p:cNvSpPr/>
          <p:nvPr/>
        </p:nvSpPr>
        <p:spPr>
          <a:xfrm>
            <a:off x="79439" y="851123"/>
            <a:ext cx="4822499" cy="4431264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err="1"/>
              <a:t>GraphRAG</a:t>
            </a:r>
            <a:endParaRPr lang="en-US" b="1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B524041-127D-BC7E-6FB7-85A456DCAD57}"/>
              </a:ext>
            </a:extLst>
          </p:cNvPr>
          <p:cNvGrpSpPr/>
          <p:nvPr/>
        </p:nvGrpSpPr>
        <p:grpSpPr>
          <a:xfrm>
            <a:off x="5364021" y="4886802"/>
            <a:ext cx="1814920" cy="1507141"/>
            <a:chOff x="9760559" y="3429000"/>
            <a:chExt cx="1814920" cy="1507141"/>
          </a:xfrm>
        </p:grpSpPr>
        <p:pic>
          <p:nvPicPr>
            <p:cNvPr id="52" name="Graphic 51" descr="Internet Of Things outline">
              <a:extLst>
                <a:ext uri="{FF2B5EF4-FFF2-40B4-BE49-F238E27FC236}">
                  <a16:creationId xmlns:a16="http://schemas.microsoft.com/office/drawing/2014/main" id="{2CF8A8E4-AEBA-754C-D54B-FAE71C05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16F81C4-FF6F-65A8-ADC3-144E9CEA45DA}"/>
                </a:ext>
              </a:extLst>
            </p:cNvPr>
            <p:cNvSpPr txBox="1"/>
            <p:nvPr/>
          </p:nvSpPr>
          <p:spPr>
            <a:xfrm>
              <a:off x="9760559" y="4197477"/>
              <a:ext cx="181492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External APIs, </a:t>
              </a:r>
            </a:p>
            <a:p>
              <a:pPr algn="ctr"/>
              <a:r>
                <a:rPr lang="en-US" sz="1400"/>
                <a:t>Custom Functions, </a:t>
              </a:r>
            </a:p>
            <a:p>
              <a:pPr algn="ctr"/>
              <a:r>
                <a:rPr lang="en-US" sz="1400"/>
                <a:t>etc.</a:t>
              </a:r>
            </a:p>
          </p:txBody>
        </p:sp>
      </p:grp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D495D7C-2E12-820A-65C3-CCD534D5BE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54269" y="2709742"/>
            <a:ext cx="971429" cy="4895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5401E15-E26D-6B15-B0EF-01F4C5B4F9E5}"/>
              </a:ext>
            </a:extLst>
          </p:cNvPr>
          <p:cNvCxnSpPr>
            <a:stCxn id="27" idx="2"/>
            <a:endCxn id="21" idx="1"/>
          </p:cNvCxnSpPr>
          <p:nvPr/>
        </p:nvCxnSpPr>
        <p:spPr>
          <a:xfrm rot="16200000" flipH="1">
            <a:off x="8862810" y="3432461"/>
            <a:ext cx="157074" cy="136869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BD06FC-E68C-067E-AC0E-6D97444A45E9}"/>
              </a:ext>
            </a:extLst>
          </p:cNvPr>
          <p:cNvCxnSpPr/>
          <p:nvPr/>
        </p:nvCxnSpPr>
        <p:spPr>
          <a:xfrm flipH="1">
            <a:off x="4901938" y="3194098"/>
            <a:ext cx="912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CE143AB-2CBC-D1A8-9102-4D2080BE6DD2}"/>
              </a:ext>
            </a:extLst>
          </p:cNvPr>
          <p:cNvCxnSpPr>
            <a:stCxn id="33" idx="2"/>
            <a:endCxn id="52" idx="0"/>
          </p:cNvCxnSpPr>
          <p:nvPr/>
        </p:nvCxnSpPr>
        <p:spPr>
          <a:xfrm flipH="1">
            <a:off x="6271462" y="3930551"/>
            <a:ext cx="24" cy="9562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2B2886-8D7F-6491-8ED2-52E563779D98}"/>
              </a:ext>
            </a:extLst>
          </p:cNvPr>
          <p:cNvCxnSpPr/>
          <p:nvPr/>
        </p:nvCxnSpPr>
        <p:spPr>
          <a:xfrm flipH="1">
            <a:off x="6727839" y="3199256"/>
            <a:ext cx="10719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9032FC-111B-F080-30F0-FF13368FA528}"/>
              </a:ext>
            </a:extLst>
          </p:cNvPr>
          <p:cNvCxnSpPr>
            <a:cxnSpLocks/>
          </p:cNvCxnSpPr>
          <p:nvPr/>
        </p:nvCxnSpPr>
        <p:spPr>
          <a:xfrm>
            <a:off x="4922320" y="3346498"/>
            <a:ext cx="912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CE6874-239A-EF49-C247-8689B349BCCD}"/>
              </a:ext>
            </a:extLst>
          </p:cNvPr>
          <p:cNvCxnSpPr>
            <a:cxnSpLocks/>
          </p:cNvCxnSpPr>
          <p:nvPr/>
        </p:nvCxnSpPr>
        <p:spPr>
          <a:xfrm>
            <a:off x="6750223" y="3351656"/>
            <a:ext cx="10719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FD082-AED6-C9C4-CEFD-1E575F87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6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D786-59A5-AFC5-C253-F87F799B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E1E7-DC8F-AF51-C6F0-9121F48CF4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177610"/>
            <a:ext cx="8761413" cy="7080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Where do we fit in?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068E35-2644-9BDF-FC59-31747D56CC7D}"/>
              </a:ext>
            </a:extLst>
          </p:cNvPr>
          <p:cNvGrpSpPr/>
          <p:nvPr/>
        </p:nvGrpSpPr>
        <p:grpSpPr>
          <a:xfrm>
            <a:off x="11152632" y="2935224"/>
            <a:ext cx="914400" cy="1222177"/>
            <a:chOff x="10210800" y="3429000"/>
            <a:chExt cx="914400" cy="1222177"/>
          </a:xfrm>
        </p:grpSpPr>
        <p:pic>
          <p:nvPicPr>
            <p:cNvPr id="5" name="Graphic 4" descr="Smart Phone with solid fill">
              <a:extLst>
                <a:ext uri="{FF2B5EF4-FFF2-40B4-BE49-F238E27FC236}">
                  <a16:creationId xmlns:a16="http://schemas.microsoft.com/office/drawing/2014/main" id="{C6910BB5-2D51-5A9B-88AC-680C56B54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1855E6-A293-FB64-820E-5D617B4AA50F}"/>
                </a:ext>
              </a:extLst>
            </p:cNvPr>
            <p:cNvSpPr txBox="1"/>
            <p:nvPr/>
          </p:nvSpPr>
          <p:spPr>
            <a:xfrm>
              <a:off x="10497119" y="4343400"/>
              <a:ext cx="3417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UI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887B9F-81D7-2334-FD4D-DF4E1A842D53}"/>
              </a:ext>
            </a:extLst>
          </p:cNvPr>
          <p:cNvGrpSpPr/>
          <p:nvPr/>
        </p:nvGrpSpPr>
        <p:grpSpPr>
          <a:xfrm>
            <a:off x="9472793" y="2252543"/>
            <a:ext cx="1220207" cy="1003102"/>
            <a:chOff x="10057898" y="3429000"/>
            <a:chExt cx="1220207" cy="1003102"/>
          </a:xfrm>
        </p:grpSpPr>
        <p:pic>
          <p:nvPicPr>
            <p:cNvPr id="11" name="Graphic 10" descr="Chat bubble with solid fill">
              <a:extLst>
                <a:ext uri="{FF2B5EF4-FFF2-40B4-BE49-F238E27FC236}">
                  <a16:creationId xmlns:a16="http://schemas.microsoft.com/office/drawing/2014/main" id="{4F01E6C6-5A1B-AFE9-BC3E-4ACB31B78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B54A3E-CECE-C732-605B-5784E44FA025}"/>
                </a:ext>
              </a:extLst>
            </p:cNvPr>
            <p:cNvSpPr txBox="1"/>
            <p:nvPr/>
          </p:nvSpPr>
          <p:spPr>
            <a:xfrm>
              <a:off x="10057898" y="4124325"/>
              <a:ext cx="12202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User Prompt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1E2F01-F252-5FBA-4555-F539A837CB7F}"/>
              </a:ext>
            </a:extLst>
          </p:cNvPr>
          <p:cNvGrpSpPr/>
          <p:nvPr/>
        </p:nvGrpSpPr>
        <p:grpSpPr>
          <a:xfrm>
            <a:off x="9385432" y="3738146"/>
            <a:ext cx="1394934" cy="1003102"/>
            <a:chOff x="9970537" y="3429000"/>
            <a:chExt cx="1394934" cy="1003102"/>
          </a:xfrm>
        </p:grpSpPr>
        <p:pic>
          <p:nvPicPr>
            <p:cNvPr id="14" name="Graphic 13" descr="Chat bubble with solid fill">
              <a:extLst>
                <a:ext uri="{FF2B5EF4-FFF2-40B4-BE49-F238E27FC236}">
                  <a16:creationId xmlns:a16="http://schemas.microsoft.com/office/drawing/2014/main" id="{3BE40948-9FD8-A647-5DE4-55C712170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6C1D79-4D9D-9C6F-C9D2-32843DE66F33}"/>
                </a:ext>
              </a:extLst>
            </p:cNvPr>
            <p:cNvSpPr txBox="1"/>
            <p:nvPr/>
          </p:nvSpPr>
          <p:spPr>
            <a:xfrm>
              <a:off x="9970537" y="4124325"/>
              <a:ext cx="13949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LLM Response</a:t>
              </a:r>
            </a:p>
          </p:txBody>
        </p:sp>
      </p:grp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082358A-0F8E-9064-FF83-1E303037FBA8}"/>
              </a:ext>
            </a:extLst>
          </p:cNvPr>
          <p:cNvCxnSpPr>
            <a:cxnSpLocks/>
            <a:endCxn id="11" idx="3"/>
          </p:cNvCxnSpPr>
          <p:nvPr/>
        </p:nvCxnSpPr>
        <p:spPr>
          <a:xfrm rot="10800000">
            <a:off x="10540096" y="2709744"/>
            <a:ext cx="685657" cy="68268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54AD019-B362-0AFA-DA83-FA66C725411B}"/>
              </a:ext>
            </a:extLst>
          </p:cNvPr>
          <p:cNvCxnSpPr>
            <a:cxnSpLocks/>
          </p:cNvCxnSpPr>
          <p:nvPr/>
        </p:nvCxnSpPr>
        <p:spPr>
          <a:xfrm flipV="1">
            <a:off x="10540095" y="3392425"/>
            <a:ext cx="771033" cy="764976"/>
          </a:xfrm>
          <a:prstGeom prst="bentConnector3">
            <a:avLst>
              <a:gd name="adj1" fmla="val 4452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15BCA6D-7F14-BF85-CADC-F395E2E678D2}"/>
              </a:ext>
            </a:extLst>
          </p:cNvPr>
          <p:cNvGrpSpPr/>
          <p:nvPr/>
        </p:nvGrpSpPr>
        <p:grpSpPr>
          <a:xfrm>
            <a:off x="7573959" y="2746575"/>
            <a:ext cx="1366079" cy="1291697"/>
            <a:chOff x="9984965" y="3429000"/>
            <a:chExt cx="1366079" cy="1291697"/>
          </a:xfrm>
        </p:grpSpPr>
        <p:pic>
          <p:nvPicPr>
            <p:cNvPr id="9" name="Graphic 8" descr="Head with gears with solid fill">
              <a:extLst>
                <a:ext uri="{FF2B5EF4-FFF2-40B4-BE49-F238E27FC236}">
                  <a16:creationId xmlns:a16="http://schemas.microsoft.com/office/drawing/2014/main" id="{87AF2053-4BD0-0FB3-5DCE-9824E64C3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17DFCF-FCC9-DF94-E2CE-49E7EE62DBC4}"/>
                </a:ext>
              </a:extLst>
            </p:cNvPr>
            <p:cNvSpPr txBox="1"/>
            <p:nvPr/>
          </p:nvSpPr>
          <p:spPr>
            <a:xfrm>
              <a:off x="9984965" y="4197477"/>
              <a:ext cx="13660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Orchestration</a:t>
              </a:r>
            </a:p>
            <a:p>
              <a:pPr algn="ctr"/>
              <a:r>
                <a:rPr lang="en-US" sz="1400"/>
                <a:t>System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508288-AF8E-0C0E-74C1-F8B6C49FEFBA}"/>
              </a:ext>
            </a:extLst>
          </p:cNvPr>
          <p:cNvGrpSpPr/>
          <p:nvPr/>
        </p:nvGrpSpPr>
        <p:grpSpPr>
          <a:xfrm>
            <a:off x="7990193" y="1303525"/>
            <a:ext cx="2505568" cy="1659912"/>
            <a:chOff x="8132648" y="1348455"/>
            <a:chExt cx="2505568" cy="1659912"/>
          </a:xfrm>
        </p:grpSpPr>
        <p:pic>
          <p:nvPicPr>
            <p:cNvPr id="42" name="Graphic 41" descr="Thought bubble outline">
              <a:extLst>
                <a:ext uri="{FF2B5EF4-FFF2-40B4-BE49-F238E27FC236}">
                  <a16:creationId xmlns:a16="http://schemas.microsoft.com/office/drawing/2014/main" id="{F74E01F7-00BA-261E-B41C-A46C8BA90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32648" y="1348455"/>
              <a:ext cx="2505568" cy="1659912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9A416A-273F-CEBB-83D1-1F0EB9ED642B}"/>
                </a:ext>
              </a:extLst>
            </p:cNvPr>
            <p:cNvSpPr txBox="1"/>
            <p:nvPr/>
          </p:nvSpPr>
          <p:spPr>
            <a:xfrm>
              <a:off x="8654944" y="1687518"/>
              <a:ext cx="172396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Do I know enough information to respond to the user?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4F50F07-E8F4-969E-7357-4A3934F79190}"/>
              </a:ext>
            </a:extLst>
          </p:cNvPr>
          <p:cNvGrpSpPr/>
          <p:nvPr/>
        </p:nvGrpSpPr>
        <p:grpSpPr>
          <a:xfrm>
            <a:off x="5492266" y="2854297"/>
            <a:ext cx="1558440" cy="1076254"/>
            <a:chOff x="9888792" y="3429000"/>
            <a:chExt cx="1558440" cy="1076254"/>
          </a:xfrm>
        </p:grpSpPr>
        <p:pic>
          <p:nvPicPr>
            <p:cNvPr id="54" name="Graphic 53" descr="Tools with solid fill">
              <a:extLst>
                <a:ext uri="{FF2B5EF4-FFF2-40B4-BE49-F238E27FC236}">
                  <a16:creationId xmlns:a16="http://schemas.microsoft.com/office/drawing/2014/main" id="{839C41C8-2E94-F02C-F2E9-E4B54E45D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06F2696-2074-5AEF-1748-1C8D42A097F3}"/>
                </a:ext>
              </a:extLst>
            </p:cNvPr>
            <p:cNvSpPr txBox="1"/>
            <p:nvPr/>
          </p:nvSpPr>
          <p:spPr>
            <a:xfrm>
              <a:off x="9888792" y="4197477"/>
              <a:ext cx="15584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Toolset Decision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3AA881-935D-E7D0-2E8E-BF7BA9921CA5}"/>
              </a:ext>
            </a:extLst>
          </p:cNvPr>
          <p:cNvGrpSpPr/>
          <p:nvPr/>
        </p:nvGrpSpPr>
        <p:grpSpPr>
          <a:xfrm>
            <a:off x="3168021" y="851123"/>
            <a:ext cx="995786" cy="1076254"/>
            <a:chOff x="10170114" y="3429000"/>
            <a:chExt cx="995786" cy="1076254"/>
          </a:xfrm>
        </p:grpSpPr>
        <p:pic>
          <p:nvPicPr>
            <p:cNvPr id="19" name="Graphic 18" descr="Workflow with solid fill">
              <a:extLst>
                <a:ext uri="{FF2B5EF4-FFF2-40B4-BE49-F238E27FC236}">
                  <a16:creationId xmlns:a16="http://schemas.microsoft.com/office/drawing/2014/main" id="{E9703914-36FA-E147-6CAD-245AD2AE1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B13238-37EB-197F-9009-59CE2D28CA1B}"/>
                </a:ext>
              </a:extLst>
            </p:cNvPr>
            <p:cNvSpPr txBox="1"/>
            <p:nvPr/>
          </p:nvSpPr>
          <p:spPr>
            <a:xfrm>
              <a:off x="10170114" y="4197477"/>
              <a:ext cx="9957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Ontology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454794-1862-9E14-A33F-8A747193F633}"/>
              </a:ext>
            </a:extLst>
          </p:cNvPr>
          <p:cNvGrpSpPr/>
          <p:nvPr/>
        </p:nvGrpSpPr>
        <p:grpSpPr>
          <a:xfrm>
            <a:off x="2625453" y="2418728"/>
            <a:ext cx="2080923" cy="2242777"/>
            <a:chOff x="10210799" y="2262477"/>
            <a:chExt cx="2080923" cy="2242777"/>
          </a:xfrm>
        </p:grpSpPr>
        <p:pic>
          <p:nvPicPr>
            <p:cNvPr id="23" name="Graphic 22" descr="Connections with solid fill">
              <a:extLst>
                <a:ext uri="{FF2B5EF4-FFF2-40B4-BE49-F238E27FC236}">
                  <a16:creationId xmlns:a16="http://schemas.microsoft.com/office/drawing/2014/main" id="{FAA725D6-0A61-C337-8AD6-9A5DFD90F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0210799" y="2262477"/>
              <a:ext cx="2080923" cy="208092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1818A2-8C9F-8F2D-F847-B1B21C07903E}"/>
                </a:ext>
              </a:extLst>
            </p:cNvPr>
            <p:cNvSpPr txBox="1"/>
            <p:nvPr/>
          </p:nvSpPr>
          <p:spPr>
            <a:xfrm>
              <a:off x="10355428" y="4197477"/>
              <a:ext cx="17940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Knowledge Graph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A68A93-28A3-314A-FC91-BA57CC1801D6}"/>
              </a:ext>
            </a:extLst>
          </p:cNvPr>
          <p:cNvGrpSpPr/>
          <p:nvPr/>
        </p:nvGrpSpPr>
        <p:grpSpPr>
          <a:xfrm>
            <a:off x="297088" y="2232144"/>
            <a:ext cx="1560043" cy="1076254"/>
            <a:chOff x="9887988" y="3429000"/>
            <a:chExt cx="1560043" cy="1076254"/>
          </a:xfrm>
        </p:grpSpPr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EE8817B1-F140-0EC6-F4BE-F99A3A950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9059B3-A595-D97E-2160-4E73375ABF1E}"/>
                </a:ext>
              </a:extLst>
            </p:cNvPr>
            <p:cNvSpPr txBox="1"/>
            <p:nvPr/>
          </p:nvSpPr>
          <p:spPr>
            <a:xfrm>
              <a:off x="9887988" y="4197477"/>
              <a:ext cx="1560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Legacy Systems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475E17-97DA-4DAA-844E-4914C25056CA}"/>
              </a:ext>
            </a:extLst>
          </p:cNvPr>
          <p:cNvGrpSpPr/>
          <p:nvPr/>
        </p:nvGrpSpPr>
        <p:grpSpPr>
          <a:xfrm>
            <a:off x="426128" y="3972402"/>
            <a:ext cx="1334020" cy="1309985"/>
            <a:chOff x="10001000" y="3429000"/>
            <a:chExt cx="1334020" cy="1309985"/>
          </a:xfrm>
        </p:grpSpPr>
        <p:pic>
          <p:nvPicPr>
            <p:cNvPr id="29" name="Graphic 28" descr="Document with solid fill">
              <a:extLst>
                <a:ext uri="{FF2B5EF4-FFF2-40B4-BE49-F238E27FC236}">
                  <a16:creationId xmlns:a16="http://schemas.microsoft.com/office/drawing/2014/main" id="{F46AF478-FD0B-3130-51C3-7C33E578A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1E45752-6318-F5A4-5F07-07AF3D1AC774}"/>
                </a:ext>
              </a:extLst>
            </p:cNvPr>
            <p:cNvSpPr txBox="1"/>
            <p:nvPr/>
          </p:nvSpPr>
          <p:spPr>
            <a:xfrm>
              <a:off x="10001000" y="4215765"/>
              <a:ext cx="13340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Unstructured</a:t>
              </a:r>
            </a:p>
            <a:p>
              <a:pPr algn="ctr"/>
              <a:r>
                <a:rPr lang="en-US" sz="1400"/>
                <a:t>Documents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A8CF8C-A26C-789F-3AA3-4A1BD6CCAEF5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3665914" y="1927377"/>
            <a:ext cx="1" cy="4913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9EDC5C3-E8FD-026A-E4CA-9F4930785D17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472971" y="2336617"/>
            <a:ext cx="1152482" cy="1122573"/>
          </a:xfrm>
          <a:prstGeom prst="bentConnector3">
            <a:avLst>
              <a:gd name="adj1" fmla="val 6308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B52E74E-2756-2D72-0790-02EE0EB023FB}"/>
              </a:ext>
            </a:extLst>
          </p:cNvPr>
          <p:cNvCxnSpPr>
            <a:cxnSpLocks/>
            <a:stCxn id="30" idx="3"/>
            <a:endCxn id="23" idx="1"/>
          </p:cNvCxnSpPr>
          <p:nvPr/>
        </p:nvCxnSpPr>
        <p:spPr>
          <a:xfrm flipV="1">
            <a:off x="1760148" y="3459190"/>
            <a:ext cx="865305" cy="1561587"/>
          </a:xfrm>
          <a:prstGeom prst="bentConnector3">
            <a:avLst>
              <a:gd name="adj1" fmla="val 511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65D9EBE-A6D0-2CF1-8E30-3671F89F157A}"/>
              </a:ext>
            </a:extLst>
          </p:cNvPr>
          <p:cNvSpPr/>
          <p:nvPr/>
        </p:nvSpPr>
        <p:spPr>
          <a:xfrm>
            <a:off x="79439" y="851123"/>
            <a:ext cx="4822499" cy="4431264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err="1"/>
              <a:t>GraphRAG</a:t>
            </a:r>
            <a:endParaRPr lang="en-US" b="1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484783B-A37E-C688-4F31-DBBE9D5AB558}"/>
              </a:ext>
            </a:extLst>
          </p:cNvPr>
          <p:cNvGrpSpPr/>
          <p:nvPr/>
        </p:nvGrpSpPr>
        <p:grpSpPr>
          <a:xfrm>
            <a:off x="5364021" y="4886802"/>
            <a:ext cx="1814920" cy="1507141"/>
            <a:chOff x="9760559" y="3429000"/>
            <a:chExt cx="1814920" cy="1507141"/>
          </a:xfrm>
        </p:grpSpPr>
        <p:pic>
          <p:nvPicPr>
            <p:cNvPr id="61" name="Graphic 60" descr="Internet Of Things outline">
              <a:extLst>
                <a:ext uri="{FF2B5EF4-FFF2-40B4-BE49-F238E27FC236}">
                  <a16:creationId xmlns:a16="http://schemas.microsoft.com/office/drawing/2014/main" id="{76DBB297-86A4-CBC0-109A-8D3C2241C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10210800" y="3429000"/>
              <a:ext cx="914400" cy="9144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79E91E4-2912-4766-D2E3-E77C5988FD4B}"/>
                </a:ext>
              </a:extLst>
            </p:cNvPr>
            <p:cNvSpPr txBox="1"/>
            <p:nvPr/>
          </p:nvSpPr>
          <p:spPr>
            <a:xfrm>
              <a:off x="9760559" y="4197477"/>
              <a:ext cx="181492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External APIs, </a:t>
              </a:r>
            </a:p>
            <a:p>
              <a:pPr algn="ctr"/>
              <a:r>
                <a:rPr lang="en-US" sz="1400"/>
                <a:t>Custom Functions, </a:t>
              </a:r>
            </a:p>
            <a:p>
              <a:pPr algn="ctr"/>
              <a:r>
                <a:rPr lang="en-US" sz="1400"/>
                <a:t>etc.</a:t>
              </a:r>
            </a:p>
          </p:txBody>
        </p:sp>
      </p:grp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358AFEE-1D36-99BC-7117-C4D4C5C8F45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54269" y="2709742"/>
            <a:ext cx="971429" cy="4895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E167319-6536-D369-9A15-CE232453A7D6}"/>
              </a:ext>
            </a:extLst>
          </p:cNvPr>
          <p:cNvCxnSpPr>
            <a:stCxn id="16" idx="2"/>
            <a:endCxn id="14" idx="1"/>
          </p:cNvCxnSpPr>
          <p:nvPr/>
        </p:nvCxnSpPr>
        <p:spPr>
          <a:xfrm rot="16200000" flipH="1">
            <a:off x="8862810" y="3432461"/>
            <a:ext cx="157074" cy="136869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1B1C392-35E1-AC38-0279-569E6F95D3C2}"/>
              </a:ext>
            </a:extLst>
          </p:cNvPr>
          <p:cNvCxnSpPr/>
          <p:nvPr/>
        </p:nvCxnSpPr>
        <p:spPr>
          <a:xfrm flipH="1">
            <a:off x="4901938" y="3194098"/>
            <a:ext cx="912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92C7099-6C4A-DF08-2F85-E2372D2C817F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 flipH="1">
            <a:off x="6271462" y="3930551"/>
            <a:ext cx="24" cy="9562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B46997-8CFF-05B3-71A9-2DDC203B955C}"/>
              </a:ext>
            </a:extLst>
          </p:cNvPr>
          <p:cNvCxnSpPr/>
          <p:nvPr/>
        </p:nvCxnSpPr>
        <p:spPr>
          <a:xfrm flipH="1">
            <a:off x="6727839" y="3199256"/>
            <a:ext cx="10719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B97A3F1-2F52-B5F9-B745-FF1028FB18D9}"/>
              </a:ext>
            </a:extLst>
          </p:cNvPr>
          <p:cNvSpPr/>
          <p:nvPr/>
        </p:nvSpPr>
        <p:spPr>
          <a:xfrm>
            <a:off x="79427" y="847726"/>
            <a:ext cx="4822499" cy="44312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b="1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82B7A4B-1521-33F5-0696-EDEDCAB5D325}"/>
              </a:ext>
            </a:extLst>
          </p:cNvPr>
          <p:cNvSpPr/>
          <p:nvPr/>
        </p:nvSpPr>
        <p:spPr>
          <a:xfrm>
            <a:off x="11161777" y="2615184"/>
            <a:ext cx="909064" cy="173854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b="1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F05DDD0-BA89-F73C-B38D-D2A8FF0E0FDD}"/>
              </a:ext>
            </a:extLst>
          </p:cNvPr>
          <p:cNvCxnSpPr>
            <a:cxnSpLocks/>
            <a:stCxn id="58" idx="0"/>
          </p:cNvCxnSpPr>
          <p:nvPr/>
        </p:nvCxnSpPr>
        <p:spPr>
          <a:xfrm rot="16200000" flipV="1">
            <a:off x="7651042" y="-1350084"/>
            <a:ext cx="1216152" cy="6714383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29B497D-6891-AFA2-F2B4-EFB46B75A22F}"/>
              </a:ext>
            </a:extLst>
          </p:cNvPr>
          <p:cNvCxnSpPr>
            <a:cxnSpLocks/>
          </p:cNvCxnSpPr>
          <p:nvPr/>
        </p:nvCxnSpPr>
        <p:spPr>
          <a:xfrm>
            <a:off x="4922320" y="3346498"/>
            <a:ext cx="912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1654C70-81AD-72DE-F2C9-F70C02037A56}"/>
              </a:ext>
            </a:extLst>
          </p:cNvPr>
          <p:cNvCxnSpPr>
            <a:cxnSpLocks/>
          </p:cNvCxnSpPr>
          <p:nvPr/>
        </p:nvCxnSpPr>
        <p:spPr>
          <a:xfrm>
            <a:off x="6750223" y="3351656"/>
            <a:ext cx="10719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323DC5-57A3-DAB7-98B1-A0E7EBAE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0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0304-78BE-A37C-9EFB-135C27BCB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Q&amp;A/Discussion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7BDABB-821B-B2BB-2445-10F3E365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299B-21A4-41E9-89F6-83A49EA111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65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1559</Words>
  <Application>Microsoft Office PowerPoint</Application>
  <PresentationFormat>Widescreen</PresentationFormat>
  <Paragraphs>152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Wingdings 3</vt:lpstr>
      <vt:lpstr>Ion Boardroom</vt:lpstr>
      <vt:lpstr>LLMs, Agents, GraphRAG, and Semantic Arts</vt:lpstr>
      <vt:lpstr>Outline/Agenda</vt:lpstr>
      <vt:lpstr>What is a Large Language Model?</vt:lpstr>
      <vt:lpstr>PowerPoint Presentation</vt:lpstr>
      <vt:lpstr>What is RAG?</vt:lpstr>
      <vt:lpstr>RAG Example</vt:lpstr>
      <vt:lpstr>RAG Example (cont.)</vt:lpstr>
      <vt:lpstr>What is an Agent?</vt:lpstr>
      <vt:lpstr>A Simpler Example than Fluree Sense</vt:lpstr>
      <vt:lpstr>A Simpler Example than Fluree Sense</vt:lpstr>
      <vt:lpstr>Putting it all together: What is GraphRAG?</vt:lpstr>
      <vt:lpstr>Examples of GraphRAG Retrievers</vt:lpstr>
      <vt:lpstr>A High-Level GraphRAG/Agentic Architecture</vt:lpstr>
      <vt:lpstr>Where do we fit in?</vt:lpstr>
      <vt:lpstr>Q&amp;A/Discussion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Brett Heffelfinger</dc:creator>
  <cp:lastModifiedBy>Brett Heffelfinger</cp:lastModifiedBy>
  <cp:revision>2</cp:revision>
  <dcterms:created xsi:type="dcterms:W3CDTF">2025-04-08T16:22:20Z</dcterms:created>
  <dcterms:modified xsi:type="dcterms:W3CDTF">2025-05-01T20:19:29Z</dcterms:modified>
</cp:coreProperties>
</file>