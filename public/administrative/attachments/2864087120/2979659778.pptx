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1" r:id="rId1"/>
  </p:sldMasterIdLst>
  <p:notesMasterIdLst>
    <p:notesMasterId r:id="rId46"/>
  </p:notesMasterIdLst>
  <p:sldIdLst>
    <p:sldId id="256" r:id="rId2"/>
    <p:sldId id="259" r:id="rId3"/>
    <p:sldId id="261" r:id="rId4"/>
    <p:sldId id="262" r:id="rId5"/>
    <p:sldId id="263" r:id="rId6"/>
    <p:sldId id="270" r:id="rId7"/>
    <p:sldId id="264" r:id="rId8"/>
    <p:sldId id="265" r:id="rId9"/>
    <p:sldId id="266" r:id="rId10"/>
    <p:sldId id="267" r:id="rId11"/>
    <p:sldId id="258" r:id="rId12"/>
    <p:sldId id="271" r:id="rId13"/>
    <p:sldId id="272" r:id="rId14"/>
    <p:sldId id="283" r:id="rId15"/>
    <p:sldId id="279" r:id="rId16"/>
    <p:sldId id="280" r:id="rId17"/>
    <p:sldId id="281" r:id="rId18"/>
    <p:sldId id="282" r:id="rId19"/>
    <p:sldId id="260" r:id="rId20"/>
    <p:sldId id="284" r:id="rId21"/>
    <p:sldId id="285" r:id="rId22"/>
    <p:sldId id="286" r:id="rId23"/>
    <p:sldId id="287" r:id="rId24"/>
    <p:sldId id="273" r:id="rId25"/>
    <p:sldId id="301" r:id="rId26"/>
    <p:sldId id="274" r:id="rId27"/>
    <p:sldId id="275" r:id="rId28"/>
    <p:sldId id="276" r:id="rId29"/>
    <p:sldId id="277" r:id="rId30"/>
    <p:sldId id="278" r:id="rId31"/>
    <p:sldId id="288" r:id="rId32"/>
    <p:sldId id="289" r:id="rId33"/>
    <p:sldId id="290" r:id="rId34"/>
    <p:sldId id="291" r:id="rId35"/>
    <p:sldId id="297" r:id="rId36"/>
    <p:sldId id="299" r:id="rId37"/>
    <p:sldId id="298" r:id="rId38"/>
    <p:sldId id="269" r:id="rId39"/>
    <p:sldId id="292" r:id="rId40"/>
    <p:sldId id="293" r:id="rId41"/>
    <p:sldId id="294" r:id="rId42"/>
    <p:sldId id="295" r:id="rId43"/>
    <p:sldId id="296" r:id="rId44"/>
    <p:sldId id="300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8" d="100"/>
        <a:sy n="128" d="100"/>
      </p:scale>
      <p:origin x="0" y="-33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9D9852-B574-4024-9057-24EBF9EB3B49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EBF80F-BD1D-42AE-A63A-A0E620589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391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C774C-4C30-1A3E-483A-21A58328E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CE8521-5DC4-5C68-077E-2495F7D05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A4B5C1-3C49-EB78-1C0C-C14F95DD9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5364F-9E21-121E-CA06-B6823D11C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165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C85E1-3311-7875-F3B0-E0409D6BD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D63288-37A2-42A4-E3BD-A54DE16284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E25309-B2FE-313E-9D40-2DAB8D4F1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00CB4-7AD5-97CD-80AD-7B43FF660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274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20EC6-208E-9C2D-DF6E-C07091774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10996-4682-4485-82BA-DE77E00FD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D695F0-A860-E7F1-5C18-EF0B5C4E3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76BA4-29A8-C925-5E65-44DBC0A674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9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160DE-8338-D7A3-B7F2-95CF84442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84BDC3-4638-AB56-2045-A7EED58CFC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B82081-A942-A92F-4D84-BF4D9797D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F6FBB-C7D7-1C12-3F54-C44E54F96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354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34249-80B6-3F96-BE1F-0053DC38F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5370D8-EA19-AA51-187C-BEAA464B3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5E9424-E374-5AAF-5FFE-2057CA0CE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04E77-B112-32E8-734F-ABDDEB72F9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173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D60E8-B7B8-E50C-9741-330E7CEA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609CA5-21B3-3BF8-D789-D79DEA13D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BD77F0-04E4-BFAB-F011-6CC120DBB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C8D83-AF66-97C8-3092-F0B96B85F8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32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ECB8D-3F68-A3BB-B539-AE859DF11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13FA2D-9CF5-EAED-AF78-D8CE705D9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0E6862-5F8B-86D7-116C-28B888C17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6CB52-D293-A6DE-F4C1-3CC0EF9C62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4356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6DD16-9010-0014-D424-2770589B1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391D88-53C7-3BEA-101D-AAD81A635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ECFBD-6D10-B8AE-21E3-E47AEB6FE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24056-209E-90FE-17A2-F9BFB6CEAD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750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429DC-6C1F-019A-7A55-DFC9C218A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CF81A4-0C48-0FD2-94B4-306D127F6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5F9F0B-297B-A71A-E19E-529346F45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A19DC-0041-5F88-9EBA-8104B2275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947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7541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D8200-FBD8-2B06-330E-4903D4F10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E720CC-A52B-A340-08A3-09939B5444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484E04-1DD0-218E-A8BE-6B8B92AAD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8360A-8797-3EB4-7728-0D4CE186B4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4870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6570E-C04C-670C-4873-FF6CD4CFB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DAB486-992F-1666-F944-94446CE77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31F5A3-93C4-1CC3-3532-93204FEE1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8BF3C5-FFC8-55C5-B0D0-825B76E2D5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8819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BC078-FEA6-0F50-8764-7ADCD22E1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8916FE-30F1-DE51-0DEC-642A3CDAA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1ECFFC-FD04-2B3E-45D0-684989382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38E55-C084-27BC-0D6A-E4C985BE0E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880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77F2E-B281-4D9E-02F3-AAFC46CAD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88D5BC-E509-B795-CAC4-008EB57F1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363A92-C7FC-A105-C9F1-64324C7B9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24DC5-9120-4EB0-5C1D-A1FB48D4E1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1969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AF6B9-B1B5-B2CD-580A-8FC15C317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E8CAE-2E89-8919-8ED0-95C66F980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412312-D522-62D9-1BA7-A0504F77DB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712A3-992A-6B1B-AA02-0A9289D2C7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9788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8974F-ED9D-86B4-FF5B-DF984C293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EB76C2-1EC5-21CF-6ADA-830B67AE9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F9EF7-DF5C-A9A9-5B76-B9070E88E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EF357-61B7-B2DA-262E-0220EECAA9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7908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C8E90-BCD3-3CB3-82A0-71FC9CD8D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E322CB-29B5-644E-0883-32B86F7C5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9BFA5E-7F31-66EC-B58F-0C3BA2F36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0CF28-2C58-417E-B1FE-AD5F296D53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484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A0890-EA47-DC38-8FB1-5ADE43437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71C0D7-5CBC-1928-9AD1-7BFC44DFD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E668F5-2E7B-C971-5BCD-9BD6D8BEC6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92D80-0A1D-BC88-A606-9F90EABB0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8042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29E80-1261-2F7B-4994-A1CAFB5E3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797B2B-319D-88A4-8CCB-1BD07FA87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206EC-DB1C-661F-A15A-8202531D1A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4E08A-4CB8-E89D-086E-DE496B411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198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3CBD2-D3EA-10B9-65B4-3B86267FB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BC13D-03B2-5511-B0BA-33617A3D1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B72655-B7BB-AC40-2153-55E8E189B7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75CBC-44F4-7F87-219F-4B12EAEF2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759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3DA72-9503-4FF2-709A-872E29F3C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897397-5FEB-CE1C-FBDC-14F9D518E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ADC01D-F3AF-4C9C-0A93-622686F8D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A7C5B-9276-3CBA-1635-1859DFDE54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83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AF529-C3E3-5AC6-6F67-18B1E2D5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E9696-FACA-3245-B098-1F5B15FC1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8B2B8D-70BD-9071-EFC3-5EF0543EE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354FB-CD96-785A-D8D5-3260FD0BC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1000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A2B3A-45FE-BEE1-A6B5-2BE471C2E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2311F0-A63E-03E3-6F07-750E45645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F38C11-06CA-6199-0C24-22D6BE6E5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FAA81-59DC-464A-E4BC-B2C23AD14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075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D02A9-B5AE-FAD4-2287-1ECC46E26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1D8A4F-5E32-0C37-ABDA-25C9FEC3A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0430F9-A790-3F31-8870-40BFF94E16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BC391-41B3-5CB6-76EE-08AE8584A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4430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6552B-F949-1846-4E1D-E54AFCE8D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F09FF5-1C21-DD31-BE60-A8C4EC985C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F52B6C-79AC-3EB3-71F9-0371CC24B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A2E61-805D-52F0-61A1-587BB85689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4076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515CA-CD80-64C2-BAA7-37A63BB21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04D78E-751B-E413-1113-28AE0BA60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69F89-90DD-8EBE-BB11-1F61886AD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3F2-198E-032C-ECC2-E9656538F6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739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75E5D-E703-C584-A502-75C41615B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C968CB-A5AE-902C-A136-DA980D6DFD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4852D2-F0F4-325C-9A32-A65E07DD0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9D3B8-92E9-8E18-F41B-C1DC8F911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682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6D3EC-3B21-AF69-9C0C-FDE539FC7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98DB22-40FF-0644-B256-A27411209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4B03B2-1A83-A7B3-81B3-8860B79E9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BA0BC-F4CA-C96B-2BF3-02F82ADE8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0801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47CEF-86ED-3203-C473-EAD8274ED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DF6145-BE7A-89DA-2A82-2055A227B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C7FA8-B005-1051-9C0A-1A2A17081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0F28B-B110-FAB9-62C8-7C958D00E3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9294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0D1F6-F634-2EAD-8F51-9397531BB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53D73F-B15F-FA55-25BD-39EB1A62C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6BFEA2-386B-757B-7C5B-444D9ED0F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38EDA-0F8B-D72D-C9B3-5FB0CF0012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388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4E4E0-5869-5918-B449-9E5BF2687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9E55F9-C7A1-49B4-BFD5-0FBF8F412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73A71-17F1-C15C-33F2-755157A81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0A267-A111-379A-3D30-82C082C884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71564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60302-01CB-0088-4B49-C35A4A764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1B1544-350A-C04D-F112-1FC76D294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B7CEE2-BDD5-EFBD-6B2A-ABF1586B0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7000D-72E2-6D8E-4B85-EBDCCB0F1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4682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B139B-D85C-6A0F-6F15-5567B11F7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7165F6-1A43-985F-7C6A-53AC56912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FEAEDA-205A-3607-06AF-4331E220F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E3894-43F1-5409-9C79-D18DA31462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2014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4A5CE-09DC-3F86-CE05-C6B409FB7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E7054D-E6DB-96FF-89EC-F224F2D335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2E7C19-1A19-DE1D-4059-4C487BADF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2FB3B-5EBA-00A8-0EE4-4CFFE4A788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6782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88320-4C01-5A33-90F6-F234ECE29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6D2F41-6DCE-359C-2648-81A2CF4802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A363C4-0EE7-0C2C-E422-C0C952C88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7DA4E-420F-F35E-F340-43576548D7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358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3433D-7ED4-77C8-A4AF-05697A7A3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2E493-AD73-0526-E1C2-072BF2E33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F350F5-318A-FC9B-0CFB-5AD3BFF44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D55FBB-7E71-534B-935F-75A8EC85C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7859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150C3-4993-2ADF-9F64-C9C828FAA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2B6C54-A301-D66F-7D0E-EDC796547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20C27E-029E-4AB0-BE03-4765A1EB08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39E23-23A6-2476-61ED-EA507345FC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62604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003F5-77D6-B1D1-3C32-DAA41FD57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6D26CD-DD3A-73E5-2C15-9F86FEDD32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7420A1-0CB8-5580-5CED-3A4BC8608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368C2-CDDB-DBED-815D-67EA2A691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19130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B8C90-94E0-48E4-6452-6B4E88161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0FE3DD-3721-D808-763E-EE21C5ADB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FF71C-752F-96D0-D305-AC19CAB52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F00BE-D67B-F6C5-E48A-70DC4C5FD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183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F21FE-6B61-E1B1-032E-822045111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F09C75-08C8-38AD-0AF4-6B18C4BBB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745FE7-A4EE-863A-3C89-6CE975FFA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378EE-AFAA-FBB9-B2DF-E7CF212211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37995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8C5B4-A7D8-7C67-998E-EFD574464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9D03CC-E364-6485-9A3C-5C6738826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D0C115-E3E2-7D1C-8D63-BCC74AD28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BDC6C-D641-A885-9537-C5FC243C98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47766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F1D62-78BF-F555-342D-42C3F6EF3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9D32CF-00E8-A06C-7457-E21D054E8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B0686-CBD1-965D-4045-5CF2641B3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29A98-17F6-1A6B-9326-A68F1B369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BF80F-BD1D-42AE-A63A-A0E620589FC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143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CAA23-3A92-689C-8B81-43495BAFB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0024BF-F505-68B0-D17A-035F99809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90ED2-EC45-5034-1578-5FBED019F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FCDCC-51DC-C7FB-60F7-8564EE5CE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B94EA-A48E-5FDE-C0AC-40CCC19D2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362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D59C4-8A34-CD55-E6ED-10063FA3A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EB2B5-E064-E42F-2730-DC6BEF819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6F5F2-5FCB-FC87-3F2C-0850EE2FC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1A894-8C04-C076-6676-B601EFD93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F8448-EDEA-BA29-C4F5-818B8CEF3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970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5C0E1-1009-C451-56ED-C40435F7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A8C7C-AF4E-12C3-41B6-E355B2DEB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F6BCF-DCA0-DF0D-BC52-A651B99C5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358C8-76C6-020F-E2DB-E7932ECBF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D6966-6C28-7C18-C1C8-2C10EA003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13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7709A-5BAB-0803-9F1E-76614850A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1174D-AE07-BEF9-0D9F-69E6604795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E5B1C-BF94-FBD8-215E-059B3E366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B0269-CA6A-D1A5-7A78-60E635C61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11B12-6BC6-D670-05DF-05461D051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EA0E1-086A-7BE4-717B-794BCE194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626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5CC3F-91BE-04AD-69C3-025F028A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C99C0-DB34-EE8A-36F8-1A4646E5F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BF966-E456-8107-1D6A-6376BB18FB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F6202F-1A33-85BA-F302-C16C93C91F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85EB0-95DA-F8E6-A9F5-60099E4BE8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A52AE1-5011-A9D4-C53B-808CDA7F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E2F8EC-9A10-9188-2730-9FC05882D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55145-6CB3-1D8B-B91F-DEFD7D21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209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8CA33-9B2E-39D9-E72A-52548ADFF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729A54-BDC5-1D85-9AE7-1B24DF421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5A1405-D106-3583-B36D-BF9A1DCA9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2BFBEB-E36C-3DF5-4F27-44CD3F2B6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568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7088FF-C7BE-5CFA-9207-13FD909DC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D7F2ED-0076-DA13-BDCC-642248ED4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61CA5-F872-F738-3252-515E986BE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78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A099D-B049-C643-2F6E-E3435D5B0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CA24B-2F82-8ADE-5AF6-C2622B38A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613D62-4D7A-B6AF-4359-86D101500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12FEA-CF9E-5FF2-6F57-69B4BD535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2C27A-A232-490E-4BA7-F90D620C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BE158-1F81-98E6-4184-6F002968A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00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2ECA5-D088-5088-99B8-260B5FC2C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342B5B-7C8B-9BFB-FEE4-FB44554D0F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305D2-7F91-E7DE-C5AF-6AD64A3F0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1C8D9F-83EA-889D-4823-DCAB4387B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807E0-8BE1-F5D5-6C8C-19B5984B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2EC82-3DE6-2E4E-D5C8-C23C20562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518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89865-4EEC-31D4-1BBE-0DD9CB38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D18D13-08B2-F240-1F3B-A640C87AA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D215D-2471-1A66-A7AF-F7D6EEE92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614D9-89B8-ED9D-3990-93F3B0DC9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00855-2050-4A54-182F-B18AB8677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4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79943F-3BE9-121E-FD0A-7C17970A8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6CC6D-D23E-89F8-8D87-7A9B62860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D3531-E5C9-EDD5-5BA1-F07EA82EA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9193D-A92E-E971-D2B1-F3B907CAB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C50D9-F4D3-89F7-F3A9-B8034C828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589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0A5E95-3CEF-F98D-77F6-51468ACC6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50067-A522-39AA-2B3A-CCBA0820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428B6-76E9-19F4-5AE5-6636A0D61D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EC625-C333-6EBE-35AF-5E0F16DE16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C3C4E-E38F-A622-68A8-545F09A94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313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4000" b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6268A-3D3E-3BFC-4025-14DE6DBA6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638" y="518292"/>
            <a:ext cx="8491848" cy="1208141"/>
          </a:xfrm>
          <a:solidFill>
            <a:schemeClr val="accent1">
              <a:lumMod val="75000"/>
            </a:schemeClr>
          </a:solidFill>
        </p:spPr>
        <p:txBody>
          <a:bodyPr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Data-Centric Accounting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1938FB-FA7C-B4C0-82E3-170639BFFC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6492" y="5131568"/>
            <a:ext cx="5298781" cy="1459363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Semantic Arts Summit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May 1, 2025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Dave McComb &amp; Cheryl Dunn</a:t>
            </a:r>
          </a:p>
        </p:txBody>
      </p:sp>
    </p:spTree>
    <p:extLst>
      <p:ext uri="{BB962C8B-B14F-4D97-AF65-F5344CB8AC3E}">
        <p14:creationId xmlns:p14="http://schemas.microsoft.com/office/powerpoint/2010/main" val="2404912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94F3E-B550-1382-8F53-F01C57C8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F389072-5515-39EB-BD1B-A6D327E3E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Basics of Data-Centric Accounting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EFE9DDD-E4F1-4B28-A32A-3A07F50B6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34330" cy="4522012"/>
          </a:xfrm>
        </p:spPr>
        <p:txBody>
          <a:bodyPr>
            <a:normAutofit/>
          </a:bodyPr>
          <a:lstStyle/>
          <a:p>
            <a:r>
              <a:rPr lang="en-US" dirty="0"/>
              <a:t>Three Phases: DCA 1, DCA 2, and DCA 3</a:t>
            </a:r>
          </a:p>
          <a:p>
            <a:r>
              <a:rPr lang="en-US" dirty="0"/>
              <a:t>All phases share these concepts:</a:t>
            </a:r>
          </a:p>
          <a:p>
            <a:pPr lvl="1"/>
            <a:r>
              <a:rPr lang="en-US" dirty="0"/>
              <a:t>Financial activity is directly driven by business events</a:t>
            </a:r>
          </a:p>
          <a:p>
            <a:pPr lvl="1"/>
            <a:r>
              <a:rPr lang="en-US" dirty="0"/>
              <a:t>Immutable data at rest</a:t>
            </a:r>
          </a:p>
          <a:p>
            <a:pPr lvl="1"/>
            <a:r>
              <a:rPr lang="en-US" dirty="0"/>
              <a:t>Accounting policy is machine executable</a:t>
            </a:r>
          </a:p>
          <a:p>
            <a:pPr lvl="1"/>
            <a:r>
              <a:rPr lang="en-US" dirty="0"/>
              <a:t>Debits and credits are no longer needed or useful</a:t>
            </a:r>
          </a:p>
          <a:p>
            <a:pPr lvl="1"/>
            <a:r>
              <a:rPr lang="en-US" dirty="0"/>
              <a:t>Journals, Journal entries, and posting are no longer needed</a:t>
            </a:r>
          </a:p>
          <a:p>
            <a:pPr lvl="1"/>
            <a:r>
              <a:rPr lang="en-US" dirty="0"/>
              <a:t>Closing goes from a process to a state change</a:t>
            </a:r>
          </a:p>
          <a:p>
            <a:pPr lvl="1"/>
            <a:r>
              <a:rPr lang="en-US" dirty="0"/>
              <a:t>Financial reporting is model-driven</a:t>
            </a:r>
          </a:p>
          <a:p>
            <a:pPr lvl="1"/>
            <a:r>
              <a:rPr lang="en-US" dirty="0"/>
              <a:t>All financial reports contain their own lineage and provenance</a:t>
            </a:r>
          </a:p>
        </p:txBody>
      </p:sp>
    </p:spTree>
    <p:extLst>
      <p:ext uri="{BB962C8B-B14F-4D97-AF65-F5344CB8AC3E}">
        <p14:creationId xmlns:p14="http://schemas.microsoft.com/office/powerpoint/2010/main" val="59083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3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C222F-471E-9D3F-72D7-6D2320379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271733A-6C8F-0EEB-5023-FE7D7CC8B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Financial Activity Driven by Business Events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EFEB4EB-1F81-943E-5C85-113DBF22F1F4}"/>
              </a:ext>
            </a:extLst>
          </p:cNvPr>
          <p:cNvGrpSpPr/>
          <p:nvPr/>
        </p:nvGrpSpPr>
        <p:grpSpPr>
          <a:xfrm>
            <a:off x="988618" y="2169043"/>
            <a:ext cx="4689890" cy="3842699"/>
            <a:chOff x="988618" y="2169043"/>
            <a:chExt cx="4689890" cy="384269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86F09AB-417C-9935-C8A4-580A39FBE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8618" y="2897763"/>
              <a:ext cx="2346247" cy="3113979"/>
            </a:xfrm>
            <a:prstGeom prst="rect">
              <a:avLst/>
            </a:prstGeom>
            <a:ln w="19050">
              <a:solidFill>
                <a:schemeClr val="accent1">
                  <a:lumMod val="75000"/>
                </a:schemeClr>
              </a:solidFill>
            </a:ln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96D7C71-EB90-2CFB-4679-9AE2A38A39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6339" y="2897763"/>
              <a:ext cx="2322169" cy="3113979"/>
            </a:xfrm>
            <a:prstGeom prst="rect">
              <a:avLst/>
            </a:prstGeom>
            <a:ln w="19050">
              <a:solidFill>
                <a:schemeClr val="accent1">
                  <a:lumMod val="75000"/>
                </a:schemeClr>
              </a:solidFill>
            </a:ln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D929941-A96D-D3B2-C082-E15136F64E78}"/>
                </a:ext>
              </a:extLst>
            </p:cNvPr>
            <p:cNvSpPr txBox="1"/>
            <p:nvPr/>
          </p:nvSpPr>
          <p:spPr>
            <a:xfrm>
              <a:off x="988618" y="2169043"/>
              <a:ext cx="4689890" cy="70788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Current systems do 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         This:                                       Or This: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384CF6B-6CF0-DD65-AD89-74C6B4B69CDE}"/>
              </a:ext>
            </a:extLst>
          </p:cNvPr>
          <p:cNvGrpSpPr/>
          <p:nvPr/>
        </p:nvGrpSpPr>
        <p:grpSpPr>
          <a:xfrm>
            <a:off x="6425400" y="2215119"/>
            <a:ext cx="4689890" cy="3863154"/>
            <a:chOff x="6425400" y="2215119"/>
            <a:chExt cx="4689890" cy="3863154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9B634D5-F2BA-5B3C-B32A-DA0116D6C340}"/>
                </a:ext>
              </a:extLst>
            </p:cNvPr>
            <p:cNvSpPr txBox="1"/>
            <p:nvPr/>
          </p:nvSpPr>
          <p:spPr>
            <a:xfrm>
              <a:off x="6425400" y="2215119"/>
              <a:ext cx="4689890" cy="70788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Data-Centric Accounting will do</a:t>
              </a:r>
            </a:p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This: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A4F33BF-61F3-B000-DFEF-98046CA65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04199" y="3004520"/>
              <a:ext cx="2892424" cy="3073753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F2EF809-F2C8-6842-A742-5B108955B61C}"/>
                </a:ext>
              </a:extLst>
            </p:cNvPr>
            <p:cNvSpPr/>
            <p:nvPr/>
          </p:nvSpPr>
          <p:spPr>
            <a:xfrm>
              <a:off x="6425400" y="2923006"/>
              <a:ext cx="4689890" cy="3088736"/>
            </a:xfrm>
            <a:prstGeom prst="rect">
              <a:avLst/>
            </a:prstGeom>
            <a:noFill/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667F047B-51C1-CC55-765F-D2620D369F46}"/>
              </a:ext>
            </a:extLst>
          </p:cNvPr>
          <p:cNvSpPr txBox="1"/>
          <p:nvPr/>
        </p:nvSpPr>
        <p:spPr>
          <a:xfrm>
            <a:off x="9973340" y="3338623"/>
            <a:ext cx="2020749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 simple graph, event type, and intention will automatically create financial transactions</a:t>
            </a:r>
          </a:p>
        </p:txBody>
      </p:sp>
    </p:spTree>
    <p:extLst>
      <p:ext uri="{BB962C8B-B14F-4D97-AF65-F5344CB8AC3E}">
        <p14:creationId xmlns:p14="http://schemas.microsoft.com/office/powerpoint/2010/main" val="3769299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291CF-1AD4-9477-16FA-B1D52C455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DD183C5-5CC7-2D86-113E-DCCA54ED8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Immutable Data at Rest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CE3B20B-3B54-D15E-02C6-9AC7696C2B57}"/>
              </a:ext>
            </a:extLst>
          </p:cNvPr>
          <p:cNvGrpSpPr/>
          <p:nvPr/>
        </p:nvGrpSpPr>
        <p:grpSpPr>
          <a:xfrm>
            <a:off x="1947022" y="1786270"/>
            <a:ext cx="8273142" cy="1789979"/>
            <a:chOff x="2340429" y="1818167"/>
            <a:chExt cx="8273142" cy="178997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42EBEDF-7B9B-BC40-AA47-415F04A75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78210" y="2121195"/>
              <a:ext cx="7397580" cy="1486951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71B619F-D9F3-3A56-EB83-BC39961BF52B}"/>
                </a:ext>
              </a:extLst>
            </p:cNvPr>
            <p:cNvSpPr/>
            <p:nvPr/>
          </p:nvSpPr>
          <p:spPr>
            <a:xfrm>
              <a:off x="2340429" y="1818167"/>
              <a:ext cx="8273142" cy="60605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Current Systems – Provenance is lost in the “bucket brigade” 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994396A-3D42-7DA3-B74C-6ABFC88E687D}"/>
                </a:ext>
              </a:extLst>
            </p:cNvPr>
            <p:cNvSpPr/>
            <p:nvPr/>
          </p:nvSpPr>
          <p:spPr>
            <a:xfrm>
              <a:off x="2340429" y="2424223"/>
              <a:ext cx="8273142" cy="1004777"/>
            </a:xfrm>
            <a:prstGeom prst="rect">
              <a:avLst/>
            </a:prstGeom>
            <a:noFill/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1BA5BC-02AC-2A52-B2A8-1FC207B2F6C4}"/>
              </a:ext>
            </a:extLst>
          </p:cNvPr>
          <p:cNvGrpSpPr/>
          <p:nvPr/>
        </p:nvGrpSpPr>
        <p:grpSpPr>
          <a:xfrm>
            <a:off x="3636334" y="3684346"/>
            <a:ext cx="7350420" cy="3031329"/>
            <a:chOff x="3636334" y="3684346"/>
            <a:chExt cx="7350420" cy="3031329"/>
          </a:xfrm>
        </p:grpSpPr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BCAB46B0-ECC9-C170-36FE-0A655032F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4839" y="3694980"/>
              <a:ext cx="5161915" cy="3020695"/>
            </a:xfrm>
            <a:prstGeom prst="rect">
              <a:avLst/>
            </a:prstGeom>
            <a:ln w="19050">
              <a:solidFill>
                <a:schemeClr val="accent1">
                  <a:lumMod val="75000"/>
                </a:schemeClr>
              </a:solidFill>
            </a:ln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F045AA6-AA12-147D-D241-9BB1D3481C3B}"/>
                </a:ext>
              </a:extLst>
            </p:cNvPr>
            <p:cNvSpPr txBox="1"/>
            <p:nvPr/>
          </p:nvSpPr>
          <p:spPr>
            <a:xfrm>
              <a:off x="3636334" y="3684346"/>
              <a:ext cx="2156606" cy="301752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Data-Centric Accounting Systems will keep complete provenance for all financial business events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932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1825D-CE3C-7706-320E-C27C22261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C366B79-38BB-7808-61D7-FD3DDB0BA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Machine Executable Accounting Policy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676EE0F-7A77-C069-0001-E29F2D272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34330" cy="45220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Accounting includes many policies that should and can be machine executable.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7E0239-A294-E00B-98D1-6E7D7763779A}"/>
              </a:ext>
            </a:extLst>
          </p:cNvPr>
          <p:cNvGrpSpPr/>
          <p:nvPr/>
        </p:nvGrpSpPr>
        <p:grpSpPr>
          <a:xfrm>
            <a:off x="3891516" y="2595792"/>
            <a:ext cx="6282285" cy="1857496"/>
            <a:chOff x="3030279" y="2829708"/>
            <a:chExt cx="6282285" cy="1857496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8EB80A8-102C-03A1-F0B2-D535379E5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27714" y="2829708"/>
              <a:ext cx="4684850" cy="1857496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2DEBAA3-E41A-A729-AABF-5AC1542801BC}"/>
                </a:ext>
              </a:extLst>
            </p:cNvPr>
            <p:cNvSpPr/>
            <p:nvPr/>
          </p:nvSpPr>
          <p:spPr>
            <a:xfrm>
              <a:off x="3030279" y="2829708"/>
              <a:ext cx="1892595" cy="158280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Inventory Costing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A9CD2A6-B24E-D6F7-CD0D-2C01B50C92B2}"/>
              </a:ext>
            </a:extLst>
          </p:cNvPr>
          <p:cNvGrpSpPr/>
          <p:nvPr/>
        </p:nvGrpSpPr>
        <p:grpSpPr>
          <a:xfrm>
            <a:off x="1438939" y="4442006"/>
            <a:ext cx="6315243" cy="1554480"/>
            <a:chOff x="1438939" y="4442006"/>
            <a:chExt cx="6315243" cy="155448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1A16DD9-F4FE-5545-06DB-8136B6847C5C}"/>
                </a:ext>
              </a:extLst>
            </p:cNvPr>
            <p:cNvSpPr/>
            <p:nvPr/>
          </p:nvSpPr>
          <p:spPr>
            <a:xfrm>
              <a:off x="1438939" y="4442006"/>
              <a:ext cx="1892595" cy="15544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Depreciation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D79B6F3-4BE2-A029-F044-F12BDE2F74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83" b="15083"/>
            <a:stretch/>
          </p:blipFill>
          <p:spPr>
            <a:xfrm>
              <a:off x="3331534" y="4442006"/>
              <a:ext cx="4422648" cy="1554480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098180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222BB-1719-E0EC-7CC4-CC6828932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7A8C25C-459D-93B3-FE88-D12A40E0F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Machine Executable Accounting Policy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6F54D7-6B7A-291E-E74A-E767F7B3D7DC}"/>
              </a:ext>
            </a:extLst>
          </p:cNvPr>
          <p:cNvGrpSpPr/>
          <p:nvPr/>
        </p:nvGrpSpPr>
        <p:grpSpPr>
          <a:xfrm>
            <a:off x="2700669" y="2240280"/>
            <a:ext cx="6098835" cy="2377440"/>
            <a:chOff x="946297" y="1904676"/>
            <a:chExt cx="6098835" cy="237744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37C6249-E80C-A790-1BDD-4B0AAC5054A6}"/>
                </a:ext>
              </a:extLst>
            </p:cNvPr>
            <p:cNvSpPr/>
            <p:nvPr/>
          </p:nvSpPr>
          <p:spPr>
            <a:xfrm>
              <a:off x="946297" y="1904676"/>
              <a:ext cx="1892595" cy="237744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Labor Costing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B2A147F-C66D-46D5-44C9-D01D94D66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1146" b="16533"/>
            <a:stretch/>
          </p:blipFill>
          <p:spPr>
            <a:xfrm>
              <a:off x="2838892" y="1904676"/>
              <a:ext cx="4206240" cy="2377440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98010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F8B36-B712-B014-9553-BA8766872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D1DEBF6-345F-2FD6-9E01-F162415E6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No More Debits and Credits </a:t>
            </a:r>
          </a:p>
        </p:txBody>
      </p:sp>
    </p:spTree>
    <p:extLst>
      <p:ext uri="{BB962C8B-B14F-4D97-AF65-F5344CB8AC3E}">
        <p14:creationId xmlns:p14="http://schemas.microsoft.com/office/powerpoint/2010/main" val="2959393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F7103-FD68-0474-03B7-7E1612BB4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EA1524E-C68F-5052-16A8-FE6AB53AB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No More Journals, Journal Entries, or Posting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87A402B-F8C8-F66A-4D8E-46F30240A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34330" cy="4522012"/>
          </a:xfrm>
        </p:spPr>
        <p:txBody>
          <a:bodyPr>
            <a:normAutofit/>
          </a:bodyPr>
          <a:lstStyle/>
          <a:p>
            <a:r>
              <a:rPr lang="en-US" dirty="0"/>
              <a:t>Event details will be captured wherever in the organization the event took place</a:t>
            </a:r>
          </a:p>
          <a:p>
            <a:r>
              <a:rPr lang="en-US" dirty="0"/>
              <a:t>The DCA system knows which business events lead to financial activity and will add the financial information (valuation, recognition, and classification) to the event</a:t>
            </a:r>
          </a:p>
        </p:txBody>
      </p:sp>
    </p:spTree>
    <p:extLst>
      <p:ext uri="{BB962C8B-B14F-4D97-AF65-F5344CB8AC3E}">
        <p14:creationId xmlns:p14="http://schemas.microsoft.com/office/powerpoint/2010/main" val="2011358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CC407-C781-EA3B-622E-5AA549AD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F0CA3BA-B801-E72C-6C85-15560CCE4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Closing as a State Change, not a Process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A6FB830-A438-0D63-6D48-6B510A113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34330" cy="4522012"/>
          </a:xfrm>
        </p:spPr>
        <p:txBody>
          <a:bodyPr>
            <a:normAutofit/>
          </a:bodyPr>
          <a:lstStyle/>
          <a:p>
            <a:r>
              <a:rPr lang="en-US" dirty="0"/>
              <a:t>The books are always closed so no closing process is needed</a:t>
            </a:r>
          </a:p>
          <a:p>
            <a:r>
              <a:rPr lang="en-US" dirty="0"/>
              <a:t>Minimal delay between events’ occurrences and their capture in the books </a:t>
            </a:r>
          </a:p>
        </p:txBody>
      </p:sp>
    </p:spTree>
    <p:extLst>
      <p:ext uri="{BB962C8B-B14F-4D97-AF65-F5344CB8AC3E}">
        <p14:creationId xmlns:p14="http://schemas.microsoft.com/office/powerpoint/2010/main" val="4225882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98288-6BCD-4A02-C069-D102B3CD7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ECBF5C-BB9D-E0A1-0106-AE4ADE913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Model-driven Financial Reporting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14B8F80-8BBA-EBD7-88BC-18C0E49BB354}"/>
              </a:ext>
            </a:extLst>
          </p:cNvPr>
          <p:cNvGrpSpPr/>
          <p:nvPr/>
        </p:nvGrpSpPr>
        <p:grpSpPr>
          <a:xfrm>
            <a:off x="659780" y="2215360"/>
            <a:ext cx="4692805" cy="3951264"/>
            <a:chOff x="659780" y="2215360"/>
            <a:chExt cx="4692805" cy="3951264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2B96F57-EBDC-BB11-AC73-637601AF5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9780" y="3479156"/>
              <a:ext cx="4523918" cy="2484540"/>
            </a:xfrm>
            <a:prstGeom prst="rect">
              <a:avLst/>
            </a:prstGeom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E38B475-70FA-4604-18BF-C563ED2B76C7}"/>
                </a:ext>
              </a:extLst>
            </p:cNvPr>
            <p:cNvSpPr/>
            <p:nvPr/>
          </p:nvSpPr>
          <p:spPr>
            <a:xfrm>
              <a:off x="659780" y="2215360"/>
              <a:ext cx="4692805" cy="87425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Traditional Model-Driven Financial Reporting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C9EDA44-88D0-D334-6492-DB999F03B59C}"/>
                </a:ext>
              </a:extLst>
            </p:cNvPr>
            <p:cNvSpPr/>
            <p:nvPr/>
          </p:nvSpPr>
          <p:spPr>
            <a:xfrm>
              <a:off x="659780" y="3089612"/>
              <a:ext cx="4692805" cy="3077012"/>
            </a:xfrm>
            <a:prstGeom prst="rect">
              <a:avLst/>
            </a:prstGeom>
            <a:noFill/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0DBF913-B604-BB29-B2F0-E334EB4E0F03}"/>
              </a:ext>
            </a:extLst>
          </p:cNvPr>
          <p:cNvGrpSpPr/>
          <p:nvPr/>
        </p:nvGrpSpPr>
        <p:grpSpPr>
          <a:xfrm>
            <a:off x="5653668" y="2215360"/>
            <a:ext cx="6212267" cy="3951264"/>
            <a:chOff x="5653668" y="2215360"/>
            <a:chExt cx="6212267" cy="3951264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76A78770-8EB3-FE40-8C67-8D72A7721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53668" y="3089612"/>
              <a:ext cx="6023238" cy="2954488"/>
            </a:xfrm>
            <a:prstGeom prst="rect">
              <a:avLst/>
            </a:prstGeom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B1659D6-761C-1251-5228-C9DC156BE0EC}"/>
                </a:ext>
              </a:extLst>
            </p:cNvPr>
            <p:cNvSpPr/>
            <p:nvPr/>
          </p:nvSpPr>
          <p:spPr>
            <a:xfrm>
              <a:off x="5653668" y="3089612"/>
              <a:ext cx="6212267" cy="3077012"/>
            </a:xfrm>
            <a:prstGeom prst="rect">
              <a:avLst/>
            </a:prstGeom>
            <a:noFill/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D0835B-7E2E-341D-4041-E1AC6E01DE18}"/>
                </a:ext>
              </a:extLst>
            </p:cNvPr>
            <p:cNvSpPr/>
            <p:nvPr/>
          </p:nvSpPr>
          <p:spPr>
            <a:xfrm>
              <a:off x="5653668" y="2215360"/>
              <a:ext cx="6212267" cy="87425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Model-Driven Financial Reporting Without Ledgers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3007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8DD7172-0686-4C0F-087E-59A6F0B9D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DCA 1: Data Centric Accounting, Transactionally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11F5EA-65F3-4A9A-77E8-33D8A1FB0D16}"/>
              </a:ext>
            </a:extLst>
          </p:cNvPr>
          <p:cNvSpPr txBox="1"/>
          <p:nvPr/>
        </p:nvSpPr>
        <p:spPr>
          <a:xfrm>
            <a:off x="1189079" y="2753825"/>
            <a:ext cx="4663440" cy="1569660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Chart of accounts with general ledger accounts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Posting financial transactions at moments in time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D368A0-F0CA-4627-C56A-41464188E413}"/>
              </a:ext>
            </a:extLst>
          </p:cNvPr>
          <p:cNvSpPr txBox="1"/>
          <p:nvPr/>
        </p:nvSpPr>
        <p:spPr>
          <a:xfrm>
            <a:off x="1189078" y="2222201"/>
            <a:ext cx="4663440" cy="5232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KEEPS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7C9385-3C22-A889-E485-3779E59A15AD}"/>
              </a:ext>
            </a:extLst>
          </p:cNvPr>
          <p:cNvSpPr txBox="1"/>
          <p:nvPr/>
        </p:nvSpPr>
        <p:spPr>
          <a:xfrm>
            <a:off x="6308655" y="2753825"/>
            <a:ext cx="4663440" cy="1569660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Debits and credits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Journals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Closing process</a:t>
            </a:r>
          </a:p>
          <a:p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6749C7-A0DF-E5AB-10B3-BCE44FE18D95}"/>
              </a:ext>
            </a:extLst>
          </p:cNvPr>
          <p:cNvSpPr txBox="1"/>
          <p:nvPr/>
        </p:nvSpPr>
        <p:spPr>
          <a:xfrm>
            <a:off x="6308654" y="2222201"/>
            <a:ext cx="4663440" cy="5232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DISCARDS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D83420-920D-4A53-EC90-01D4B0485FD4}"/>
              </a:ext>
            </a:extLst>
          </p:cNvPr>
          <p:cNvSpPr txBox="1"/>
          <p:nvPr/>
        </p:nvSpPr>
        <p:spPr>
          <a:xfrm>
            <a:off x="3764280" y="5039825"/>
            <a:ext cx="4663440" cy="830997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Event-Driven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BF37A2-5B3E-04B5-6AD5-B92279A0D015}"/>
              </a:ext>
            </a:extLst>
          </p:cNvPr>
          <p:cNvSpPr txBox="1"/>
          <p:nvPr/>
        </p:nvSpPr>
        <p:spPr>
          <a:xfrm>
            <a:off x="3764279" y="4508201"/>
            <a:ext cx="4663440" cy="5232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ADDS</a:t>
            </a:r>
          </a:p>
        </p:txBody>
      </p:sp>
    </p:spTree>
    <p:extLst>
      <p:ext uri="{BB962C8B-B14F-4D97-AF65-F5344CB8AC3E}">
        <p14:creationId xmlns:p14="http://schemas.microsoft.com/office/powerpoint/2010/main" val="2838745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FFC54-DACC-87C1-279F-4E2D9E17D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17AF4E9-C487-7E0F-E385-A6A3D6088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Event-Driven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331B65F-0331-30B8-FA29-FCC393ED5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34330" cy="4522012"/>
          </a:xfrm>
        </p:spPr>
        <p:txBody>
          <a:bodyPr>
            <a:normAutofit/>
          </a:bodyPr>
          <a:lstStyle/>
          <a:p>
            <a:r>
              <a:rPr lang="en-US" dirty="0"/>
              <a:t>Simplest set of financial business events </a:t>
            </a:r>
          </a:p>
          <a:p>
            <a:pPr lvl="1"/>
            <a:r>
              <a:rPr lang="en-US" dirty="0"/>
              <a:t>Order goods or services</a:t>
            </a:r>
          </a:p>
          <a:p>
            <a:pPr lvl="1"/>
            <a:r>
              <a:rPr lang="en-US" dirty="0"/>
              <a:t>Pay for goods or services</a:t>
            </a:r>
          </a:p>
          <a:p>
            <a:pPr lvl="1"/>
            <a:r>
              <a:rPr lang="en-US" dirty="0"/>
              <a:t>Receive goods or services</a:t>
            </a:r>
          </a:p>
          <a:p>
            <a:pPr lvl="1"/>
            <a:r>
              <a:rPr lang="en-US" dirty="0"/>
              <a:t>Sell goods or services</a:t>
            </a:r>
          </a:p>
          <a:p>
            <a:pPr lvl="1"/>
            <a:r>
              <a:rPr lang="en-US" dirty="0"/>
              <a:t>Deliver goods or services</a:t>
            </a:r>
          </a:p>
          <a:p>
            <a:pPr lvl="1"/>
            <a:r>
              <a:rPr lang="en-US" dirty="0"/>
              <a:t>Receive payment for goods or services</a:t>
            </a:r>
          </a:p>
          <a:p>
            <a:r>
              <a:rPr lang="en-US" dirty="0"/>
              <a:t>Some companies will also have a “Make goods” event, but not all will, so we focus on the six above, which all companies will have.</a:t>
            </a:r>
          </a:p>
        </p:txBody>
      </p:sp>
    </p:spTree>
    <p:extLst>
      <p:ext uri="{BB962C8B-B14F-4D97-AF65-F5344CB8AC3E}">
        <p14:creationId xmlns:p14="http://schemas.microsoft.com/office/powerpoint/2010/main" val="1041153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3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4F539-5C62-5181-DFF5-AE0BD3CD9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A2B39CD-4936-46BC-A3D2-4D8BE132E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Primitive Event Considerations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C9B493A-66FB-BBC2-3248-CD921DAC2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34330" cy="45220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Is it singular or composite?</a:t>
            </a:r>
          </a:p>
          <a:p>
            <a:pPr lvl="1"/>
            <a:r>
              <a:rPr lang="en-US" dirty="0"/>
              <a:t>E.g. buying something with a credit card</a:t>
            </a:r>
          </a:p>
          <a:p>
            <a:pPr lvl="2"/>
            <a:r>
              <a:rPr lang="en-US" dirty="0"/>
              <a:t>Creates and fulfills merchant’s obligation to deliver goods to you</a:t>
            </a:r>
          </a:p>
          <a:p>
            <a:pPr lvl="2"/>
            <a:r>
              <a:rPr lang="en-US" dirty="0"/>
              <a:t>Creates and fulfills your obligation to pay the merchant for those goods </a:t>
            </a:r>
          </a:p>
          <a:p>
            <a:pPr lvl="3"/>
            <a:r>
              <a:rPr lang="en-US" dirty="0"/>
              <a:t>Actually, it transfers your obligation to pay the merchant to the credit card company, thereby creating an obligation for the credit card company to pay the merchant</a:t>
            </a:r>
          </a:p>
          <a:p>
            <a:pPr lvl="2"/>
            <a:r>
              <a:rPr lang="en-US" dirty="0"/>
              <a:t>Also creates an obligation for you to pay the credit card company</a:t>
            </a:r>
          </a:p>
          <a:p>
            <a:r>
              <a:rPr lang="en-US" dirty="0"/>
              <a:t>Does it involve an obligation or a right?</a:t>
            </a:r>
          </a:p>
          <a:p>
            <a:r>
              <a:rPr lang="en-US" dirty="0"/>
              <a:t>Does it involve goods and services or money?</a:t>
            </a:r>
          </a:p>
          <a:p>
            <a:r>
              <a:rPr lang="en-US" dirty="0"/>
              <a:t>Is it a commitment or a fulfillment of a previous commitment?</a:t>
            </a:r>
          </a:p>
          <a:p>
            <a:r>
              <a:rPr lang="en-US" dirty="0"/>
              <a:t>If the event seems different from our initial set of 6? Look for semantic similarity – e.g. payroll is buying labor for cash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073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3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C6B73-8EAF-8096-82FF-C4850D1B7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B19A060-E252-9967-FDED-3008188EB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Asset – a present right of an entity to an economic benefit        </a:t>
            </a:r>
            <a:r>
              <a:rPr lang="en-US" sz="2400" dirty="0">
                <a:solidFill>
                  <a:schemeClr val="bg1"/>
                </a:solidFill>
              </a:rPr>
              <a:t>(FASB Conceptual Framework)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BA4C4A0-6C67-51A0-E202-937DA9E7C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34330" cy="45220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Ownership Rights – full ownership consists of all of these:</a:t>
            </a:r>
          </a:p>
          <a:p>
            <a:pPr lvl="1"/>
            <a:r>
              <a:rPr lang="en-US" dirty="0"/>
              <a:t>Possession – the right to move something</a:t>
            </a:r>
          </a:p>
          <a:p>
            <a:pPr lvl="1"/>
            <a:r>
              <a:rPr lang="en-US" dirty="0"/>
              <a:t>Right to Use or Access – also called </a:t>
            </a:r>
            <a:r>
              <a:rPr lang="en-US" dirty="0" err="1"/>
              <a:t>usufructous</a:t>
            </a:r>
            <a:r>
              <a:rPr lang="en-US" dirty="0"/>
              <a:t> rights – right to use and benefit from a property without the right to change or transfer it</a:t>
            </a:r>
          </a:p>
          <a:p>
            <a:pPr lvl="1"/>
            <a:r>
              <a:rPr lang="en-US" dirty="0"/>
              <a:t>Right to Economic Benefit </a:t>
            </a:r>
          </a:p>
          <a:p>
            <a:pPr lvl="1"/>
            <a:r>
              <a:rPr lang="en-US" dirty="0"/>
              <a:t>Exclusivity – right to prevent others from using, e.g., having control of physical items or having intellectual property protections such as copyrights, patents, trademarks, etc. </a:t>
            </a:r>
          </a:p>
          <a:p>
            <a:pPr lvl="1"/>
            <a:r>
              <a:rPr lang="en-US" dirty="0"/>
              <a:t>Right to transfer (sell)</a:t>
            </a:r>
          </a:p>
          <a:p>
            <a:pPr lvl="1"/>
            <a:r>
              <a:rPr lang="en-US" dirty="0"/>
              <a:t>Right to modify</a:t>
            </a:r>
          </a:p>
          <a:p>
            <a:pPr lvl="1"/>
            <a:r>
              <a:rPr lang="en-US" dirty="0"/>
              <a:t>Right to consume or destroy</a:t>
            </a:r>
          </a:p>
          <a:p>
            <a:pPr lvl="1"/>
            <a:r>
              <a:rPr lang="en-US" dirty="0"/>
              <a:t>Ability to Control</a:t>
            </a:r>
          </a:p>
          <a:p>
            <a:pPr lvl="1"/>
            <a:r>
              <a:rPr lang="en-US" dirty="0"/>
              <a:t>Right to Pledge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645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3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DE39B-1968-2603-9764-DEA7A1815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FC8ADD-DFC7-5D11-C36B-2256F6F34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Intention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C4846D-A313-0420-94C5-466D65230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34330" cy="4522012"/>
          </a:xfrm>
        </p:spPr>
        <p:txBody>
          <a:bodyPr>
            <a:normAutofit fontScale="92500"/>
          </a:bodyPr>
          <a:lstStyle/>
          <a:p>
            <a:r>
              <a:rPr lang="en-US" dirty="0"/>
              <a:t>Why someone initiated a transaction</a:t>
            </a:r>
          </a:p>
          <a:p>
            <a:pPr lvl="1"/>
            <a:r>
              <a:rPr lang="en-US" dirty="0"/>
              <a:t>E.g. is that chocolate they ordered raw material, for the tour room, or for the executive lounge?</a:t>
            </a:r>
          </a:p>
          <a:p>
            <a:pPr lvl="1"/>
            <a:r>
              <a:rPr lang="en-US" dirty="0"/>
              <a:t>The intention determines how the chocolate should be classified on financial statements</a:t>
            </a:r>
          </a:p>
          <a:p>
            <a:pPr lvl="1"/>
            <a:r>
              <a:rPr lang="en-US" dirty="0"/>
              <a:t>The person who initiated the transaction is the best qualified to classify it</a:t>
            </a:r>
          </a:p>
          <a:p>
            <a:r>
              <a:rPr lang="en-US" dirty="0"/>
              <a:t>Possible intentions (not exclusive)</a:t>
            </a:r>
          </a:p>
          <a:p>
            <a:pPr lvl="1"/>
            <a:r>
              <a:rPr lang="en-US" dirty="0"/>
              <a:t>Material for production (raw materials inventory)</a:t>
            </a:r>
          </a:p>
          <a:p>
            <a:pPr lvl="1"/>
            <a:r>
              <a:rPr lang="en-US" dirty="0"/>
              <a:t>Material for resale (merchandise inventory)</a:t>
            </a:r>
          </a:p>
          <a:p>
            <a:pPr lvl="1"/>
            <a:r>
              <a:rPr lang="en-US" dirty="0"/>
              <a:t>Operating expense</a:t>
            </a:r>
          </a:p>
          <a:p>
            <a:pPr lvl="1"/>
            <a:r>
              <a:rPr lang="en-US" dirty="0"/>
              <a:t>Sale in normal course of business</a:t>
            </a:r>
          </a:p>
          <a:p>
            <a:pPr lvl="1"/>
            <a:r>
              <a:rPr lang="en-US" dirty="0"/>
              <a:t>Sale of fixed asset (not recorded as sales, but may generate gains or losses)</a:t>
            </a:r>
          </a:p>
        </p:txBody>
      </p:sp>
    </p:spTree>
    <p:extLst>
      <p:ext uri="{BB962C8B-B14F-4D97-AF65-F5344CB8AC3E}">
        <p14:creationId xmlns:p14="http://schemas.microsoft.com/office/powerpoint/2010/main" val="2768696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3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D50C9-E3F0-7636-A4C4-984CC47B4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E1D5B1-06B9-6E68-12FA-3FC87C241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Policy-Driven Recognition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F5378B2-5041-707C-EFD5-F4FEA892F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565" y="4228140"/>
            <a:ext cx="10634330" cy="226473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First two columns drive the rest of the results</a:t>
            </a:r>
          </a:p>
          <a:p>
            <a:pPr lvl="1"/>
            <a:r>
              <a:rPr lang="en-US" dirty="0"/>
              <a:t>If we know the intention and event type, we know whether to recognize the event and what account to charge it to. </a:t>
            </a:r>
          </a:p>
          <a:p>
            <a:r>
              <a:rPr lang="en-US" dirty="0"/>
              <a:t>Last two columns determine timing and valuation issues</a:t>
            </a:r>
          </a:p>
          <a:p>
            <a:r>
              <a:rPr lang="en-US" dirty="0"/>
              <a:t>Likely will be only several dozen (at most a few hundred) rows – won’t need the thousands of accounts typical in medium-sized companies.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39691C-D0DF-FFBA-ADA4-F4B654967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90882"/>
            <a:ext cx="10515572" cy="188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798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F01F7-637C-EEBD-A5D6-FE130DE85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1AF0DD1-6033-21B7-7D7F-B4DA615AC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Equity Accounts as Counterparty Accounts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3C5492-301A-8760-2AEA-443CB97C3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34330" cy="45220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Equity is made up of</a:t>
            </a:r>
          </a:p>
          <a:p>
            <a:pPr lvl="1"/>
            <a:r>
              <a:rPr lang="en-US" dirty="0"/>
              <a:t>Contributed Capital (amounts received from owners)</a:t>
            </a:r>
          </a:p>
          <a:p>
            <a:pPr lvl="2"/>
            <a:r>
              <a:rPr lang="en-US" dirty="0"/>
              <a:t>Common Stock </a:t>
            </a:r>
          </a:p>
          <a:p>
            <a:pPr lvl="2"/>
            <a:r>
              <a:rPr lang="en-US" dirty="0"/>
              <a:t>Preferred Stock</a:t>
            </a:r>
          </a:p>
          <a:p>
            <a:pPr lvl="1"/>
            <a:r>
              <a:rPr lang="en-US" dirty="0"/>
              <a:t>Retained Earnings (cumulative amount of income earned by company less any dividends paid to its owners throughout the company’s existence)</a:t>
            </a:r>
          </a:p>
          <a:p>
            <a:pPr lvl="1"/>
            <a:r>
              <a:rPr lang="en-US" dirty="0"/>
              <a:t>Treasury Stock (amounts paid back to owners by the company to buy back shares of its own stock – Treasury Stock reduces overall Equity)</a:t>
            </a:r>
          </a:p>
          <a:p>
            <a:r>
              <a:rPr lang="en-US" dirty="0"/>
              <a:t>Equity represents the (theoretical) claim owners have against the assets of the company </a:t>
            </a:r>
          </a:p>
          <a:p>
            <a:pPr lvl="1"/>
            <a:r>
              <a:rPr lang="en-US" dirty="0"/>
              <a:t>They only really have a claim if the company liquidates</a:t>
            </a:r>
          </a:p>
          <a:p>
            <a:pPr lvl="1"/>
            <a:r>
              <a:rPr lang="en-US" dirty="0"/>
              <a:t>And then even after liabilities are paid, the actual liquidation value of assets may not have been sufficient to pay the owners anything. </a:t>
            </a:r>
          </a:p>
        </p:txBody>
      </p:sp>
    </p:spTree>
    <p:extLst>
      <p:ext uri="{BB962C8B-B14F-4D97-AF65-F5344CB8AC3E}">
        <p14:creationId xmlns:p14="http://schemas.microsoft.com/office/powerpoint/2010/main" val="359459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3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9973E-3FD2-7EFF-2836-5BF82DFFD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2EF0BC7-013E-84F0-B144-4F593051A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Why DCA 1 instead of going right to DCA 2?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2F12519-A0C3-61C6-D578-A927F77C1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34330" cy="4522012"/>
          </a:xfrm>
        </p:spPr>
        <p:txBody>
          <a:bodyPr>
            <a:normAutofit/>
          </a:bodyPr>
          <a:lstStyle/>
          <a:p>
            <a:r>
              <a:rPr lang="en-US" dirty="0"/>
              <a:t>To convert existing system, we must bring in legacy data that requires preservation of General Ledger (GL) accounts.</a:t>
            </a:r>
          </a:p>
          <a:p>
            <a:r>
              <a:rPr lang="en-US" dirty="0"/>
              <a:t>DCA 1 reduces the number of GL accounts, but still allows them. In DCA 2 we will eliminate account numbers and the GL itself.</a:t>
            </a:r>
          </a:p>
          <a:p>
            <a:r>
              <a:rPr lang="en-US" dirty="0"/>
              <a:t>Implementers will get a baseline of instantaneous financial reporting that is well worth the minor changes made to that point. </a:t>
            </a:r>
          </a:p>
        </p:txBody>
      </p:sp>
    </p:spTree>
    <p:extLst>
      <p:ext uri="{BB962C8B-B14F-4D97-AF65-F5344CB8AC3E}">
        <p14:creationId xmlns:p14="http://schemas.microsoft.com/office/powerpoint/2010/main" val="3476674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3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3CE30-6F74-E9BC-C554-038CE502C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714E21E-0449-5A4F-12EE-D2B9B20B6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DCA 2 – Data-Centric Accounting Directly from Commitments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9D575F-1DAE-19C3-BE75-4F90D5464FDF}"/>
              </a:ext>
            </a:extLst>
          </p:cNvPr>
          <p:cNvGrpSpPr/>
          <p:nvPr/>
        </p:nvGrpSpPr>
        <p:grpSpPr>
          <a:xfrm>
            <a:off x="1114650" y="1875404"/>
            <a:ext cx="4663441" cy="1362621"/>
            <a:chOff x="1189078" y="2222201"/>
            <a:chExt cx="4663441" cy="136262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EA49DEE-1932-FF16-E446-E35668FD1138}"/>
                </a:ext>
              </a:extLst>
            </p:cNvPr>
            <p:cNvSpPr txBox="1"/>
            <p:nvPr/>
          </p:nvSpPr>
          <p:spPr>
            <a:xfrm>
              <a:off x="1189079" y="2753825"/>
              <a:ext cx="4663440" cy="830997"/>
            </a:xfrm>
            <a:prstGeom prst="rect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/>
                <a:t>Single-organization perspective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24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DB8948D-86FD-D8C4-0868-5B56EA836464}"/>
                </a:ext>
              </a:extLst>
            </p:cNvPr>
            <p:cNvSpPr txBox="1"/>
            <p:nvPr/>
          </p:nvSpPr>
          <p:spPr>
            <a:xfrm>
              <a:off x="1189078" y="2222201"/>
              <a:ext cx="4663440" cy="52322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</a:rPr>
                <a:t>KEEPS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8A49A5D-4917-4F99-09E8-6E36A0CAF174}"/>
              </a:ext>
            </a:extLst>
          </p:cNvPr>
          <p:cNvGrpSpPr/>
          <p:nvPr/>
        </p:nvGrpSpPr>
        <p:grpSpPr>
          <a:xfrm>
            <a:off x="6308653" y="1875404"/>
            <a:ext cx="4663441" cy="2101284"/>
            <a:chOff x="6308654" y="2222201"/>
            <a:chExt cx="4663441" cy="210128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FBD88D7-3996-8244-D569-A2A23B896176}"/>
                </a:ext>
              </a:extLst>
            </p:cNvPr>
            <p:cNvSpPr txBox="1"/>
            <p:nvPr/>
          </p:nvSpPr>
          <p:spPr>
            <a:xfrm>
              <a:off x="6308655" y="2753825"/>
              <a:ext cx="4663440" cy="1569660"/>
            </a:xfrm>
            <a:prstGeom prst="rect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/>
                <a:t>Chart of accounts with general ledger accounts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/>
                <a:t>Posting financial transactions at moments in time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CA3D01D-7C96-4EA7-D6FC-A5439262E511}"/>
                </a:ext>
              </a:extLst>
            </p:cNvPr>
            <p:cNvSpPr txBox="1"/>
            <p:nvPr/>
          </p:nvSpPr>
          <p:spPr>
            <a:xfrm>
              <a:off x="6308654" y="2222201"/>
              <a:ext cx="4663440" cy="52322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</a:rPr>
                <a:t>DISCARDS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00530DD-A642-C6D4-FF1E-2C9ACB7D5BB6}"/>
              </a:ext>
            </a:extLst>
          </p:cNvPr>
          <p:cNvGrpSpPr/>
          <p:nvPr/>
        </p:nvGrpSpPr>
        <p:grpSpPr>
          <a:xfrm>
            <a:off x="455427" y="4126231"/>
            <a:ext cx="11281145" cy="2398046"/>
            <a:chOff x="1446028" y="4508201"/>
            <a:chExt cx="8038214" cy="283154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B30B811-460E-5791-2419-EA6A059CA1B3}"/>
                </a:ext>
              </a:extLst>
            </p:cNvPr>
            <p:cNvSpPr txBox="1"/>
            <p:nvPr/>
          </p:nvSpPr>
          <p:spPr>
            <a:xfrm>
              <a:off x="1446028" y="5031421"/>
              <a:ext cx="8038213" cy="2308324"/>
            </a:xfrm>
            <a:prstGeom prst="rect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/>
                <a:t>On-demand time periods for financial reports, e.g. daily or weekly income statements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/>
                <a:t>Full integration of commitment management, improving ability to control spending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/>
                <a:t>Capture of relationships between events reduces amount of information to capture with each event. 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E362881-F9F5-5ED0-FA3D-899C58174AE3}"/>
                </a:ext>
              </a:extLst>
            </p:cNvPr>
            <p:cNvSpPr txBox="1"/>
            <p:nvPr/>
          </p:nvSpPr>
          <p:spPr>
            <a:xfrm>
              <a:off x="1446029" y="4508201"/>
              <a:ext cx="8038213" cy="52322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</a:rPr>
                <a:t>ADDS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1888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49F03-8F8C-A328-F1F3-F0040CF86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62A1608-A073-7D31-DF34-F2233C68A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Rights and Obligations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065238B-95B5-9375-4116-4DEC37A98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34330" cy="4522012"/>
          </a:xfrm>
        </p:spPr>
        <p:txBody>
          <a:bodyPr>
            <a:normAutofit/>
          </a:bodyPr>
          <a:lstStyle/>
          <a:p>
            <a:r>
              <a:rPr lang="en-US" dirty="0"/>
              <a:t>One entity’s right is another entity’s obligation</a:t>
            </a:r>
          </a:p>
          <a:p>
            <a:pPr lvl="1"/>
            <a:r>
              <a:rPr lang="en-US" dirty="0"/>
              <a:t>E.g., the mortgagee’s obligation to make payments is also the mortgage holder’s right to receive those payments </a:t>
            </a:r>
          </a:p>
          <a:p>
            <a:r>
              <a:rPr lang="en-US" dirty="0"/>
              <a:t>Rights are generally assets and obligations are generally liabilities (debt)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91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3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90BF8-236B-E35D-4F4A-BB620186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44C8BD7-2DB2-4773-62F9-61EA58CD9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Long-Running Business Transactions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EAA8D6F-9EE3-B047-6D84-20F903189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34330" cy="4522012"/>
          </a:xfrm>
        </p:spPr>
        <p:txBody>
          <a:bodyPr>
            <a:normAutofit/>
          </a:bodyPr>
          <a:lstStyle/>
          <a:p>
            <a:r>
              <a:rPr lang="en-US" dirty="0"/>
              <a:t>May take years or decades to complete</a:t>
            </a:r>
          </a:p>
          <a:p>
            <a:r>
              <a:rPr lang="en-US" dirty="0"/>
              <a:t>For example, a 30-year mortgage is a transaction that will have a duration of 30 years if both parties adhere to the original loan schedule. </a:t>
            </a:r>
          </a:p>
          <a:p>
            <a:r>
              <a:rPr lang="en-US" dirty="0"/>
              <a:t>Operating a bridge or recovering an ore body are also LDBTs.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116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3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4A7AC-E387-39F5-49ED-DB6B1CB77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B72FAAD-27B0-6C68-9F61-2DC013763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Long-Running Commitments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CEE3A72-FDEA-6FA3-1522-946A4F183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34330" cy="452201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May or may not show up in traditional financial statements</a:t>
            </a:r>
          </a:p>
          <a:p>
            <a:pPr lvl="1"/>
            <a:r>
              <a:rPr lang="en-US" dirty="0"/>
              <a:t>They only show up if one side of the overall commitment agreement has been partially fulfilled. </a:t>
            </a:r>
          </a:p>
          <a:p>
            <a:pPr lvl="1"/>
            <a:r>
              <a:rPr lang="en-US" dirty="0"/>
              <a:t>If Company 1 ordered something from Company 2 and Company 2 agreed to provide it by a given date, but Company 1 has not given Company 2 any cash yet, and Company 2 hasn’t yet shipped anything yet, traditional financial statements won’t reflect anything. </a:t>
            </a:r>
          </a:p>
          <a:p>
            <a:pPr lvl="2"/>
            <a:r>
              <a:rPr lang="en-US" dirty="0"/>
              <a:t>If company 1 has paid and company 2 hasn’t shipped, company 1 will record Prepaid Expense (and company 2 will record unearned revenue, which is a liability).</a:t>
            </a:r>
          </a:p>
          <a:p>
            <a:pPr lvl="2"/>
            <a:r>
              <a:rPr lang="en-US" dirty="0"/>
              <a:t>If company 2 has shipped and company 1 hasn’t paid, company 1 will record Accounts Payable (and company 2 will record Accounts Receivable)</a:t>
            </a:r>
          </a:p>
          <a:p>
            <a:r>
              <a:rPr lang="en-US" dirty="0"/>
              <a:t>With DCA 2, Company 1 records the order as a “soft asset” called something like “due-in, goods &amp; services”  and as a “soft liability” called something like “due-out, cash” </a:t>
            </a:r>
          </a:p>
          <a:p>
            <a:r>
              <a:rPr lang="en-US" dirty="0"/>
              <a:t>Company 2 records the order as a “soft asset” called “due-in, cash” and a “soft liability” called something like “due-out, goods &amp; services”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232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3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9F9D1-049D-4E03-46F5-46E940387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AF8BEE8-4E1D-E7E6-4C1F-9F509A577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The Most Common Originating Events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31262E-4F5F-5498-B954-D9D327382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711" y="1913437"/>
            <a:ext cx="10407719" cy="400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6510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B2251-973E-918E-6C8B-68BCBF7D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DA84739-9C8E-EAE0-41DF-B196BCC15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Core Events: Procure to Pay (P2P)</a:t>
            </a:r>
          </a:p>
        </p:txBody>
      </p:sp>
      <p:pic>
        <p:nvPicPr>
          <p:cNvPr id="6" name="Picture 5" descr="A black and blue line with a rectangular object on it&#10;&#10;AI-generated content may be incorrect.">
            <a:extLst>
              <a:ext uri="{FF2B5EF4-FFF2-40B4-BE49-F238E27FC236}">
                <a16:creationId xmlns:a16="http://schemas.microsoft.com/office/drawing/2014/main" id="{EB412AEE-5256-0B13-8CB6-6237AC60B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171" y="2010467"/>
            <a:ext cx="9300117" cy="47248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896016-A9D7-82C0-6ACC-D8DC6BC60332}"/>
              </a:ext>
            </a:extLst>
          </p:cNvPr>
          <p:cNvSpPr txBox="1"/>
          <p:nvPr/>
        </p:nvSpPr>
        <p:spPr>
          <a:xfrm>
            <a:off x="9320561" y="3472934"/>
            <a:ext cx="2620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190BC3-4E0C-D03C-0A40-7EA7B4DC382A}"/>
              </a:ext>
            </a:extLst>
          </p:cNvPr>
          <p:cNvSpPr txBox="1"/>
          <p:nvPr/>
        </p:nvSpPr>
        <p:spPr>
          <a:xfrm>
            <a:off x="9077093" y="4162045"/>
            <a:ext cx="2620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counterparty</a:t>
            </a:r>
          </a:p>
        </p:txBody>
      </p:sp>
    </p:spTree>
    <p:extLst>
      <p:ext uri="{BB962C8B-B14F-4D97-AF65-F5344CB8AC3E}">
        <p14:creationId xmlns:p14="http://schemas.microsoft.com/office/powerpoint/2010/main" val="3200680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1D376-4B9B-6E57-1280-56F178C73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E1670E4-42C6-D2C9-F322-135F8A255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Intention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0811665-C9FB-B7FD-CB1F-6D558AAC3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34330" cy="4522012"/>
          </a:xfrm>
        </p:spPr>
        <p:txBody>
          <a:bodyPr>
            <a:normAutofit fontScale="92500"/>
          </a:bodyPr>
          <a:lstStyle/>
          <a:p>
            <a:r>
              <a:rPr lang="en-US" dirty="0"/>
              <a:t>Why someone initiated a transaction</a:t>
            </a:r>
          </a:p>
          <a:p>
            <a:pPr lvl="1"/>
            <a:r>
              <a:rPr lang="en-US" dirty="0"/>
              <a:t>E.g. is that chocolate they ordered raw material, for the tour room, or for the executive lounge?</a:t>
            </a:r>
          </a:p>
          <a:p>
            <a:pPr lvl="1"/>
            <a:r>
              <a:rPr lang="en-US" dirty="0"/>
              <a:t>The intention determines how the chocolate should be classified on financial statements</a:t>
            </a:r>
          </a:p>
          <a:p>
            <a:pPr lvl="1"/>
            <a:r>
              <a:rPr lang="en-US" dirty="0"/>
              <a:t>The person who initiated the transaction is the best qualified to classify it</a:t>
            </a:r>
          </a:p>
          <a:p>
            <a:r>
              <a:rPr lang="en-US" dirty="0"/>
              <a:t>Possible intentions (not exclusive)</a:t>
            </a:r>
          </a:p>
          <a:p>
            <a:pPr lvl="1"/>
            <a:r>
              <a:rPr lang="en-US" dirty="0"/>
              <a:t>Material for production (raw materials inventory)</a:t>
            </a:r>
          </a:p>
          <a:p>
            <a:pPr lvl="1"/>
            <a:r>
              <a:rPr lang="en-US" dirty="0"/>
              <a:t>Material for resale (merchandise inventory)</a:t>
            </a:r>
          </a:p>
          <a:p>
            <a:pPr lvl="1"/>
            <a:r>
              <a:rPr lang="en-US" dirty="0"/>
              <a:t>Operating expense</a:t>
            </a:r>
          </a:p>
          <a:p>
            <a:pPr lvl="1"/>
            <a:r>
              <a:rPr lang="en-US" dirty="0"/>
              <a:t>Sale in normal course of business</a:t>
            </a:r>
          </a:p>
          <a:p>
            <a:pPr lvl="1"/>
            <a:r>
              <a:rPr lang="en-US" dirty="0"/>
              <a:t>Sale of fixed asset (not recorded as sales, but may generate gains or losses)</a:t>
            </a:r>
          </a:p>
        </p:txBody>
      </p:sp>
    </p:spTree>
    <p:extLst>
      <p:ext uri="{BB962C8B-B14F-4D97-AF65-F5344CB8AC3E}">
        <p14:creationId xmlns:p14="http://schemas.microsoft.com/office/powerpoint/2010/main" val="1384121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3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41893-3FEA-7618-0407-8421FCC2B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86CAB5-897D-7C47-E97E-163DFFFCB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Core Events: Procure to Pay (P2P)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8F37F8D-B476-AAF1-268B-44D4B209A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514009"/>
              </p:ext>
            </p:extLst>
          </p:nvPr>
        </p:nvGraphicFramePr>
        <p:xfrm>
          <a:off x="1318437" y="1860697"/>
          <a:ext cx="9909544" cy="46321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76855">
                  <a:extLst>
                    <a:ext uri="{9D8B030D-6E8A-4147-A177-3AD203B41FA5}">
                      <a16:colId xmlns:a16="http://schemas.microsoft.com/office/drawing/2014/main" val="2476541302"/>
                    </a:ext>
                  </a:extLst>
                </a:gridCol>
                <a:gridCol w="2476855">
                  <a:extLst>
                    <a:ext uri="{9D8B030D-6E8A-4147-A177-3AD203B41FA5}">
                      <a16:colId xmlns:a16="http://schemas.microsoft.com/office/drawing/2014/main" val="4031222300"/>
                    </a:ext>
                  </a:extLst>
                </a:gridCol>
                <a:gridCol w="2477917">
                  <a:extLst>
                    <a:ext uri="{9D8B030D-6E8A-4147-A177-3AD203B41FA5}">
                      <a16:colId xmlns:a16="http://schemas.microsoft.com/office/drawing/2014/main" val="2463814798"/>
                    </a:ext>
                  </a:extLst>
                </a:gridCol>
                <a:gridCol w="2477917">
                  <a:extLst>
                    <a:ext uri="{9D8B030D-6E8A-4147-A177-3AD203B41FA5}">
                      <a16:colId xmlns:a16="http://schemas.microsoft.com/office/drawing/2014/main" val="222102106"/>
                    </a:ext>
                  </a:extLst>
                </a:gridCol>
              </a:tblGrid>
              <a:tr h="925248"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P2P Events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Enterprise has Obligation/Right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Event involves Goods-Service / Money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Event is a Commitment /Fulfillment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6246018"/>
                  </a:ext>
                </a:extLst>
              </a:tr>
              <a:tr h="741386"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Purchase Order (PO) this is a DCA2 event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Both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Both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Commitment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3317245"/>
                  </a:ext>
                </a:extLst>
              </a:tr>
              <a:tr h="741386"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Ship Notification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Obligation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Goods / Services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Updated Commitment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7014098"/>
                  </a:ext>
                </a:extLst>
              </a:tr>
              <a:tr h="741386"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Receipt (receive goods or service)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Right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Goods/Service  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Fulfillment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3780731"/>
                  </a:ext>
                </a:extLst>
              </a:tr>
              <a:tr h="741386"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Bill (receive request to pay)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Obligation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Money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Updated Commitment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6346319"/>
                  </a:ext>
                </a:extLst>
              </a:tr>
              <a:tr h="741386"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Payment (send payment) 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Obligation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Money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6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Fulfillment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8799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40002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6612B-2807-53D6-A4F4-44C689CA9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D6B2AA-049F-258D-16DB-4C204B775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Core Events: Order to Cash (O2C)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72EC87-9D66-6EE1-CE28-76E60904A09D}"/>
              </a:ext>
            </a:extLst>
          </p:cNvPr>
          <p:cNvSpPr txBox="1"/>
          <p:nvPr/>
        </p:nvSpPr>
        <p:spPr>
          <a:xfrm>
            <a:off x="9320561" y="3472934"/>
            <a:ext cx="2620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D69D30-ED5C-9254-5D3F-988925B4A72B}"/>
              </a:ext>
            </a:extLst>
          </p:cNvPr>
          <p:cNvSpPr txBox="1"/>
          <p:nvPr/>
        </p:nvSpPr>
        <p:spPr>
          <a:xfrm>
            <a:off x="9077093" y="4162045"/>
            <a:ext cx="2620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counterparty</a:t>
            </a:r>
          </a:p>
        </p:txBody>
      </p:sp>
      <p:pic>
        <p:nvPicPr>
          <p:cNvPr id="2" name="Picture 1" descr="A black and blue line with two rectangular objects&#10;&#10;AI-generated content may be incorrect.">
            <a:extLst>
              <a:ext uri="{FF2B5EF4-FFF2-40B4-BE49-F238E27FC236}">
                <a16:creationId xmlns:a16="http://schemas.microsoft.com/office/drawing/2014/main" id="{08BBC5B4-529C-F47A-1535-46F308832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310" y="2532042"/>
            <a:ext cx="6639806" cy="332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1512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7FCC7-1C10-97C3-9E44-E897DCB81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04DC2EF-25A4-FF5D-1578-D757799BF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Core Events: Order to Cash (O2C)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6B3F60-6BC3-718A-ADE5-71BF6C43E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488" y="1845157"/>
            <a:ext cx="7772400" cy="53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4108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C2D00-ADEE-4C46-5387-49F92B7EF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369A212-3C76-CB22-9713-2BD542974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Core Events: Make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E81DE3-AB47-BBEC-76DC-2F12B1BEE35C}"/>
              </a:ext>
            </a:extLst>
          </p:cNvPr>
          <p:cNvSpPr txBox="1"/>
          <p:nvPr/>
        </p:nvSpPr>
        <p:spPr>
          <a:xfrm>
            <a:off x="9214235" y="3198245"/>
            <a:ext cx="2620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Originating portion of our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482727-602C-C8F4-CCF8-038F5561E643}"/>
              </a:ext>
            </a:extLst>
          </p:cNvPr>
          <p:cNvSpPr txBox="1"/>
          <p:nvPr/>
        </p:nvSpPr>
        <p:spPr>
          <a:xfrm>
            <a:off x="9214235" y="4130797"/>
            <a:ext cx="2620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Receiving portion of our company</a:t>
            </a:r>
          </a:p>
        </p:txBody>
      </p:sp>
      <p:pic>
        <p:nvPicPr>
          <p:cNvPr id="3" name="Picture 2" descr="A black and blue rectangle with white squares&#10;&#10;AI-generated content may be incorrect.">
            <a:extLst>
              <a:ext uri="{FF2B5EF4-FFF2-40B4-BE49-F238E27FC236}">
                <a16:creationId xmlns:a16="http://schemas.microsoft.com/office/drawing/2014/main" id="{C557DE79-8D16-06D3-EBBF-E894F4FB7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0178" y="2445487"/>
            <a:ext cx="7551171" cy="326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4978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F3F10-76CD-F0AD-C59B-F33B3B43A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4173B8D-D448-1EDD-3E8A-434B2657A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285" y="1098772"/>
            <a:ext cx="2330302" cy="4100549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Core Events: Make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27B10B-AD48-B331-19C5-37AC73B5F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552" y="365125"/>
            <a:ext cx="5537012" cy="639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9990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66742-52F6-0A19-99B6-60CCE585B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B264AED-BF7C-FC39-870F-F5CD1481A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Counterparties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E0BD29-F16F-A4D1-4841-ED51E7B5D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540" y="1806999"/>
            <a:ext cx="9618969" cy="468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3069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353D5-6D2A-6E10-D1FB-2FEECC13F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F0A008D-65AE-9FC1-1DFD-0C3AA8716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Different Workflows may have Similar Commitments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03F2CE-ADBA-FBAC-FCCF-C7F873ED9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78512"/>
            <a:ext cx="10451652" cy="329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8720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7005C-E047-10C9-E937-6FA106064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7815566-E0CF-DDBD-4FF6-D55C8F300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Different Workflows Aligned By Similar Commitments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41463-0E02-BD17-3BA9-01AAB98E2E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937385"/>
            <a:ext cx="10562625" cy="367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8813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D76A2-2695-3FC3-F998-82DB8EF2E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D3C56C-682F-0E15-3714-57AA780C7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Accounting Policy in DCA 2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3100" dirty="0">
                <a:solidFill>
                  <a:schemeClr val="bg1"/>
                </a:solidFill>
              </a:rPr>
              <a:t>(policy choice made at time of committing event)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A7D52F-3989-DDCA-26DD-98C360146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516" y="1765837"/>
            <a:ext cx="5454502" cy="52181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A8777C-259F-CA1E-3E9E-1D0319107978}"/>
              </a:ext>
            </a:extLst>
          </p:cNvPr>
          <p:cNvSpPr txBox="1"/>
          <p:nvPr/>
        </p:nvSpPr>
        <p:spPr>
          <a:xfrm>
            <a:off x="7612912" y="2243470"/>
            <a:ext cx="365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Driven by Financial Agreement type, whether the goods are to be immediately consumed (intension), and the event type</a:t>
            </a:r>
          </a:p>
        </p:txBody>
      </p:sp>
    </p:spTree>
    <p:extLst>
      <p:ext uri="{BB962C8B-B14F-4D97-AF65-F5344CB8AC3E}">
        <p14:creationId xmlns:p14="http://schemas.microsoft.com/office/powerpoint/2010/main" val="18782027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6C7DA-4586-7302-51A1-C2A80D14B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55ECC2-B4C9-EC58-43D8-EDCD0B687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74" y="365125"/>
            <a:ext cx="2860159" cy="3483861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100" dirty="0">
                <a:solidFill>
                  <a:schemeClr val="bg1"/>
                </a:solidFill>
              </a:rPr>
              <a:t>Balance Sheet with Commitments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C110F2-1181-2EB7-3598-174D48161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205" y="0"/>
            <a:ext cx="4467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9050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46A69-AAF5-55FD-813F-498079584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FA464B0-0B9E-7E1A-3A03-BA56F116B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023" y="195898"/>
            <a:ext cx="11748977" cy="733646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100" dirty="0">
                <a:solidFill>
                  <a:schemeClr val="bg1"/>
                </a:solidFill>
              </a:rPr>
              <a:t>Income Statement with Commitments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089F87-1B4F-8051-73AC-5A603B66D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697" y="1070197"/>
            <a:ext cx="9237552" cy="559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620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A4CB8-C6D9-F21A-4D7D-8557F1903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DB6C40F-B6FA-DBEC-4F05-B0ABFDB59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Accounting Policy in DCA 2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3100" dirty="0">
                <a:solidFill>
                  <a:schemeClr val="bg1"/>
                </a:solidFill>
              </a:rPr>
              <a:t>(policy choice made at time of committing event)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4D5D98-A844-C9BC-B6EF-CD70AB4B8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532" y="1925325"/>
            <a:ext cx="4994751" cy="47782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3EF8A6-7FDA-EAF9-5B13-48F477E2B9AB}"/>
              </a:ext>
            </a:extLst>
          </p:cNvPr>
          <p:cNvSpPr txBox="1"/>
          <p:nvPr/>
        </p:nvSpPr>
        <p:spPr>
          <a:xfrm>
            <a:off x="7612912" y="2243470"/>
            <a:ext cx="365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Driven by Financial Agreement type, whether the goods are to be immediately consumed (intension), and the event type</a:t>
            </a:r>
          </a:p>
        </p:txBody>
      </p:sp>
    </p:spTree>
    <p:extLst>
      <p:ext uri="{BB962C8B-B14F-4D97-AF65-F5344CB8AC3E}">
        <p14:creationId xmlns:p14="http://schemas.microsoft.com/office/powerpoint/2010/main" val="29222338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CFEB1-52C6-3B57-9FCD-5A2296EA8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D3AF0C3-03AB-F0D4-E905-D36960A31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DCA 3 – Data-Centric Accounting  in the Multi-Organizational World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96FFA9-C5B5-DE94-4238-D709B340CDF2}"/>
              </a:ext>
            </a:extLst>
          </p:cNvPr>
          <p:cNvSpPr txBox="1"/>
          <p:nvPr/>
        </p:nvSpPr>
        <p:spPr>
          <a:xfrm>
            <a:off x="1189079" y="2753825"/>
            <a:ext cx="4663440" cy="830997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206348-E021-7713-EDEB-875CD80E9EA2}"/>
              </a:ext>
            </a:extLst>
          </p:cNvPr>
          <p:cNvSpPr txBox="1"/>
          <p:nvPr/>
        </p:nvSpPr>
        <p:spPr>
          <a:xfrm>
            <a:off x="1189078" y="2222201"/>
            <a:ext cx="4663440" cy="5232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KEEPS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8154EA-F2B5-D27A-C48C-A4482EAC2705}"/>
              </a:ext>
            </a:extLst>
          </p:cNvPr>
          <p:cNvSpPr txBox="1"/>
          <p:nvPr/>
        </p:nvSpPr>
        <p:spPr>
          <a:xfrm>
            <a:off x="6308655" y="2753825"/>
            <a:ext cx="4663440" cy="1200329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Single-organization perspective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98721A-A0AC-488A-7E68-4E2BD0079C36}"/>
              </a:ext>
            </a:extLst>
          </p:cNvPr>
          <p:cNvSpPr txBox="1"/>
          <p:nvPr/>
        </p:nvSpPr>
        <p:spPr>
          <a:xfrm>
            <a:off x="6308654" y="2222201"/>
            <a:ext cx="4663440" cy="5232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DISCARDS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1D8766-AB0A-016D-91C1-2A390C0B9291}"/>
              </a:ext>
            </a:extLst>
          </p:cNvPr>
          <p:cNvSpPr txBox="1"/>
          <p:nvPr/>
        </p:nvSpPr>
        <p:spPr>
          <a:xfrm>
            <a:off x="3764280" y="5039825"/>
            <a:ext cx="4663440" cy="830997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Multi-organization perspective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3475A0-AD50-2D2E-0E97-C1DC3FC892E2}"/>
              </a:ext>
            </a:extLst>
          </p:cNvPr>
          <p:cNvSpPr txBox="1"/>
          <p:nvPr/>
        </p:nvSpPr>
        <p:spPr>
          <a:xfrm>
            <a:off x="3764279" y="4508201"/>
            <a:ext cx="4663440" cy="5232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ADDS</a:t>
            </a:r>
          </a:p>
        </p:txBody>
      </p:sp>
    </p:spTree>
    <p:extLst>
      <p:ext uri="{BB962C8B-B14F-4D97-AF65-F5344CB8AC3E}">
        <p14:creationId xmlns:p14="http://schemas.microsoft.com/office/powerpoint/2010/main" val="5871660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D7A2E-E950-A395-7218-5D9BCBB59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6764140-AABD-70A5-BDA9-AD97E6598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Wait, What does that even mean, and why would it be important?!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8107CD-FFC4-EA4D-FFB7-F8B01451B8F9}"/>
              </a:ext>
            </a:extLst>
          </p:cNvPr>
          <p:cNvSpPr txBox="1"/>
          <p:nvPr/>
        </p:nvSpPr>
        <p:spPr>
          <a:xfrm>
            <a:off x="838200" y="2147778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Conglomerates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BA0498-A84D-8145-11A8-026BDC8CCAC2}"/>
              </a:ext>
            </a:extLst>
          </p:cNvPr>
          <p:cNvSpPr txBox="1"/>
          <p:nvPr/>
        </p:nvSpPr>
        <p:spPr>
          <a:xfrm>
            <a:off x="838200" y="3244334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Supply chains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275982-A989-C50B-B87E-C9154C2A7B85}"/>
              </a:ext>
            </a:extLst>
          </p:cNvPr>
          <p:cNvSpPr txBox="1"/>
          <p:nvPr/>
        </p:nvSpPr>
        <p:spPr>
          <a:xfrm>
            <a:off x="838200" y="4340890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Smart contract participants (blockchain may help)</a:t>
            </a:r>
          </a:p>
        </p:txBody>
      </p:sp>
    </p:spTree>
    <p:extLst>
      <p:ext uri="{BB962C8B-B14F-4D97-AF65-F5344CB8AC3E}">
        <p14:creationId xmlns:p14="http://schemas.microsoft.com/office/powerpoint/2010/main" val="543969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29A90-59F2-8BD4-1A05-29B291EC1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2525B6A-1BBB-4519-8221-78B0C550B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What has to change?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A66CF9-A40F-F0A5-3C77-F1E15367D005}"/>
              </a:ext>
            </a:extLst>
          </p:cNvPr>
          <p:cNvSpPr txBox="1"/>
          <p:nvPr/>
        </p:nvSpPr>
        <p:spPr>
          <a:xfrm>
            <a:off x="838200" y="1690688"/>
            <a:ext cx="10515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All terms and concepts that communicate a single entity’s perspective on a transaction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e.g. Sale Order, Sale, Purchase Order, Purchase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Must instead use </a:t>
            </a:r>
            <a:r>
              <a:rPr lang="en-US" sz="2800" dirty="0" err="1">
                <a:latin typeface="+mj-lt"/>
              </a:rPr>
              <a:t>aperspectival</a:t>
            </a:r>
            <a:r>
              <a:rPr lang="en-US" sz="2800" dirty="0">
                <a:latin typeface="+mj-lt"/>
              </a:rPr>
              <a:t> terms such as “Exchange of Goods for Cash” or “Exchange of Service for Cash” </a:t>
            </a:r>
          </a:p>
        </p:txBody>
      </p:sp>
    </p:spTree>
    <p:extLst>
      <p:ext uri="{BB962C8B-B14F-4D97-AF65-F5344CB8AC3E}">
        <p14:creationId xmlns:p14="http://schemas.microsoft.com/office/powerpoint/2010/main" val="257996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03A20-6B7C-C442-FF08-F72873803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5F50590-892D-9EEC-F781-FBA9E28B4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One entity’s Purchase Order IS another entity’s Sale Order</a:t>
            </a:r>
          </a:p>
        </p:txBody>
      </p:sp>
      <p:pic>
        <p:nvPicPr>
          <p:cNvPr id="2" name="Picture 1" descr="A black and grey rectangular object with blue lines&#10;&#10;AI-generated content may be incorrect.">
            <a:extLst>
              <a:ext uri="{FF2B5EF4-FFF2-40B4-BE49-F238E27FC236}">
                <a16:creationId xmlns:a16="http://schemas.microsoft.com/office/drawing/2014/main" id="{47EAC30D-25F0-D06A-DA0B-75C6AE359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86" y="2433822"/>
            <a:ext cx="5546930" cy="2818661"/>
          </a:xfrm>
          <a:prstGeom prst="rect">
            <a:avLst/>
          </a:prstGeom>
        </p:spPr>
      </p:pic>
      <p:pic>
        <p:nvPicPr>
          <p:cNvPr id="3" name="Picture 2" descr="A black and blue line with white squares&#10;&#10;AI-generated content may be incorrect.">
            <a:extLst>
              <a:ext uri="{FF2B5EF4-FFF2-40B4-BE49-F238E27FC236}">
                <a16:creationId xmlns:a16="http://schemas.microsoft.com/office/drawing/2014/main" id="{9E195028-46A4-EDBC-9E3F-7A6573C96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837" y="2781706"/>
            <a:ext cx="5291169" cy="265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7138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7B684-1FF3-27D2-7C4B-E26767953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7A2F583-A76E-04D2-21CB-DCFC4E711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Putting ourselves in our obligations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0D5998-0C77-A94C-0254-BEBCA27E0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109" y="1954271"/>
            <a:ext cx="8779244" cy="427416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C712AFE-97E3-9F1A-7CE8-83DCFD053922}"/>
              </a:ext>
            </a:extLst>
          </p:cNvPr>
          <p:cNvSpPr/>
          <p:nvPr/>
        </p:nvSpPr>
        <p:spPr>
          <a:xfrm>
            <a:off x="3232298" y="1860698"/>
            <a:ext cx="2615609" cy="14034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0F9C69-A0CE-E273-8388-493239B29B53}"/>
              </a:ext>
            </a:extLst>
          </p:cNvPr>
          <p:cNvSpPr/>
          <p:nvPr/>
        </p:nvSpPr>
        <p:spPr>
          <a:xfrm>
            <a:off x="2342708" y="4918507"/>
            <a:ext cx="2615609" cy="14034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168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3C198-06B8-7F86-E685-8666EF385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15DF141-369A-6A28-6E07-61FE6915F5A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Challenges with DCA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9A3908-0AA7-5BFA-AC67-C304D5C4D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 systems that aren’t interoperable</a:t>
            </a:r>
          </a:p>
          <a:p>
            <a:pPr lvl="1"/>
            <a:r>
              <a:rPr lang="en-US" dirty="0"/>
              <a:t>Different data representations</a:t>
            </a:r>
          </a:p>
          <a:p>
            <a:pPr lvl="1"/>
            <a:r>
              <a:rPr lang="en-US" dirty="0"/>
              <a:t>Different communication protocols</a:t>
            </a:r>
          </a:p>
          <a:p>
            <a:pPr lvl="1"/>
            <a:r>
              <a:rPr lang="en-US" dirty="0"/>
              <a:t>Different meanings of concepts</a:t>
            </a:r>
          </a:p>
          <a:p>
            <a:pPr lvl="1"/>
            <a:r>
              <a:rPr lang="en-US" dirty="0"/>
              <a:t>Different identifiers for the same things</a:t>
            </a:r>
          </a:p>
          <a:p>
            <a:pPr lvl="2"/>
            <a:r>
              <a:rPr lang="en-US" dirty="0"/>
              <a:t>E.g., trying to match up buyer and seller product numbers, etc.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8489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09FF9A-4FCE-468E-A86A-C9AB525E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1E12D4-3A88-428D-8E5E-AF1AFD923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Question marks in a line and one question mark is lit">
            <a:extLst>
              <a:ext uri="{FF2B5EF4-FFF2-40B4-BE49-F238E27FC236}">
                <a16:creationId xmlns:a16="http://schemas.microsoft.com/office/drawing/2014/main" id="{62375F4D-38C7-8D48-F50E-B75456AD40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056" b="13674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6C890A-03BE-3966-2780-454AC7B62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02"/>
            <a:ext cx="10515600" cy="29859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>
                <a:solidFill>
                  <a:srgbClr val="FFFFFF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895154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3320</TotalTime>
  <Words>1902</Words>
  <Application>Microsoft Office PowerPoint</Application>
  <PresentationFormat>Widescreen</PresentationFormat>
  <Paragraphs>261</Paragraphs>
  <Slides>44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Aptos</vt:lpstr>
      <vt:lpstr>Aptos Display</vt:lpstr>
      <vt:lpstr>Arial</vt:lpstr>
      <vt:lpstr>Calibri</vt:lpstr>
      <vt:lpstr>Office Theme</vt:lpstr>
      <vt:lpstr>Data-Centric Accounting </vt:lpstr>
      <vt:lpstr>Basics of Data-Centric Accounting</vt:lpstr>
      <vt:lpstr>Financial Activity Driven by Business Events</vt:lpstr>
      <vt:lpstr>Immutable Data at Rest</vt:lpstr>
      <vt:lpstr>Machine Executable Accounting Policy</vt:lpstr>
      <vt:lpstr>Machine Executable Accounting Policy</vt:lpstr>
      <vt:lpstr>No More Debits and Credits </vt:lpstr>
      <vt:lpstr>No More Journals, Journal Entries, or Posting</vt:lpstr>
      <vt:lpstr>Closing as a State Change, not a Process</vt:lpstr>
      <vt:lpstr>Model-driven Financial Reporting</vt:lpstr>
      <vt:lpstr>DCA 1: Data Centric Accounting, Transactionally</vt:lpstr>
      <vt:lpstr>Event-Driven</vt:lpstr>
      <vt:lpstr>Primitive Event Considerations</vt:lpstr>
      <vt:lpstr>Asset – a present right of an entity to an economic benefit        (FASB Conceptual Framework)</vt:lpstr>
      <vt:lpstr>Intention</vt:lpstr>
      <vt:lpstr>Policy-Driven Recognition</vt:lpstr>
      <vt:lpstr>Equity Accounts as Counterparty Accounts</vt:lpstr>
      <vt:lpstr>Why DCA 1 instead of going right to DCA 2?</vt:lpstr>
      <vt:lpstr>DCA 2 – Data-Centric Accounting Directly from Commitments</vt:lpstr>
      <vt:lpstr>Rights and Obligations</vt:lpstr>
      <vt:lpstr>Long-Running Business Transactions</vt:lpstr>
      <vt:lpstr>Long-Running Commitments</vt:lpstr>
      <vt:lpstr>The Most Common Originating Events</vt:lpstr>
      <vt:lpstr>Core Events: Procure to Pay (P2P)</vt:lpstr>
      <vt:lpstr>Intention</vt:lpstr>
      <vt:lpstr>Core Events: Procure to Pay (P2P)</vt:lpstr>
      <vt:lpstr>Core Events: Order to Cash (O2C)</vt:lpstr>
      <vt:lpstr>Core Events: Order to Cash (O2C)</vt:lpstr>
      <vt:lpstr>Core Events: Make</vt:lpstr>
      <vt:lpstr>Core Events: Make</vt:lpstr>
      <vt:lpstr>Counterparties</vt:lpstr>
      <vt:lpstr>Different Workflows may have Similar Commitments</vt:lpstr>
      <vt:lpstr>Different Workflows Aligned By Similar Commitments</vt:lpstr>
      <vt:lpstr>Accounting Policy in DCA 2 (policy choice made at time of committing event)</vt:lpstr>
      <vt:lpstr>Balance Sheet with Commitments</vt:lpstr>
      <vt:lpstr>Income Statement with Commitments</vt:lpstr>
      <vt:lpstr>Accounting Policy in DCA 2 (policy choice made at time of committing event)</vt:lpstr>
      <vt:lpstr>DCA 3 – Data-Centric Accounting  in the Multi-Organizational World</vt:lpstr>
      <vt:lpstr>Wait, What does that even mean, and why would it be important?!</vt:lpstr>
      <vt:lpstr>What has to change?</vt:lpstr>
      <vt:lpstr>One entity’s Purchase Order IS another entity’s Sale Order</vt:lpstr>
      <vt:lpstr>Putting ourselves in our obligations</vt:lpstr>
      <vt:lpstr>Challenges with DCA 3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Cheryl  Dunn</dc:creator>
  <cp:lastModifiedBy>Cheryl  Dunn</cp:lastModifiedBy>
  <cp:revision>15</cp:revision>
  <dcterms:created xsi:type="dcterms:W3CDTF">2025-04-29T11:08:24Z</dcterms:created>
  <dcterms:modified xsi:type="dcterms:W3CDTF">2025-05-01T21:04:34Z</dcterms:modified>
</cp:coreProperties>
</file>