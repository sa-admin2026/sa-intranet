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99" r:id="rId6"/>
    <p:sldId id="266" r:id="rId7"/>
    <p:sldId id="264" r:id="rId8"/>
    <p:sldId id="265" r:id="rId9"/>
    <p:sldId id="258" r:id="rId10"/>
    <p:sldId id="267" r:id="rId11"/>
    <p:sldId id="259" r:id="rId12"/>
    <p:sldId id="269" r:id="rId13"/>
    <p:sldId id="260" r:id="rId14"/>
    <p:sldId id="270" r:id="rId15"/>
    <p:sldId id="268" r:id="rId16"/>
    <p:sldId id="271" r:id="rId17"/>
    <p:sldId id="272" r:id="rId18"/>
    <p:sldId id="284" r:id="rId19"/>
    <p:sldId id="285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6" r:id="rId32"/>
    <p:sldId id="287" r:id="rId33"/>
    <p:sldId id="288" r:id="rId34"/>
    <p:sldId id="289" r:id="rId35"/>
    <p:sldId id="290" r:id="rId36"/>
    <p:sldId id="298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303" r:id="rId45"/>
    <p:sldId id="300" r:id="rId46"/>
    <p:sldId id="302" r:id="rId47"/>
    <p:sldId id="301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7362DE-AAF5-0A0E-3B1E-D3E818177FEE}" v="73" dt="2025-04-30T12:45:23.355"/>
    <p1510:client id="{36C959AA-D064-3239-D3CC-FBB105B8C5EA}" v="234" dt="2025-05-01T12:27:45.827"/>
    <p1510:client id="{642BCED7-90B2-15BE-F731-DE1C1290BE83}" v="10" dt="2025-05-01T20:01:09.941"/>
    <p1510:client id="{CD29CFE3-6C90-713A-3C13-67EFDD6BBD34}" v="1375" dt="2025-04-30T12:43:05.467"/>
    <p1510:client id="{E11AC1F9-8703-8041-3FF9-CF551F819D8F}" v="161" dt="2025-04-30T16:31:46.172"/>
    <p1510:client id="{E8225552-247A-127B-3151-F1EDCA235EC1}" v="550" dt="2025-05-01T14:24:51.0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47F3E9-97A9-45F3-A000-D56C9D4D2AC4}" type="doc">
      <dgm:prSet loTypeId="urn:microsoft.com/office/officeart/2005/8/layout/bProcess3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0D9EB2E-5656-437B-B404-B561E9B98C9D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Warm Lead</a:t>
          </a:r>
          <a:endParaRPr lang="en-US"/>
        </a:p>
      </dgm:t>
    </dgm:pt>
    <dgm:pt modelId="{62813E9A-5637-4E3F-AD90-7F9796CE4C7B}" type="parTrans" cxnId="{C08C780C-DD55-4E6A-91A0-DDA789A32316}">
      <dgm:prSet/>
      <dgm:spPr/>
      <dgm:t>
        <a:bodyPr/>
        <a:lstStyle/>
        <a:p>
          <a:endParaRPr lang="en-US"/>
        </a:p>
      </dgm:t>
    </dgm:pt>
    <dgm:pt modelId="{24F4DC36-36CA-403B-9D92-0DCDA4D23F6F}" type="sibTrans" cxnId="{C08C780C-DD55-4E6A-91A0-DDA789A32316}">
      <dgm:prSet/>
      <dgm:spPr/>
      <dgm:t>
        <a:bodyPr/>
        <a:lstStyle/>
        <a:p>
          <a:endParaRPr lang="en-US"/>
        </a:p>
      </dgm:t>
    </dgm:pt>
    <dgm:pt modelId="{6FB1744F-881A-4182-ACDE-5BC27E97084F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Sponsor Identified</a:t>
          </a:r>
          <a:endParaRPr lang="en-US"/>
        </a:p>
      </dgm:t>
    </dgm:pt>
    <dgm:pt modelId="{E203E55A-656E-4B3C-BC59-C58540ADB376}" type="parTrans" cxnId="{E6EE07E4-BDB3-4D85-9F4C-41892179E097}">
      <dgm:prSet/>
      <dgm:spPr/>
      <dgm:t>
        <a:bodyPr/>
        <a:lstStyle/>
        <a:p>
          <a:endParaRPr lang="en-US"/>
        </a:p>
      </dgm:t>
    </dgm:pt>
    <dgm:pt modelId="{288FBE59-5979-46D3-A345-28199161C261}" type="sibTrans" cxnId="{E6EE07E4-BDB3-4D85-9F4C-41892179E097}">
      <dgm:prSet/>
      <dgm:spPr/>
      <dgm:t>
        <a:bodyPr/>
        <a:lstStyle/>
        <a:p>
          <a:endParaRPr lang="en-US"/>
        </a:p>
      </dgm:t>
    </dgm:pt>
    <dgm:pt modelId="{4122A06A-0D17-4D91-B298-FD884A3E5A6A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Opportunity Discussed</a:t>
          </a:r>
          <a:endParaRPr lang="en-US"/>
        </a:p>
      </dgm:t>
    </dgm:pt>
    <dgm:pt modelId="{7F41CBA2-627F-4FDC-BB65-692614B4A401}" type="parTrans" cxnId="{C659CCC2-A1A0-4B4A-991B-07F29DFD756B}">
      <dgm:prSet/>
      <dgm:spPr/>
      <dgm:t>
        <a:bodyPr/>
        <a:lstStyle/>
        <a:p>
          <a:endParaRPr lang="en-US"/>
        </a:p>
      </dgm:t>
    </dgm:pt>
    <dgm:pt modelId="{187CA78E-086B-48C0-BBEB-C5DD358BAAFD}" type="sibTrans" cxnId="{C659CCC2-A1A0-4B4A-991B-07F29DFD756B}">
      <dgm:prSet/>
      <dgm:spPr/>
      <dgm:t>
        <a:bodyPr/>
        <a:lstStyle/>
        <a:p>
          <a:endParaRPr lang="en-US"/>
        </a:p>
      </dgm:t>
    </dgm:pt>
    <dgm:pt modelId="{8F27652D-AD08-493F-A9EA-2D4785F2F4F9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Exploratory Proposal</a:t>
          </a:r>
          <a:endParaRPr lang="en-US"/>
        </a:p>
      </dgm:t>
    </dgm:pt>
    <dgm:pt modelId="{B36B9540-B039-47CE-8C47-1BAAF44E770B}" type="parTrans" cxnId="{A7CB1AC1-1099-47AF-ADDD-C3DFC9DF7378}">
      <dgm:prSet/>
      <dgm:spPr/>
      <dgm:t>
        <a:bodyPr/>
        <a:lstStyle/>
        <a:p>
          <a:endParaRPr lang="en-US"/>
        </a:p>
      </dgm:t>
    </dgm:pt>
    <dgm:pt modelId="{22284C3E-DB6F-43F8-87DA-D109CE391200}" type="sibTrans" cxnId="{A7CB1AC1-1099-47AF-ADDD-C3DFC9DF7378}">
      <dgm:prSet/>
      <dgm:spPr/>
      <dgm:t>
        <a:bodyPr/>
        <a:lstStyle/>
        <a:p>
          <a:endParaRPr lang="en-US"/>
        </a:p>
      </dgm:t>
    </dgm:pt>
    <dgm:pt modelId="{CEAF3AF7-F8C8-4726-99A5-21036F88A6AF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Converged Proposal</a:t>
          </a:r>
          <a:endParaRPr lang="en-US"/>
        </a:p>
      </dgm:t>
    </dgm:pt>
    <dgm:pt modelId="{0E8F79E3-A0FA-4D68-A2BB-EB0BD9C7B9CC}" type="parTrans" cxnId="{BD72731A-7340-446E-9ED9-355783588E2C}">
      <dgm:prSet/>
      <dgm:spPr/>
      <dgm:t>
        <a:bodyPr/>
        <a:lstStyle/>
        <a:p>
          <a:endParaRPr lang="en-US"/>
        </a:p>
      </dgm:t>
    </dgm:pt>
    <dgm:pt modelId="{5634C1B4-BB2E-4C09-9EAD-E4DB2AB46E75}" type="sibTrans" cxnId="{BD72731A-7340-446E-9ED9-355783588E2C}">
      <dgm:prSet/>
      <dgm:spPr/>
      <dgm:t>
        <a:bodyPr/>
        <a:lstStyle/>
        <a:p>
          <a:endParaRPr lang="en-US"/>
        </a:p>
      </dgm:t>
    </dgm:pt>
    <dgm:pt modelId="{8BD12DD5-9BC2-4C7A-89C2-58DB52784336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Contract Negotiated</a:t>
          </a:r>
        </a:p>
      </dgm:t>
    </dgm:pt>
    <dgm:pt modelId="{C006BFE5-F008-4D41-80C5-950D4C29DB10}" type="parTrans" cxnId="{1FF33503-03BC-4EB1-936C-D8842F9C0911}">
      <dgm:prSet/>
      <dgm:spPr/>
    </dgm:pt>
    <dgm:pt modelId="{689231CA-1A68-4FF9-B064-02BB609DA296}" type="sibTrans" cxnId="{1FF33503-03BC-4EB1-936C-D8842F9C0911}">
      <dgm:prSet/>
      <dgm:spPr/>
      <dgm:t>
        <a:bodyPr/>
        <a:lstStyle/>
        <a:p>
          <a:endParaRPr lang="en-US"/>
        </a:p>
      </dgm:t>
    </dgm:pt>
    <dgm:pt modelId="{D9F60D58-C2A9-49F7-B9D0-C28FD6B2AA4C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Contract Signed</a:t>
          </a:r>
        </a:p>
      </dgm:t>
    </dgm:pt>
    <dgm:pt modelId="{81649E85-8294-4C98-A5E3-1B8F06AB6412}" type="parTrans" cxnId="{878633B1-D940-40DE-9800-1A1BCBA09CCC}">
      <dgm:prSet/>
      <dgm:spPr/>
    </dgm:pt>
    <dgm:pt modelId="{14956B5F-7A59-4911-B75C-65BC41310F30}" type="sibTrans" cxnId="{878633B1-D940-40DE-9800-1A1BCBA09CCC}">
      <dgm:prSet/>
      <dgm:spPr/>
      <dgm:t>
        <a:bodyPr/>
        <a:lstStyle/>
        <a:p>
          <a:endParaRPr lang="en-US"/>
        </a:p>
      </dgm:t>
    </dgm:pt>
    <dgm:pt modelId="{B7F598CC-4EBC-4A93-98CC-A30E565F5487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Project Started</a:t>
          </a:r>
        </a:p>
      </dgm:t>
    </dgm:pt>
    <dgm:pt modelId="{2DBD2605-F826-42E0-9FF9-8BB173CC1E97}" type="parTrans" cxnId="{E9BA9B5B-8A8F-48AC-A848-8369757861FF}">
      <dgm:prSet/>
      <dgm:spPr/>
    </dgm:pt>
    <dgm:pt modelId="{85EEBEDF-9F78-4401-8EAB-5671250A3B05}" type="sibTrans" cxnId="{E9BA9B5B-8A8F-48AC-A848-8369757861FF}">
      <dgm:prSet/>
      <dgm:spPr/>
    </dgm:pt>
    <dgm:pt modelId="{E2A91268-FB1B-41C2-9A27-FC33190F0E9C}" type="pres">
      <dgm:prSet presAssocID="{E347F3E9-97A9-45F3-A000-D56C9D4D2AC4}" presName="Name0" presStyleCnt="0">
        <dgm:presLayoutVars>
          <dgm:dir/>
          <dgm:resizeHandles val="exact"/>
        </dgm:presLayoutVars>
      </dgm:prSet>
      <dgm:spPr/>
    </dgm:pt>
    <dgm:pt modelId="{3208F5BC-0D44-43DD-ABC0-2CB772F2191E}" type="pres">
      <dgm:prSet presAssocID="{F0D9EB2E-5656-437B-B404-B561E9B98C9D}" presName="node" presStyleLbl="node1" presStyleIdx="0" presStyleCnt="8">
        <dgm:presLayoutVars>
          <dgm:bulletEnabled val="1"/>
        </dgm:presLayoutVars>
      </dgm:prSet>
      <dgm:spPr/>
    </dgm:pt>
    <dgm:pt modelId="{A622B3F1-F0E2-45A2-B000-1A155102AD2E}" type="pres">
      <dgm:prSet presAssocID="{24F4DC36-36CA-403B-9D92-0DCDA4D23F6F}" presName="sibTrans" presStyleLbl="sibTrans1D1" presStyleIdx="0" presStyleCnt="7"/>
      <dgm:spPr/>
    </dgm:pt>
    <dgm:pt modelId="{8B0F34F8-AEFE-442F-9AD7-C0F7620FF56C}" type="pres">
      <dgm:prSet presAssocID="{24F4DC36-36CA-403B-9D92-0DCDA4D23F6F}" presName="connectorText" presStyleLbl="sibTrans1D1" presStyleIdx="0" presStyleCnt="7"/>
      <dgm:spPr/>
    </dgm:pt>
    <dgm:pt modelId="{4A742276-C9B9-4A10-B868-0F037872D362}" type="pres">
      <dgm:prSet presAssocID="{6FB1744F-881A-4182-ACDE-5BC27E97084F}" presName="node" presStyleLbl="node1" presStyleIdx="1" presStyleCnt="8">
        <dgm:presLayoutVars>
          <dgm:bulletEnabled val="1"/>
        </dgm:presLayoutVars>
      </dgm:prSet>
      <dgm:spPr/>
    </dgm:pt>
    <dgm:pt modelId="{7D7A1B82-EB85-4632-BD16-2D3F787A55E1}" type="pres">
      <dgm:prSet presAssocID="{288FBE59-5979-46D3-A345-28199161C261}" presName="sibTrans" presStyleLbl="sibTrans1D1" presStyleIdx="1" presStyleCnt="7"/>
      <dgm:spPr/>
    </dgm:pt>
    <dgm:pt modelId="{6A16C0F1-ED98-4913-BFE1-C02FC14A350D}" type="pres">
      <dgm:prSet presAssocID="{288FBE59-5979-46D3-A345-28199161C261}" presName="connectorText" presStyleLbl="sibTrans1D1" presStyleIdx="1" presStyleCnt="7"/>
      <dgm:spPr/>
    </dgm:pt>
    <dgm:pt modelId="{12E5E8F5-27B2-4421-8A74-9E3DB68F1080}" type="pres">
      <dgm:prSet presAssocID="{4122A06A-0D17-4D91-B298-FD884A3E5A6A}" presName="node" presStyleLbl="node1" presStyleIdx="2" presStyleCnt="8">
        <dgm:presLayoutVars>
          <dgm:bulletEnabled val="1"/>
        </dgm:presLayoutVars>
      </dgm:prSet>
      <dgm:spPr/>
    </dgm:pt>
    <dgm:pt modelId="{51219A84-49F8-4F53-81B7-778F3CB66D0A}" type="pres">
      <dgm:prSet presAssocID="{187CA78E-086B-48C0-BBEB-C5DD358BAAFD}" presName="sibTrans" presStyleLbl="sibTrans1D1" presStyleIdx="2" presStyleCnt="7"/>
      <dgm:spPr/>
    </dgm:pt>
    <dgm:pt modelId="{787654FD-CDDB-49F0-9B0F-D9062A1ADC85}" type="pres">
      <dgm:prSet presAssocID="{187CA78E-086B-48C0-BBEB-C5DD358BAAFD}" presName="connectorText" presStyleLbl="sibTrans1D1" presStyleIdx="2" presStyleCnt="7"/>
      <dgm:spPr/>
    </dgm:pt>
    <dgm:pt modelId="{0E36C6EC-CF6C-4C52-8F51-92E6ACA469A8}" type="pres">
      <dgm:prSet presAssocID="{8F27652D-AD08-493F-A9EA-2D4785F2F4F9}" presName="node" presStyleLbl="node1" presStyleIdx="3" presStyleCnt="8">
        <dgm:presLayoutVars>
          <dgm:bulletEnabled val="1"/>
        </dgm:presLayoutVars>
      </dgm:prSet>
      <dgm:spPr/>
    </dgm:pt>
    <dgm:pt modelId="{D7EFEE89-1488-478B-ADEB-DF7E26066267}" type="pres">
      <dgm:prSet presAssocID="{22284C3E-DB6F-43F8-87DA-D109CE391200}" presName="sibTrans" presStyleLbl="sibTrans1D1" presStyleIdx="3" presStyleCnt="7"/>
      <dgm:spPr/>
    </dgm:pt>
    <dgm:pt modelId="{46D51CFB-B3AD-4257-9C3B-B46F960C5630}" type="pres">
      <dgm:prSet presAssocID="{22284C3E-DB6F-43F8-87DA-D109CE391200}" presName="connectorText" presStyleLbl="sibTrans1D1" presStyleIdx="3" presStyleCnt="7"/>
      <dgm:spPr/>
    </dgm:pt>
    <dgm:pt modelId="{09F492F4-CDAF-49BF-BDF9-597DAA6F61DE}" type="pres">
      <dgm:prSet presAssocID="{CEAF3AF7-F8C8-4726-99A5-21036F88A6AF}" presName="node" presStyleLbl="node1" presStyleIdx="4" presStyleCnt="8">
        <dgm:presLayoutVars>
          <dgm:bulletEnabled val="1"/>
        </dgm:presLayoutVars>
      </dgm:prSet>
      <dgm:spPr/>
    </dgm:pt>
    <dgm:pt modelId="{358286DD-0BB2-4690-8FA0-ECFB866AECF2}" type="pres">
      <dgm:prSet presAssocID="{5634C1B4-BB2E-4C09-9EAD-E4DB2AB46E75}" presName="sibTrans" presStyleLbl="sibTrans1D1" presStyleIdx="4" presStyleCnt="7"/>
      <dgm:spPr/>
    </dgm:pt>
    <dgm:pt modelId="{36BC6F8C-9123-46BD-A381-0BC99468BCCF}" type="pres">
      <dgm:prSet presAssocID="{5634C1B4-BB2E-4C09-9EAD-E4DB2AB46E75}" presName="connectorText" presStyleLbl="sibTrans1D1" presStyleIdx="4" presStyleCnt="7"/>
      <dgm:spPr/>
    </dgm:pt>
    <dgm:pt modelId="{747358E0-7F38-4970-B44F-0AA967C440E0}" type="pres">
      <dgm:prSet presAssocID="{8BD12DD5-9BC2-4C7A-89C2-58DB52784336}" presName="node" presStyleLbl="node1" presStyleIdx="5" presStyleCnt="8">
        <dgm:presLayoutVars>
          <dgm:bulletEnabled val="1"/>
        </dgm:presLayoutVars>
      </dgm:prSet>
      <dgm:spPr/>
    </dgm:pt>
    <dgm:pt modelId="{3F2B8170-024D-47BA-BAEE-4ADFCC16FE51}" type="pres">
      <dgm:prSet presAssocID="{689231CA-1A68-4FF9-B064-02BB609DA296}" presName="sibTrans" presStyleLbl="sibTrans1D1" presStyleIdx="5" presStyleCnt="7"/>
      <dgm:spPr/>
    </dgm:pt>
    <dgm:pt modelId="{B914D6A2-D2AC-4DC0-9186-4DE2D7301CED}" type="pres">
      <dgm:prSet presAssocID="{689231CA-1A68-4FF9-B064-02BB609DA296}" presName="connectorText" presStyleLbl="sibTrans1D1" presStyleIdx="5" presStyleCnt="7"/>
      <dgm:spPr/>
    </dgm:pt>
    <dgm:pt modelId="{E03AD05C-7DFC-4FF5-8BC7-8E9B4C3A48DE}" type="pres">
      <dgm:prSet presAssocID="{D9F60D58-C2A9-49F7-B9D0-C28FD6B2AA4C}" presName="node" presStyleLbl="node1" presStyleIdx="6" presStyleCnt="8">
        <dgm:presLayoutVars>
          <dgm:bulletEnabled val="1"/>
        </dgm:presLayoutVars>
      </dgm:prSet>
      <dgm:spPr/>
    </dgm:pt>
    <dgm:pt modelId="{8AD68956-FC4F-4D3A-95E1-8885D4A6B9F0}" type="pres">
      <dgm:prSet presAssocID="{14956B5F-7A59-4911-B75C-65BC41310F30}" presName="sibTrans" presStyleLbl="sibTrans1D1" presStyleIdx="6" presStyleCnt="7"/>
      <dgm:spPr/>
    </dgm:pt>
    <dgm:pt modelId="{892788E6-7E85-4769-8EF7-6F3D73C326D4}" type="pres">
      <dgm:prSet presAssocID="{14956B5F-7A59-4911-B75C-65BC41310F30}" presName="connectorText" presStyleLbl="sibTrans1D1" presStyleIdx="6" presStyleCnt="7"/>
      <dgm:spPr/>
    </dgm:pt>
    <dgm:pt modelId="{A7D5FEAA-F169-4D26-B479-164410FCE576}" type="pres">
      <dgm:prSet presAssocID="{B7F598CC-4EBC-4A93-98CC-A30E565F5487}" presName="node" presStyleLbl="node1" presStyleIdx="7" presStyleCnt="8">
        <dgm:presLayoutVars>
          <dgm:bulletEnabled val="1"/>
        </dgm:presLayoutVars>
      </dgm:prSet>
      <dgm:spPr/>
    </dgm:pt>
  </dgm:ptLst>
  <dgm:cxnLst>
    <dgm:cxn modelId="{1FF33503-03BC-4EB1-936C-D8842F9C0911}" srcId="{E347F3E9-97A9-45F3-A000-D56C9D4D2AC4}" destId="{8BD12DD5-9BC2-4C7A-89C2-58DB52784336}" srcOrd="5" destOrd="0" parTransId="{C006BFE5-F008-4D41-80C5-950D4C29DB10}" sibTransId="{689231CA-1A68-4FF9-B064-02BB609DA296}"/>
    <dgm:cxn modelId="{C08C780C-DD55-4E6A-91A0-DDA789A32316}" srcId="{E347F3E9-97A9-45F3-A000-D56C9D4D2AC4}" destId="{F0D9EB2E-5656-437B-B404-B561E9B98C9D}" srcOrd="0" destOrd="0" parTransId="{62813E9A-5637-4E3F-AD90-7F9796CE4C7B}" sibTransId="{24F4DC36-36CA-403B-9D92-0DCDA4D23F6F}"/>
    <dgm:cxn modelId="{BD72731A-7340-446E-9ED9-355783588E2C}" srcId="{E347F3E9-97A9-45F3-A000-D56C9D4D2AC4}" destId="{CEAF3AF7-F8C8-4726-99A5-21036F88A6AF}" srcOrd="4" destOrd="0" parTransId="{0E8F79E3-A0FA-4D68-A2BB-EB0BD9C7B9CC}" sibTransId="{5634C1B4-BB2E-4C09-9EAD-E4DB2AB46E75}"/>
    <dgm:cxn modelId="{68801C2E-2B26-400F-88C7-36908A8D65B5}" type="presOf" srcId="{22284C3E-DB6F-43F8-87DA-D109CE391200}" destId="{D7EFEE89-1488-478B-ADEB-DF7E26066267}" srcOrd="0" destOrd="0" presId="urn:microsoft.com/office/officeart/2005/8/layout/bProcess3"/>
    <dgm:cxn modelId="{C30B5237-689C-407A-885F-25473C7341C1}" type="presOf" srcId="{22284C3E-DB6F-43F8-87DA-D109CE391200}" destId="{46D51CFB-B3AD-4257-9C3B-B46F960C5630}" srcOrd="1" destOrd="0" presId="urn:microsoft.com/office/officeart/2005/8/layout/bProcess3"/>
    <dgm:cxn modelId="{8DCC9E3C-05D4-43D0-B2C2-61F166398937}" type="presOf" srcId="{5634C1B4-BB2E-4C09-9EAD-E4DB2AB46E75}" destId="{358286DD-0BB2-4690-8FA0-ECFB866AECF2}" srcOrd="0" destOrd="0" presId="urn:microsoft.com/office/officeart/2005/8/layout/bProcess3"/>
    <dgm:cxn modelId="{E9BA9B5B-8A8F-48AC-A848-8369757861FF}" srcId="{E347F3E9-97A9-45F3-A000-D56C9D4D2AC4}" destId="{B7F598CC-4EBC-4A93-98CC-A30E565F5487}" srcOrd="7" destOrd="0" parTransId="{2DBD2605-F826-42E0-9FF9-8BB173CC1E97}" sibTransId="{85EEBEDF-9F78-4401-8EAB-5671250A3B05}"/>
    <dgm:cxn modelId="{74A69762-B976-44CF-AEFF-22BF6F7C4C54}" type="presOf" srcId="{8BD12DD5-9BC2-4C7A-89C2-58DB52784336}" destId="{747358E0-7F38-4970-B44F-0AA967C440E0}" srcOrd="0" destOrd="0" presId="urn:microsoft.com/office/officeart/2005/8/layout/bProcess3"/>
    <dgm:cxn modelId="{7874F642-E801-4BCE-BE3E-33FA886BC304}" type="presOf" srcId="{689231CA-1A68-4FF9-B064-02BB609DA296}" destId="{B914D6A2-D2AC-4DC0-9186-4DE2D7301CED}" srcOrd="1" destOrd="0" presId="urn:microsoft.com/office/officeart/2005/8/layout/bProcess3"/>
    <dgm:cxn modelId="{C03FF845-09D5-452B-8B43-C998A01A9EF5}" type="presOf" srcId="{14956B5F-7A59-4911-B75C-65BC41310F30}" destId="{892788E6-7E85-4769-8EF7-6F3D73C326D4}" srcOrd="1" destOrd="0" presId="urn:microsoft.com/office/officeart/2005/8/layout/bProcess3"/>
    <dgm:cxn modelId="{4D457B46-CD3C-4F3E-9E6E-A72374C7D8FD}" type="presOf" srcId="{4122A06A-0D17-4D91-B298-FD884A3E5A6A}" destId="{12E5E8F5-27B2-4421-8A74-9E3DB68F1080}" srcOrd="0" destOrd="0" presId="urn:microsoft.com/office/officeart/2005/8/layout/bProcess3"/>
    <dgm:cxn modelId="{A7A82668-11AB-4855-80A1-664D572B8144}" type="presOf" srcId="{F0D9EB2E-5656-437B-B404-B561E9B98C9D}" destId="{3208F5BC-0D44-43DD-ABC0-2CB772F2191E}" srcOrd="0" destOrd="0" presId="urn:microsoft.com/office/officeart/2005/8/layout/bProcess3"/>
    <dgm:cxn modelId="{343E226F-A404-4115-8F39-E8B227503128}" type="presOf" srcId="{14956B5F-7A59-4911-B75C-65BC41310F30}" destId="{8AD68956-FC4F-4D3A-95E1-8885D4A6B9F0}" srcOrd="0" destOrd="0" presId="urn:microsoft.com/office/officeart/2005/8/layout/bProcess3"/>
    <dgm:cxn modelId="{44D6D87A-7466-4115-8DA5-39391204574A}" type="presOf" srcId="{B7F598CC-4EBC-4A93-98CC-A30E565F5487}" destId="{A7D5FEAA-F169-4D26-B479-164410FCE576}" srcOrd="0" destOrd="0" presId="urn:microsoft.com/office/officeart/2005/8/layout/bProcess3"/>
    <dgm:cxn modelId="{C9F7ED87-82AD-4D17-8010-F0CFA06D2F0B}" type="presOf" srcId="{D9F60D58-C2A9-49F7-B9D0-C28FD6B2AA4C}" destId="{E03AD05C-7DFC-4FF5-8BC7-8E9B4C3A48DE}" srcOrd="0" destOrd="0" presId="urn:microsoft.com/office/officeart/2005/8/layout/bProcess3"/>
    <dgm:cxn modelId="{A560698D-E6B8-4997-A08B-F3AEBE447950}" type="presOf" srcId="{689231CA-1A68-4FF9-B064-02BB609DA296}" destId="{3F2B8170-024D-47BA-BAEE-4ADFCC16FE51}" srcOrd="0" destOrd="0" presId="urn:microsoft.com/office/officeart/2005/8/layout/bProcess3"/>
    <dgm:cxn modelId="{F3FE8C9A-DC29-4EA9-B6CF-ABAA14553DB1}" type="presOf" srcId="{187CA78E-086B-48C0-BBEB-C5DD358BAAFD}" destId="{787654FD-CDDB-49F0-9B0F-D9062A1ADC85}" srcOrd="1" destOrd="0" presId="urn:microsoft.com/office/officeart/2005/8/layout/bProcess3"/>
    <dgm:cxn modelId="{44ACA99C-7E8C-4A40-BA67-66636DB39351}" type="presOf" srcId="{187CA78E-086B-48C0-BBEB-C5DD358BAAFD}" destId="{51219A84-49F8-4F53-81B7-778F3CB66D0A}" srcOrd="0" destOrd="0" presId="urn:microsoft.com/office/officeart/2005/8/layout/bProcess3"/>
    <dgm:cxn modelId="{73CCE19C-5B5B-4BAF-B094-0FEE4ECC8AF1}" type="presOf" srcId="{6FB1744F-881A-4182-ACDE-5BC27E97084F}" destId="{4A742276-C9B9-4A10-B868-0F037872D362}" srcOrd="0" destOrd="0" presId="urn:microsoft.com/office/officeart/2005/8/layout/bProcess3"/>
    <dgm:cxn modelId="{90A22DAF-4656-4AC8-A17E-8F7970F6BCCE}" type="presOf" srcId="{CEAF3AF7-F8C8-4726-99A5-21036F88A6AF}" destId="{09F492F4-CDAF-49BF-BDF9-597DAA6F61DE}" srcOrd="0" destOrd="0" presId="urn:microsoft.com/office/officeart/2005/8/layout/bProcess3"/>
    <dgm:cxn modelId="{878633B1-D940-40DE-9800-1A1BCBA09CCC}" srcId="{E347F3E9-97A9-45F3-A000-D56C9D4D2AC4}" destId="{D9F60D58-C2A9-49F7-B9D0-C28FD6B2AA4C}" srcOrd="6" destOrd="0" parTransId="{81649E85-8294-4C98-A5E3-1B8F06AB6412}" sibTransId="{14956B5F-7A59-4911-B75C-65BC41310F30}"/>
    <dgm:cxn modelId="{BBA4FABA-AF8F-4F91-80CD-B9254A633ABB}" type="presOf" srcId="{288FBE59-5979-46D3-A345-28199161C261}" destId="{6A16C0F1-ED98-4913-BFE1-C02FC14A350D}" srcOrd="1" destOrd="0" presId="urn:microsoft.com/office/officeart/2005/8/layout/bProcess3"/>
    <dgm:cxn modelId="{A7CB1AC1-1099-47AF-ADDD-C3DFC9DF7378}" srcId="{E347F3E9-97A9-45F3-A000-D56C9D4D2AC4}" destId="{8F27652D-AD08-493F-A9EA-2D4785F2F4F9}" srcOrd="3" destOrd="0" parTransId="{B36B9540-B039-47CE-8C47-1BAAF44E770B}" sibTransId="{22284C3E-DB6F-43F8-87DA-D109CE391200}"/>
    <dgm:cxn modelId="{C659CCC2-A1A0-4B4A-991B-07F29DFD756B}" srcId="{E347F3E9-97A9-45F3-A000-D56C9D4D2AC4}" destId="{4122A06A-0D17-4D91-B298-FD884A3E5A6A}" srcOrd="2" destOrd="0" parTransId="{7F41CBA2-627F-4FDC-BB65-692614B4A401}" sibTransId="{187CA78E-086B-48C0-BBEB-C5DD358BAAFD}"/>
    <dgm:cxn modelId="{72AF6ACE-93C4-4216-B4F0-AA85AE6B2EFF}" type="presOf" srcId="{24F4DC36-36CA-403B-9D92-0DCDA4D23F6F}" destId="{8B0F34F8-AEFE-442F-9AD7-C0F7620FF56C}" srcOrd="1" destOrd="0" presId="urn:microsoft.com/office/officeart/2005/8/layout/bProcess3"/>
    <dgm:cxn modelId="{E51EA6D7-7660-470B-A4C3-C721C2F4030F}" type="presOf" srcId="{24F4DC36-36CA-403B-9D92-0DCDA4D23F6F}" destId="{A622B3F1-F0E2-45A2-B000-1A155102AD2E}" srcOrd="0" destOrd="0" presId="urn:microsoft.com/office/officeart/2005/8/layout/bProcess3"/>
    <dgm:cxn modelId="{E6EE07E4-BDB3-4D85-9F4C-41892179E097}" srcId="{E347F3E9-97A9-45F3-A000-D56C9D4D2AC4}" destId="{6FB1744F-881A-4182-ACDE-5BC27E97084F}" srcOrd="1" destOrd="0" parTransId="{E203E55A-656E-4B3C-BC59-C58540ADB376}" sibTransId="{288FBE59-5979-46D3-A345-28199161C261}"/>
    <dgm:cxn modelId="{FFD708E8-2465-4D00-93BA-5194ABB8F540}" type="presOf" srcId="{288FBE59-5979-46D3-A345-28199161C261}" destId="{7D7A1B82-EB85-4632-BD16-2D3F787A55E1}" srcOrd="0" destOrd="0" presId="urn:microsoft.com/office/officeart/2005/8/layout/bProcess3"/>
    <dgm:cxn modelId="{D8CE87F6-3CBE-4518-8D12-E61F5B35FEDC}" type="presOf" srcId="{E347F3E9-97A9-45F3-A000-D56C9D4D2AC4}" destId="{E2A91268-FB1B-41C2-9A27-FC33190F0E9C}" srcOrd="0" destOrd="0" presId="urn:microsoft.com/office/officeart/2005/8/layout/bProcess3"/>
    <dgm:cxn modelId="{39330BF9-13AE-4D1B-8FB2-EB1213B80EA5}" type="presOf" srcId="{5634C1B4-BB2E-4C09-9EAD-E4DB2AB46E75}" destId="{36BC6F8C-9123-46BD-A381-0BC99468BCCF}" srcOrd="1" destOrd="0" presId="urn:microsoft.com/office/officeart/2005/8/layout/bProcess3"/>
    <dgm:cxn modelId="{A5B341FE-C2B5-43B8-ABAF-EC3A84A00856}" type="presOf" srcId="{8F27652D-AD08-493F-A9EA-2D4785F2F4F9}" destId="{0E36C6EC-CF6C-4C52-8F51-92E6ACA469A8}" srcOrd="0" destOrd="0" presId="urn:microsoft.com/office/officeart/2005/8/layout/bProcess3"/>
    <dgm:cxn modelId="{6E9127E8-025D-414A-911D-7A9D2344C6F2}" type="presParOf" srcId="{E2A91268-FB1B-41C2-9A27-FC33190F0E9C}" destId="{3208F5BC-0D44-43DD-ABC0-2CB772F2191E}" srcOrd="0" destOrd="0" presId="urn:microsoft.com/office/officeart/2005/8/layout/bProcess3"/>
    <dgm:cxn modelId="{E58F43EB-38ED-4CC4-A23B-C36D01B71C74}" type="presParOf" srcId="{E2A91268-FB1B-41C2-9A27-FC33190F0E9C}" destId="{A622B3F1-F0E2-45A2-B000-1A155102AD2E}" srcOrd="1" destOrd="0" presId="urn:microsoft.com/office/officeart/2005/8/layout/bProcess3"/>
    <dgm:cxn modelId="{A90F0B05-1596-49B0-85BA-E5CDD3757B28}" type="presParOf" srcId="{A622B3F1-F0E2-45A2-B000-1A155102AD2E}" destId="{8B0F34F8-AEFE-442F-9AD7-C0F7620FF56C}" srcOrd="0" destOrd="0" presId="urn:microsoft.com/office/officeart/2005/8/layout/bProcess3"/>
    <dgm:cxn modelId="{7677A527-3544-4BB8-92EB-5636376F5EA8}" type="presParOf" srcId="{E2A91268-FB1B-41C2-9A27-FC33190F0E9C}" destId="{4A742276-C9B9-4A10-B868-0F037872D362}" srcOrd="2" destOrd="0" presId="urn:microsoft.com/office/officeart/2005/8/layout/bProcess3"/>
    <dgm:cxn modelId="{7468ED53-8C3A-41E1-B302-E0A6E6B2B743}" type="presParOf" srcId="{E2A91268-FB1B-41C2-9A27-FC33190F0E9C}" destId="{7D7A1B82-EB85-4632-BD16-2D3F787A55E1}" srcOrd="3" destOrd="0" presId="urn:microsoft.com/office/officeart/2005/8/layout/bProcess3"/>
    <dgm:cxn modelId="{750C041E-F5DC-439E-AF73-1661299628BF}" type="presParOf" srcId="{7D7A1B82-EB85-4632-BD16-2D3F787A55E1}" destId="{6A16C0F1-ED98-4913-BFE1-C02FC14A350D}" srcOrd="0" destOrd="0" presId="urn:microsoft.com/office/officeart/2005/8/layout/bProcess3"/>
    <dgm:cxn modelId="{A575CE52-1A78-4281-9037-60ABC252C125}" type="presParOf" srcId="{E2A91268-FB1B-41C2-9A27-FC33190F0E9C}" destId="{12E5E8F5-27B2-4421-8A74-9E3DB68F1080}" srcOrd="4" destOrd="0" presId="urn:microsoft.com/office/officeart/2005/8/layout/bProcess3"/>
    <dgm:cxn modelId="{2774029B-1041-4C28-9879-D47D3A64E354}" type="presParOf" srcId="{E2A91268-FB1B-41C2-9A27-FC33190F0E9C}" destId="{51219A84-49F8-4F53-81B7-778F3CB66D0A}" srcOrd="5" destOrd="0" presId="urn:microsoft.com/office/officeart/2005/8/layout/bProcess3"/>
    <dgm:cxn modelId="{928B9452-4A1D-43F6-AC10-D20B83CE6089}" type="presParOf" srcId="{51219A84-49F8-4F53-81B7-778F3CB66D0A}" destId="{787654FD-CDDB-49F0-9B0F-D9062A1ADC85}" srcOrd="0" destOrd="0" presId="urn:microsoft.com/office/officeart/2005/8/layout/bProcess3"/>
    <dgm:cxn modelId="{B42E40EB-267E-4C08-B087-479A42E77889}" type="presParOf" srcId="{E2A91268-FB1B-41C2-9A27-FC33190F0E9C}" destId="{0E36C6EC-CF6C-4C52-8F51-92E6ACA469A8}" srcOrd="6" destOrd="0" presId="urn:microsoft.com/office/officeart/2005/8/layout/bProcess3"/>
    <dgm:cxn modelId="{C729202B-6103-43C1-90DF-ABABF923376C}" type="presParOf" srcId="{E2A91268-FB1B-41C2-9A27-FC33190F0E9C}" destId="{D7EFEE89-1488-478B-ADEB-DF7E26066267}" srcOrd="7" destOrd="0" presId="urn:microsoft.com/office/officeart/2005/8/layout/bProcess3"/>
    <dgm:cxn modelId="{6CDD51FB-0D95-4B4C-9DCD-F85FAAFC92B6}" type="presParOf" srcId="{D7EFEE89-1488-478B-ADEB-DF7E26066267}" destId="{46D51CFB-B3AD-4257-9C3B-B46F960C5630}" srcOrd="0" destOrd="0" presId="urn:microsoft.com/office/officeart/2005/8/layout/bProcess3"/>
    <dgm:cxn modelId="{DAF3C7A4-B4BB-418D-82CB-DBFBB5064A12}" type="presParOf" srcId="{E2A91268-FB1B-41C2-9A27-FC33190F0E9C}" destId="{09F492F4-CDAF-49BF-BDF9-597DAA6F61DE}" srcOrd="8" destOrd="0" presId="urn:microsoft.com/office/officeart/2005/8/layout/bProcess3"/>
    <dgm:cxn modelId="{C74F4738-2EDC-4E9C-A74C-598C82EF526C}" type="presParOf" srcId="{E2A91268-FB1B-41C2-9A27-FC33190F0E9C}" destId="{358286DD-0BB2-4690-8FA0-ECFB866AECF2}" srcOrd="9" destOrd="0" presId="urn:microsoft.com/office/officeart/2005/8/layout/bProcess3"/>
    <dgm:cxn modelId="{83FF3206-4A2D-407F-B4C0-29CD0E5697D9}" type="presParOf" srcId="{358286DD-0BB2-4690-8FA0-ECFB866AECF2}" destId="{36BC6F8C-9123-46BD-A381-0BC99468BCCF}" srcOrd="0" destOrd="0" presId="urn:microsoft.com/office/officeart/2005/8/layout/bProcess3"/>
    <dgm:cxn modelId="{96E808D2-F6CA-4B34-AD63-9ADF6724E6EB}" type="presParOf" srcId="{E2A91268-FB1B-41C2-9A27-FC33190F0E9C}" destId="{747358E0-7F38-4970-B44F-0AA967C440E0}" srcOrd="10" destOrd="0" presId="urn:microsoft.com/office/officeart/2005/8/layout/bProcess3"/>
    <dgm:cxn modelId="{54A1D722-9CBE-4074-84EF-1368C33626D7}" type="presParOf" srcId="{E2A91268-FB1B-41C2-9A27-FC33190F0E9C}" destId="{3F2B8170-024D-47BA-BAEE-4ADFCC16FE51}" srcOrd="11" destOrd="0" presId="urn:microsoft.com/office/officeart/2005/8/layout/bProcess3"/>
    <dgm:cxn modelId="{C4AB4A86-CB6C-4F01-A8A2-4D7E3FF308D8}" type="presParOf" srcId="{3F2B8170-024D-47BA-BAEE-4ADFCC16FE51}" destId="{B914D6A2-D2AC-4DC0-9186-4DE2D7301CED}" srcOrd="0" destOrd="0" presId="urn:microsoft.com/office/officeart/2005/8/layout/bProcess3"/>
    <dgm:cxn modelId="{C40962B7-54BD-431D-A800-72445CF76E6F}" type="presParOf" srcId="{E2A91268-FB1B-41C2-9A27-FC33190F0E9C}" destId="{E03AD05C-7DFC-4FF5-8BC7-8E9B4C3A48DE}" srcOrd="12" destOrd="0" presId="urn:microsoft.com/office/officeart/2005/8/layout/bProcess3"/>
    <dgm:cxn modelId="{81687B4C-29F1-4671-AD99-EF5D3808822A}" type="presParOf" srcId="{E2A91268-FB1B-41C2-9A27-FC33190F0E9C}" destId="{8AD68956-FC4F-4D3A-95E1-8885D4A6B9F0}" srcOrd="13" destOrd="0" presId="urn:microsoft.com/office/officeart/2005/8/layout/bProcess3"/>
    <dgm:cxn modelId="{E0ABB919-DAFB-4546-95A7-481472237C05}" type="presParOf" srcId="{8AD68956-FC4F-4D3A-95E1-8885D4A6B9F0}" destId="{892788E6-7E85-4769-8EF7-6F3D73C326D4}" srcOrd="0" destOrd="0" presId="urn:microsoft.com/office/officeart/2005/8/layout/bProcess3"/>
    <dgm:cxn modelId="{D9627D2F-B4DF-4EE6-8C2A-FB381D8E6D9A}" type="presParOf" srcId="{E2A91268-FB1B-41C2-9A27-FC33190F0E9C}" destId="{A7D5FEAA-F169-4D26-B479-164410FCE576}" srcOrd="14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47F3E9-97A9-45F3-A000-D56C9D4D2AC4}" type="doc">
      <dgm:prSet loTypeId="urn:microsoft.com/office/officeart/2005/8/layout/bProcess3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0D9EB2E-5656-437B-B404-B561E9B98C9D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Warm Lead</a:t>
          </a:r>
          <a:endParaRPr lang="en-US"/>
        </a:p>
      </dgm:t>
    </dgm:pt>
    <dgm:pt modelId="{62813E9A-5637-4E3F-AD90-7F9796CE4C7B}" type="parTrans" cxnId="{C08C780C-DD55-4E6A-91A0-DDA789A32316}">
      <dgm:prSet/>
      <dgm:spPr/>
      <dgm:t>
        <a:bodyPr/>
        <a:lstStyle/>
        <a:p>
          <a:endParaRPr lang="en-US"/>
        </a:p>
      </dgm:t>
    </dgm:pt>
    <dgm:pt modelId="{24F4DC36-36CA-403B-9D92-0DCDA4D23F6F}" type="sibTrans" cxnId="{C08C780C-DD55-4E6A-91A0-DDA789A32316}">
      <dgm:prSet/>
      <dgm:spPr/>
      <dgm:t>
        <a:bodyPr/>
        <a:lstStyle/>
        <a:p>
          <a:endParaRPr lang="en-US"/>
        </a:p>
      </dgm:t>
    </dgm:pt>
    <dgm:pt modelId="{6FB1744F-881A-4182-ACDE-5BC27E97084F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Sponsor Identified</a:t>
          </a:r>
          <a:endParaRPr lang="en-US"/>
        </a:p>
      </dgm:t>
    </dgm:pt>
    <dgm:pt modelId="{E203E55A-656E-4B3C-BC59-C58540ADB376}" type="parTrans" cxnId="{E6EE07E4-BDB3-4D85-9F4C-41892179E097}">
      <dgm:prSet/>
      <dgm:spPr/>
      <dgm:t>
        <a:bodyPr/>
        <a:lstStyle/>
        <a:p>
          <a:endParaRPr lang="en-US"/>
        </a:p>
      </dgm:t>
    </dgm:pt>
    <dgm:pt modelId="{288FBE59-5979-46D3-A345-28199161C261}" type="sibTrans" cxnId="{E6EE07E4-BDB3-4D85-9F4C-41892179E097}">
      <dgm:prSet/>
      <dgm:spPr/>
      <dgm:t>
        <a:bodyPr/>
        <a:lstStyle/>
        <a:p>
          <a:endParaRPr lang="en-US"/>
        </a:p>
      </dgm:t>
    </dgm:pt>
    <dgm:pt modelId="{CEAF3AF7-F8C8-4726-99A5-21036F88A6AF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Converged Proposal</a:t>
          </a:r>
          <a:endParaRPr lang="en-US"/>
        </a:p>
      </dgm:t>
    </dgm:pt>
    <dgm:pt modelId="{0E8F79E3-A0FA-4D68-A2BB-EB0BD9C7B9CC}" type="parTrans" cxnId="{BD72731A-7340-446E-9ED9-355783588E2C}">
      <dgm:prSet/>
      <dgm:spPr/>
      <dgm:t>
        <a:bodyPr/>
        <a:lstStyle/>
        <a:p>
          <a:endParaRPr lang="en-US"/>
        </a:p>
      </dgm:t>
    </dgm:pt>
    <dgm:pt modelId="{5634C1B4-BB2E-4C09-9EAD-E4DB2AB46E75}" type="sibTrans" cxnId="{BD72731A-7340-446E-9ED9-355783588E2C}">
      <dgm:prSet/>
      <dgm:spPr/>
      <dgm:t>
        <a:bodyPr/>
        <a:lstStyle/>
        <a:p>
          <a:endParaRPr lang="en-US"/>
        </a:p>
      </dgm:t>
    </dgm:pt>
    <dgm:pt modelId="{8BD12DD5-9BC2-4C7A-89C2-58DB52784336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Contract Negotiated</a:t>
          </a:r>
        </a:p>
      </dgm:t>
    </dgm:pt>
    <dgm:pt modelId="{C006BFE5-F008-4D41-80C5-950D4C29DB10}" type="parTrans" cxnId="{1FF33503-03BC-4EB1-936C-D8842F9C0911}">
      <dgm:prSet/>
      <dgm:spPr/>
    </dgm:pt>
    <dgm:pt modelId="{689231CA-1A68-4FF9-B064-02BB609DA296}" type="sibTrans" cxnId="{1FF33503-03BC-4EB1-936C-D8842F9C0911}">
      <dgm:prSet/>
      <dgm:spPr/>
      <dgm:t>
        <a:bodyPr/>
        <a:lstStyle/>
        <a:p>
          <a:endParaRPr lang="en-US"/>
        </a:p>
      </dgm:t>
    </dgm:pt>
    <dgm:pt modelId="{D9F60D58-C2A9-49F7-B9D0-C28FD6B2AA4C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Contract Signed</a:t>
          </a:r>
        </a:p>
      </dgm:t>
    </dgm:pt>
    <dgm:pt modelId="{81649E85-8294-4C98-A5E3-1B8F06AB6412}" type="parTrans" cxnId="{878633B1-D940-40DE-9800-1A1BCBA09CCC}">
      <dgm:prSet/>
      <dgm:spPr/>
    </dgm:pt>
    <dgm:pt modelId="{14956B5F-7A59-4911-B75C-65BC41310F30}" type="sibTrans" cxnId="{878633B1-D940-40DE-9800-1A1BCBA09CCC}">
      <dgm:prSet/>
      <dgm:spPr/>
      <dgm:t>
        <a:bodyPr/>
        <a:lstStyle/>
        <a:p>
          <a:endParaRPr lang="en-US"/>
        </a:p>
      </dgm:t>
    </dgm:pt>
    <dgm:pt modelId="{B7F598CC-4EBC-4A93-98CC-A30E565F5487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Project Started</a:t>
          </a:r>
        </a:p>
      </dgm:t>
    </dgm:pt>
    <dgm:pt modelId="{2DBD2605-F826-42E0-9FF9-8BB173CC1E97}" type="parTrans" cxnId="{E9BA9B5B-8A8F-48AC-A848-8369757861FF}">
      <dgm:prSet/>
      <dgm:spPr/>
    </dgm:pt>
    <dgm:pt modelId="{85EEBEDF-9F78-4401-8EAB-5671250A3B05}" type="sibTrans" cxnId="{E9BA9B5B-8A8F-48AC-A848-8369757861FF}">
      <dgm:prSet/>
      <dgm:spPr/>
    </dgm:pt>
    <dgm:pt modelId="{E2A91268-FB1B-41C2-9A27-FC33190F0E9C}" type="pres">
      <dgm:prSet presAssocID="{E347F3E9-97A9-45F3-A000-D56C9D4D2AC4}" presName="Name0" presStyleCnt="0">
        <dgm:presLayoutVars>
          <dgm:dir/>
          <dgm:resizeHandles val="exact"/>
        </dgm:presLayoutVars>
      </dgm:prSet>
      <dgm:spPr/>
    </dgm:pt>
    <dgm:pt modelId="{3208F5BC-0D44-43DD-ABC0-2CB772F2191E}" type="pres">
      <dgm:prSet presAssocID="{F0D9EB2E-5656-437B-B404-B561E9B98C9D}" presName="node" presStyleLbl="node1" presStyleIdx="0" presStyleCnt="6">
        <dgm:presLayoutVars>
          <dgm:bulletEnabled val="1"/>
        </dgm:presLayoutVars>
      </dgm:prSet>
      <dgm:spPr/>
    </dgm:pt>
    <dgm:pt modelId="{A622B3F1-F0E2-45A2-B000-1A155102AD2E}" type="pres">
      <dgm:prSet presAssocID="{24F4DC36-36CA-403B-9D92-0DCDA4D23F6F}" presName="sibTrans" presStyleLbl="sibTrans1D1" presStyleIdx="0" presStyleCnt="5"/>
      <dgm:spPr/>
    </dgm:pt>
    <dgm:pt modelId="{8B0F34F8-AEFE-442F-9AD7-C0F7620FF56C}" type="pres">
      <dgm:prSet presAssocID="{24F4DC36-36CA-403B-9D92-0DCDA4D23F6F}" presName="connectorText" presStyleLbl="sibTrans1D1" presStyleIdx="0" presStyleCnt="5"/>
      <dgm:spPr/>
    </dgm:pt>
    <dgm:pt modelId="{4A742276-C9B9-4A10-B868-0F037872D362}" type="pres">
      <dgm:prSet presAssocID="{6FB1744F-881A-4182-ACDE-5BC27E97084F}" presName="node" presStyleLbl="node1" presStyleIdx="1" presStyleCnt="6">
        <dgm:presLayoutVars>
          <dgm:bulletEnabled val="1"/>
        </dgm:presLayoutVars>
      </dgm:prSet>
      <dgm:spPr/>
    </dgm:pt>
    <dgm:pt modelId="{7D7A1B82-EB85-4632-BD16-2D3F787A55E1}" type="pres">
      <dgm:prSet presAssocID="{288FBE59-5979-46D3-A345-28199161C261}" presName="sibTrans" presStyleLbl="sibTrans1D1" presStyleIdx="1" presStyleCnt="5"/>
      <dgm:spPr/>
    </dgm:pt>
    <dgm:pt modelId="{6A16C0F1-ED98-4913-BFE1-C02FC14A350D}" type="pres">
      <dgm:prSet presAssocID="{288FBE59-5979-46D3-A345-28199161C261}" presName="connectorText" presStyleLbl="sibTrans1D1" presStyleIdx="1" presStyleCnt="5"/>
      <dgm:spPr/>
    </dgm:pt>
    <dgm:pt modelId="{09F492F4-CDAF-49BF-BDF9-597DAA6F61DE}" type="pres">
      <dgm:prSet presAssocID="{CEAF3AF7-F8C8-4726-99A5-21036F88A6AF}" presName="node" presStyleLbl="node1" presStyleIdx="2" presStyleCnt="6">
        <dgm:presLayoutVars>
          <dgm:bulletEnabled val="1"/>
        </dgm:presLayoutVars>
      </dgm:prSet>
      <dgm:spPr/>
    </dgm:pt>
    <dgm:pt modelId="{358286DD-0BB2-4690-8FA0-ECFB866AECF2}" type="pres">
      <dgm:prSet presAssocID="{5634C1B4-BB2E-4C09-9EAD-E4DB2AB46E75}" presName="sibTrans" presStyleLbl="sibTrans1D1" presStyleIdx="2" presStyleCnt="5"/>
      <dgm:spPr/>
    </dgm:pt>
    <dgm:pt modelId="{36BC6F8C-9123-46BD-A381-0BC99468BCCF}" type="pres">
      <dgm:prSet presAssocID="{5634C1B4-BB2E-4C09-9EAD-E4DB2AB46E75}" presName="connectorText" presStyleLbl="sibTrans1D1" presStyleIdx="2" presStyleCnt="5"/>
      <dgm:spPr/>
    </dgm:pt>
    <dgm:pt modelId="{747358E0-7F38-4970-B44F-0AA967C440E0}" type="pres">
      <dgm:prSet presAssocID="{8BD12DD5-9BC2-4C7A-89C2-58DB52784336}" presName="node" presStyleLbl="node1" presStyleIdx="3" presStyleCnt="6">
        <dgm:presLayoutVars>
          <dgm:bulletEnabled val="1"/>
        </dgm:presLayoutVars>
      </dgm:prSet>
      <dgm:spPr/>
    </dgm:pt>
    <dgm:pt modelId="{3F2B8170-024D-47BA-BAEE-4ADFCC16FE51}" type="pres">
      <dgm:prSet presAssocID="{689231CA-1A68-4FF9-B064-02BB609DA296}" presName="sibTrans" presStyleLbl="sibTrans1D1" presStyleIdx="3" presStyleCnt="5"/>
      <dgm:spPr/>
    </dgm:pt>
    <dgm:pt modelId="{B914D6A2-D2AC-4DC0-9186-4DE2D7301CED}" type="pres">
      <dgm:prSet presAssocID="{689231CA-1A68-4FF9-B064-02BB609DA296}" presName="connectorText" presStyleLbl="sibTrans1D1" presStyleIdx="3" presStyleCnt="5"/>
      <dgm:spPr/>
    </dgm:pt>
    <dgm:pt modelId="{E03AD05C-7DFC-4FF5-8BC7-8E9B4C3A48DE}" type="pres">
      <dgm:prSet presAssocID="{D9F60D58-C2A9-49F7-B9D0-C28FD6B2AA4C}" presName="node" presStyleLbl="node1" presStyleIdx="4" presStyleCnt="6">
        <dgm:presLayoutVars>
          <dgm:bulletEnabled val="1"/>
        </dgm:presLayoutVars>
      </dgm:prSet>
      <dgm:spPr/>
    </dgm:pt>
    <dgm:pt modelId="{8AD68956-FC4F-4D3A-95E1-8885D4A6B9F0}" type="pres">
      <dgm:prSet presAssocID="{14956B5F-7A59-4911-B75C-65BC41310F30}" presName="sibTrans" presStyleLbl="sibTrans1D1" presStyleIdx="4" presStyleCnt="5"/>
      <dgm:spPr/>
    </dgm:pt>
    <dgm:pt modelId="{892788E6-7E85-4769-8EF7-6F3D73C326D4}" type="pres">
      <dgm:prSet presAssocID="{14956B5F-7A59-4911-B75C-65BC41310F30}" presName="connectorText" presStyleLbl="sibTrans1D1" presStyleIdx="4" presStyleCnt="5"/>
      <dgm:spPr/>
    </dgm:pt>
    <dgm:pt modelId="{A7D5FEAA-F169-4D26-B479-164410FCE576}" type="pres">
      <dgm:prSet presAssocID="{B7F598CC-4EBC-4A93-98CC-A30E565F5487}" presName="node" presStyleLbl="node1" presStyleIdx="5" presStyleCnt="6">
        <dgm:presLayoutVars>
          <dgm:bulletEnabled val="1"/>
        </dgm:presLayoutVars>
      </dgm:prSet>
      <dgm:spPr/>
    </dgm:pt>
  </dgm:ptLst>
  <dgm:cxnLst>
    <dgm:cxn modelId="{FAF54B00-8EEA-4A0E-BDE4-F43094444E26}" type="presOf" srcId="{6FB1744F-881A-4182-ACDE-5BC27E97084F}" destId="{4A742276-C9B9-4A10-B868-0F037872D362}" srcOrd="0" destOrd="0" presId="urn:microsoft.com/office/officeart/2005/8/layout/bProcess3"/>
    <dgm:cxn modelId="{1FF33503-03BC-4EB1-936C-D8842F9C0911}" srcId="{E347F3E9-97A9-45F3-A000-D56C9D4D2AC4}" destId="{8BD12DD5-9BC2-4C7A-89C2-58DB52784336}" srcOrd="3" destOrd="0" parTransId="{C006BFE5-F008-4D41-80C5-950D4C29DB10}" sibTransId="{689231CA-1A68-4FF9-B064-02BB609DA296}"/>
    <dgm:cxn modelId="{E1238705-B7AF-416C-8D5F-84CEEECB4976}" type="presOf" srcId="{24F4DC36-36CA-403B-9D92-0DCDA4D23F6F}" destId="{8B0F34F8-AEFE-442F-9AD7-C0F7620FF56C}" srcOrd="1" destOrd="0" presId="urn:microsoft.com/office/officeart/2005/8/layout/bProcess3"/>
    <dgm:cxn modelId="{C08C780C-DD55-4E6A-91A0-DDA789A32316}" srcId="{E347F3E9-97A9-45F3-A000-D56C9D4D2AC4}" destId="{F0D9EB2E-5656-437B-B404-B561E9B98C9D}" srcOrd="0" destOrd="0" parTransId="{62813E9A-5637-4E3F-AD90-7F9796CE4C7B}" sibTransId="{24F4DC36-36CA-403B-9D92-0DCDA4D23F6F}"/>
    <dgm:cxn modelId="{BD72731A-7340-446E-9ED9-355783588E2C}" srcId="{E347F3E9-97A9-45F3-A000-D56C9D4D2AC4}" destId="{CEAF3AF7-F8C8-4726-99A5-21036F88A6AF}" srcOrd="2" destOrd="0" parTransId="{0E8F79E3-A0FA-4D68-A2BB-EB0BD9C7B9CC}" sibTransId="{5634C1B4-BB2E-4C09-9EAD-E4DB2AB46E75}"/>
    <dgm:cxn modelId="{CE0DF12C-4857-45FE-8FC1-81CFDACA03C1}" type="presOf" srcId="{5634C1B4-BB2E-4C09-9EAD-E4DB2AB46E75}" destId="{358286DD-0BB2-4690-8FA0-ECFB866AECF2}" srcOrd="0" destOrd="0" presId="urn:microsoft.com/office/officeart/2005/8/layout/bProcess3"/>
    <dgm:cxn modelId="{BB0FD02E-6ADF-4D28-8BF8-21A271EDE7B1}" type="presOf" srcId="{D9F60D58-C2A9-49F7-B9D0-C28FD6B2AA4C}" destId="{E03AD05C-7DFC-4FF5-8BC7-8E9B4C3A48DE}" srcOrd="0" destOrd="0" presId="urn:microsoft.com/office/officeart/2005/8/layout/bProcess3"/>
    <dgm:cxn modelId="{6CF7563F-D2A8-4FE9-84F9-AD10D7CCDF1F}" type="presOf" srcId="{14956B5F-7A59-4911-B75C-65BC41310F30}" destId="{892788E6-7E85-4769-8EF7-6F3D73C326D4}" srcOrd="1" destOrd="0" presId="urn:microsoft.com/office/officeart/2005/8/layout/bProcess3"/>
    <dgm:cxn modelId="{E9BA9B5B-8A8F-48AC-A848-8369757861FF}" srcId="{E347F3E9-97A9-45F3-A000-D56C9D4D2AC4}" destId="{B7F598CC-4EBC-4A93-98CC-A30E565F5487}" srcOrd="5" destOrd="0" parTransId="{2DBD2605-F826-42E0-9FF9-8BB173CC1E97}" sibTransId="{85EEBEDF-9F78-4401-8EAB-5671250A3B05}"/>
    <dgm:cxn modelId="{A050196F-9942-4D4E-B7E2-4E711681C025}" type="presOf" srcId="{B7F598CC-4EBC-4A93-98CC-A30E565F5487}" destId="{A7D5FEAA-F169-4D26-B479-164410FCE576}" srcOrd="0" destOrd="0" presId="urn:microsoft.com/office/officeart/2005/8/layout/bProcess3"/>
    <dgm:cxn modelId="{EFEAB678-D3D2-4B3D-9E9B-C4864BB85C0C}" type="presOf" srcId="{288FBE59-5979-46D3-A345-28199161C261}" destId="{6A16C0F1-ED98-4913-BFE1-C02FC14A350D}" srcOrd="1" destOrd="0" presId="urn:microsoft.com/office/officeart/2005/8/layout/bProcess3"/>
    <dgm:cxn modelId="{B3348489-F591-422B-A484-881F3702FE09}" type="presOf" srcId="{288FBE59-5979-46D3-A345-28199161C261}" destId="{7D7A1B82-EB85-4632-BD16-2D3F787A55E1}" srcOrd="0" destOrd="0" presId="urn:microsoft.com/office/officeart/2005/8/layout/bProcess3"/>
    <dgm:cxn modelId="{2E8BFE8F-DA23-41DD-AAFD-B7E87E4024E7}" type="presOf" srcId="{689231CA-1A68-4FF9-B064-02BB609DA296}" destId="{3F2B8170-024D-47BA-BAEE-4ADFCC16FE51}" srcOrd="0" destOrd="0" presId="urn:microsoft.com/office/officeart/2005/8/layout/bProcess3"/>
    <dgm:cxn modelId="{F5CA5AA3-0121-4605-9B69-1254F7EC14CE}" type="presOf" srcId="{5634C1B4-BB2E-4C09-9EAD-E4DB2AB46E75}" destId="{36BC6F8C-9123-46BD-A381-0BC99468BCCF}" srcOrd="1" destOrd="0" presId="urn:microsoft.com/office/officeart/2005/8/layout/bProcess3"/>
    <dgm:cxn modelId="{878633B1-D940-40DE-9800-1A1BCBA09CCC}" srcId="{E347F3E9-97A9-45F3-A000-D56C9D4D2AC4}" destId="{D9F60D58-C2A9-49F7-B9D0-C28FD6B2AA4C}" srcOrd="4" destOrd="0" parTransId="{81649E85-8294-4C98-A5E3-1B8F06AB6412}" sibTransId="{14956B5F-7A59-4911-B75C-65BC41310F30}"/>
    <dgm:cxn modelId="{8A0FA7C9-9F1C-4D9A-AC03-F480F6335C44}" type="presOf" srcId="{689231CA-1A68-4FF9-B064-02BB609DA296}" destId="{B914D6A2-D2AC-4DC0-9186-4DE2D7301CED}" srcOrd="1" destOrd="0" presId="urn:microsoft.com/office/officeart/2005/8/layout/bProcess3"/>
    <dgm:cxn modelId="{E1584DCD-29DE-4178-8A04-DEAA0EE72EAB}" type="presOf" srcId="{14956B5F-7A59-4911-B75C-65BC41310F30}" destId="{8AD68956-FC4F-4D3A-95E1-8885D4A6B9F0}" srcOrd="0" destOrd="0" presId="urn:microsoft.com/office/officeart/2005/8/layout/bProcess3"/>
    <dgm:cxn modelId="{985A24D2-1385-4CDF-B7F0-1CF6D218601F}" type="presOf" srcId="{8BD12DD5-9BC2-4C7A-89C2-58DB52784336}" destId="{747358E0-7F38-4970-B44F-0AA967C440E0}" srcOrd="0" destOrd="0" presId="urn:microsoft.com/office/officeart/2005/8/layout/bProcess3"/>
    <dgm:cxn modelId="{E6EE07E4-BDB3-4D85-9F4C-41892179E097}" srcId="{E347F3E9-97A9-45F3-A000-D56C9D4D2AC4}" destId="{6FB1744F-881A-4182-ACDE-5BC27E97084F}" srcOrd="1" destOrd="0" parTransId="{E203E55A-656E-4B3C-BC59-C58540ADB376}" sibTransId="{288FBE59-5979-46D3-A345-28199161C261}"/>
    <dgm:cxn modelId="{91A9E9E6-0359-4BE4-8033-8679E4DD2CB7}" type="presOf" srcId="{F0D9EB2E-5656-437B-B404-B561E9B98C9D}" destId="{3208F5BC-0D44-43DD-ABC0-2CB772F2191E}" srcOrd="0" destOrd="0" presId="urn:microsoft.com/office/officeart/2005/8/layout/bProcess3"/>
    <dgm:cxn modelId="{5F284EEC-B56E-4FF5-84DB-0519F1441709}" type="presOf" srcId="{CEAF3AF7-F8C8-4726-99A5-21036F88A6AF}" destId="{09F492F4-CDAF-49BF-BDF9-597DAA6F61DE}" srcOrd="0" destOrd="0" presId="urn:microsoft.com/office/officeart/2005/8/layout/bProcess3"/>
    <dgm:cxn modelId="{D8CE87F6-3CBE-4518-8D12-E61F5B35FEDC}" type="presOf" srcId="{E347F3E9-97A9-45F3-A000-D56C9D4D2AC4}" destId="{E2A91268-FB1B-41C2-9A27-FC33190F0E9C}" srcOrd="0" destOrd="0" presId="urn:microsoft.com/office/officeart/2005/8/layout/bProcess3"/>
    <dgm:cxn modelId="{D09DA2FA-A7A3-4AAF-951E-8828DB61465B}" type="presOf" srcId="{24F4DC36-36CA-403B-9D92-0DCDA4D23F6F}" destId="{A622B3F1-F0E2-45A2-B000-1A155102AD2E}" srcOrd="0" destOrd="0" presId="urn:microsoft.com/office/officeart/2005/8/layout/bProcess3"/>
    <dgm:cxn modelId="{B35132F8-9CF2-45A6-8228-68EF1BC9ED9B}" type="presParOf" srcId="{E2A91268-FB1B-41C2-9A27-FC33190F0E9C}" destId="{3208F5BC-0D44-43DD-ABC0-2CB772F2191E}" srcOrd="0" destOrd="0" presId="urn:microsoft.com/office/officeart/2005/8/layout/bProcess3"/>
    <dgm:cxn modelId="{3AE198A1-25A2-4248-8053-20BBF33FA11C}" type="presParOf" srcId="{E2A91268-FB1B-41C2-9A27-FC33190F0E9C}" destId="{A622B3F1-F0E2-45A2-B000-1A155102AD2E}" srcOrd="1" destOrd="0" presId="urn:microsoft.com/office/officeart/2005/8/layout/bProcess3"/>
    <dgm:cxn modelId="{45D973BB-B029-4212-8064-300500A098FB}" type="presParOf" srcId="{A622B3F1-F0E2-45A2-B000-1A155102AD2E}" destId="{8B0F34F8-AEFE-442F-9AD7-C0F7620FF56C}" srcOrd="0" destOrd="0" presId="urn:microsoft.com/office/officeart/2005/8/layout/bProcess3"/>
    <dgm:cxn modelId="{25F4983A-DC64-43DB-89E2-EF9F23C7BC64}" type="presParOf" srcId="{E2A91268-FB1B-41C2-9A27-FC33190F0E9C}" destId="{4A742276-C9B9-4A10-B868-0F037872D362}" srcOrd="2" destOrd="0" presId="urn:microsoft.com/office/officeart/2005/8/layout/bProcess3"/>
    <dgm:cxn modelId="{E3D677C2-D5DA-4FF9-9BF3-C4129227C978}" type="presParOf" srcId="{E2A91268-FB1B-41C2-9A27-FC33190F0E9C}" destId="{7D7A1B82-EB85-4632-BD16-2D3F787A55E1}" srcOrd="3" destOrd="0" presId="urn:microsoft.com/office/officeart/2005/8/layout/bProcess3"/>
    <dgm:cxn modelId="{A6E8CDD2-6EE4-4FE1-B4B6-148156FBDD14}" type="presParOf" srcId="{7D7A1B82-EB85-4632-BD16-2D3F787A55E1}" destId="{6A16C0F1-ED98-4913-BFE1-C02FC14A350D}" srcOrd="0" destOrd="0" presId="urn:microsoft.com/office/officeart/2005/8/layout/bProcess3"/>
    <dgm:cxn modelId="{628602B6-0017-45DA-9DC4-9495C2D48681}" type="presParOf" srcId="{E2A91268-FB1B-41C2-9A27-FC33190F0E9C}" destId="{09F492F4-CDAF-49BF-BDF9-597DAA6F61DE}" srcOrd="4" destOrd="0" presId="urn:microsoft.com/office/officeart/2005/8/layout/bProcess3"/>
    <dgm:cxn modelId="{8C6E8D2D-3C7E-4967-9A28-DA978DDA815B}" type="presParOf" srcId="{E2A91268-FB1B-41C2-9A27-FC33190F0E9C}" destId="{358286DD-0BB2-4690-8FA0-ECFB866AECF2}" srcOrd="5" destOrd="0" presId="urn:microsoft.com/office/officeart/2005/8/layout/bProcess3"/>
    <dgm:cxn modelId="{03B52936-DF1C-4E4F-B318-789663ECF8F7}" type="presParOf" srcId="{358286DD-0BB2-4690-8FA0-ECFB866AECF2}" destId="{36BC6F8C-9123-46BD-A381-0BC99468BCCF}" srcOrd="0" destOrd="0" presId="urn:microsoft.com/office/officeart/2005/8/layout/bProcess3"/>
    <dgm:cxn modelId="{007049BA-5DDC-4C66-9422-479B399A2146}" type="presParOf" srcId="{E2A91268-FB1B-41C2-9A27-FC33190F0E9C}" destId="{747358E0-7F38-4970-B44F-0AA967C440E0}" srcOrd="6" destOrd="0" presId="urn:microsoft.com/office/officeart/2005/8/layout/bProcess3"/>
    <dgm:cxn modelId="{C234B0A7-BB8E-45B9-AB10-AE2560222BD0}" type="presParOf" srcId="{E2A91268-FB1B-41C2-9A27-FC33190F0E9C}" destId="{3F2B8170-024D-47BA-BAEE-4ADFCC16FE51}" srcOrd="7" destOrd="0" presId="urn:microsoft.com/office/officeart/2005/8/layout/bProcess3"/>
    <dgm:cxn modelId="{55A5C19A-CFCD-49C6-B72E-7CE860CCB546}" type="presParOf" srcId="{3F2B8170-024D-47BA-BAEE-4ADFCC16FE51}" destId="{B914D6A2-D2AC-4DC0-9186-4DE2D7301CED}" srcOrd="0" destOrd="0" presId="urn:microsoft.com/office/officeart/2005/8/layout/bProcess3"/>
    <dgm:cxn modelId="{A7AA3F94-F22C-425F-9E54-6161E1CC2D04}" type="presParOf" srcId="{E2A91268-FB1B-41C2-9A27-FC33190F0E9C}" destId="{E03AD05C-7DFC-4FF5-8BC7-8E9B4C3A48DE}" srcOrd="8" destOrd="0" presId="urn:microsoft.com/office/officeart/2005/8/layout/bProcess3"/>
    <dgm:cxn modelId="{5A08F982-9233-4A51-BD62-CE57891CD955}" type="presParOf" srcId="{E2A91268-FB1B-41C2-9A27-FC33190F0E9C}" destId="{8AD68956-FC4F-4D3A-95E1-8885D4A6B9F0}" srcOrd="9" destOrd="0" presId="urn:microsoft.com/office/officeart/2005/8/layout/bProcess3"/>
    <dgm:cxn modelId="{8566EFC8-FD4D-42BE-857F-7DD53E34FA96}" type="presParOf" srcId="{8AD68956-FC4F-4D3A-95E1-8885D4A6B9F0}" destId="{892788E6-7E85-4769-8EF7-6F3D73C326D4}" srcOrd="0" destOrd="0" presId="urn:microsoft.com/office/officeart/2005/8/layout/bProcess3"/>
    <dgm:cxn modelId="{0923CBEA-1D50-40D9-9AEB-6F1DA48502A5}" type="presParOf" srcId="{E2A91268-FB1B-41C2-9A27-FC33190F0E9C}" destId="{A7D5FEAA-F169-4D26-B479-164410FCE576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A9547C-97CE-45D7-83F0-1AD0352D8949}" type="doc">
      <dgm:prSet loTypeId="urn:microsoft.com/office/officeart/2005/8/layout/cycle5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5207808-47A7-43B4-8458-E6D59A11F940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Establish a Mutual Offering around a Use Case</a:t>
          </a:r>
          <a:endParaRPr lang="en-US"/>
        </a:p>
      </dgm:t>
    </dgm:pt>
    <dgm:pt modelId="{CDB9A7F6-4B4A-4205-997F-25BAB7DE5098}" type="parTrans" cxnId="{C7AC03CD-7418-4640-8D49-3D5FD476A202}">
      <dgm:prSet/>
      <dgm:spPr/>
      <dgm:t>
        <a:bodyPr/>
        <a:lstStyle/>
        <a:p>
          <a:endParaRPr lang="en-US"/>
        </a:p>
      </dgm:t>
    </dgm:pt>
    <dgm:pt modelId="{1120A795-A28A-4C12-8B4D-3D5277E53972}" type="sibTrans" cxnId="{C7AC03CD-7418-4640-8D49-3D5FD476A202}">
      <dgm:prSet/>
      <dgm:spPr/>
      <dgm:t>
        <a:bodyPr/>
        <a:lstStyle/>
        <a:p>
          <a:endParaRPr lang="en-US"/>
        </a:p>
      </dgm:t>
    </dgm:pt>
    <dgm:pt modelId="{D9082ED6-8DD9-4293-B726-08C63440830B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Operate Offering through a Consistent Sales Process</a:t>
          </a:r>
          <a:endParaRPr lang="en-US"/>
        </a:p>
      </dgm:t>
    </dgm:pt>
    <dgm:pt modelId="{E01CC9E6-E05F-42D4-A23E-B024194FDDD0}" type="parTrans" cxnId="{48A74D79-FB9F-4AD2-BB56-1F1D31D60225}">
      <dgm:prSet/>
      <dgm:spPr/>
      <dgm:t>
        <a:bodyPr/>
        <a:lstStyle/>
        <a:p>
          <a:endParaRPr lang="en-US"/>
        </a:p>
      </dgm:t>
    </dgm:pt>
    <dgm:pt modelId="{019C6E1E-0EF5-42C0-90FF-87C6D1C5BF24}" type="sibTrans" cxnId="{48A74D79-FB9F-4AD2-BB56-1F1D31D60225}">
      <dgm:prSet/>
      <dgm:spPr/>
      <dgm:t>
        <a:bodyPr/>
        <a:lstStyle/>
        <a:p>
          <a:endParaRPr lang="en-US"/>
        </a:p>
      </dgm:t>
    </dgm:pt>
    <dgm:pt modelId="{284CB526-C0BC-4A32-BEA0-4067A5113A21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Communicate Regularly and Effectively</a:t>
          </a:r>
          <a:endParaRPr lang="en-US"/>
        </a:p>
      </dgm:t>
    </dgm:pt>
    <dgm:pt modelId="{09EB9F6C-0BC1-4011-9A3A-D9E471920298}" type="parTrans" cxnId="{9D184769-BAE4-4402-BA8B-DB166400096C}">
      <dgm:prSet/>
      <dgm:spPr/>
      <dgm:t>
        <a:bodyPr/>
        <a:lstStyle/>
        <a:p>
          <a:endParaRPr lang="en-US"/>
        </a:p>
      </dgm:t>
    </dgm:pt>
    <dgm:pt modelId="{7E393D04-EE34-416F-972A-819010643EE5}" type="sibTrans" cxnId="{9D184769-BAE4-4402-BA8B-DB166400096C}">
      <dgm:prSet/>
      <dgm:spPr/>
      <dgm:t>
        <a:bodyPr/>
        <a:lstStyle/>
        <a:p>
          <a:endParaRPr lang="en-US"/>
        </a:p>
      </dgm:t>
    </dgm:pt>
    <dgm:pt modelId="{FE286782-FF54-4F29-B6A6-8B8215CE146E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Deliver on Promises and Action Items</a:t>
          </a:r>
          <a:endParaRPr lang="en-US"/>
        </a:p>
      </dgm:t>
    </dgm:pt>
    <dgm:pt modelId="{A7FCE528-381D-47DD-88D8-466EE8E67263}" type="parTrans" cxnId="{FC3AB760-DAFA-4415-8242-80C19B6B2450}">
      <dgm:prSet/>
      <dgm:spPr/>
      <dgm:t>
        <a:bodyPr/>
        <a:lstStyle/>
        <a:p>
          <a:endParaRPr lang="en-US"/>
        </a:p>
      </dgm:t>
    </dgm:pt>
    <dgm:pt modelId="{B34C7251-4F87-4B4D-BB5B-8854F2F0D96F}" type="sibTrans" cxnId="{FC3AB760-DAFA-4415-8242-80C19B6B2450}">
      <dgm:prSet/>
      <dgm:spPr/>
      <dgm:t>
        <a:bodyPr/>
        <a:lstStyle/>
        <a:p>
          <a:endParaRPr lang="en-US"/>
        </a:p>
      </dgm:t>
    </dgm:pt>
    <dgm:pt modelId="{EE3D9F45-5E21-4920-BDC7-3932EFEA7EA8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Gather Social Proof and Testimonials</a:t>
          </a:r>
          <a:endParaRPr lang="en-US"/>
        </a:p>
      </dgm:t>
    </dgm:pt>
    <dgm:pt modelId="{2E16BFBF-C0E5-4A37-B66B-841465C9E545}" type="parTrans" cxnId="{BDCBC651-12ED-4AFA-87D5-5E6F98BC3676}">
      <dgm:prSet/>
      <dgm:spPr/>
      <dgm:t>
        <a:bodyPr/>
        <a:lstStyle/>
        <a:p>
          <a:endParaRPr lang="en-US"/>
        </a:p>
      </dgm:t>
    </dgm:pt>
    <dgm:pt modelId="{9D5B285B-4700-4564-87DD-D65209FEA109}" type="sibTrans" cxnId="{BDCBC651-12ED-4AFA-87D5-5E6F98BC3676}">
      <dgm:prSet/>
      <dgm:spPr/>
      <dgm:t>
        <a:bodyPr/>
        <a:lstStyle/>
        <a:p>
          <a:endParaRPr lang="en-US"/>
        </a:p>
      </dgm:t>
    </dgm:pt>
    <dgm:pt modelId="{D60A4216-D58E-48E7-9CD1-98251BE3049F}" type="pres">
      <dgm:prSet presAssocID="{D7A9547C-97CE-45D7-83F0-1AD0352D8949}" presName="cycle" presStyleCnt="0">
        <dgm:presLayoutVars>
          <dgm:dir/>
          <dgm:resizeHandles val="exact"/>
        </dgm:presLayoutVars>
      </dgm:prSet>
      <dgm:spPr/>
    </dgm:pt>
    <dgm:pt modelId="{8F361FB4-7866-49D5-8AF9-1343CA56D410}" type="pres">
      <dgm:prSet presAssocID="{15207808-47A7-43B4-8458-E6D59A11F940}" presName="node" presStyleLbl="node1" presStyleIdx="0" presStyleCnt="5">
        <dgm:presLayoutVars>
          <dgm:bulletEnabled val="1"/>
        </dgm:presLayoutVars>
      </dgm:prSet>
      <dgm:spPr/>
    </dgm:pt>
    <dgm:pt modelId="{5FD19826-A37E-4456-9F36-5767F49E541A}" type="pres">
      <dgm:prSet presAssocID="{15207808-47A7-43B4-8458-E6D59A11F940}" presName="spNode" presStyleCnt="0"/>
      <dgm:spPr/>
    </dgm:pt>
    <dgm:pt modelId="{AC1FAD8C-4984-4F82-B673-51E73FBEC11C}" type="pres">
      <dgm:prSet presAssocID="{1120A795-A28A-4C12-8B4D-3D5277E53972}" presName="sibTrans" presStyleLbl="sibTrans1D1" presStyleIdx="0" presStyleCnt="5"/>
      <dgm:spPr/>
    </dgm:pt>
    <dgm:pt modelId="{3D2DE7D8-845B-4E6D-85E5-A8FDB47C0E2B}" type="pres">
      <dgm:prSet presAssocID="{D9082ED6-8DD9-4293-B726-08C63440830B}" presName="node" presStyleLbl="node1" presStyleIdx="1" presStyleCnt="5">
        <dgm:presLayoutVars>
          <dgm:bulletEnabled val="1"/>
        </dgm:presLayoutVars>
      </dgm:prSet>
      <dgm:spPr/>
    </dgm:pt>
    <dgm:pt modelId="{0FAFC345-DCF5-4430-B93F-950B99053591}" type="pres">
      <dgm:prSet presAssocID="{D9082ED6-8DD9-4293-B726-08C63440830B}" presName="spNode" presStyleCnt="0"/>
      <dgm:spPr/>
    </dgm:pt>
    <dgm:pt modelId="{FBAFB693-7924-48DC-91C7-567F32E954D1}" type="pres">
      <dgm:prSet presAssocID="{019C6E1E-0EF5-42C0-90FF-87C6D1C5BF24}" presName="sibTrans" presStyleLbl="sibTrans1D1" presStyleIdx="1" presStyleCnt="5"/>
      <dgm:spPr/>
    </dgm:pt>
    <dgm:pt modelId="{C8CA19C7-9A6E-4D71-B0D9-1C51A43488D5}" type="pres">
      <dgm:prSet presAssocID="{284CB526-C0BC-4A32-BEA0-4067A5113A21}" presName="node" presStyleLbl="node1" presStyleIdx="2" presStyleCnt="5">
        <dgm:presLayoutVars>
          <dgm:bulletEnabled val="1"/>
        </dgm:presLayoutVars>
      </dgm:prSet>
      <dgm:spPr/>
    </dgm:pt>
    <dgm:pt modelId="{531DA937-4C11-443A-B768-18F6BD94EFBD}" type="pres">
      <dgm:prSet presAssocID="{284CB526-C0BC-4A32-BEA0-4067A5113A21}" presName="spNode" presStyleCnt="0"/>
      <dgm:spPr/>
    </dgm:pt>
    <dgm:pt modelId="{AD39383E-D3EA-4857-BDE8-69DAE9677569}" type="pres">
      <dgm:prSet presAssocID="{7E393D04-EE34-416F-972A-819010643EE5}" presName="sibTrans" presStyleLbl="sibTrans1D1" presStyleIdx="2" presStyleCnt="5"/>
      <dgm:spPr/>
    </dgm:pt>
    <dgm:pt modelId="{2B8DD31B-ADF3-4F93-96B4-403C12D3CA02}" type="pres">
      <dgm:prSet presAssocID="{FE286782-FF54-4F29-B6A6-8B8215CE146E}" presName="node" presStyleLbl="node1" presStyleIdx="3" presStyleCnt="5">
        <dgm:presLayoutVars>
          <dgm:bulletEnabled val="1"/>
        </dgm:presLayoutVars>
      </dgm:prSet>
      <dgm:spPr/>
    </dgm:pt>
    <dgm:pt modelId="{0A150A41-31E7-464D-956F-9698F298EBCC}" type="pres">
      <dgm:prSet presAssocID="{FE286782-FF54-4F29-B6A6-8B8215CE146E}" presName="spNode" presStyleCnt="0"/>
      <dgm:spPr/>
    </dgm:pt>
    <dgm:pt modelId="{E26B32C2-15E6-4E8D-A9A7-899C7D6AAB7A}" type="pres">
      <dgm:prSet presAssocID="{B34C7251-4F87-4B4D-BB5B-8854F2F0D96F}" presName="sibTrans" presStyleLbl="sibTrans1D1" presStyleIdx="3" presStyleCnt="5"/>
      <dgm:spPr/>
    </dgm:pt>
    <dgm:pt modelId="{8EEC66B3-2708-4014-A3FC-683E676661C6}" type="pres">
      <dgm:prSet presAssocID="{EE3D9F45-5E21-4920-BDC7-3932EFEA7EA8}" presName="node" presStyleLbl="node1" presStyleIdx="4" presStyleCnt="5">
        <dgm:presLayoutVars>
          <dgm:bulletEnabled val="1"/>
        </dgm:presLayoutVars>
      </dgm:prSet>
      <dgm:spPr/>
    </dgm:pt>
    <dgm:pt modelId="{52787D92-FA6C-4581-9843-3F001DB4E358}" type="pres">
      <dgm:prSet presAssocID="{EE3D9F45-5E21-4920-BDC7-3932EFEA7EA8}" presName="spNode" presStyleCnt="0"/>
      <dgm:spPr/>
    </dgm:pt>
    <dgm:pt modelId="{64E0C456-D708-48C6-8EF5-E813E98C0D52}" type="pres">
      <dgm:prSet presAssocID="{9D5B285B-4700-4564-87DD-D65209FEA109}" presName="sibTrans" presStyleLbl="sibTrans1D1" presStyleIdx="4" presStyleCnt="5"/>
      <dgm:spPr/>
    </dgm:pt>
  </dgm:ptLst>
  <dgm:cxnLst>
    <dgm:cxn modelId="{EA43DB05-28A7-435A-A7D1-6FFE10981966}" type="presOf" srcId="{D7A9547C-97CE-45D7-83F0-1AD0352D8949}" destId="{D60A4216-D58E-48E7-9CD1-98251BE3049F}" srcOrd="0" destOrd="0" presId="urn:microsoft.com/office/officeart/2005/8/layout/cycle5"/>
    <dgm:cxn modelId="{716C8912-2E5D-4D52-B297-DFA890D13366}" type="presOf" srcId="{D9082ED6-8DD9-4293-B726-08C63440830B}" destId="{3D2DE7D8-845B-4E6D-85E5-A8FDB47C0E2B}" srcOrd="0" destOrd="0" presId="urn:microsoft.com/office/officeart/2005/8/layout/cycle5"/>
    <dgm:cxn modelId="{FC3AB760-DAFA-4415-8242-80C19B6B2450}" srcId="{D7A9547C-97CE-45D7-83F0-1AD0352D8949}" destId="{FE286782-FF54-4F29-B6A6-8B8215CE146E}" srcOrd="3" destOrd="0" parTransId="{A7FCE528-381D-47DD-88D8-466EE8E67263}" sibTransId="{B34C7251-4F87-4B4D-BB5B-8854F2F0D96F}"/>
    <dgm:cxn modelId="{9D184769-BAE4-4402-BA8B-DB166400096C}" srcId="{D7A9547C-97CE-45D7-83F0-1AD0352D8949}" destId="{284CB526-C0BC-4A32-BEA0-4067A5113A21}" srcOrd="2" destOrd="0" parTransId="{09EB9F6C-0BC1-4011-9A3A-D9E471920298}" sibTransId="{7E393D04-EE34-416F-972A-819010643EE5}"/>
    <dgm:cxn modelId="{6A9B454E-AAFF-481A-8FC7-17E65D73E1F9}" type="presOf" srcId="{9D5B285B-4700-4564-87DD-D65209FEA109}" destId="{64E0C456-D708-48C6-8EF5-E813E98C0D52}" srcOrd="0" destOrd="0" presId="urn:microsoft.com/office/officeart/2005/8/layout/cycle5"/>
    <dgm:cxn modelId="{BDCBC651-12ED-4AFA-87D5-5E6F98BC3676}" srcId="{D7A9547C-97CE-45D7-83F0-1AD0352D8949}" destId="{EE3D9F45-5E21-4920-BDC7-3932EFEA7EA8}" srcOrd="4" destOrd="0" parTransId="{2E16BFBF-C0E5-4A37-B66B-841465C9E545}" sibTransId="{9D5B285B-4700-4564-87DD-D65209FEA109}"/>
    <dgm:cxn modelId="{48A74D79-FB9F-4AD2-BB56-1F1D31D60225}" srcId="{D7A9547C-97CE-45D7-83F0-1AD0352D8949}" destId="{D9082ED6-8DD9-4293-B726-08C63440830B}" srcOrd="1" destOrd="0" parTransId="{E01CC9E6-E05F-42D4-A23E-B024194FDDD0}" sibTransId="{019C6E1E-0EF5-42C0-90FF-87C6D1C5BF24}"/>
    <dgm:cxn modelId="{D5BF7C95-0BF5-47AD-81B8-EB1E298C640F}" type="presOf" srcId="{15207808-47A7-43B4-8458-E6D59A11F940}" destId="{8F361FB4-7866-49D5-8AF9-1343CA56D410}" srcOrd="0" destOrd="0" presId="urn:microsoft.com/office/officeart/2005/8/layout/cycle5"/>
    <dgm:cxn modelId="{62F9D0A5-1B10-4393-A50E-099A7942A7F9}" type="presOf" srcId="{7E393D04-EE34-416F-972A-819010643EE5}" destId="{AD39383E-D3EA-4857-BDE8-69DAE9677569}" srcOrd="0" destOrd="0" presId="urn:microsoft.com/office/officeart/2005/8/layout/cycle5"/>
    <dgm:cxn modelId="{119A72AB-800E-45AD-B120-E314E374CDB3}" type="presOf" srcId="{B34C7251-4F87-4B4D-BB5B-8854F2F0D96F}" destId="{E26B32C2-15E6-4E8D-A9A7-899C7D6AAB7A}" srcOrd="0" destOrd="0" presId="urn:microsoft.com/office/officeart/2005/8/layout/cycle5"/>
    <dgm:cxn modelId="{C8E991AB-2F7A-4BB1-947E-E3E0B89AC20A}" type="presOf" srcId="{EE3D9F45-5E21-4920-BDC7-3932EFEA7EA8}" destId="{8EEC66B3-2708-4014-A3FC-683E676661C6}" srcOrd="0" destOrd="0" presId="urn:microsoft.com/office/officeart/2005/8/layout/cycle5"/>
    <dgm:cxn modelId="{A9CACBB3-A658-4668-A938-1B68709FA09E}" type="presOf" srcId="{019C6E1E-0EF5-42C0-90FF-87C6D1C5BF24}" destId="{FBAFB693-7924-48DC-91C7-567F32E954D1}" srcOrd="0" destOrd="0" presId="urn:microsoft.com/office/officeart/2005/8/layout/cycle5"/>
    <dgm:cxn modelId="{B66E9DC4-3461-46C0-A420-342D26906841}" type="presOf" srcId="{284CB526-C0BC-4A32-BEA0-4067A5113A21}" destId="{C8CA19C7-9A6E-4D71-B0D9-1C51A43488D5}" srcOrd="0" destOrd="0" presId="urn:microsoft.com/office/officeart/2005/8/layout/cycle5"/>
    <dgm:cxn modelId="{C7AC03CD-7418-4640-8D49-3D5FD476A202}" srcId="{D7A9547C-97CE-45D7-83F0-1AD0352D8949}" destId="{15207808-47A7-43B4-8458-E6D59A11F940}" srcOrd="0" destOrd="0" parTransId="{CDB9A7F6-4B4A-4205-997F-25BAB7DE5098}" sibTransId="{1120A795-A28A-4C12-8B4D-3D5277E53972}"/>
    <dgm:cxn modelId="{A5A743D7-3561-4E42-9EAA-E4F212050B23}" type="presOf" srcId="{FE286782-FF54-4F29-B6A6-8B8215CE146E}" destId="{2B8DD31B-ADF3-4F93-96B4-403C12D3CA02}" srcOrd="0" destOrd="0" presId="urn:microsoft.com/office/officeart/2005/8/layout/cycle5"/>
    <dgm:cxn modelId="{B3D237F3-BD5B-498A-9A79-460422908DA6}" type="presOf" srcId="{1120A795-A28A-4C12-8B4D-3D5277E53972}" destId="{AC1FAD8C-4984-4F82-B673-51E73FBEC11C}" srcOrd="0" destOrd="0" presId="urn:microsoft.com/office/officeart/2005/8/layout/cycle5"/>
    <dgm:cxn modelId="{8DA9CFE2-C8D5-4FEE-BDAF-E0298001D30F}" type="presParOf" srcId="{D60A4216-D58E-48E7-9CD1-98251BE3049F}" destId="{8F361FB4-7866-49D5-8AF9-1343CA56D410}" srcOrd="0" destOrd="0" presId="urn:microsoft.com/office/officeart/2005/8/layout/cycle5"/>
    <dgm:cxn modelId="{255FD615-0391-486F-959B-728FC3E433CA}" type="presParOf" srcId="{D60A4216-D58E-48E7-9CD1-98251BE3049F}" destId="{5FD19826-A37E-4456-9F36-5767F49E541A}" srcOrd="1" destOrd="0" presId="urn:microsoft.com/office/officeart/2005/8/layout/cycle5"/>
    <dgm:cxn modelId="{0C0CDB85-81C8-4FA6-8C42-56486184E663}" type="presParOf" srcId="{D60A4216-D58E-48E7-9CD1-98251BE3049F}" destId="{AC1FAD8C-4984-4F82-B673-51E73FBEC11C}" srcOrd="2" destOrd="0" presId="urn:microsoft.com/office/officeart/2005/8/layout/cycle5"/>
    <dgm:cxn modelId="{A8385E93-8B39-4855-850D-4267ECEA73ED}" type="presParOf" srcId="{D60A4216-D58E-48E7-9CD1-98251BE3049F}" destId="{3D2DE7D8-845B-4E6D-85E5-A8FDB47C0E2B}" srcOrd="3" destOrd="0" presId="urn:microsoft.com/office/officeart/2005/8/layout/cycle5"/>
    <dgm:cxn modelId="{28E7E762-D144-452F-849B-9513244856B2}" type="presParOf" srcId="{D60A4216-D58E-48E7-9CD1-98251BE3049F}" destId="{0FAFC345-DCF5-4430-B93F-950B99053591}" srcOrd="4" destOrd="0" presId="urn:microsoft.com/office/officeart/2005/8/layout/cycle5"/>
    <dgm:cxn modelId="{AD34B2BE-BB62-47B0-BE78-6154D2333F9C}" type="presParOf" srcId="{D60A4216-D58E-48E7-9CD1-98251BE3049F}" destId="{FBAFB693-7924-48DC-91C7-567F32E954D1}" srcOrd="5" destOrd="0" presId="urn:microsoft.com/office/officeart/2005/8/layout/cycle5"/>
    <dgm:cxn modelId="{051BB763-A5E3-40EE-8EAC-F5358CD60DC2}" type="presParOf" srcId="{D60A4216-D58E-48E7-9CD1-98251BE3049F}" destId="{C8CA19C7-9A6E-4D71-B0D9-1C51A43488D5}" srcOrd="6" destOrd="0" presId="urn:microsoft.com/office/officeart/2005/8/layout/cycle5"/>
    <dgm:cxn modelId="{E2A0ECF9-B94D-40F7-8B98-A474E829BA49}" type="presParOf" srcId="{D60A4216-D58E-48E7-9CD1-98251BE3049F}" destId="{531DA937-4C11-443A-B768-18F6BD94EFBD}" srcOrd="7" destOrd="0" presId="urn:microsoft.com/office/officeart/2005/8/layout/cycle5"/>
    <dgm:cxn modelId="{AFD776D8-E074-47D8-B40C-9DD5E12EEFC8}" type="presParOf" srcId="{D60A4216-D58E-48E7-9CD1-98251BE3049F}" destId="{AD39383E-D3EA-4857-BDE8-69DAE9677569}" srcOrd="8" destOrd="0" presId="urn:microsoft.com/office/officeart/2005/8/layout/cycle5"/>
    <dgm:cxn modelId="{85428CAD-B860-404F-AF5F-9EB4C7FA2421}" type="presParOf" srcId="{D60A4216-D58E-48E7-9CD1-98251BE3049F}" destId="{2B8DD31B-ADF3-4F93-96B4-403C12D3CA02}" srcOrd="9" destOrd="0" presId="urn:microsoft.com/office/officeart/2005/8/layout/cycle5"/>
    <dgm:cxn modelId="{DE083B19-7708-4656-8330-EFC929655F78}" type="presParOf" srcId="{D60A4216-D58E-48E7-9CD1-98251BE3049F}" destId="{0A150A41-31E7-464D-956F-9698F298EBCC}" srcOrd="10" destOrd="0" presId="urn:microsoft.com/office/officeart/2005/8/layout/cycle5"/>
    <dgm:cxn modelId="{70F6DA66-7303-4F94-8AB9-2EF31F16B6AE}" type="presParOf" srcId="{D60A4216-D58E-48E7-9CD1-98251BE3049F}" destId="{E26B32C2-15E6-4E8D-A9A7-899C7D6AAB7A}" srcOrd="11" destOrd="0" presId="urn:microsoft.com/office/officeart/2005/8/layout/cycle5"/>
    <dgm:cxn modelId="{C0A68AD3-50C2-49D5-802B-938AB5344FAF}" type="presParOf" srcId="{D60A4216-D58E-48E7-9CD1-98251BE3049F}" destId="{8EEC66B3-2708-4014-A3FC-683E676661C6}" srcOrd="12" destOrd="0" presId="urn:microsoft.com/office/officeart/2005/8/layout/cycle5"/>
    <dgm:cxn modelId="{1B46E0C6-E739-4EF5-A9FA-D94BAA10F355}" type="presParOf" srcId="{D60A4216-D58E-48E7-9CD1-98251BE3049F}" destId="{52787D92-FA6C-4581-9843-3F001DB4E358}" srcOrd="13" destOrd="0" presId="urn:microsoft.com/office/officeart/2005/8/layout/cycle5"/>
    <dgm:cxn modelId="{E8AE35C4-2C9C-41DF-BF82-0F8F12319EF5}" type="presParOf" srcId="{D60A4216-D58E-48E7-9CD1-98251BE3049F}" destId="{64E0C456-D708-48C6-8EF5-E813E98C0D52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2CFE802-EC9B-4888-94D2-77FF8CEED96A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F0D27BD-9870-4489-8F56-ECB26FEB46C0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MATURE:</a:t>
          </a:r>
          <a:br>
            <a:rPr lang="en-US">
              <a:latin typeface="Aptos Display" panose="02110004020202020204"/>
            </a:rPr>
          </a:br>
          <a:r>
            <a:rPr lang="en-US">
              <a:latin typeface="Aptos Display" panose="02110004020202020204"/>
            </a:rPr>
            <a:t>We have conducted a real-world project that may be reversed engineered to create a potential offer. Needs work.</a:t>
          </a:r>
          <a:endParaRPr lang="en-US"/>
        </a:p>
      </dgm:t>
    </dgm:pt>
    <dgm:pt modelId="{22BC1C6C-2277-4F0D-9285-FAE753977845}" type="parTrans" cxnId="{12C98414-B437-4E1F-A7F4-19FBEBF4C4E2}">
      <dgm:prSet/>
      <dgm:spPr/>
      <dgm:t>
        <a:bodyPr/>
        <a:lstStyle/>
        <a:p>
          <a:endParaRPr lang="en-US"/>
        </a:p>
      </dgm:t>
    </dgm:pt>
    <dgm:pt modelId="{4EA6A4EC-4D43-48BB-BC83-307277949E9D}" type="sibTrans" cxnId="{12C98414-B437-4E1F-A7F4-19FBEBF4C4E2}">
      <dgm:prSet/>
      <dgm:spPr/>
      <dgm:t>
        <a:bodyPr/>
        <a:lstStyle/>
        <a:p>
          <a:endParaRPr lang="en-US"/>
        </a:p>
      </dgm:t>
    </dgm:pt>
    <dgm:pt modelId="{36E5726D-A093-4261-BD07-6B3A22673EF2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PROMISING:</a:t>
          </a:r>
          <a:br>
            <a:rPr lang="en-US">
              <a:latin typeface="Aptos Display" panose="02110004020202020204"/>
            </a:rPr>
          </a:br>
          <a:r>
            <a:rPr lang="en-US">
              <a:latin typeface="Aptos Display" panose="02110004020202020204"/>
            </a:rPr>
            <a:t>A potential value proposition has been identified and needs to be wrapped around a past project, brought into a demonstration, or prototype.  </a:t>
          </a:r>
          <a:endParaRPr lang="en-US"/>
        </a:p>
      </dgm:t>
    </dgm:pt>
    <dgm:pt modelId="{8E0BD334-AC38-4B3C-BC2F-930CFA7E9AED}" type="parTrans" cxnId="{CF807BED-66C6-423F-8DBA-08EBB29A0648}">
      <dgm:prSet/>
      <dgm:spPr/>
      <dgm:t>
        <a:bodyPr/>
        <a:lstStyle/>
        <a:p>
          <a:endParaRPr lang="en-US"/>
        </a:p>
      </dgm:t>
    </dgm:pt>
    <dgm:pt modelId="{41ADBAB9-D623-43D8-98BE-7E4CE44A717D}" type="sibTrans" cxnId="{CF807BED-66C6-423F-8DBA-08EBB29A0648}">
      <dgm:prSet/>
      <dgm:spPr/>
      <dgm:t>
        <a:bodyPr/>
        <a:lstStyle/>
        <a:p>
          <a:endParaRPr lang="en-US"/>
        </a:p>
      </dgm:t>
    </dgm:pt>
    <dgm:pt modelId="{EAE17F49-99B1-4454-BFF8-7169D79E1CB6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GO-TO MARKET READY: </a:t>
          </a:r>
          <a:br>
            <a:rPr lang="en-US">
              <a:latin typeface="Aptos Display" panose="02110004020202020204"/>
            </a:rPr>
          </a:br>
          <a:r>
            <a:rPr lang="en-US">
              <a:latin typeface="Aptos Display" panose="02110004020202020204"/>
            </a:rPr>
            <a:t>We have clearly established a joint value proposition and operational alignment around shared objectives.</a:t>
          </a:r>
        </a:p>
      </dgm:t>
    </dgm:pt>
    <dgm:pt modelId="{8BA2F682-983E-4AA5-A0D6-48A7F77D9FA2}" type="parTrans" cxnId="{1DA54CD8-D474-4127-B40A-F2396E870FF0}">
      <dgm:prSet/>
      <dgm:spPr/>
    </dgm:pt>
    <dgm:pt modelId="{BA7ECF21-DE51-4499-BF1B-BD7AB8FD9993}" type="sibTrans" cxnId="{1DA54CD8-D474-4127-B40A-F2396E870FF0}">
      <dgm:prSet/>
      <dgm:spPr/>
    </dgm:pt>
    <dgm:pt modelId="{7068044C-C2A6-4B91-B7C9-CC7FA3C32FB8}" type="pres">
      <dgm:prSet presAssocID="{C2CFE802-EC9B-4888-94D2-77FF8CEED96A}" presName="diagram" presStyleCnt="0">
        <dgm:presLayoutVars>
          <dgm:dir/>
          <dgm:resizeHandles val="exact"/>
        </dgm:presLayoutVars>
      </dgm:prSet>
      <dgm:spPr/>
    </dgm:pt>
    <dgm:pt modelId="{89B02391-698E-42EC-B54D-923DF0B3A9E6}" type="pres">
      <dgm:prSet presAssocID="{EAE17F49-99B1-4454-BFF8-7169D79E1CB6}" presName="node" presStyleLbl="node1" presStyleIdx="0" presStyleCnt="3">
        <dgm:presLayoutVars>
          <dgm:bulletEnabled val="1"/>
        </dgm:presLayoutVars>
      </dgm:prSet>
      <dgm:spPr/>
    </dgm:pt>
    <dgm:pt modelId="{1AFE21B4-E84F-4739-8E37-72CAEB229495}" type="pres">
      <dgm:prSet presAssocID="{BA7ECF21-DE51-4499-BF1B-BD7AB8FD9993}" presName="sibTrans" presStyleCnt="0"/>
      <dgm:spPr/>
    </dgm:pt>
    <dgm:pt modelId="{6025772C-C491-42FB-9BEA-8E288C98A1F9}" type="pres">
      <dgm:prSet presAssocID="{6F0D27BD-9870-4489-8F56-ECB26FEB46C0}" presName="node" presStyleLbl="node1" presStyleIdx="1" presStyleCnt="3">
        <dgm:presLayoutVars>
          <dgm:bulletEnabled val="1"/>
        </dgm:presLayoutVars>
      </dgm:prSet>
      <dgm:spPr/>
    </dgm:pt>
    <dgm:pt modelId="{D462486B-9946-4F09-BBFE-C6DB2AD37863}" type="pres">
      <dgm:prSet presAssocID="{4EA6A4EC-4D43-48BB-BC83-307277949E9D}" presName="sibTrans" presStyleCnt="0"/>
      <dgm:spPr/>
    </dgm:pt>
    <dgm:pt modelId="{B12939A1-DF1C-46C1-824B-0DFF0EEF5AF5}" type="pres">
      <dgm:prSet presAssocID="{36E5726D-A093-4261-BD07-6B3A22673EF2}" presName="node" presStyleLbl="node1" presStyleIdx="2" presStyleCnt="3">
        <dgm:presLayoutVars>
          <dgm:bulletEnabled val="1"/>
        </dgm:presLayoutVars>
      </dgm:prSet>
      <dgm:spPr/>
    </dgm:pt>
  </dgm:ptLst>
  <dgm:cxnLst>
    <dgm:cxn modelId="{12C98414-B437-4E1F-A7F4-19FBEBF4C4E2}" srcId="{C2CFE802-EC9B-4888-94D2-77FF8CEED96A}" destId="{6F0D27BD-9870-4489-8F56-ECB26FEB46C0}" srcOrd="1" destOrd="0" parTransId="{22BC1C6C-2277-4F0D-9285-FAE753977845}" sibTransId="{4EA6A4EC-4D43-48BB-BC83-307277949E9D}"/>
    <dgm:cxn modelId="{7B27BB91-8811-4E83-BEE7-50C94FFAD0DE}" type="presOf" srcId="{6F0D27BD-9870-4489-8F56-ECB26FEB46C0}" destId="{6025772C-C491-42FB-9BEA-8E288C98A1F9}" srcOrd="0" destOrd="0" presId="urn:microsoft.com/office/officeart/2005/8/layout/default"/>
    <dgm:cxn modelId="{927E9C9B-D456-4259-9C1D-34E896D43907}" type="presOf" srcId="{C2CFE802-EC9B-4888-94D2-77FF8CEED96A}" destId="{7068044C-C2A6-4B91-B7C9-CC7FA3C32FB8}" srcOrd="0" destOrd="0" presId="urn:microsoft.com/office/officeart/2005/8/layout/default"/>
    <dgm:cxn modelId="{BE8700A9-ACFA-45FE-82E8-FA4C41CDD77B}" type="presOf" srcId="{EAE17F49-99B1-4454-BFF8-7169D79E1CB6}" destId="{89B02391-698E-42EC-B54D-923DF0B3A9E6}" srcOrd="0" destOrd="0" presId="urn:microsoft.com/office/officeart/2005/8/layout/default"/>
    <dgm:cxn modelId="{FCDDCEB2-A556-46A2-AF19-97B4E041F1A2}" type="presOf" srcId="{36E5726D-A093-4261-BD07-6B3A22673EF2}" destId="{B12939A1-DF1C-46C1-824B-0DFF0EEF5AF5}" srcOrd="0" destOrd="0" presId="urn:microsoft.com/office/officeart/2005/8/layout/default"/>
    <dgm:cxn modelId="{1DA54CD8-D474-4127-B40A-F2396E870FF0}" srcId="{C2CFE802-EC9B-4888-94D2-77FF8CEED96A}" destId="{EAE17F49-99B1-4454-BFF8-7169D79E1CB6}" srcOrd="0" destOrd="0" parTransId="{8BA2F682-983E-4AA5-A0D6-48A7F77D9FA2}" sibTransId="{BA7ECF21-DE51-4499-BF1B-BD7AB8FD9993}"/>
    <dgm:cxn modelId="{CF807BED-66C6-423F-8DBA-08EBB29A0648}" srcId="{C2CFE802-EC9B-4888-94D2-77FF8CEED96A}" destId="{36E5726D-A093-4261-BD07-6B3A22673EF2}" srcOrd="2" destOrd="0" parTransId="{8E0BD334-AC38-4B3C-BC2F-930CFA7E9AED}" sibTransId="{41ADBAB9-D623-43D8-98BE-7E4CE44A717D}"/>
    <dgm:cxn modelId="{762724B5-C070-4712-8CC7-D32BF59ACD6E}" type="presParOf" srcId="{7068044C-C2A6-4B91-B7C9-CC7FA3C32FB8}" destId="{89B02391-698E-42EC-B54D-923DF0B3A9E6}" srcOrd="0" destOrd="0" presId="urn:microsoft.com/office/officeart/2005/8/layout/default"/>
    <dgm:cxn modelId="{E3E211FC-722D-4FD3-B178-8F6F5A97475E}" type="presParOf" srcId="{7068044C-C2A6-4B91-B7C9-CC7FA3C32FB8}" destId="{1AFE21B4-E84F-4739-8E37-72CAEB229495}" srcOrd="1" destOrd="0" presId="urn:microsoft.com/office/officeart/2005/8/layout/default"/>
    <dgm:cxn modelId="{1BA1B8AC-7CA4-4482-9763-A24C8A1AD7D3}" type="presParOf" srcId="{7068044C-C2A6-4B91-B7C9-CC7FA3C32FB8}" destId="{6025772C-C491-42FB-9BEA-8E288C98A1F9}" srcOrd="2" destOrd="0" presId="urn:microsoft.com/office/officeart/2005/8/layout/default"/>
    <dgm:cxn modelId="{8C74B2A7-846A-4019-98F6-46BCE7C9A670}" type="presParOf" srcId="{7068044C-C2A6-4B91-B7C9-CC7FA3C32FB8}" destId="{D462486B-9946-4F09-BBFE-C6DB2AD37863}" srcOrd="3" destOrd="0" presId="urn:microsoft.com/office/officeart/2005/8/layout/default"/>
    <dgm:cxn modelId="{E6141DAC-124F-45EB-AF2B-663615F7172B}" type="presParOf" srcId="{7068044C-C2A6-4B91-B7C9-CC7FA3C32FB8}" destId="{B12939A1-DF1C-46C1-824B-0DFF0EEF5AF5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086D334-7CEA-484F-9089-275343593E4D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E8B2D95-8E2B-4BC0-913D-7EC042016899}">
      <dgm:prSet phldrT="[Text]" phldr="0"/>
      <dgm:spPr/>
      <dgm:t>
        <a:bodyPr/>
        <a:lstStyle/>
        <a:p>
          <a:r>
            <a:rPr lang="en-US">
              <a:latin typeface="Aptos Display" panose="02110004020202020204"/>
            </a:rPr>
            <a:t>Select a Use Case (Past or Promising)</a:t>
          </a:r>
          <a:endParaRPr lang="en-US"/>
        </a:p>
      </dgm:t>
    </dgm:pt>
    <dgm:pt modelId="{067CA744-A513-4CF7-ACCF-02716F2791C7}" type="parTrans" cxnId="{25714CA5-7F3E-48E7-856B-9827A36809D2}">
      <dgm:prSet/>
      <dgm:spPr/>
    </dgm:pt>
    <dgm:pt modelId="{79C70FB5-20F3-4F5A-8163-7ACE09F8F9AC}" type="sibTrans" cxnId="{25714CA5-7F3E-48E7-856B-9827A36809D2}">
      <dgm:prSet/>
      <dgm:spPr/>
      <dgm:t>
        <a:bodyPr/>
        <a:lstStyle/>
        <a:p>
          <a:endParaRPr lang="en-US"/>
        </a:p>
      </dgm:t>
    </dgm:pt>
    <dgm:pt modelId="{2C0DE9B7-06D3-495F-AF8F-E31233B47ADA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Scope definement as part of core offering</a:t>
          </a:r>
          <a:endParaRPr lang="en-US"/>
        </a:p>
      </dgm:t>
    </dgm:pt>
    <dgm:pt modelId="{8863192A-F3F1-4BD3-9BDB-8F7941508952}" type="parTrans" cxnId="{F89B60F8-D7FE-49C8-8B40-0024D4936EDA}">
      <dgm:prSet/>
      <dgm:spPr/>
    </dgm:pt>
    <dgm:pt modelId="{24C08367-F43E-41CE-97E2-4052062A63B8}" type="sibTrans" cxnId="{F89B60F8-D7FE-49C8-8B40-0024D4936EDA}">
      <dgm:prSet/>
      <dgm:spPr/>
      <dgm:t>
        <a:bodyPr/>
        <a:lstStyle/>
        <a:p>
          <a:endParaRPr lang="en-US"/>
        </a:p>
      </dgm:t>
    </dgm:pt>
    <dgm:pt modelId="{C73BB41B-114C-45DC-BEA4-07D964F299B1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Plot designated responsibilities between partners</a:t>
          </a:r>
          <a:endParaRPr lang="en-US"/>
        </a:p>
      </dgm:t>
    </dgm:pt>
    <dgm:pt modelId="{57D6AC9A-6A25-448E-8388-79EF9F8131C5}" type="parTrans" cxnId="{CD381A64-F926-4EDF-8F8D-B6A96D4F07EB}">
      <dgm:prSet/>
      <dgm:spPr/>
    </dgm:pt>
    <dgm:pt modelId="{B504C00B-DD8D-41EA-B76D-03F6D5D5A48C}" type="sibTrans" cxnId="{CD381A64-F926-4EDF-8F8D-B6A96D4F07EB}">
      <dgm:prSet/>
      <dgm:spPr/>
      <dgm:t>
        <a:bodyPr/>
        <a:lstStyle/>
        <a:p>
          <a:endParaRPr lang="en-US"/>
        </a:p>
      </dgm:t>
    </dgm:pt>
    <dgm:pt modelId="{24CA24E3-F623-4516-BE24-AB4D88DE2BC2}">
      <dgm:prSet phldr="0"/>
      <dgm:spPr/>
      <dgm:t>
        <a:bodyPr/>
        <a:lstStyle/>
        <a:p>
          <a:pPr rtl="0"/>
          <a:r>
            <a:rPr lang="en-US">
              <a:latin typeface="Calibri"/>
              <a:ea typeface="Calibri"/>
              <a:cs typeface="Calibri"/>
            </a:rPr>
            <a:t>Desired outcome and required qualificaitons</a:t>
          </a:r>
          <a:endParaRPr lang="en-US">
            <a:latin typeface="Aptos Display" panose="02110004020202020204"/>
          </a:endParaRPr>
        </a:p>
      </dgm:t>
    </dgm:pt>
    <dgm:pt modelId="{24463427-163F-460C-9645-2E34F7671C72}" type="parTrans" cxnId="{59F289E6-A2E3-4253-91C0-2E820690E591}">
      <dgm:prSet/>
      <dgm:spPr/>
    </dgm:pt>
    <dgm:pt modelId="{190CDCD2-B081-45C1-A4A5-03C49DB3D8A6}" type="sibTrans" cxnId="{59F289E6-A2E3-4253-91C0-2E820690E591}">
      <dgm:prSet/>
      <dgm:spPr/>
      <dgm:t>
        <a:bodyPr/>
        <a:lstStyle/>
        <a:p>
          <a:endParaRPr lang="en-US"/>
        </a:p>
      </dgm:t>
    </dgm:pt>
    <dgm:pt modelId="{F6163701-095D-4ABC-B7D6-B28ADF76BE77}" type="pres">
      <dgm:prSet presAssocID="{C086D334-7CEA-484F-9089-275343593E4D}" presName="linearFlow" presStyleCnt="0">
        <dgm:presLayoutVars>
          <dgm:resizeHandles val="exact"/>
        </dgm:presLayoutVars>
      </dgm:prSet>
      <dgm:spPr/>
    </dgm:pt>
    <dgm:pt modelId="{DA8ABCC8-AEDD-44B2-B562-BD482DD3C76F}" type="pres">
      <dgm:prSet presAssocID="{24CA24E3-F623-4516-BE24-AB4D88DE2BC2}" presName="node" presStyleLbl="node1" presStyleIdx="0" presStyleCnt="4">
        <dgm:presLayoutVars>
          <dgm:bulletEnabled val="1"/>
        </dgm:presLayoutVars>
      </dgm:prSet>
      <dgm:spPr/>
    </dgm:pt>
    <dgm:pt modelId="{F29E1DD9-F291-4B47-9A89-F58D3FD65BB1}" type="pres">
      <dgm:prSet presAssocID="{190CDCD2-B081-45C1-A4A5-03C49DB3D8A6}" presName="sibTrans" presStyleLbl="sibTrans2D1" presStyleIdx="0" presStyleCnt="3"/>
      <dgm:spPr/>
    </dgm:pt>
    <dgm:pt modelId="{607E2C82-F64F-424C-AAD9-79424692C018}" type="pres">
      <dgm:prSet presAssocID="{190CDCD2-B081-45C1-A4A5-03C49DB3D8A6}" presName="connectorText" presStyleLbl="sibTrans2D1" presStyleIdx="0" presStyleCnt="3"/>
      <dgm:spPr/>
    </dgm:pt>
    <dgm:pt modelId="{33074C86-16CD-4181-BD99-804CFE212B05}" type="pres">
      <dgm:prSet presAssocID="{2E8B2D95-8E2B-4BC0-913D-7EC042016899}" presName="node" presStyleLbl="node1" presStyleIdx="1" presStyleCnt="4">
        <dgm:presLayoutVars>
          <dgm:bulletEnabled val="1"/>
        </dgm:presLayoutVars>
      </dgm:prSet>
      <dgm:spPr/>
    </dgm:pt>
    <dgm:pt modelId="{DD80006D-5E28-40F1-90C5-BBE47D86D249}" type="pres">
      <dgm:prSet presAssocID="{79C70FB5-20F3-4F5A-8163-7ACE09F8F9AC}" presName="sibTrans" presStyleLbl="sibTrans2D1" presStyleIdx="1" presStyleCnt="3"/>
      <dgm:spPr/>
    </dgm:pt>
    <dgm:pt modelId="{29908E1A-1CF6-4332-923B-CE063D02DB7B}" type="pres">
      <dgm:prSet presAssocID="{79C70FB5-20F3-4F5A-8163-7ACE09F8F9AC}" presName="connectorText" presStyleLbl="sibTrans2D1" presStyleIdx="1" presStyleCnt="3"/>
      <dgm:spPr/>
    </dgm:pt>
    <dgm:pt modelId="{3FE12D8D-EC6B-4F35-B795-4E7839FA06C8}" type="pres">
      <dgm:prSet presAssocID="{2C0DE9B7-06D3-495F-AF8F-E31233B47ADA}" presName="node" presStyleLbl="node1" presStyleIdx="2" presStyleCnt="4">
        <dgm:presLayoutVars>
          <dgm:bulletEnabled val="1"/>
        </dgm:presLayoutVars>
      </dgm:prSet>
      <dgm:spPr/>
    </dgm:pt>
    <dgm:pt modelId="{A54D895F-7108-4D27-A99B-D90192659982}" type="pres">
      <dgm:prSet presAssocID="{24C08367-F43E-41CE-97E2-4052062A63B8}" presName="sibTrans" presStyleLbl="sibTrans2D1" presStyleIdx="2" presStyleCnt="3"/>
      <dgm:spPr/>
    </dgm:pt>
    <dgm:pt modelId="{7D6C06AA-D780-401A-B2FF-6813725E59A7}" type="pres">
      <dgm:prSet presAssocID="{24C08367-F43E-41CE-97E2-4052062A63B8}" presName="connectorText" presStyleLbl="sibTrans2D1" presStyleIdx="2" presStyleCnt="3"/>
      <dgm:spPr/>
    </dgm:pt>
    <dgm:pt modelId="{7B9EB8E9-38B7-48A6-8036-40551C1B32FA}" type="pres">
      <dgm:prSet presAssocID="{C73BB41B-114C-45DC-BEA4-07D964F299B1}" presName="node" presStyleLbl="node1" presStyleIdx="3" presStyleCnt="4">
        <dgm:presLayoutVars>
          <dgm:bulletEnabled val="1"/>
        </dgm:presLayoutVars>
      </dgm:prSet>
      <dgm:spPr/>
    </dgm:pt>
  </dgm:ptLst>
  <dgm:cxnLst>
    <dgm:cxn modelId="{48E63201-87DF-42B9-ADA7-B28B65B38B59}" type="presOf" srcId="{79C70FB5-20F3-4F5A-8163-7ACE09F8F9AC}" destId="{DD80006D-5E28-40F1-90C5-BBE47D86D249}" srcOrd="0" destOrd="0" presId="urn:microsoft.com/office/officeart/2005/8/layout/process2"/>
    <dgm:cxn modelId="{79B74709-9CB7-47F8-854D-A2DBE98A7BB1}" type="presOf" srcId="{24C08367-F43E-41CE-97E2-4052062A63B8}" destId="{A54D895F-7108-4D27-A99B-D90192659982}" srcOrd="0" destOrd="0" presId="urn:microsoft.com/office/officeart/2005/8/layout/process2"/>
    <dgm:cxn modelId="{395FC41F-0F96-4D90-8696-46C266E5C14C}" type="presOf" srcId="{79C70FB5-20F3-4F5A-8163-7ACE09F8F9AC}" destId="{29908E1A-1CF6-4332-923B-CE063D02DB7B}" srcOrd="1" destOrd="0" presId="urn:microsoft.com/office/officeart/2005/8/layout/process2"/>
    <dgm:cxn modelId="{B2C81420-AAA5-4EAA-9AB7-2DBD61E15B9C}" type="presOf" srcId="{24CA24E3-F623-4516-BE24-AB4D88DE2BC2}" destId="{DA8ABCC8-AEDD-44B2-B562-BD482DD3C76F}" srcOrd="0" destOrd="0" presId="urn:microsoft.com/office/officeart/2005/8/layout/process2"/>
    <dgm:cxn modelId="{144C5C35-08DD-4D28-94B3-C297C0B3BDF2}" type="presOf" srcId="{2C0DE9B7-06D3-495F-AF8F-E31233B47ADA}" destId="{3FE12D8D-EC6B-4F35-B795-4E7839FA06C8}" srcOrd="0" destOrd="0" presId="urn:microsoft.com/office/officeart/2005/8/layout/process2"/>
    <dgm:cxn modelId="{CD381A64-F926-4EDF-8F8D-B6A96D4F07EB}" srcId="{C086D334-7CEA-484F-9089-275343593E4D}" destId="{C73BB41B-114C-45DC-BEA4-07D964F299B1}" srcOrd="3" destOrd="0" parTransId="{57D6AC9A-6A25-448E-8388-79EF9F8131C5}" sibTransId="{B504C00B-DD8D-41EA-B76D-03F6D5D5A48C}"/>
    <dgm:cxn modelId="{AE3C5075-9A9C-456E-9DC9-E6BFC14BF689}" type="presOf" srcId="{C73BB41B-114C-45DC-BEA4-07D964F299B1}" destId="{7B9EB8E9-38B7-48A6-8036-40551C1B32FA}" srcOrd="0" destOrd="0" presId="urn:microsoft.com/office/officeart/2005/8/layout/process2"/>
    <dgm:cxn modelId="{25714CA5-7F3E-48E7-856B-9827A36809D2}" srcId="{C086D334-7CEA-484F-9089-275343593E4D}" destId="{2E8B2D95-8E2B-4BC0-913D-7EC042016899}" srcOrd="1" destOrd="0" parTransId="{067CA744-A513-4CF7-ACCF-02716F2791C7}" sibTransId="{79C70FB5-20F3-4F5A-8163-7ACE09F8F9AC}"/>
    <dgm:cxn modelId="{DDBC4FA6-2D11-4675-A9AD-06F4F86277F1}" type="presOf" srcId="{24C08367-F43E-41CE-97E2-4052062A63B8}" destId="{7D6C06AA-D780-401A-B2FF-6813725E59A7}" srcOrd="1" destOrd="0" presId="urn:microsoft.com/office/officeart/2005/8/layout/process2"/>
    <dgm:cxn modelId="{3BF167B2-6FFC-443F-AF1B-F5F794D5998B}" type="presOf" srcId="{190CDCD2-B081-45C1-A4A5-03C49DB3D8A6}" destId="{607E2C82-F64F-424C-AAD9-79424692C018}" srcOrd="1" destOrd="0" presId="urn:microsoft.com/office/officeart/2005/8/layout/process2"/>
    <dgm:cxn modelId="{9560CBC4-5822-4F5C-8232-67664D7A7B29}" type="presOf" srcId="{190CDCD2-B081-45C1-A4A5-03C49DB3D8A6}" destId="{F29E1DD9-F291-4B47-9A89-F58D3FD65BB1}" srcOrd="0" destOrd="0" presId="urn:microsoft.com/office/officeart/2005/8/layout/process2"/>
    <dgm:cxn modelId="{59F289E6-A2E3-4253-91C0-2E820690E591}" srcId="{C086D334-7CEA-484F-9089-275343593E4D}" destId="{24CA24E3-F623-4516-BE24-AB4D88DE2BC2}" srcOrd="0" destOrd="0" parTransId="{24463427-163F-460C-9645-2E34F7671C72}" sibTransId="{190CDCD2-B081-45C1-A4A5-03C49DB3D8A6}"/>
    <dgm:cxn modelId="{F89B60F8-D7FE-49C8-8B40-0024D4936EDA}" srcId="{C086D334-7CEA-484F-9089-275343593E4D}" destId="{2C0DE9B7-06D3-495F-AF8F-E31233B47ADA}" srcOrd="2" destOrd="0" parTransId="{8863192A-F3F1-4BD3-9BDB-8F7941508952}" sibTransId="{24C08367-F43E-41CE-97E2-4052062A63B8}"/>
    <dgm:cxn modelId="{4210DCFA-B9A9-45D1-9FE1-6E9E22CBDAFC}" type="presOf" srcId="{C086D334-7CEA-484F-9089-275343593E4D}" destId="{F6163701-095D-4ABC-B7D6-B28ADF76BE77}" srcOrd="0" destOrd="0" presId="urn:microsoft.com/office/officeart/2005/8/layout/process2"/>
    <dgm:cxn modelId="{E8C41CFC-75BA-42D3-B608-31345083ACF0}" type="presOf" srcId="{2E8B2D95-8E2B-4BC0-913D-7EC042016899}" destId="{33074C86-16CD-4181-BD99-804CFE212B05}" srcOrd="0" destOrd="0" presId="urn:microsoft.com/office/officeart/2005/8/layout/process2"/>
    <dgm:cxn modelId="{CE0252D4-9829-4AC5-BAA1-CFAA935A7176}" type="presParOf" srcId="{F6163701-095D-4ABC-B7D6-B28ADF76BE77}" destId="{DA8ABCC8-AEDD-44B2-B562-BD482DD3C76F}" srcOrd="0" destOrd="0" presId="urn:microsoft.com/office/officeart/2005/8/layout/process2"/>
    <dgm:cxn modelId="{2701C35A-3D6E-45E1-88C1-19891E30E3A0}" type="presParOf" srcId="{F6163701-095D-4ABC-B7D6-B28ADF76BE77}" destId="{F29E1DD9-F291-4B47-9A89-F58D3FD65BB1}" srcOrd="1" destOrd="0" presId="urn:microsoft.com/office/officeart/2005/8/layout/process2"/>
    <dgm:cxn modelId="{38AEB20F-839B-4D8F-8E4D-06E891FD780A}" type="presParOf" srcId="{F29E1DD9-F291-4B47-9A89-F58D3FD65BB1}" destId="{607E2C82-F64F-424C-AAD9-79424692C018}" srcOrd="0" destOrd="0" presId="urn:microsoft.com/office/officeart/2005/8/layout/process2"/>
    <dgm:cxn modelId="{E75AD320-5F5F-41EB-9FC9-8C4831D9EEC2}" type="presParOf" srcId="{F6163701-095D-4ABC-B7D6-B28ADF76BE77}" destId="{33074C86-16CD-4181-BD99-804CFE212B05}" srcOrd="2" destOrd="0" presId="urn:microsoft.com/office/officeart/2005/8/layout/process2"/>
    <dgm:cxn modelId="{1E8EA1F8-BDE8-4255-BFBE-EF99F48C1A73}" type="presParOf" srcId="{F6163701-095D-4ABC-B7D6-B28ADF76BE77}" destId="{DD80006D-5E28-40F1-90C5-BBE47D86D249}" srcOrd="3" destOrd="0" presId="urn:microsoft.com/office/officeart/2005/8/layout/process2"/>
    <dgm:cxn modelId="{41880B01-FCB8-4E58-8E6E-25CE691E9DAE}" type="presParOf" srcId="{DD80006D-5E28-40F1-90C5-BBE47D86D249}" destId="{29908E1A-1CF6-4332-923B-CE063D02DB7B}" srcOrd="0" destOrd="0" presId="urn:microsoft.com/office/officeart/2005/8/layout/process2"/>
    <dgm:cxn modelId="{3DCE89D4-26B4-40EF-93F5-7461B92DB262}" type="presParOf" srcId="{F6163701-095D-4ABC-B7D6-B28ADF76BE77}" destId="{3FE12D8D-EC6B-4F35-B795-4E7839FA06C8}" srcOrd="4" destOrd="0" presId="urn:microsoft.com/office/officeart/2005/8/layout/process2"/>
    <dgm:cxn modelId="{7B431C5A-44C8-465F-8745-D9ADB99BED75}" type="presParOf" srcId="{F6163701-095D-4ABC-B7D6-B28ADF76BE77}" destId="{A54D895F-7108-4D27-A99B-D90192659982}" srcOrd="5" destOrd="0" presId="urn:microsoft.com/office/officeart/2005/8/layout/process2"/>
    <dgm:cxn modelId="{3A4E3E46-C64C-4204-870C-C59A4464730D}" type="presParOf" srcId="{A54D895F-7108-4D27-A99B-D90192659982}" destId="{7D6C06AA-D780-401A-B2FF-6813725E59A7}" srcOrd="0" destOrd="0" presId="urn:microsoft.com/office/officeart/2005/8/layout/process2"/>
    <dgm:cxn modelId="{D3F947CE-5AD5-401D-B098-7BE4CBA9BD40}" type="presParOf" srcId="{F6163701-095D-4ABC-B7D6-B28ADF76BE77}" destId="{7B9EB8E9-38B7-48A6-8036-40551C1B32FA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22B3F1-F0E2-45A2-B000-1A155102AD2E}">
      <dsp:nvSpPr>
        <dsp:cNvPr id="0" name=""/>
        <dsp:cNvSpPr/>
      </dsp:nvSpPr>
      <dsp:spPr>
        <a:xfrm>
          <a:off x="2241532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1087" y="1242976"/>
        <a:ext cx="25774" cy="5154"/>
      </dsp:txXfrm>
    </dsp:sp>
    <dsp:sp modelId="{3208F5BC-0D44-43DD-ABC0-2CB772F2191E}">
      <dsp:nvSpPr>
        <dsp:cNvPr id="0" name=""/>
        <dsp:cNvSpPr/>
      </dsp:nvSpPr>
      <dsp:spPr>
        <a:xfrm>
          <a:off x="2092" y="573182"/>
          <a:ext cx="2241239" cy="13447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Aptos Display" panose="02110004020202020204"/>
            </a:rPr>
            <a:t>Warm Lead</a:t>
          </a:r>
          <a:endParaRPr lang="en-US" sz="2900" kern="1200"/>
        </a:p>
      </dsp:txBody>
      <dsp:txXfrm>
        <a:off x="2092" y="573182"/>
        <a:ext cx="2241239" cy="1344743"/>
      </dsp:txXfrm>
    </dsp:sp>
    <dsp:sp modelId="{7D7A1B82-EB85-4632-BD16-2D3F787A55E1}">
      <dsp:nvSpPr>
        <dsp:cNvPr id="0" name=""/>
        <dsp:cNvSpPr/>
      </dsp:nvSpPr>
      <dsp:spPr>
        <a:xfrm>
          <a:off x="4998257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1073936"/>
              <a:satOff val="-3082"/>
              <a:lumOff val="-493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12" y="1242976"/>
        <a:ext cx="25774" cy="5154"/>
      </dsp:txXfrm>
    </dsp:sp>
    <dsp:sp modelId="{4A742276-C9B9-4A10-B868-0F037872D362}">
      <dsp:nvSpPr>
        <dsp:cNvPr id="0" name=""/>
        <dsp:cNvSpPr/>
      </dsp:nvSpPr>
      <dsp:spPr>
        <a:xfrm>
          <a:off x="2758817" y="573182"/>
          <a:ext cx="2241239" cy="1344743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Aptos Display" panose="02110004020202020204"/>
            </a:rPr>
            <a:t>Sponsor Identified</a:t>
          </a:r>
          <a:endParaRPr lang="en-US" sz="2900" kern="1200"/>
        </a:p>
      </dsp:txBody>
      <dsp:txXfrm>
        <a:off x="2758817" y="573182"/>
        <a:ext cx="2241239" cy="1344743"/>
      </dsp:txXfrm>
    </dsp:sp>
    <dsp:sp modelId="{51219A84-49F8-4F53-81B7-778F3CB66D0A}">
      <dsp:nvSpPr>
        <dsp:cNvPr id="0" name=""/>
        <dsp:cNvSpPr/>
      </dsp:nvSpPr>
      <dsp:spPr>
        <a:xfrm>
          <a:off x="7754982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84537" y="1242976"/>
        <a:ext cx="25774" cy="5154"/>
      </dsp:txXfrm>
    </dsp:sp>
    <dsp:sp modelId="{12E5E8F5-27B2-4421-8A74-9E3DB68F1080}">
      <dsp:nvSpPr>
        <dsp:cNvPr id="0" name=""/>
        <dsp:cNvSpPr/>
      </dsp:nvSpPr>
      <dsp:spPr>
        <a:xfrm>
          <a:off x="5515542" y="573182"/>
          <a:ext cx="2241239" cy="1344743"/>
        </a:xfrm>
        <a:prstGeom prst="rect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Aptos Display" panose="02110004020202020204"/>
            </a:rPr>
            <a:t>Opportunity Discussed</a:t>
          </a:r>
          <a:endParaRPr lang="en-US" sz="2900" kern="1200"/>
        </a:p>
      </dsp:txBody>
      <dsp:txXfrm>
        <a:off x="5515542" y="573182"/>
        <a:ext cx="2241239" cy="1344743"/>
      </dsp:txXfrm>
    </dsp:sp>
    <dsp:sp modelId="{D7EFEE89-1488-478B-ADEB-DF7E26066267}">
      <dsp:nvSpPr>
        <dsp:cNvPr id="0" name=""/>
        <dsp:cNvSpPr/>
      </dsp:nvSpPr>
      <dsp:spPr>
        <a:xfrm>
          <a:off x="1122712" y="1916126"/>
          <a:ext cx="8270175" cy="484885"/>
        </a:xfrm>
        <a:custGeom>
          <a:avLst/>
          <a:gdLst/>
          <a:ahLst/>
          <a:cxnLst/>
          <a:rect l="0" t="0" r="0" b="0"/>
          <a:pathLst>
            <a:path>
              <a:moveTo>
                <a:pt x="8270175" y="0"/>
              </a:moveTo>
              <a:lnTo>
                <a:pt x="8270175" y="259542"/>
              </a:lnTo>
              <a:lnTo>
                <a:pt x="0" y="259542"/>
              </a:lnTo>
              <a:lnTo>
                <a:pt x="0" y="484885"/>
              </a:lnTo>
            </a:path>
          </a:pathLst>
        </a:custGeom>
        <a:noFill/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50644" y="2155991"/>
        <a:ext cx="414311" cy="5154"/>
      </dsp:txXfrm>
    </dsp:sp>
    <dsp:sp modelId="{0E36C6EC-CF6C-4C52-8F51-92E6ACA469A8}">
      <dsp:nvSpPr>
        <dsp:cNvPr id="0" name=""/>
        <dsp:cNvSpPr/>
      </dsp:nvSpPr>
      <dsp:spPr>
        <a:xfrm>
          <a:off x="8272267" y="573182"/>
          <a:ext cx="2241239" cy="1344743"/>
        </a:xfrm>
        <a:prstGeom prst="rect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Aptos Display" panose="02110004020202020204"/>
            </a:rPr>
            <a:t>Exploratory Proposal</a:t>
          </a:r>
          <a:endParaRPr lang="en-US" sz="2900" kern="1200"/>
        </a:p>
      </dsp:txBody>
      <dsp:txXfrm>
        <a:off x="8272267" y="573182"/>
        <a:ext cx="2241239" cy="1344743"/>
      </dsp:txXfrm>
    </dsp:sp>
    <dsp:sp modelId="{358286DD-0BB2-4690-8FA0-ECFB866AECF2}">
      <dsp:nvSpPr>
        <dsp:cNvPr id="0" name=""/>
        <dsp:cNvSpPr/>
      </dsp:nvSpPr>
      <dsp:spPr>
        <a:xfrm>
          <a:off x="2241532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1087" y="3103206"/>
        <a:ext cx="25774" cy="5154"/>
      </dsp:txXfrm>
    </dsp:sp>
    <dsp:sp modelId="{09F492F4-CDAF-49BF-BDF9-597DAA6F61DE}">
      <dsp:nvSpPr>
        <dsp:cNvPr id="0" name=""/>
        <dsp:cNvSpPr/>
      </dsp:nvSpPr>
      <dsp:spPr>
        <a:xfrm>
          <a:off x="2092" y="2433411"/>
          <a:ext cx="2241239" cy="1344743"/>
        </a:xfrm>
        <a:prstGeom prst="rect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Aptos Display" panose="02110004020202020204"/>
            </a:rPr>
            <a:t>Converged Proposal</a:t>
          </a:r>
          <a:endParaRPr lang="en-US" sz="2900" kern="1200"/>
        </a:p>
      </dsp:txBody>
      <dsp:txXfrm>
        <a:off x="2092" y="2433411"/>
        <a:ext cx="2241239" cy="1344743"/>
      </dsp:txXfrm>
    </dsp:sp>
    <dsp:sp modelId="{3F2B8170-024D-47BA-BAEE-4ADFCC16FE51}">
      <dsp:nvSpPr>
        <dsp:cNvPr id="0" name=""/>
        <dsp:cNvSpPr/>
      </dsp:nvSpPr>
      <dsp:spPr>
        <a:xfrm>
          <a:off x="4998257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5369678"/>
              <a:satOff val="-15411"/>
              <a:lumOff val="-2467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12" y="3103206"/>
        <a:ext cx="25774" cy="5154"/>
      </dsp:txXfrm>
    </dsp:sp>
    <dsp:sp modelId="{747358E0-7F38-4970-B44F-0AA967C440E0}">
      <dsp:nvSpPr>
        <dsp:cNvPr id="0" name=""/>
        <dsp:cNvSpPr/>
      </dsp:nvSpPr>
      <dsp:spPr>
        <a:xfrm>
          <a:off x="2758817" y="2433411"/>
          <a:ext cx="2241239" cy="1344743"/>
        </a:xfrm>
        <a:prstGeom prst="rect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Aptos Display" panose="02110004020202020204"/>
            </a:rPr>
            <a:t>Contract Negotiated</a:t>
          </a:r>
        </a:p>
      </dsp:txBody>
      <dsp:txXfrm>
        <a:off x="2758817" y="2433411"/>
        <a:ext cx="2241239" cy="1344743"/>
      </dsp:txXfrm>
    </dsp:sp>
    <dsp:sp modelId="{8AD68956-FC4F-4D3A-95E1-8885D4A6B9F0}">
      <dsp:nvSpPr>
        <dsp:cNvPr id="0" name=""/>
        <dsp:cNvSpPr/>
      </dsp:nvSpPr>
      <dsp:spPr>
        <a:xfrm>
          <a:off x="7754982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84537" y="3103206"/>
        <a:ext cx="25774" cy="5154"/>
      </dsp:txXfrm>
    </dsp:sp>
    <dsp:sp modelId="{E03AD05C-7DFC-4FF5-8BC7-8E9B4C3A48DE}">
      <dsp:nvSpPr>
        <dsp:cNvPr id="0" name=""/>
        <dsp:cNvSpPr/>
      </dsp:nvSpPr>
      <dsp:spPr>
        <a:xfrm>
          <a:off x="5515542" y="2433411"/>
          <a:ext cx="2241239" cy="1344743"/>
        </a:xfrm>
        <a:prstGeom prst="rect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Aptos Display" panose="02110004020202020204"/>
            </a:rPr>
            <a:t>Contract Signed</a:t>
          </a:r>
        </a:p>
      </dsp:txBody>
      <dsp:txXfrm>
        <a:off x="5515542" y="2433411"/>
        <a:ext cx="2241239" cy="1344743"/>
      </dsp:txXfrm>
    </dsp:sp>
    <dsp:sp modelId="{A7D5FEAA-F169-4D26-B479-164410FCE576}">
      <dsp:nvSpPr>
        <dsp:cNvPr id="0" name=""/>
        <dsp:cNvSpPr/>
      </dsp:nvSpPr>
      <dsp:spPr>
        <a:xfrm>
          <a:off x="8272267" y="2433411"/>
          <a:ext cx="2241239" cy="1344743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Aptos Display" panose="02110004020202020204"/>
            </a:rPr>
            <a:t>Project Started</a:t>
          </a:r>
        </a:p>
      </dsp:txBody>
      <dsp:txXfrm>
        <a:off x="8272267" y="2433411"/>
        <a:ext cx="2241239" cy="13447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22B3F1-F0E2-45A2-B000-1A155102AD2E}">
      <dsp:nvSpPr>
        <dsp:cNvPr id="0" name=""/>
        <dsp:cNvSpPr/>
      </dsp:nvSpPr>
      <dsp:spPr>
        <a:xfrm>
          <a:off x="3040792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912848"/>
        <a:ext cx="34897" cy="6979"/>
      </dsp:txXfrm>
    </dsp:sp>
    <dsp:sp modelId="{3208F5BC-0D44-43DD-ABC0-2CB772F2191E}">
      <dsp:nvSpPr>
        <dsp:cNvPr id="0" name=""/>
        <dsp:cNvSpPr/>
      </dsp:nvSpPr>
      <dsp:spPr>
        <a:xfrm>
          <a:off x="8061" y="5979"/>
          <a:ext cx="3034531" cy="18207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816" tIns="305816" rIns="305816" bIns="305816" numCol="1" spcCol="1270" anchor="ctr" anchorCtr="0">
          <a:noAutofit/>
        </a:bodyPr>
        <a:lstStyle/>
        <a:p>
          <a:pPr marL="0" lvl="0" indent="0" algn="ctr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>
              <a:latin typeface="Aptos Display" panose="02110004020202020204"/>
            </a:rPr>
            <a:t>Warm Lead</a:t>
          </a:r>
          <a:endParaRPr lang="en-US" sz="4300" kern="1200"/>
        </a:p>
      </dsp:txBody>
      <dsp:txXfrm>
        <a:off x="8061" y="5979"/>
        <a:ext cx="3034531" cy="1820718"/>
      </dsp:txXfrm>
    </dsp:sp>
    <dsp:sp modelId="{7D7A1B82-EB85-4632-BD16-2D3F787A55E1}">
      <dsp:nvSpPr>
        <dsp:cNvPr id="0" name=""/>
        <dsp:cNvSpPr/>
      </dsp:nvSpPr>
      <dsp:spPr>
        <a:xfrm>
          <a:off x="6773265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912848"/>
        <a:ext cx="34897" cy="6979"/>
      </dsp:txXfrm>
    </dsp:sp>
    <dsp:sp modelId="{4A742276-C9B9-4A10-B868-0F037872D362}">
      <dsp:nvSpPr>
        <dsp:cNvPr id="0" name=""/>
        <dsp:cNvSpPr/>
      </dsp:nvSpPr>
      <dsp:spPr>
        <a:xfrm>
          <a:off x="3740534" y="5979"/>
          <a:ext cx="3034531" cy="1820718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816" tIns="305816" rIns="305816" bIns="305816" numCol="1" spcCol="1270" anchor="ctr" anchorCtr="0">
          <a:noAutofit/>
        </a:bodyPr>
        <a:lstStyle/>
        <a:p>
          <a:pPr marL="0" lvl="0" indent="0" algn="ctr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>
              <a:latin typeface="Aptos Display" panose="02110004020202020204"/>
            </a:rPr>
            <a:t>Sponsor Identified</a:t>
          </a:r>
          <a:endParaRPr lang="en-US" sz="4300" kern="1200"/>
        </a:p>
      </dsp:txBody>
      <dsp:txXfrm>
        <a:off x="3740534" y="5979"/>
        <a:ext cx="3034531" cy="1820718"/>
      </dsp:txXfrm>
    </dsp:sp>
    <dsp:sp modelId="{358286DD-0BB2-4690-8FA0-ECFB866AECF2}">
      <dsp:nvSpPr>
        <dsp:cNvPr id="0" name=""/>
        <dsp:cNvSpPr/>
      </dsp:nvSpPr>
      <dsp:spPr>
        <a:xfrm>
          <a:off x="1525326" y="1824897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362" y="2155079"/>
        <a:ext cx="374875" cy="6979"/>
      </dsp:txXfrm>
    </dsp:sp>
    <dsp:sp modelId="{09F492F4-CDAF-49BF-BDF9-597DAA6F61DE}">
      <dsp:nvSpPr>
        <dsp:cNvPr id="0" name=""/>
        <dsp:cNvSpPr/>
      </dsp:nvSpPr>
      <dsp:spPr>
        <a:xfrm>
          <a:off x="7473007" y="5979"/>
          <a:ext cx="3034531" cy="1820718"/>
        </a:xfrm>
        <a:prstGeom prst="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816" tIns="305816" rIns="305816" bIns="305816" numCol="1" spcCol="1270" anchor="ctr" anchorCtr="0">
          <a:noAutofit/>
        </a:bodyPr>
        <a:lstStyle/>
        <a:p>
          <a:pPr marL="0" lvl="0" indent="0" algn="ctr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>
              <a:latin typeface="Aptos Display" panose="02110004020202020204"/>
            </a:rPr>
            <a:t>Converged Proposal</a:t>
          </a:r>
          <a:endParaRPr lang="en-US" sz="4300" kern="1200"/>
        </a:p>
      </dsp:txBody>
      <dsp:txXfrm>
        <a:off x="7473007" y="5979"/>
        <a:ext cx="3034531" cy="1820718"/>
      </dsp:txXfrm>
    </dsp:sp>
    <dsp:sp modelId="{3F2B8170-024D-47BA-BAEE-4ADFCC16FE51}">
      <dsp:nvSpPr>
        <dsp:cNvPr id="0" name=""/>
        <dsp:cNvSpPr/>
      </dsp:nvSpPr>
      <dsp:spPr>
        <a:xfrm>
          <a:off x="3040792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3431509"/>
        <a:ext cx="34897" cy="6979"/>
      </dsp:txXfrm>
    </dsp:sp>
    <dsp:sp modelId="{747358E0-7F38-4970-B44F-0AA967C440E0}">
      <dsp:nvSpPr>
        <dsp:cNvPr id="0" name=""/>
        <dsp:cNvSpPr/>
      </dsp:nvSpPr>
      <dsp:spPr>
        <a:xfrm>
          <a:off x="8061" y="2524640"/>
          <a:ext cx="3034531" cy="1820718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816" tIns="305816" rIns="305816" bIns="305816" numCol="1" spcCol="1270" anchor="ctr" anchorCtr="0">
          <a:noAutofit/>
        </a:bodyPr>
        <a:lstStyle/>
        <a:p>
          <a:pPr marL="0" lvl="0" indent="0" algn="ctr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>
              <a:latin typeface="Aptos Display" panose="02110004020202020204"/>
            </a:rPr>
            <a:t>Contract Negotiated</a:t>
          </a:r>
        </a:p>
      </dsp:txBody>
      <dsp:txXfrm>
        <a:off x="8061" y="2524640"/>
        <a:ext cx="3034531" cy="1820718"/>
      </dsp:txXfrm>
    </dsp:sp>
    <dsp:sp modelId="{8AD68956-FC4F-4D3A-95E1-8885D4A6B9F0}">
      <dsp:nvSpPr>
        <dsp:cNvPr id="0" name=""/>
        <dsp:cNvSpPr/>
      </dsp:nvSpPr>
      <dsp:spPr>
        <a:xfrm>
          <a:off x="6773265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3431509"/>
        <a:ext cx="34897" cy="6979"/>
      </dsp:txXfrm>
    </dsp:sp>
    <dsp:sp modelId="{E03AD05C-7DFC-4FF5-8BC7-8E9B4C3A48DE}">
      <dsp:nvSpPr>
        <dsp:cNvPr id="0" name=""/>
        <dsp:cNvSpPr/>
      </dsp:nvSpPr>
      <dsp:spPr>
        <a:xfrm>
          <a:off x="3740534" y="2524640"/>
          <a:ext cx="3034531" cy="1820718"/>
        </a:xfrm>
        <a:prstGeom prst="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816" tIns="305816" rIns="305816" bIns="305816" numCol="1" spcCol="1270" anchor="ctr" anchorCtr="0">
          <a:noAutofit/>
        </a:bodyPr>
        <a:lstStyle/>
        <a:p>
          <a:pPr marL="0" lvl="0" indent="0" algn="ctr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>
              <a:latin typeface="Aptos Display" panose="02110004020202020204"/>
            </a:rPr>
            <a:t>Contract Signed</a:t>
          </a:r>
        </a:p>
      </dsp:txBody>
      <dsp:txXfrm>
        <a:off x="3740534" y="2524640"/>
        <a:ext cx="3034531" cy="1820718"/>
      </dsp:txXfrm>
    </dsp:sp>
    <dsp:sp modelId="{A7D5FEAA-F169-4D26-B479-164410FCE576}">
      <dsp:nvSpPr>
        <dsp:cNvPr id="0" name=""/>
        <dsp:cNvSpPr/>
      </dsp:nvSpPr>
      <dsp:spPr>
        <a:xfrm>
          <a:off x="7473007" y="2524640"/>
          <a:ext cx="3034531" cy="1820718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816" tIns="305816" rIns="305816" bIns="305816" numCol="1" spcCol="1270" anchor="ctr" anchorCtr="0">
          <a:noAutofit/>
        </a:bodyPr>
        <a:lstStyle/>
        <a:p>
          <a:pPr marL="0" lvl="0" indent="0" algn="ctr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>
              <a:latin typeface="Aptos Display" panose="02110004020202020204"/>
            </a:rPr>
            <a:t>Project Started</a:t>
          </a:r>
        </a:p>
      </dsp:txBody>
      <dsp:txXfrm>
        <a:off x="7473007" y="2524640"/>
        <a:ext cx="3034531" cy="18207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361FB4-7866-49D5-8AF9-1343CA56D410}">
      <dsp:nvSpPr>
        <dsp:cNvPr id="0" name=""/>
        <dsp:cNvSpPr/>
      </dsp:nvSpPr>
      <dsp:spPr>
        <a:xfrm>
          <a:off x="4679521" y="1471"/>
          <a:ext cx="1644011" cy="106860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 Display" panose="02110004020202020204"/>
            </a:rPr>
            <a:t>Establish a Mutual Offering around a Use Case</a:t>
          </a:r>
          <a:endParaRPr lang="en-US" sz="1500" kern="1200"/>
        </a:p>
      </dsp:txBody>
      <dsp:txXfrm>
        <a:off x="4731686" y="53636"/>
        <a:ext cx="1539681" cy="964277"/>
      </dsp:txXfrm>
    </dsp:sp>
    <dsp:sp modelId="{AC1FAD8C-4984-4F82-B673-51E73FBEC11C}">
      <dsp:nvSpPr>
        <dsp:cNvPr id="0" name=""/>
        <dsp:cNvSpPr/>
      </dsp:nvSpPr>
      <dsp:spPr>
        <a:xfrm>
          <a:off x="3368152" y="535775"/>
          <a:ext cx="4266750" cy="4266750"/>
        </a:xfrm>
        <a:custGeom>
          <a:avLst/>
          <a:gdLst/>
          <a:ahLst/>
          <a:cxnLst/>
          <a:rect l="0" t="0" r="0" b="0"/>
          <a:pathLst>
            <a:path>
              <a:moveTo>
                <a:pt x="3175234" y="271704"/>
              </a:moveTo>
              <a:arcTo wR="2133375" hR="2133375" stAng="17953979" swAng="1210675"/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2DE7D8-845B-4E6D-85E5-A8FDB47C0E2B}">
      <dsp:nvSpPr>
        <dsp:cNvPr id="0" name=""/>
        <dsp:cNvSpPr/>
      </dsp:nvSpPr>
      <dsp:spPr>
        <a:xfrm>
          <a:off x="6708482" y="1475597"/>
          <a:ext cx="1644011" cy="106860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 Display" panose="02110004020202020204"/>
            </a:rPr>
            <a:t>Operate Offering through a Consistent Sales Process</a:t>
          </a:r>
          <a:endParaRPr lang="en-US" sz="1500" kern="1200"/>
        </a:p>
      </dsp:txBody>
      <dsp:txXfrm>
        <a:off x="6760647" y="1527762"/>
        <a:ext cx="1539681" cy="964277"/>
      </dsp:txXfrm>
    </dsp:sp>
    <dsp:sp modelId="{FBAFB693-7924-48DC-91C7-567F32E954D1}">
      <dsp:nvSpPr>
        <dsp:cNvPr id="0" name=""/>
        <dsp:cNvSpPr/>
      </dsp:nvSpPr>
      <dsp:spPr>
        <a:xfrm>
          <a:off x="3368152" y="535775"/>
          <a:ext cx="4266750" cy="4266750"/>
        </a:xfrm>
        <a:custGeom>
          <a:avLst/>
          <a:gdLst/>
          <a:ahLst/>
          <a:cxnLst/>
          <a:rect l="0" t="0" r="0" b="0"/>
          <a:pathLst>
            <a:path>
              <a:moveTo>
                <a:pt x="4261620" y="2281230"/>
              </a:moveTo>
              <a:arcTo wR="2133375" hR="2133375" stAng="21838446" swAng="1359059"/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CA19C7-9A6E-4D71-B0D9-1C51A43488D5}">
      <dsp:nvSpPr>
        <dsp:cNvPr id="0" name=""/>
        <dsp:cNvSpPr/>
      </dsp:nvSpPr>
      <dsp:spPr>
        <a:xfrm>
          <a:off x="5933488" y="3860783"/>
          <a:ext cx="1644011" cy="106860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 Display" panose="02110004020202020204"/>
            </a:rPr>
            <a:t>Communicate Regularly and Effectively</a:t>
          </a:r>
          <a:endParaRPr lang="en-US" sz="1500" kern="1200"/>
        </a:p>
      </dsp:txBody>
      <dsp:txXfrm>
        <a:off x="5985653" y="3912948"/>
        <a:ext cx="1539681" cy="964277"/>
      </dsp:txXfrm>
    </dsp:sp>
    <dsp:sp modelId="{AD39383E-D3EA-4857-BDE8-69DAE9677569}">
      <dsp:nvSpPr>
        <dsp:cNvPr id="0" name=""/>
        <dsp:cNvSpPr/>
      </dsp:nvSpPr>
      <dsp:spPr>
        <a:xfrm>
          <a:off x="3368152" y="535775"/>
          <a:ext cx="4266750" cy="4266750"/>
        </a:xfrm>
        <a:custGeom>
          <a:avLst/>
          <a:gdLst/>
          <a:ahLst/>
          <a:cxnLst/>
          <a:rect l="0" t="0" r="0" b="0"/>
          <a:pathLst>
            <a:path>
              <a:moveTo>
                <a:pt x="2394899" y="4250660"/>
              </a:moveTo>
              <a:arcTo wR="2133375" hR="2133375" stAng="4977514" swAng="844973"/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8DD31B-ADF3-4F93-96B4-403C12D3CA02}">
      <dsp:nvSpPr>
        <dsp:cNvPr id="0" name=""/>
        <dsp:cNvSpPr/>
      </dsp:nvSpPr>
      <dsp:spPr>
        <a:xfrm>
          <a:off x="3425555" y="3860783"/>
          <a:ext cx="1644011" cy="106860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 Display" panose="02110004020202020204"/>
            </a:rPr>
            <a:t>Deliver on Promises and Action Items</a:t>
          </a:r>
          <a:endParaRPr lang="en-US" sz="1500" kern="1200"/>
        </a:p>
      </dsp:txBody>
      <dsp:txXfrm>
        <a:off x="3477720" y="3912948"/>
        <a:ext cx="1539681" cy="964277"/>
      </dsp:txXfrm>
    </dsp:sp>
    <dsp:sp modelId="{E26B32C2-15E6-4E8D-A9A7-899C7D6AAB7A}">
      <dsp:nvSpPr>
        <dsp:cNvPr id="0" name=""/>
        <dsp:cNvSpPr/>
      </dsp:nvSpPr>
      <dsp:spPr>
        <a:xfrm>
          <a:off x="3368152" y="535775"/>
          <a:ext cx="4266750" cy="4266750"/>
        </a:xfrm>
        <a:custGeom>
          <a:avLst/>
          <a:gdLst/>
          <a:ahLst/>
          <a:cxnLst/>
          <a:rect l="0" t="0" r="0" b="0"/>
          <a:pathLst>
            <a:path>
              <a:moveTo>
                <a:pt x="226227" y="3089448"/>
              </a:moveTo>
              <a:arcTo wR="2133375" hR="2133375" stAng="9202495" swAng="1359059"/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EC66B3-2708-4014-A3FC-683E676661C6}">
      <dsp:nvSpPr>
        <dsp:cNvPr id="0" name=""/>
        <dsp:cNvSpPr/>
      </dsp:nvSpPr>
      <dsp:spPr>
        <a:xfrm>
          <a:off x="2650561" y="1475597"/>
          <a:ext cx="1644011" cy="1068607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 Display" panose="02110004020202020204"/>
            </a:rPr>
            <a:t>Gather Social Proof and Testimonials</a:t>
          </a:r>
          <a:endParaRPr lang="en-US" sz="1500" kern="1200"/>
        </a:p>
      </dsp:txBody>
      <dsp:txXfrm>
        <a:off x="2702726" y="1527762"/>
        <a:ext cx="1539681" cy="964277"/>
      </dsp:txXfrm>
    </dsp:sp>
    <dsp:sp modelId="{64E0C456-D708-48C6-8EF5-E813E98C0D52}">
      <dsp:nvSpPr>
        <dsp:cNvPr id="0" name=""/>
        <dsp:cNvSpPr/>
      </dsp:nvSpPr>
      <dsp:spPr>
        <a:xfrm>
          <a:off x="3368152" y="535775"/>
          <a:ext cx="4266750" cy="4266750"/>
        </a:xfrm>
        <a:custGeom>
          <a:avLst/>
          <a:gdLst/>
          <a:ahLst/>
          <a:cxnLst/>
          <a:rect l="0" t="0" r="0" b="0"/>
          <a:pathLst>
            <a:path>
              <a:moveTo>
                <a:pt x="513300" y="745338"/>
              </a:moveTo>
              <a:arcTo wR="2133375" hR="2133375" stAng="13235345" swAng="1210675"/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B02391-698E-42EC-B54D-923DF0B3A9E6}">
      <dsp:nvSpPr>
        <dsp:cNvPr id="0" name=""/>
        <dsp:cNvSpPr/>
      </dsp:nvSpPr>
      <dsp:spPr>
        <a:xfrm>
          <a:off x="1748064" y="2975"/>
          <a:ext cx="3342605" cy="20055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ptos Display" panose="02110004020202020204"/>
            </a:rPr>
            <a:t>GO-TO MARKET READY: </a:t>
          </a:r>
          <a:br>
            <a:rPr lang="en-US" sz="2000" kern="1200">
              <a:latin typeface="Aptos Display" panose="02110004020202020204"/>
            </a:rPr>
          </a:br>
          <a:r>
            <a:rPr lang="en-US" sz="2000" kern="1200">
              <a:latin typeface="Aptos Display" panose="02110004020202020204"/>
            </a:rPr>
            <a:t>We have clearly established a joint value proposition and operational alignment around shared objectives.</a:t>
          </a:r>
        </a:p>
      </dsp:txBody>
      <dsp:txXfrm>
        <a:off x="1748064" y="2975"/>
        <a:ext cx="3342605" cy="2005563"/>
      </dsp:txXfrm>
    </dsp:sp>
    <dsp:sp modelId="{6025772C-C491-42FB-9BEA-8E288C98A1F9}">
      <dsp:nvSpPr>
        <dsp:cNvPr id="0" name=""/>
        <dsp:cNvSpPr/>
      </dsp:nvSpPr>
      <dsp:spPr>
        <a:xfrm>
          <a:off x="5424930" y="2975"/>
          <a:ext cx="3342605" cy="200556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ptos Display" panose="02110004020202020204"/>
            </a:rPr>
            <a:t>MATURE:</a:t>
          </a:r>
          <a:br>
            <a:rPr lang="en-US" sz="2000" kern="1200">
              <a:latin typeface="Aptos Display" panose="02110004020202020204"/>
            </a:rPr>
          </a:br>
          <a:r>
            <a:rPr lang="en-US" sz="2000" kern="1200">
              <a:latin typeface="Aptos Display" panose="02110004020202020204"/>
            </a:rPr>
            <a:t>We have conducted a real-world project that may be reversed engineered to create a potential offer. Needs work.</a:t>
          </a:r>
          <a:endParaRPr lang="en-US" sz="2000" kern="1200"/>
        </a:p>
      </dsp:txBody>
      <dsp:txXfrm>
        <a:off x="5424930" y="2975"/>
        <a:ext cx="3342605" cy="2005563"/>
      </dsp:txXfrm>
    </dsp:sp>
    <dsp:sp modelId="{B12939A1-DF1C-46C1-824B-0DFF0EEF5AF5}">
      <dsp:nvSpPr>
        <dsp:cNvPr id="0" name=""/>
        <dsp:cNvSpPr/>
      </dsp:nvSpPr>
      <dsp:spPr>
        <a:xfrm>
          <a:off x="3586497" y="2342799"/>
          <a:ext cx="3342605" cy="200556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ptos Display" panose="02110004020202020204"/>
            </a:rPr>
            <a:t>PROMISING:</a:t>
          </a:r>
          <a:br>
            <a:rPr lang="en-US" sz="2000" kern="1200">
              <a:latin typeface="Aptos Display" panose="02110004020202020204"/>
            </a:rPr>
          </a:br>
          <a:r>
            <a:rPr lang="en-US" sz="2000" kern="1200">
              <a:latin typeface="Aptos Display" panose="02110004020202020204"/>
            </a:rPr>
            <a:t>A potential value proposition has been identified and needs to be wrapped around a past project, brought into a demonstration, or prototype.  </a:t>
          </a:r>
          <a:endParaRPr lang="en-US" sz="2000" kern="1200"/>
        </a:p>
      </dsp:txBody>
      <dsp:txXfrm>
        <a:off x="3586497" y="2342799"/>
        <a:ext cx="3342605" cy="200556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8ABCC8-AEDD-44B2-B562-BD482DD3C76F}">
      <dsp:nvSpPr>
        <dsp:cNvPr id="0" name=""/>
        <dsp:cNvSpPr/>
      </dsp:nvSpPr>
      <dsp:spPr>
        <a:xfrm>
          <a:off x="3731379" y="2124"/>
          <a:ext cx="3052841" cy="7903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alibri"/>
              <a:ea typeface="Calibri"/>
              <a:cs typeface="Calibri"/>
            </a:rPr>
            <a:t>Desired outcome and required qualificaitons</a:t>
          </a:r>
          <a:endParaRPr lang="en-US" sz="1800" kern="1200">
            <a:latin typeface="Aptos Display" panose="02110004020202020204"/>
          </a:endParaRPr>
        </a:p>
      </dsp:txBody>
      <dsp:txXfrm>
        <a:off x="3754528" y="25273"/>
        <a:ext cx="3006543" cy="744081"/>
      </dsp:txXfrm>
    </dsp:sp>
    <dsp:sp modelId="{F29E1DD9-F291-4B47-9A89-F58D3FD65BB1}">
      <dsp:nvSpPr>
        <dsp:cNvPr id="0" name=""/>
        <dsp:cNvSpPr/>
      </dsp:nvSpPr>
      <dsp:spPr>
        <a:xfrm rot="5400000">
          <a:off x="5109603" y="812263"/>
          <a:ext cx="296392" cy="3556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5151098" y="841902"/>
        <a:ext cx="213402" cy="207474"/>
      </dsp:txXfrm>
    </dsp:sp>
    <dsp:sp modelId="{33074C86-16CD-4181-BD99-804CFE212B05}">
      <dsp:nvSpPr>
        <dsp:cNvPr id="0" name=""/>
        <dsp:cNvSpPr/>
      </dsp:nvSpPr>
      <dsp:spPr>
        <a:xfrm>
          <a:off x="3731379" y="1187694"/>
          <a:ext cx="3052841" cy="7903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ptos Display" panose="02110004020202020204"/>
            </a:rPr>
            <a:t>Select a Use Case (Past or Promising)</a:t>
          </a:r>
          <a:endParaRPr lang="en-US" sz="1800" kern="1200"/>
        </a:p>
      </dsp:txBody>
      <dsp:txXfrm>
        <a:off x="3754528" y="1210843"/>
        <a:ext cx="3006543" cy="744081"/>
      </dsp:txXfrm>
    </dsp:sp>
    <dsp:sp modelId="{DD80006D-5E28-40F1-90C5-BBE47D86D249}">
      <dsp:nvSpPr>
        <dsp:cNvPr id="0" name=""/>
        <dsp:cNvSpPr/>
      </dsp:nvSpPr>
      <dsp:spPr>
        <a:xfrm rot="5400000">
          <a:off x="5109603" y="1997833"/>
          <a:ext cx="296392" cy="3556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5151098" y="2027472"/>
        <a:ext cx="213402" cy="207474"/>
      </dsp:txXfrm>
    </dsp:sp>
    <dsp:sp modelId="{3FE12D8D-EC6B-4F35-B795-4E7839FA06C8}">
      <dsp:nvSpPr>
        <dsp:cNvPr id="0" name=""/>
        <dsp:cNvSpPr/>
      </dsp:nvSpPr>
      <dsp:spPr>
        <a:xfrm>
          <a:off x="3731379" y="2373263"/>
          <a:ext cx="3052841" cy="7903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ptos Display" panose="02110004020202020204"/>
            </a:rPr>
            <a:t>Scope definement as part of core offering</a:t>
          </a:r>
          <a:endParaRPr lang="en-US" sz="1800" kern="1200"/>
        </a:p>
      </dsp:txBody>
      <dsp:txXfrm>
        <a:off x="3754528" y="2396412"/>
        <a:ext cx="3006543" cy="744081"/>
      </dsp:txXfrm>
    </dsp:sp>
    <dsp:sp modelId="{A54D895F-7108-4D27-A99B-D90192659982}">
      <dsp:nvSpPr>
        <dsp:cNvPr id="0" name=""/>
        <dsp:cNvSpPr/>
      </dsp:nvSpPr>
      <dsp:spPr>
        <a:xfrm rot="5400000">
          <a:off x="5109603" y="3183403"/>
          <a:ext cx="296392" cy="3556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5151098" y="3213042"/>
        <a:ext cx="213402" cy="207474"/>
      </dsp:txXfrm>
    </dsp:sp>
    <dsp:sp modelId="{7B9EB8E9-38B7-48A6-8036-40551C1B32FA}">
      <dsp:nvSpPr>
        <dsp:cNvPr id="0" name=""/>
        <dsp:cNvSpPr/>
      </dsp:nvSpPr>
      <dsp:spPr>
        <a:xfrm>
          <a:off x="3731379" y="3558833"/>
          <a:ext cx="3052841" cy="7903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ptos Display" panose="02110004020202020204"/>
            </a:rPr>
            <a:t>Plot designated responsibilities between partners</a:t>
          </a:r>
          <a:endParaRPr lang="en-US" sz="1800" kern="1200"/>
        </a:p>
      </dsp:txBody>
      <dsp:txXfrm>
        <a:off x="3754528" y="3581982"/>
        <a:ext cx="3006543" cy="7440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4BBE4-096B-7AE5-84F3-A83EB1868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0C0717-1278-5D24-1692-8521571D4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91E01-C3B3-3B06-2B66-80888C670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249F-EE94-4081-996F-0FA2D593B9F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238EE-3185-B8A4-51AA-FC1D4E9D1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09F29-ECF9-6752-16D0-A3B734F9C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51A84-01AC-4454-89AA-C42B2A0FC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126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4A4BD-1057-3A81-C324-A855B2010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D41F5-037E-9780-4C5A-7B4632946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77140-2F86-12B1-5FAA-742BE679F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249F-EE94-4081-996F-0FA2D593B9F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BB514-F27D-C6A6-A4C8-82CE931E0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56CE6-4496-A3F6-A68B-262ECE81C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51A84-01AC-4454-89AA-C42B2A0FC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55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37400-AE9B-D969-90DF-9F8012B77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79A2B-65BE-F63B-735B-7BB17AA72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96972-B648-3072-F73E-BABF60905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249F-EE94-4081-996F-0FA2D593B9F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6E04D-3678-BC95-8996-099BCDB60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50A87-ACCE-D227-BCA3-21E7C663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51A84-01AC-4454-89AA-C42B2A0FC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061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F0FC1-6EED-3721-630B-B929A9896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1F9BF-221D-5B07-EB8A-BF042BD3E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297FB-B5FB-743A-B798-9A91FADD3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5B2BCD-C461-804C-E90A-71D94C62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249F-EE94-4081-996F-0FA2D593B9F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2FBBB5-0DE2-7455-660E-A490763B4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6AD43-CFD2-66FA-9484-26BF01CC9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51A84-01AC-4454-89AA-C42B2A0FC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686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4D49E-9739-80C0-8384-9C0E9D875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1B940-C232-8536-696E-F3719D3A9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379754-966F-9C44-4848-B18E0F715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CAB422-DC74-6849-237E-5149B1A339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9C9E3-0506-0DE1-B0D5-2BB6F14923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25BF93-17A4-8D2E-377B-E7B743C2D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249F-EE94-4081-996F-0FA2D593B9F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908DE0-2428-B029-2A44-8D9C3C2DA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6306AA-7AD4-FEAC-FD5E-443940F3D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51A84-01AC-4454-89AA-C42B2A0FC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80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70D12-04BB-0DCA-5779-D082B3B77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B52ED-EDA8-334A-8C8E-0B7653484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249F-EE94-4081-996F-0FA2D593B9F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EF0A06-85AA-64EE-7E13-0347FB60A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91C4B5-45FA-9CE9-7E2B-63CDB9D94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51A84-01AC-4454-89AA-C42B2A0FC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851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7AB96D-ED6F-34B1-8BF3-E692D5D41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249F-EE94-4081-996F-0FA2D593B9F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89FAC-608B-765C-6769-1A8EA6760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82F09-91D7-A945-B9B7-3DD3150F8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51A84-01AC-4454-89AA-C42B2A0FC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63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F8569-B477-6837-7572-78EB9B1AB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B9A39-D49C-EA74-9167-AA316FF1D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C6C50-73C1-3C40-B085-9E71E4DEF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0072B8-BA24-0359-7A91-5733438C8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249F-EE94-4081-996F-0FA2D593B9F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444D7-9B1C-B03E-C946-9E2457864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1FB2C-26E9-A4FB-C7D6-C58C82912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51A84-01AC-4454-89AA-C42B2A0FC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012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E77ED-A3F7-27CC-7795-F5D0536C7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5AA25B-1F59-0EE6-15CA-0087F8C9CA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72B99-96B7-F0CF-2DC1-3AEBFB623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1D52E-4B4C-E3B3-4DE3-E5A64DB37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249F-EE94-4081-996F-0FA2D593B9F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7B4AD0-69FE-8F13-784B-A5D91A978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88030-163F-17F9-B3EB-F3877C24E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51A84-01AC-4454-89AA-C42B2A0FC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36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49033-5CD8-C4E3-C3B3-2496C7324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A79594-F1B8-FF61-8413-3355E428F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239B0-705C-5BA9-CD0B-631A5C37B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249F-EE94-4081-996F-0FA2D593B9F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07F37-1CFC-8DC7-3A51-768A259F2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B5125-5C5E-9F91-406D-30D20D1AD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51A84-01AC-4454-89AA-C42B2A0FC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02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CE6A6C-3D9D-DC79-9C8C-1F323629E5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9C8D3-55A8-E127-7035-B08D2ECC9D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29149-3175-169A-67BE-F153A60ED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249F-EE94-4081-996F-0FA2D593B9F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FF56B-7B41-347E-9A46-85E40A5E5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21F2B-8967-A36B-91A4-339ECF17C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51A84-01AC-4454-89AA-C42B2A0FC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927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1FAE83-ED97-107C-FAF1-E7A1D921F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DE515-E0A2-B684-9DE1-35CB31F54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1A425-7836-BEBE-1224-377E8A5C43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9249F-EE94-4081-996F-0FA2D593B9F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FE911-EC34-EBD8-5F71-D7C7997D6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E5402-D9AA-4D2A-D095-B4A743048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251A84-01AC-4454-89AA-C42B2A0FC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744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raphwise.ai/microsoft-365-integration/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nowledgegraph.tech/" TargetMode="External"/><Relationship Id="rId2" Type="http://schemas.openxmlformats.org/officeDocument/2006/relationships/hyperlink" Target="https://acrobat.adobe.com/id/urn:aaid:sc:VA6C2:1dd1d554-7397-415e-b596-2caefc8533f0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hyperlink" Target="https://bit.ly/4jiZzgC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7133F9-DB26-E84F-0A60-043CBF643B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Developing Vendor Partnerships &amp; Lead Gen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09A4FD-6FB8-C991-B2FD-A35A535D71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>
                <a:solidFill>
                  <a:schemeClr val="tx2"/>
                </a:solidFill>
              </a:rPr>
              <a:t>May 1, 2025</a:t>
            </a:r>
          </a:p>
          <a:p>
            <a:pPr algn="l"/>
            <a:r>
              <a:rPr lang="en-US" sz="2000">
                <a:solidFill>
                  <a:schemeClr val="tx2"/>
                </a:solidFill>
              </a:rPr>
              <a:t>Steve Case &amp; Joaquin Melara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DEA01D-C59D-E7D5-6CE1-9FF6962E4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70" y="2847022"/>
            <a:ext cx="4141760" cy="2078355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31707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0F8ADF-A947-C1BB-3290-D9FC8196B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804B110-7F8B-A260-940F-79E25E343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3B17FFF-0C7A-EAB2-4876-F1A8D2B4A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D1FD4-29D1-1D96-2E08-8EC4F5CA16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56797" y="1549346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400">
                <a:solidFill>
                  <a:schemeClr val="tx2"/>
                </a:solidFill>
              </a:rPr>
              <a:t>Short Agenda: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D5FF08-0E1C-FE10-577F-14D182D0F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5598582" cy="2084803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en-US">
                <a:solidFill>
                  <a:schemeClr val="tx2"/>
                </a:solidFill>
              </a:rPr>
              <a:t>Why Partners?</a:t>
            </a:r>
          </a:p>
          <a:p>
            <a:pPr algn="l"/>
            <a:r>
              <a:rPr lang="en-US">
                <a:solidFill>
                  <a:schemeClr val="tx2"/>
                </a:solidFill>
              </a:rPr>
              <a:t>Updates on Partner engagement</a:t>
            </a:r>
          </a:p>
          <a:p>
            <a:pPr algn="l"/>
            <a:r>
              <a:rPr lang="en-US">
                <a:solidFill>
                  <a:schemeClr val="tx2"/>
                </a:solidFill>
              </a:rPr>
              <a:t>How it aligns with SA Marketing Strategy?</a:t>
            </a:r>
          </a:p>
          <a:p>
            <a:pPr algn="l"/>
            <a:r>
              <a:rPr lang="en-US">
                <a:solidFill>
                  <a:schemeClr val="tx2"/>
                </a:solidFill>
              </a:rPr>
              <a:t>More on the Marketing/Sales Pipeline generation …</a:t>
            </a:r>
          </a:p>
          <a:p>
            <a:pPr algn="l"/>
            <a:r>
              <a:rPr lang="en-US">
                <a:solidFill>
                  <a:schemeClr val="tx2"/>
                </a:solidFill>
              </a:rPr>
              <a:t>Q&amp;A at the end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37D99D-5801-B260-78D9-30042724A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70" y="2847022"/>
            <a:ext cx="4141760" cy="2078355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0E1E7C55-DC31-B863-0F27-3A2F1A08C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76B7AAC-B8A2-F0E4-BD98-34B7D3FA0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492C640-8F71-DFB8-237C-9C3B2D6CB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515ED1-8761-EFA0-E18E-49763C32D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77535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7E0CCE-E6AC-F18D-2BCD-20BC6EF4E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33" y="1607935"/>
            <a:ext cx="4300363" cy="22386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12934A-DDDC-434B-476D-909A8C7B9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2264"/>
            <a:ext cx="5753957" cy="11036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A64DAA-4ED9-53C6-8920-26BD81F3A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332" y="220089"/>
            <a:ext cx="5282930" cy="14940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4684DA-3DD5-EB5E-B561-F87406167D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822" y="4065525"/>
            <a:ext cx="5041593" cy="11036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F07D87E-E5AC-2096-D669-D7CB02A98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5520" y="5170615"/>
            <a:ext cx="6080348" cy="14925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A7C394-09C5-E70A-EDBF-D4412EF1A7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7702" y="3398841"/>
            <a:ext cx="3259280" cy="14926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73A9DD8-3F6A-B6F5-501C-25ABB54CAF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0153" y="2183792"/>
            <a:ext cx="4002422" cy="9410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C030608-76DA-E763-A90F-345409247C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0068" y="3604426"/>
            <a:ext cx="3243580" cy="92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70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643C9-FAEB-65F7-0369-8D7D21ACE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505" y="180181"/>
            <a:ext cx="10378109" cy="976312"/>
          </a:xfrm>
        </p:spPr>
        <p:txBody>
          <a:bodyPr/>
          <a:lstStyle/>
          <a:p>
            <a:r>
              <a:rPr lang="en-US"/>
              <a:t>Why Partner?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52C69-46A3-8CA3-A66E-31CABA5A0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721" y="1301291"/>
            <a:ext cx="5183188" cy="492167"/>
          </a:xfrm>
        </p:spPr>
        <p:txBody>
          <a:bodyPr>
            <a:noAutofit/>
          </a:bodyPr>
          <a:lstStyle/>
          <a:p>
            <a:r>
              <a:rPr lang="en-US" sz="3600">
                <a:solidFill>
                  <a:srgbClr val="0070C0"/>
                </a:solidFill>
              </a:rPr>
              <a:t>Synergies Exist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45F898-B271-C164-1ACB-56184193E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4122" y="1938256"/>
            <a:ext cx="5157787" cy="4262128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sz="2400" b="1"/>
              <a:t>Seeking to capture similar semantic based business cases</a:t>
            </a:r>
          </a:p>
          <a:p>
            <a:r>
              <a:rPr lang="en-US" sz="2400" b="1"/>
              <a:t>Synergies between SA and Product Vendors:                               </a:t>
            </a:r>
          </a:p>
          <a:p>
            <a:pPr lvl="1"/>
            <a:r>
              <a:rPr lang="en-US"/>
              <a:t>Explicitly stated - sell licenses and </a:t>
            </a:r>
            <a:r>
              <a:rPr lang="en-US" b="1"/>
              <a:t>DO NOT</a:t>
            </a:r>
            <a:r>
              <a:rPr lang="en-US"/>
              <a:t> want professional services business.</a:t>
            </a:r>
          </a:p>
          <a:p>
            <a:pPr lvl="1"/>
            <a:r>
              <a:rPr lang="en-US"/>
              <a:t>Vendors bring similar messaging, and solution sets </a:t>
            </a:r>
          </a:p>
          <a:p>
            <a:pPr lvl="1"/>
            <a:r>
              <a:rPr lang="en-US"/>
              <a:t>Vendors bring extensive marketing materials, mature websites, sales staff and partner relationship managers to generate leads and complement long sell cycles to educate prospects</a:t>
            </a:r>
          </a:p>
          <a:p>
            <a:pPr lvl="1"/>
            <a:r>
              <a:rPr lang="en-US"/>
              <a:t>Deliver W3C standard capabilities to resolve business challenges whereby traditional data practices fall short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6389B80-B8FB-B43A-F319-C7B5F1A6A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1938256"/>
            <a:ext cx="5183188" cy="4262128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b="1"/>
              <a:t>What SA offers that’s valuable in partnering</a:t>
            </a:r>
          </a:p>
          <a:p>
            <a:r>
              <a:rPr lang="en-US" sz="2400"/>
              <a:t>Proven and predictable implementation services with 25 years and over 100 projects!</a:t>
            </a:r>
          </a:p>
          <a:p>
            <a:r>
              <a:rPr lang="en-US" sz="2400"/>
              <a:t>Think BIG /Start Small methodology that aligns with Land &amp; Expand sales strategy for domain extendibility</a:t>
            </a:r>
          </a:p>
          <a:p>
            <a:r>
              <a:rPr lang="en-US" sz="2400"/>
              <a:t>Apprenticeship type model in ontology build leveraging upper level </a:t>
            </a:r>
            <a:r>
              <a:rPr lang="en-US" sz="2400" b="1"/>
              <a:t>‘gist’ </a:t>
            </a:r>
            <a:r>
              <a:rPr lang="en-US" sz="2400"/>
              <a:t>to show incremental value “real” client data to demonstrate business impact</a:t>
            </a:r>
          </a:p>
          <a:p>
            <a:r>
              <a:rPr lang="en-US" sz="2400"/>
              <a:t> Semantic Sustainability – Stickiness &amp; Adoption.  </a:t>
            </a:r>
          </a:p>
          <a:p>
            <a:pPr lvl="1"/>
            <a:r>
              <a:rPr lang="en-US" b="1">
                <a:solidFill>
                  <a:srgbClr val="0070C0"/>
                </a:solidFill>
              </a:rPr>
              <a:t>VENDOR GOAL</a:t>
            </a:r>
            <a:r>
              <a:rPr lang="en-US" b="1"/>
              <a:t>: license growth beyond a single use case</a:t>
            </a:r>
          </a:p>
          <a:p>
            <a:pPr lvl="1"/>
            <a:r>
              <a:rPr lang="en-US" b="1">
                <a:solidFill>
                  <a:srgbClr val="0070C0"/>
                </a:solidFill>
              </a:rPr>
              <a:t>SA GOAL</a:t>
            </a:r>
            <a:r>
              <a:rPr lang="en-US" b="1"/>
              <a:t>: Domain expansion and Data-Centric enterprise momentum 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2CCF69-6E63-D269-675D-DEFCDB927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9521" y="290173"/>
            <a:ext cx="1759040" cy="88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942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5" grpId="0" build="p"/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C0D3C-687C-1094-0EA8-24E87358D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5F55F-F2CD-2A84-FFD7-E002AF9A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255" y="781431"/>
            <a:ext cx="10378109" cy="976312"/>
          </a:xfrm>
        </p:spPr>
        <p:txBody>
          <a:bodyPr/>
          <a:lstStyle/>
          <a:p>
            <a:r>
              <a:rPr lang="en-US"/>
              <a:t>So, why is it not working … </a:t>
            </a:r>
            <a:r>
              <a:rPr lang="en-US">
                <a:solidFill>
                  <a:srgbClr val="0070C0"/>
                </a:solidFill>
              </a:rPr>
              <a:t>a few theories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516A36-D956-3597-248A-97FBDC12C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4121" y="2118764"/>
            <a:ext cx="10947607" cy="426599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/>
              <a:t>SA’s explicit decision to maintain </a:t>
            </a:r>
            <a:r>
              <a:rPr lang="en-US" sz="2400" b="1"/>
              <a:t>“honest broker” </a:t>
            </a:r>
            <a:r>
              <a:rPr lang="en-US" sz="2400"/>
              <a:t>position and alignment with W3C standards, not proprietary tools</a:t>
            </a:r>
          </a:p>
          <a:p>
            <a:r>
              <a:rPr lang="en-US" sz="2400" b="1"/>
              <a:t>SA does not re-sell their products. </a:t>
            </a:r>
            <a:r>
              <a:rPr lang="en-US" sz="2400"/>
              <a:t>Vendors prefer to partner with organizations that will bring new clients to them</a:t>
            </a:r>
            <a:endParaRPr lang="en-US" sz="2400" b="1"/>
          </a:p>
          <a:p>
            <a:r>
              <a:rPr lang="en-US" sz="2400"/>
              <a:t>Vendors may not trust that we will support their approach and proprietary tools that promote vendor lock-in </a:t>
            </a:r>
          </a:p>
          <a:p>
            <a:r>
              <a:rPr lang="en-US" sz="2400" b="1"/>
              <a:t>Motivations may not be in clear, tight alignment:</a:t>
            </a:r>
          </a:p>
          <a:p>
            <a:pPr lvl="1"/>
            <a:r>
              <a:rPr lang="en-US" sz="2000" b="1">
                <a:solidFill>
                  <a:srgbClr val="0070C0"/>
                </a:solidFill>
              </a:rPr>
              <a:t>Vendors Goal: </a:t>
            </a:r>
            <a:r>
              <a:rPr lang="en-US" sz="2000"/>
              <a:t>Sell licensing</a:t>
            </a:r>
          </a:p>
          <a:p>
            <a:pPr lvl="1"/>
            <a:r>
              <a:rPr lang="en-US" sz="2000" b="1">
                <a:solidFill>
                  <a:srgbClr val="0070C0"/>
                </a:solidFill>
              </a:rPr>
              <a:t>SA goal: </a:t>
            </a:r>
            <a:r>
              <a:rPr lang="en-US" sz="2000"/>
              <a:t>To implement semantic standards based, data-centric architecture that supports ontology driven decisioning with an enterprise, “real world” perspective </a:t>
            </a:r>
          </a:p>
          <a:p>
            <a:pPr marL="457200" lvl="1" indent="0">
              <a:buNone/>
            </a:pPr>
            <a:r>
              <a:rPr lang="en-US" sz="2000" b="1">
                <a:solidFill>
                  <a:srgbClr val="0070C0"/>
                </a:solidFill>
              </a:rPr>
              <a:t>CONCLUSION: </a:t>
            </a:r>
            <a:r>
              <a:rPr lang="en-US" sz="2000"/>
              <a:t>Develop more hyper-focused partnering offerings that combine product and services to address a specific business problem and expand relationship with successful delivery </a:t>
            </a:r>
            <a:r>
              <a:rPr lang="en-US" sz="2000" b="1"/>
              <a:t>                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4D84FA-A13C-7F28-0804-9262827E9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9521" y="290173"/>
            <a:ext cx="1759040" cy="88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10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88D781-18E5-1CDA-6695-338D4D263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8B49ED-6693-497D-8823-F50F891E8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DCD3BD4-4F32-431E-A9C3-8D2DA60CD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36AAC24-A98C-465E-AFEE-69D698E77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49158 w 12192000"/>
              <a:gd name="connsiteY0" fmla="*/ 2038490 h 6858000"/>
              <a:gd name="connsiteX1" fmla="*/ 9164184 w 12192000"/>
              <a:gd name="connsiteY1" fmla="*/ 2044026 h 6858000"/>
              <a:gd name="connsiteX2" fmla="*/ 9172532 w 12192000"/>
              <a:gd name="connsiteY2" fmla="*/ 2045543 h 6858000"/>
              <a:gd name="connsiteX3" fmla="*/ 9171580 w 12192000"/>
              <a:gd name="connsiteY3" fmla="*/ 2056997 h 6858000"/>
              <a:gd name="connsiteX4" fmla="*/ 9161257 w 12192000"/>
              <a:gd name="connsiteY4" fmla="*/ 2098605 h 6858000"/>
              <a:gd name="connsiteX5" fmla="*/ 9138232 w 12192000"/>
              <a:gd name="connsiteY5" fmla="*/ 2059518 h 6858000"/>
              <a:gd name="connsiteX6" fmla="*/ 9149158 w 12192000"/>
              <a:gd name="connsiteY6" fmla="*/ 2038490 h 6858000"/>
              <a:gd name="connsiteX7" fmla="*/ 9177606 w 12192000"/>
              <a:gd name="connsiteY7" fmla="*/ 1977215 h 6858000"/>
              <a:gd name="connsiteX8" fmla="*/ 9181592 w 12192000"/>
              <a:gd name="connsiteY8" fmla="*/ 1987782 h 6858000"/>
              <a:gd name="connsiteX9" fmla="*/ 9181923 w 12192000"/>
              <a:gd name="connsiteY9" fmla="*/ 1998627 h 6858000"/>
              <a:gd name="connsiteX10" fmla="*/ 9182316 w 12192000"/>
              <a:gd name="connsiteY10" fmla="*/ 2031066 h 6858000"/>
              <a:gd name="connsiteX11" fmla="*/ 9182278 w 12192000"/>
              <a:gd name="connsiteY11" fmla="*/ 2047313 h 6858000"/>
              <a:gd name="connsiteX12" fmla="*/ 9172532 w 12192000"/>
              <a:gd name="connsiteY12" fmla="*/ 2045543 h 6858000"/>
              <a:gd name="connsiteX13" fmla="*/ 9173842 w 12192000"/>
              <a:gd name="connsiteY13" fmla="*/ 2029805 h 6858000"/>
              <a:gd name="connsiteX14" fmla="*/ 9177334 w 12192000"/>
              <a:gd name="connsiteY14" fmla="*/ 1979903 h 6858000"/>
              <a:gd name="connsiteX15" fmla="*/ 3696300 w 12192000"/>
              <a:gd name="connsiteY15" fmla="*/ 1578900 h 6858000"/>
              <a:gd name="connsiteX16" fmla="*/ 3738823 w 12192000"/>
              <a:gd name="connsiteY16" fmla="*/ 1596298 h 6858000"/>
              <a:gd name="connsiteX17" fmla="*/ 3714409 w 12192000"/>
              <a:gd name="connsiteY17" fmla="*/ 1593618 h 6858000"/>
              <a:gd name="connsiteX18" fmla="*/ 3693161 w 12192000"/>
              <a:gd name="connsiteY18" fmla="*/ 1582501 h 6858000"/>
              <a:gd name="connsiteX19" fmla="*/ 3696300 w 12192000"/>
              <a:gd name="connsiteY19" fmla="*/ 1578900 h 6858000"/>
              <a:gd name="connsiteX20" fmla="*/ 3918454 w 12192000"/>
              <a:gd name="connsiteY20" fmla="*/ 1175387 h 6858000"/>
              <a:gd name="connsiteX21" fmla="*/ 4173607 w 12192000"/>
              <a:gd name="connsiteY21" fmla="*/ 1280040 h 6858000"/>
              <a:gd name="connsiteX22" fmla="*/ 4170135 w 12192000"/>
              <a:gd name="connsiteY22" fmla="*/ 1283683 h 6858000"/>
              <a:gd name="connsiteX23" fmla="*/ 3918454 w 12192000"/>
              <a:gd name="connsiteY23" fmla="*/ 1175387 h 6858000"/>
              <a:gd name="connsiteX24" fmla="*/ 8109090 w 12192000"/>
              <a:gd name="connsiteY24" fmla="*/ 602108 h 6858000"/>
              <a:gd name="connsiteX25" fmla="*/ 8113034 w 12192000"/>
              <a:gd name="connsiteY25" fmla="*/ 602645 h 6858000"/>
              <a:gd name="connsiteX26" fmla="*/ 8111220 w 12192000"/>
              <a:gd name="connsiteY26" fmla="*/ 603405 h 6858000"/>
              <a:gd name="connsiteX27" fmla="*/ 8489536 w 12192000"/>
              <a:gd name="connsiteY27" fmla="*/ 389280 h 6858000"/>
              <a:gd name="connsiteX28" fmla="*/ 8470194 w 12192000"/>
              <a:gd name="connsiteY28" fmla="*/ 397527 h 6858000"/>
              <a:gd name="connsiteX29" fmla="*/ 8373511 w 12192000"/>
              <a:gd name="connsiteY29" fmla="*/ 465608 h 6858000"/>
              <a:gd name="connsiteX30" fmla="*/ 8231753 w 12192000"/>
              <a:gd name="connsiteY30" fmla="*/ 560890 h 6858000"/>
              <a:gd name="connsiteX31" fmla="*/ 8199967 w 12192000"/>
              <a:gd name="connsiteY31" fmla="*/ 553465 h 6858000"/>
              <a:gd name="connsiteX32" fmla="*/ 8175616 w 12192000"/>
              <a:gd name="connsiteY32" fmla="*/ 546483 h 6858000"/>
              <a:gd name="connsiteX33" fmla="*/ 8128578 w 12192000"/>
              <a:gd name="connsiteY33" fmla="*/ 563992 h 6858000"/>
              <a:gd name="connsiteX34" fmla="*/ 8104845 w 12192000"/>
              <a:gd name="connsiteY34" fmla="*/ 593172 h 6858000"/>
              <a:gd name="connsiteX35" fmla="*/ 8105615 w 12192000"/>
              <a:gd name="connsiteY35" fmla="*/ 599991 h 6858000"/>
              <a:gd name="connsiteX36" fmla="*/ 8109090 w 12192000"/>
              <a:gd name="connsiteY36" fmla="*/ 602108 h 6858000"/>
              <a:gd name="connsiteX37" fmla="*/ 8092049 w 12192000"/>
              <a:gd name="connsiteY37" fmla="*/ 599788 h 6858000"/>
              <a:gd name="connsiteX38" fmla="*/ 8047646 w 12192000"/>
              <a:gd name="connsiteY38" fmla="*/ 588557 h 6858000"/>
              <a:gd name="connsiteX39" fmla="*/ 7793637 w 12192000"/>
              <a:gd name="connsiteY39" fmla="*/ 681868 h 6858000"/>
              <a:gd name="connsiteX40" fmla="*/ 6007741 w 12192000"/>
              <a:gd name="connsiteY40" fmla="*/ 1095470 h 6858000"/>
              <a:gd name="connsiteX41" fmla="*/ 5902533 w 12192000"/>
              <a:gd name="connsiteY41" fmla="*/ 1103650 h 6858000"/>
              <a:gd name="connsiteX42" fmla="*/ 5164222 w 12192000"/>
              <a:gd name="connsiteY42" fmla="*/ 1163546 h 6858000"/>
              <a:gd name="connsiteX43" fmla="*/ 4395075 w 12192000"/>
              <a:gd name="connsiteY43" fmla="*/ 1082763 h 6858000"/>
              <a:gd name="connsiteX44" fmla="*/ 3939440 w 12192000"/>
              <a:gd name="connsiteY44" fmla="*/ 891265 h 6858000"/>
              <a:gd name="connsiteX45" fmla="*/ 3747894 w 12192000"/>
              <a:gd name="connsiteY45" fmla="*/ 801994 h 6858000"/>
              <a:gd name="connsiteX46" fmla="*/ 3569553 w 12192000"/>
              <a:gd name="connsiteY46" fmla="*/ 697970 h 6858000"/>
              <a:gd name="connsiteX47" fmla="*/ 3507813 w 12192000"/>
              <a:gd name="connsiteY47" fmla="*/ 680216 h 6858000"/>
              <a:gd name="connsiteX48" fmla="*/ 3490455 w 12192000"/>
              <a:gd name="connsiteY48" fmla="*/ 682587 h 6858000"/>
              <a:gd name="connsiteX49" fmla="*/ 3477246 w 12192000"/>
              <a:gd name="connsiteY49" fmla="*/ 691971 h 6858000"/>
              <a:gd name="connsiteX50" fmla="*/ 3484273 w 12192000"/>
              <a:gd name="connsiteY50" fmla="*/ 701857 h 6858000"/>
              <a:gd name="connsiteX51" fmla="*/ 3495638 w 12192000"/>
              <a:gd name="connsiteY51" fmla="*/ 705849 h 6858000"/>
              <a:gd name="connsiteX52" fmla="*/ 3548914 w 12192000"/>
              <a:gd name="connsiteY52" fmla="*/ 733487 h 6858000"/>
              <a:gd name="connsiteX53" fmla="*/ 3551504 w 12192000"/>
              <a:gd name="connsiteY53" fmla="*/ 753036 h 6858000"/>
              <a:gd name="connsiteX54" fmla="*/ 3562075 w 12192000"/>
              <a:gd name="connsiteY54" fmla="*/ 765715 h 6858000"/>
              <a:gd name="connsiteX55" fmla="*/ 3605942 w 12192000"/>
              <a:gd name="connsiteY55" fmla="*/ 772481 h 6858000"/>
              <a:gd name="connsiteX56" fmla="*/ 3499309 w 12192000"/>
              <a:gd name="connsiteY56" fmla="*/ 737079 h 6858000"/>
              <a:gd name="connsiteX57" fmla="*/ 3473788 w 12192000"/>
              <a:gd name="connsiteY57" fmla="*/ 711717 h 6858000"/>
              <a:gd name="connsiteX58" fmla="*/ 3437248 w 12192000"/>
              <a:gd name="connsiteY58" fmla="*/ 714263 h 6858000"/>
              <a:gd name="connsiteX59" fmla="*/ 3413254 w 12192000"/>
              <a:gd name="connsiteY59" fmla="*/ 712874 h 6858000"/>
              <a:gd name="connsiteX60" fmla="*/ 3362511 w 12192000"/>
              <a:gd name="connsiteY60" fmla="*/ 677414 h 6858000"/>
              <a:gd name="connsiteX61" fmla="*/ 3344467 w 12192000"/>
              <a:gd name="connsiteY61" fmla="*/ 679599 h 6858000"/>
              <a:gd name="connsiteX62" fmla="*/ 3347971 w 12192000"/>
              <a:gd name="connsiteY62" fmla="*/ 692328 h 6858000"/>
              <a:gd name="connsiteX63" fmla="*/ 3363008 w 12192000"/>
              <a:gd name="connsiteY63" fmla="*/ 711713 h 6858000"/>
              <a:gd name="connsiteX64" fmla="*/ 3362637 w 12192000"/>
              <a:gd name="connsiteY64" fmla="*/ 727058 h 6858000"/>
              <a:gd name="connsiteX65" fmla="*/ 3376167 w 12192000"/>
              <a:gd name="connsiteY65" fmla="*/ 759779 h 6858000"/>
              <a:gd name="connsiteX66" fmla="*/ 3406203 w 12192000"/>
              <a:gd name="connsiteY66" fmla="*/ 808483 h 6858000"/>
              <a:gd name="connsiteX67" fmla="*/ 3420116 w 12192000"/>
              <a:gd name="connsiteY67" fmla="*/ 820757 h 6858000"/>
              <a:gd name="connsiteX68" fmla="*/ 3429194 w 12192000"/>
              <a:gd name="connsiteY68" fmla="*/ 825831 h 6858000"/>
              <a:gd name="connsiteX69" fmla="*/ 3619149 w 12192000"/>
              <a:gd name="connsiteY69" fmla="*/ 1006561 h 6858000"/>
              <a:gd name="connsiteX70" fmla="*/ 3818654 w 12192000"/>
              <a:gd name="connsiteY70" fmla="*/ 1120369 h 6858000"/>
              <a:gd name="connsiteX71" fmla="*/ 3824021 w 12192000"/>
              <a:gd name="connsiteY71" fmla="*/ 1125355 h 6858000"/>
              <a:gd name="connsiteX72" fmla="*/ 3736668 w 12192000"/>
              <a:gd name="connsiteY72" fmla="*/ 1107215 h 6858000"/>
              <a:gd name="connsiteX73" fmla="*/ 3540174 w 12192000"/>
              <a:gd name="connsiteY73" fmla="*/ 1014247 h 6858000"/>
              <a:gd name="connsiteX74" fmla="*/ 3421640 w 12192000"/>
              <a:gd name="connsiteY74" fmla="*/ 955861 h 6858000"/>
              <a:gd name="connsiteX75" fmla="*/ 3404753 w 12192000"/>
              <a:gd name="connsiteY75" fmla="*/ 944484 h 6858000"/>
              <a:gd name="connsiteX76" fmla="*/ 3393138 w 12192000"/>
              <a:gd name="connsiteY76" fmla="*/ 941865 h 6858000"/>
              <a:gd name="connsiteX77" fmla="*/ 3385712 w 12192000"/>
              <a:gd name="connsiteY77" fmla="*/ 952159 h 6858000"/>
              <a:gd name="connsiteX78" fmla="*/ 3398641 w 12192000"/>
              <a:gd name="connsiteY78" fmla="*/ 986025 h 6858000"/>
              <a:gd name="connsiteX79" fmla="*/ 3489975 w 12192000"/>
              <a:gd name="connsiteY79" fmla="*/ 1045560 h 6858000"/>
              <a:gd name="connsiteX80" fmla="*/ 3617273 w 12192000"/>
              <a:gd name="connsiteY80" fmla="*/ 1114697 h 6858000"/>
              <a:gd name="connsiteX81" fmla="*/ 3623898 w 12192000"/>
              <a:gd name="connsiteY81" fmla="*/ 1123556 h 6858000"/>
              <a:gd name="connsiteX82" fmla="*/ 3552438 w 12192000"/>
              <a:gd name="connsiteY82" fmla="*/ 1090606 h 6858000"/>
              <a:gd name="connsiteX83" fmla="*/ 3482417 w 12192000"/>
              <a:gd name="connsiteY83" fmla="*/ 1059092 h 6858000"/>
              <a:gd name="connsiteX84" fmla="*/ 3463468 w 12192000"/>
              <a:gd name="connsiteY84" fmla="*/ 1057629 h 6858000"/>
              <a:gd name="connsiteX85" fmla="*/ 3459472 w 12192000"/>
              <a:gd name="connsiteY85" fmla="*/ 1074217 h 6858000"/>
              <a:gd name="connsiteX86" fmla="*/ 3494211 w 12192000"/>
              <a:gd name="connsiteY86" fmla="*/ 1112153 h 6858000"/>
              <a:gd name="connsiteX87" fmla="*/ 3663137 w 12192000"/>
              <a:gd name="connsiteY87" fmla="*/ 1205775 h 6858000"/>
              <a:gd name="connsiteX88" fmla="*/ 3748466 w 12192000"/>
              <a:gd name="connsiteY88" fmla="*/ 1260936 h 6858000"/>
              <a:gd name="connsiteX89" fmla="*/ 3753142 w 12192000"/>
              <a:gd name="connsiteY89" fmla="*/ 1276208 h 6858000"/>
              <a:gd name="connsiteX90" fmla="*/ 3791960 w 12192000"/>
              <a:gd name="connsiteY90" fmla="*/ 1298886 h 6858000"/>
              <a:gd name="connsiteX91" fmla="*/ 3816039 w 12192000"/>
              <a:gd name="connsiteY91" fmla="*/ 1301606 h 6858000"/>
              <a:gd name="connsiteX92" fmla="*/ 4094439 w 12192000"/>
              <a:gd name="connsiteY92" fmla="*/ 1448806 h 6858000"/>
              <a:gd name="connsiteX93" fmla="*/ 4222870 w 12192000"/>
              <a:gd name="connsiteY93" fmla="*/ 1493379 h 6858000"/>
              <a:gd name="connsiteX94" fmla="*/ 4223141 w 12192000"/>
              <a:gd name="connsiteY94" fmla="*/ 1497641 h 6858000"/>
              <a:gd name="connsiteX95" fmla="*/ 4222428 w 12192000"/>
              <a:gd name="connsiteY95" fmla="*/ 1502292 h 6858000"/>
              <a:gd name="connsiteX96" fmla="*/ 4039973 w 12192000"/>
              <a:gd name="connsiteY96" fmla="*/ 1434198 h 6858000"/>
              <a:gd name="connsiteX97" fmla="*/ 3564773 w 12192000"/>
              <a:gd name="connsiteY97" fmla="*/ 1226279 h 6858000"/>
              <a:gd name="connsiteX98" fmla="*/ 3420650 w 12192000"/>
              <a:gd name="connsiteY98" fmla="*/ 1141464 h 6858000"/>
              <a:gd name="connsiteX99" fmla="*/ 3320669 w 12192000"/>
              <a:gd name="connsiteY99" fmla="*/ 1088883 h 6858000"/>
              <a:gd name="connsiteX100" fmla="*/ 3270102 w 12192000"/>
              <a:gd name="connsiteY100" fmla="*/ 1082659 h 6858000"/>
              <a:gd name="connsiteX101" fmla="*/ 3251648 w 12192000"/>
              <a:gd name="connsiteY101" fmla="*/ 1094290 h 6858000"/>
              <a:gd name="connsiteX102" fmla="*/ 3263506 w 12192000"/>
              <a:gd name="connsiteY102" fmla="*/ 1106005 h 6858000"/>
              <a:gd name="connsiteX103" fmla="*/ 3268636 w 12192000"/>
              <a:gd name="connsiteY103" fmla="*/ 1107265 h 6858000"/>
              <a:gd name="connsiteX104" fmla="*/ 3325089 w 12192000"/>
              <a:gd name="connsiteY104" fmla="*/ 1137201 h 6858000"/>
              <a:gd name="connsiteX105" fmla="*/ 3326003 w 12192000"/>
              <a:gd name="connsiteY105" fmla="*/ 1151585 h 6858000"/>
              <a:gd name="connsiteX106" fmla="*/ 3336410 w 12192000"/>
              <a:gd name="connsiteY106" fmla="*/ 1166967 h 6858000"/>
              <a:gd name="connsiteX107" fmla="*/ 3375112 w 12192000"/>
              <a:gd name="connsiteY107" fmla="*/ 1171943 h 6858000"/>
              <a:gd name="connsiteX108" fmla="*/ 3326222 w 12192000"/>
              <a:gd name="connsiteY108" fmla="*/ 1170885 h 6858000"/>
              <a:gd name="connsiteX109" fmla="*/ 3254679 w 12192000"/>
              <a:gd name="connsiteY109" fmla="*/ 1120765 h 6858000"/>
              <a:gd name="connsiteX110" fmla="*/ 3242188 w 12192000"/>
              <a:gd name="connsiteY110" fmla="*/ 1109662 h 6858000"/>
              <a:gd name="connsiteX111" fmla="*/ 3211499 w 12192000"/>
              <a:gd name="connsiteY111" fmla="*/ 1114184 h 6858000"/>
              <a:gd name="connsiteX112" fmla="*/ 3185849 w 12192000"/>
              <a:gd name="connsiteY112" fmla="*/ 1113265 h 6858000"/>
              <a:gd name="connsiteX113" fmla="*/ 3135843 w 12192000"/>
              <a:gd name="connsiteY113" fmla="*/ 1078789 h 6858000"/>
              <a:gd name="connsiteX114" fmla="*/ 3119118 w 12192000"/>
              <a:gd name="connsiteY114" fmla="*/ 1080546 h 6858000"/>
              <a:gd name="connsiteX115" fmla="*/ 3120198 w 12192000"/>
              <a:gd name="connsiteY115" fmla="*/ 1092226 h 6858000"/>
              <a:gd name="connsiteX116" fmla="*/ 3131691 w 12192000"/>
              <a:gd name="connsiteY116" fmla="*/ 1108819 h 6858000"/>
              <a:gd name="connsiteX117" fmla="*/ 3129914 w 12192000"/>
              <a:gd name="connsiteY117" fmla="*/ 1139097 h 6858000"/>
              <a:gd name="connsiteX118" fmla="*/ 3133955 w 12192000"/>
              <a:gd name="connsiteY118" fmla="*/ 1154983 h 6858000"/>
              <a:gd name="connsiteX119" fmla="*/ 3178170 w 12192000"/>
              <a:gd name="connsiteY119" fmla="*/ 1214855 h 6858000"/>
              <a:gd name="connsiteX120" fmla="*/ 3185378 w 12192000"/>
              <a:gd name="connsiteY120" fmla="*/ 1222303 h 6858000"/>
              <a:gd name="connsiteX121" fmla="*/ 3206608 w 12192000"/>
              <a:gd name="connsiteY121" fmla="*/ 1233153 h 6858000"/>
              <a:gd name="connsiteX122" fmla="*/ 3379140 w 12192000"/>
              <a:gd name="connsiteY122" fmla="*/ 1399351 h 6858000"/>
              <a:gd name="connsiteX123" fmla="*/ 3603118 w 12192000"/>
              <a:gd name="connsiteY123" fmla="*/ 1527375 h 6858000"/>
              <a:gd name="connsiteX124" fmla="*/ 3524809 w 12192000"/>
              <a:gd name="connsiteY124" fmla="*/ 1513774 h 6858000"/>
              <a:gd name="connsiteX125" fmla="*/ 3327498 w 12192000"/>
              <a:gd name="connsiteY125" fmla="*/ 1423859 h 6858000"/>
              <a:gd name="connsiteX126" fmla="*/ 3192949 w 12192000"/>
              <a:gd name="connsiteY126" fmla="*/ 1357211 h 6858000"/>
              <a:gd name="connsiteX127" fmla="*/ 3180259 w 12192000"/>
              <a:gd name="connsiteY127" fmla="*/ 1348280 h 6858000"/>
              <a:gd name="connsiteX128" fmla="*/ 3166204 w 12192000"/>
              <a:gd name="connsiteY128" fmla="*/ 1344345 h 6858000"/>
              <a:gd name="connsiteX129" fmla="*/ 3159212 w 12192000"/>
              <a:gd name="connsiteY129" fmla="*/ 1356197 h 6858000"/>
              <a:gd name="connsiteX130" fmla="*/ 3181004 w 12192000"/>
              <a:gd name="connsiteY130" fmla="*/ 1397043 h 6858000"/>
              <a:gd name="connsiteX131" fmla="*/ 3273385 w 12192000"/>
              <a:gd name="connsiteY131" fmla="*/ 1451888 h 6858000"/>
              <a:gd name="connsiteX132" fmla="*/ 3401776 w 12192000"/>
              <a:gd name="connsiteY132" fmla="*/ 1527602 h 6858000"/>
              <a:gd name="connsiteX133" fmla="*/ 3318130 w 12192000"/>
              <a:gd name="connsiteY133" fmla="*/ 1488342 h 6858000"/>
              <a:gd name="connsiteX134" fmla="*/ 3253694 w 12192000"/>
              <a:gd name="connsiteY134" fmla="*/ 1459909 h 6858000"/>
              <a:gd name="connsiteX135" fmla="*/ 3236182 w 12192000"/>
              <a:gd name="connsiteY135" fmla="*/ 1459882 h 6858000"/>
              <a:gd name="connsiteX136" fmla="*/ 3233020 w 12192000"/>
              <a:gd name="connsiteY136" fmla="*/ 1473687 h 6858000"/>
              <a:gd name="connsiteX137" fmla="*/ 3272474 w 12192000"/>
              <a:gd name="connsiteY137" fmla="*/ 1516958 h 6858000"/>
              <a:gd name="connsiteX138" fmla="*/ 3341300 w 12192000"/>
              <a:gd name="connsiteY138" fmla="*/ 1556133 h 6858000"/>
              <a:gd name="connsiteX139" fmla="*/ 3267359 w 12192000"/>
              <a:gd name="connsiteY139" fmla="*/ 1553009 h 6858000"/>
              <a:gd name="connsiteX140" fmla="*/ 3329832 w 12192000"/>
              <a:gd name="connsiteY140" fmla="*/ 1587586 h 6858000"/>
              <a:gd name="connsiteX141" fmla="*/ 3421490 w 12192000"/>
              <a:gd name="connsiteY141" fmla="*/ 1599301 h 6858000"/>
              <a:gd name="connsiteX142" fmla="*/ 3459923 w 12192000"/>
              <a:gd name="connsiteY142" fmla="*/ 1621220 h 6858000"/>
              <a:gd name="connsiteX143" fmla="*/ 3497490 w 12192000"/>
              <a:gd name="connsiteY143" fmla="*/ 1645392 h 6858000"/>
              <a:gd name="connsiteX144" fmla="*/ 3507803 w 12192000"/>
              <a:gd name="connsiteY144" fmla="*/ 1669911 h 6858000"/>
              <a:gd name="connsiteX145" fmla="*/ 3543290 w 12192000"/>
              <a:gd name="connsiteY145" fmla="*/ 1703729 h 6858000"/>
              <a:gd name="connsiteX146" fmla="*/ 3546999 w 12192000"/>
              <a:gd name="connsiteY146" fmla="*/ 1703818 h 6858000"/>
              <a:gd name="connsiteX147" fmla="*/ 3572295 w 12192000"/>
              <a:gd name="connsiteY147" fmla="*/ 1720349 h 6858000"/>
              <a:gd name="connsiteX148" fmla="*/ 3596922 w 12192000"/>
              <a:gd name="connsiteY148" fmla="*/ 1736961 h 6858000"/>
              <a:gd name="connsiteX149" fmla="*/ 3602119 w 12192000"/>
              <a:gd name="connsiteY149" fmla="*/ 1739285 h 6858000"/>
              <a:gd name="connsiteX150" fmla="*/ 3734798 w 12192000"/>
              <a:gd name="connsiteY150" fmla="*/ 1845349 h 6858000"/>
              <a:gd name="connsiteX151" fmla="*/ 3743174 w 12192000"/>
              <a:gd name="connsiteY151" fmla="*/ 1849972 h 6858000"/>
              <a:gd name="connsiteX152" fmla="*/ 3478101 w 12192000"/>
              <a:gd name="connsiteY152" fmla="*/ 1864630 h 6858000"/>
              <a:gd name="connsiteX153" fmla="*/ 3135293 w 12192000"/>
              <a:gd name="connsiteY153" fmla="*/ 1816496 h 6858000"/>
              <a:gd name="connsiteX154" fmla="*/ 3158510 w 12192000"/>
              <a:gd name="connsiteY154" fmla="*/ 1863880 h 6858000"/>
              <a:gd name="connsiteX155" fmla="*/ 3148907 w 12192000"/>
              <a:gd name="connsiteY155" fmla="*/ 1908797 h 6858000"/>
              <a:gd name="connsiteX156" fmla="*/ 3150229 w 12192000"/>
              <a:gd name="connsiteY156" fmla="*/ 2003660 h 6858000"/>
              <a:gd name="connsiteX157" fmla="*/ 3154219 w 12192000"/>
              <a:gd name="connsiteY157" fmla="*/ 2018746 h 6858000"/>
              <a:gd name="connsiteX158" fmla="*/ 3079313 w 12192000"/>
              <a:gd name="connsiteY158" fmla="*/ 2037482 h 6858000"/>
              <a:gd name="connsiteX159" fmla="*/ 3545961 w 12192000"/>
              <a:gd name="connsiteY159" fmla="*/ 2248584 h 6858000"/>
              <a:gd name="connsiteX160" fmla="*/ 3242382 w 12192000"/>
              <a:gd name="connsiteY160" fmla="*/ 2234890 h 6858000"/>
              <a:gd name="connsiteX161" fmla="*/ 3206852 w 12192000"/>
              <a:gd name="connsiteY161" fmla="*/ 2322137 h 6858000"/>
              <a:gd name="connsiteX162" fmla="*/ 3352854 w 12192000"/>
              <a:gd name="connsiteY162" fmla="*/ 2378270 h 6858000"/>
              <a:gd name="connsiteX163" fmla="*/ 3414532 w 12192000"/>
              <a:gd name="connsiteY163" fmla="*/ 2516826 h 6858000"/>
              <a:gd name="connsiteX164" fmla="*/ 3397577 w 12192000"/>
              <a:gd name="connsiteY164" fmla="*/ 2652556 h 6858000"/>
              <a:gd name="connsiteX165" fmla="*/ 3339773 w 12192000"/>
              <a:gd name="connsiteY165" fmla="*/ 2701969 h 6858000"/>
              <a:gd name="connsiteX166" fmla="*/ 3257041 w 12192000"/>
              <a:gd name="connsiteY166" fmla="*/ 2788223 h 6858000"/>
              <a:gd name="connsiteX167" fmla="*/ 3205892 w 12192000"/>
              <a:gd name="connsiteY167" fmla="*/ 2841661 h 6858000"/>
              <a:gd name="connsiteX168" fmla="*/ 3016267 w 12192000"/>
              <a:gd name="connsiteY168" fmla="*/ 2846107 h 6858000"/>
              <a:gd name="connsiteX169" fmla="*/ 3275450 w 12192000"/>
              <a:gd name="connsiteY169" fmla="*/ 2934701 h 6858000"/>
              <a:gd name="connsiteX170" fmla="*/ 3071009 w 12192000"/>
              <a:gd name="connsiteY170" fmla="*/ 2944432 h 6858000"/>
              <a:gd name="connsiteX171" fmla="*/ 3005039 w 12192000"/>
              <a:gd name="connsiteY171" fmla="*/ 2960743 h 6858000"/>
              <a:gd name="connsiteX172" fmla="*/ 3045255 w 12192000"/>
              <a:gd name="connsiteY172" fmla="*/ 2994795 h 6858000"/>
              <a:gd name="connsiteX173" fmla="*/ 3198769 w 12192000"/>
              <a:gd name="connsiteY173" fmla="*/ 3041966 h 6858000"/>
              <a:gd name="connsiteX174" fmla="*/ 3518098 w 12192000"/>
              <a:gd name="connsiteY174" fmla="*/ 3181525 h 6858000"/>
              <a:gd name="connsiteX175" fmla="*/ 3214876 w 12192000"/>
              <a:gd name="connsiteY175" fmla="*/ 3136382 h 6858000"/>
              <a:gd name="connsiteX176" fmla="*/ 3540876 w 12192000"/>
              <a:gd name="connsiteY176" fmla="*/ 3280232 h 6858000"/>
              <a:gd name="connsiteX177" fmla="*/ 3614558 w 12192000"/>
              <a:gd name="connsiteY177" fmla="*/ 3332242 h 6858000"/>
              <a:gd name="connsiteX178" fmla="*/ 3765439 w 12192000"/>
              <a:gd name="connsiteY178" fmla="*/ 3465091 h 6858000"/>
              <a:gd name="connsiteX179" fmla="*/ 3759506 w 12192000"/>
              <a:gd name="connsiteY179" fmla="*/ 3482990 h 6858000"/>
              <a:gd name="connsiteX180" fmla="*/ 3594905 w 12192000"/>
              <a:gd name="connsiteY180" fmla="*/ 3478499 h 6858000"/>
              <a:gd name="connsiteX181" fmla="*/ 3814430 w 12192000"/>
              <a:gd name="connsiteY181" fmla="*/ 3578876 h 6858000"/>
              <a:gd name="connsiteX182" fmla="*/ 4039126 w 12192000"/>
              <a:gd name="connsiteY182" fmla="*/ 3649369 h 6858000"/>
              <a:gd name="connsiteX183" fmla="*/ 3883152 w 12192000"/>
              <a:gd name="connsiteY183" fmla="*/ 3653497 h 6858000"/>
              <a:gd name="connsiteX184" fmla="*/ 3666446 w 12192000"/>
              <a:gd name="connsiteY184" fmla="*/ 3623911 h 6858000"/>
              <a:gd name="connsiteX185" fmla="*/ 3593589 w 12192000"/>
              <a:gd name="connsiteY185" fmla="*/ 3653674 h 6858000"/>
              <a:gd name="connsiteX186" fmla="*/ 3801238 w 12192000"/>
              <a:gd name="connsiteY186" fmla="*/ 3720862 h 6858000"/>
              <a:gd name="connsiteX187" fmla="*/ 3919545 w 12192000"/>
              <a:gd name="connsiteY187" fmla="*/ 3749213 h 6858000"/>
              <a:gd name="connsiteX188" fmla="*/ 3968059 w 12192000"/>
              <a:gd name="connsiteY188" fmla="*/ 3776085 h 6858000"/>
              <a:gd name="connsiteX189" fmla="*/ 4107750 w 12192000"/>
              <a:gd name="connsiteY189" fmla="*/ 3875932 h 6858000"/>
              <a:gd name="connsiteX190" fmla="*/ 4504087 w 12192000"/>
              <a:gd name="connsiteY190" fmla="*/ 3955698 h 6858000"/>
              <a:gd name="connsiteX191" fmla="*/ 5880284 w 12192000"/>
              <a:gd name="connsiteY191" fmla="*/ 3998656 h 6858000"/>
              <a:gd name="connsiteX192" fmla="*/ 8461494 w 12192000"/>
              <a:gd name="connsiteY192" fmla="*/ 3007971 h 6858000"/>
              <a:gd name="connsiteX193" fmla="*/ 8587378 w 12192000"/>
              <a:gd name="connsiteY193" fmla="*/ 2896089 h 6858000"/>
              <a:gd name="connsiteX194" fmla="*/ 8693826 w 12192000"/>
              <a:gd name="connsiteY194" fmla="*/ 2796225 h 6858000"/>
              <a:gd name="connsiteX195" fmla="*/ 8633488 w 12192000"/>
              <a:gd name="connsiteY195" fmla="*/ 2774007 h 6858000"/>
              <a:gd name="connsiteX196" fmla="*/ 8707444 w 12192000"/>
              <a:gd name="connsiteY196" fmla="*/ 2682105 h 6858000"/>
              <a:gd name="connsiteX197" fmla="*/ 8942552 w 12192000"/>
              <a:gd name="connsiteY197" fmla="*/ 2397549 h 6858000"/>
              <a:gd name="connsiteX198" fmla="*/ 9049260 w 12192000"/>
              <a:gd name="connsiteY198" fmla="*/ 2328253 h 6858000"/>
              <a:gd name="connsiteX199" fmla="*/ 9174304 w 12192000"/>
              <a:gd name="connsiteY199" fmla="*/ 2171379 h 6858000"/>
              <a:gd name="connsiteX200" fmla="*/ 9182228 w 12192000"/>
              <a:gd name="connsiteY200" fmla="*/ 2067678 h 6858000"/>
              <a:gd name="connsiteX201" fmla="*/ 9182278 w 12192000"/>
              <a:gd name="connsiteY201" fmla="*/ 2047313 h 6858000"/>
              <a:gd name="connsiteX202" fmla="*/ 9184334 w 12192000"/>
              <a:gd name="connsiteY202" fmla="*/ 2047686 h 6858000"/>
              <a:gd name="connsiteX203" fmla="*/ 9185124 w 12192000"/>
              <a:gd name="connsiteY203" fmla="*/ 1997142 h 6858000"/>
              <a:gd name="connsiteX204" fmla="*/ 9181592 w 12192000"/>
              <a:gd name="connsiteY204" fmla="*/ 1987782 h 6858000"/>
              <a:gd name="connsiteX205" fmla="*/ 9181190 w 12192000"/>
              <a:gd name="connsiteY205" fmla="*/ 1974586 h 6858000"/>
              <a:gd name="connsiteX206" fmla="*/ 9180252 w 12192000"/>
              <a:gd name="connsiteY206" fmla="*/ 1963164 h 6858000"/>
              <a:gd name="connsiteX207" fmla="*/ 9178804 w 12192000"/>
              <a:gd name="connsiteY207" fmla="*/ 1965349 h 6858000"/>
              <a:gd name="connsiteX208" fmla="*/ 9177606 w 12192000"/>
              <a:gd name="connsiteY208" fmla="*/ 1977215 h 6858000"/>
              <a:gd name="connsiteX209" fmla="*/ 9169614 w 12192000"/>
              <a:gd name="connsiteY209" fmla="*/ 1956030 h 6858000"/>
              <a:gd name="connsiteX210" fmla="*/ 9046406 w 12192000"/>
              <a:gd name="connsiteY210" fmla="*/ 1838718 h 6858000"/>
              <a:gd name="connsiteX211" fmla="*/ 8960873 w 12192000"/>
              <a:gd name="connsiteY211" fmla="*/ 1764524 h 6858000"/>
              <a:gd name="connsiteX212" fmla="*/ 8946755 w 12192000"/>
              <a:gd name="connsiteY212" fmla="*/ 1690806 h 6858000"/>
              <a:gd name="connsiteX213" fmla="*/ 8786897 w 12192000"/>
              <a:gd name="connsiteY213" fmla="*/ 1665607 h 6858000"/>
              <a:gd name="connsiteX214" fmla="*/ 8924505 w 12192000"/>
              <a:gd name="connsiteY214" fmla="*/ 1489227 h 6858000"/>
              <a:gd name="connsiteX215" fmla="*/ 8937122 w 12192000"/>
              <a:gd name="connsiteY215" fmla="*/ 1454681 h 6858000"/>
              <a:gd name="connsiteX216" fmla="*/ 8841119 w 12192000"/>
              <a:gd name="connsiteY216" fmla="*/ 1348202 h 6858000"/>
              <a:gd name="connsiteX217" fmla="*/ 8825548 w 12192000"/>
              <a:gd name="connsiteY217" fmla="*/ 1331028 h 6858000"/>
              <a:gd name="connsiteX218" fmla="*/ 8790413 w 12192000"/>
              <a:gd name="connsiteY218" fmla="*/ 1297436 h 6858000"/>
              <a:gd name="connsiteX219" fmla="*/ 8695944 w 12192000"/>
              <a:gd name="connsiteY219" fmla="*/ 1299752 h 6858000"/>
              <a:gd name="connsiteX220" fmla="*/ 8743050 w 12192000"/>
              <a:gd name="connsiteY220" fmla="*/ 1267471 h 6858000"/>
              <a:gd name="connsiteX221" fmla="*/ 8831902 w 12192000"/>
              <a:gd name="connsiteY221" fmla="*/ 1166250 h 6858000"/>
              <a:gd name="connsiteX222" fmla="*/ 8763628 w 12192000"/>
              <a:gd name="connsiteY222" fmla="*/ 1088084 h 6858000"/>
              <a:gd name="connsiteX223" fmla="*/ 8744052 w 12192000"/>
              <a:gd name="connsiteY223" fmla="*/ 1076766 h 6858000"/>
              <a:gd name="connsiteX224" fmla="*/ 8767977 w 12192000"/>
              <a:gd name="connsiteY224" fmla="*/ 1055883 h 6858000"/>
              <a:gd name="connsiteX225" fmla="*/ 8815418 w 12192000"/>
              <a:gd name="connsiteY225" fmla="*/ 986519 h 6858000"/>
              <a:gd name="connsiteX226" fmla="*/ 8839356 w 12192000"/>
              <a:gd name="connsiteY226" fmla="*/ 939330 h 6858000"/>
              <a:gd name="connsiteX227" fmla="*/ 8869964 w 12192000"/>
              <a:gd name="connsiteY227" fmla="*/ 917639 h 6858000"/>
              <a:gd name="connsiteX228" fmla="*/ 8876013 w 12192000"/>
              <a:gd name="connsiteY228" fmla="*/ 901606 h 6858000"/>
              <a:gd name="connsiteX229" fmla="*/ 8855230 w 12192000"/>
              <a:gd name="connsiteY229" fmla="*/ 828963 h 6858000"/>
              <a:gd name="connsiteX230" fmla="*/ 8844988 w 12192000"/>
              <a:gd name="connsiteY230" fmla="*/ 810876 h 6858000"/>
              <a:gd name="connsiteX231" fmla="*/ 8768255 w 12192000"/>
              <a:gd name="connsiteY231" fmla="*/ 747963 h 6858000"/>
              <a:gd name="connsiteX232" fmla="*/ 8692953 w 12192000"/>
              <a:gd name="connsiteY232" fmla="*/ 638707 h 6858000"/>
              <a:gd name="connsiteX233" fmla="*/ 8674423 w 12192000"/>
              <a:gd name="connsiteY233" fmla="*/ 564449 h 6858000"/>
              <a:gd name="connsiteX234" fmla="*/ 8667642 w 12192000"/>
              <a:gd name="connsiteY234" fmla="*/ 547822 h 6858000"/>
              <a:gd name="connsiteX235" fmla="*/ 8661198 w 12192000"/>
              <a:gd name="connsiteY235" fmla="*/ 478275 h 6858000"/>
              <a:gd name="connsiteX236" fmla="*/ 8645813 w 12192000"/>
              <a:gd name="connsiteY236" fmla="*/ 464032 h 6858000"/>
              <a:gd name="connsiteX237" fmla="*/ 8512338 w 12192000"/>
              <a:gd name="connsiteY237" fmla="*/ 477784 h 6858000"/>
              <a:gd name="connsiteX238" fmla="*/ 8481050 w 12192000"/>
              <a:gd name="connsiteY238" fmla="*/ 430572 h 6858000"/>
              <a:gd name="connsiteX239" fmla="*/ 8498220 w 12192000"/>
              <a:gd name="connsiteY239" fmla="*/ 404064 h 6858000"/>
              <a:gd name="connsiteX240" fmla="*/ 8489536 w 12192000"/>
              <a:gd name="connsiteY240" fmla="*/ 389280 h 6858000"/>
              <a:gd name="connsiteX241" fmla="*/ 0 w 12192000"/>
              <a:gd name="connsiteY241" fmla="*/ 0 h 6858000"/>
              <a:gd name="connsiteX242" fmla="*/ 12192000 w 12192000"/>
              <a:gd name="connsiteY242" fmla="*/ 0 h 6858000"/>
              <a:gd name="connsiteX243" fmla="*/ 12192000 w 12192000"/>
              <a:gd name="connsiteY243" fmla="*/ 6858000 h 6858000"/>
              <a:gd name="connsiteX244" fmla="*/ 0 w 12192000"/>
              <a:gd name="connsiteY2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</a:cxnLst>
            <a:rect l="l" t="t" r="r" b="b"/>
            <a:pathLst>
              <a:path w="12192000" h="6858000">
                <a:moveTo>
                  <a:pt x="9149158" y="2038490"/>
                </a:moveTo>
                <a:cubicBezTo>
                  <a:pt x="9152630" y="2038396"/>
                  <a:pt x="9157442" y="2039945"/>
                  <a:pt x="9164184" y="2044026"/>
                </a:cubicBezTo>
                <a:lnTo>
                  <a:pt x="9172532" y="2045543"/>
                </a:lnTo>
                <a:lnTo>
                  <a:pt x="9171580" y="2056997"/>
                </a:lnTo>
                <a:cubicBezTo>
                  <a:pt x="9169082" y="2082897"/>
                  <a:pt x="9165822" y="2102884"/>
                  <a:pt x="9161257" y="2098605"/>
                </a:cubicBezTo>
                <a:cubicBezTo>
                  <a:pt x="9149066" y="2086928"/>
                  <a:pt x="9130962" y="2077578"/>
                  <a:pt x="9138232" y="2059518"/>
                </a:cubicBezTo>
                <a:cubicBezTo>
                  <a:pt x="9140394" y="2053821"/>
                  <a:pt x="9138743" y="2038771"/>
                  <a:pt x="9149158" y="2038490"/>
                </a:cubicBezTo>
                <a:close/>
                <a:moveTo>
                  <a:pt x="9177606" y="1977215"/>
                </a:moveTo>
                <a:lnTo>
                  <a:pt x="9181592" y="1987782"/>
                </a:lnTo>
                <a:lnTo>
                  <a:pt x="9181923" y="1998627"/>
                </a:lnTo>
                <a:cubicBezTo>
                  <a:pt x="9182120" y="2008276"/>
                  <a:pt x="9182258" y="2019324"/>
                  <a:pt x="9182316" y="2031066"/>
                </a:cubicBezTo>
                <a:lnTo>
                  <a:pt x="9182278" y="2047313"/>
                </a:lnTo>
                <a:lnTo>
                  <a:pt x="9172532" y="2045543"/>
                </a:lnTo>
                <a:lnTo>
                  <a:pt x="9173842" y="2029805"/>
                </a:lnTo>
                <a:cubicBezTo>
                  <a:pt x="9175210" y="2011268"/>
                  <a:pt x="9176320" y="1992822"/>
                  <a:pt x="9177334" y="1979903"/>
                </a:cubicBezTo>
                <a:close/>
                <a:moveTo>
                  <a:pt x="3696300" y="1578900"/>
                </a:moveTo>
                <a:cubicBezTo>
                  <a:pt x="3710474" y="1584699"/>
                  <a:pt x="3724648" y="1590499"/>
                  <a:pt x="3738823" y="1596298"/>
                </a:cubicBezTo>
                <a:cubicBezTo>
                  <a:pt x="3731018" y="1595365"/>
                  <a:pt x="3722545" y="1594511"/>
                  <a:pt x="3714409" y="1593618"/>
                </a:cubicBezTo>
                <a:cubicBezTo>
                  <a:pt x="3707437" y="1589899"/>
                  <a:pt x="3700149" y="1586487"/>
                  <a:pt x="3693161" y="1582501"/>
                </a:cubicBezTo>
                <a:cubicBezTo>
                  <a:pt x="3694096" y="1581313"/>
                  <a:pt x="3695364" y="1580088"/>
                  <a:pt x="3696300" y="1578900"/>
                </a:cubicBezTo>
                <a:close/>
                <a:moveTo>
                  <a:pt x="3918454" y="1175387"/>
                </a:moveTo>
                <a:cubicBezTo>
                  <a:pt x="4003499" y="1210184"/>
                  <a:pt x="4088562" y="1245245"/>
                  <a:pt x="4173607" y="1280040"/>
                </a:cubicBezTo>
                <a:cubicBezTo>
                  <a:pt x="4172338" y="1281268"/>
                  <a:pt x="4171404" y="1282454"/>
                  <a:pt x="4170135" y="1283683"/>
                </a:cubicBezTo>
                <a:cubicBezTo>
                  <a:pt x="4077511" y="1256783"/>
                  <a:pt x="3989628" y="1225016"/>
                  <a:pt x="3918454" y="1175387"/>
                </a:cubicBezTo>
                <a:close/>
                <a:moveTo>
                  <a:pt x="8109090" y="602108"/>
                </a:moveTo>
                <a:lnTo>
                  <a:pt x="8113034" y="602645"/>
                </a:lnTo>
                <a:cubicBezTo>
                  <a:pt x="8117145" y="603257"/>
                  <a:pt x="8117456" y="603522"/>
                  <a:pt x="8111220" y="603405"/>
                </a:cubicBezTo>
                <a:close/>
                <a:moveTo>
                  <a:pt x="8489536" y="389280"/>
                </a:moveTo>
                <a:cubicBezTo>
                  <a:pt x="8479909" y="386150"/>
                  <a:pt x="8475270" y="392618"/>
                  <a:pt x="8470194" y="397527"/>
                </a:cubicBezTo>
                <a:cubicBezTo>
                  <a:pt x="8442581" y="423957"/>
                  <a:pt x="8407160" y="444085"/>
                  <a:pt x="8373511" y="465608"/>
                </a:cubicBezTo>
                <a:cubicBezTo>
                  <a:pt x="8325315" y="496678"/>
                  <a:pt x="8274262" y="525140"/>
                  <a:pt x="8231753" y="560890"/>
                </a:cubicBezTo>
                <a:cubicBezTo>
                  <a:pt x="8220884" y="569991"/>
                  <a:pt x="8202133" y="566357"/>
                  <a:pt x="8199967" y="553465"/>
                </a:cubicBezTo>
                <a:cubicBezTo>
                  <a:pt x="8197799" y="540575"/>
                  <a:pt x="8188778" y="541668"/>
                  <a:pt x="8175616" y="546483"/>
                </a:cubicBezTo>
                <a:cubicBezTo>
                  <a:pt x="8159813" y="552155"/>
                  <a:pt x="8144012" y="557828"/>
                  <a:pt x="8128578" y="563992"/>
                </a:cubicBezTo>
                <a:cubicBezTo>
                  <a:pt x="8112493" y="570503"/>
                  <a:pt x="8105752" y="580983"/>
                  <a:pt x="8104845" y="593172"/>
                </a:cubicBezTo>
                <a:cubicBezTo>
                  <a:pt x="8104654" y="595478"/>
                  <a:pt x="8104732" y="598018"/>
                  <a:pt x="8105615" y="599991"/>
                </a:cubicBezTo>
                <a:lnTo>
                  <a:pt x="8109090" y="602108"/>
                </a:lnTo>
                <a:lnTo>
                  <a:pt x="8092049" y="599788"/>
                </a:lnTo>
                <a:cubicBezTo>
                  <a:pt x="8074125" y="597229"/>
                  <a:pt x="8051995" y="593399"/>
                  <a:pt x="8047646" y="588557"/>
                </a:cubicBezTo>
                <a:cubicBezTo>
                  <a:pt x="8047278" y="588065"/>
                  <a:pt x="7852240" y="650342"/>
                  <a:pt x="7793637" y="681868"/>
                </a:cubicBezTo>
                <a:cubicBezTo>
                  <a:pt x="7757179" y="701583"/>
                  <a:pt x="7034011" y="1031296"/>
                  <a:pt x="6007741" y="1095470"/>
                </a:cubicBezTo>
                <a:cubicBezTo>
                  <a:pt x="5971519" y="1097710"/>
                  <a:pt x="5937353" y="1100506"/>
                  <a:pt x="5902533" y="1103650"/>
                </a:cubicBezTo>
                <a:cubicBezTo>
                  <a:pt x="5594429" y="1129961"/>
                  <a:pt x="5292360" y="1161179"/>
                  <a:pt x="5164222" y="1163546"/>
                </a:cubicBezTo>
                <a:cubicBezTo>
                  <a:pt x="5063988" y="1165217"/>
                  <a:pt x="4549164" y="1138992"/>
                  <a:pt x="4395075" y="1082763"/>
                </a:cubicBezTo>
                <a:cubicBezTo>
                  <a:pt x="4237527" y="1025076"/>
                  <a:pt x="4088158" y="958345"/>
                  <a:pt x="3939440" y="891265"/>
                </a:cubicBezTo>
                <a:cubicBezTo>
                  <a:pt x="3874968" y="862299"/>
                  <a:pt x="3806689" y="837016"/>
                  <a:pt x="3747894" y="801994"/>
                </a:cubicBezTo>
                <a:cubicBezTo>
                  <a:pt x="3689082" y="766706"/>
                  <a:pt x="3632839" y="729495"/>
                  <a:pt x="3569553" y="697970"/>
                </a:cubicBezTo>
                <a:cubicBezTo>
                  <a:pt x="3551464" y="688887"/>
                  <a:pt x="3533327" y="679005"/>
                  <a:pt x="3507813" y="680216"/>
                </a:cubicBezTo>
                <a:cubicBezTo>
                  <a:pt x="3502099" y="680371"/>
                  <a:pt x="3496101" y="681365"/>
                  <a:pt x="3490455" y="682587"/>
                </a:cubicBezTo>
                <a:cubicBezTo>
                  <a:pt x="3484140" y="683888"/>
                  <a:pt x="3479298" y="687159"/>
                  <a:pt x="3477246" y="691971"/>
                </a:cubicBezTo>
                <a:cubicBezTo>
                  <a:pt x="3475230" y="697315"/>
                  <a:pt x="3479426" y="699760"/>
                  <a:pt x="3484273" y="701857"/>
                </a:cubicBezTo>
                <a:cubicBezTo>
                  <a:pt x="3487733" y="703316"/>
                  <a:pt x="3491260" y="705843"/>
                  <a:pt x="3495638" y="705849"/>
                </a:cubicBezTo>
                <a:cubicBezTo>
                  <a:pt x="3523576" y="705686"/>
                  <a:pt x="3534967" y="720681"/>
                  <a:pt x="3548914" y="733487"/>
                </a:cubicBezTo>
                <a:cubicBezTo>
                  <a:pt x="3554984" y="738925"/>
                  <a:pt x="3561304" y="742991"/>
                  <a:pt x="3551504" y="753036"/>
                </a:cubicBezTo>
                <a:cubicBezTo>
                  <a:pt x="3542974" y="761854"/>
                  <a:pt x="3552584" y="764716"/>
                  <a:pt x="3562075" y="765715"/>
                </a:cubicBezTo>
                <a:cubicBezTo>
                  <a:pt x="3575293" y="767067"/>
                  <a:pt x="3590630" y="764672"/>
                  <a:pt x="3605942" y="772481"/>
                </a:cubicBezTo>
                <a:cubicBezTo>
                  <a:pt x="3550860" y="779958"/>
                  <a:pt x="3525860" y="757484"/>
                  <a:pt x="3499309" y="737079"/>
                </a:cubicBezTo>
                <a:cubicBezTo>
                  <a:pt x="3489410" y="729689"/>
                  <a:pt x="3482419" y="720334"/>
                  <a:pt x="3473788" y="711717"/>
                </a:cubicBezTo>
                <a:cubicBezTo>
                  <a:pt x="3463019" y="701211"/>
                  <a:pt x="3451290" y="702093"/>
                  <a:pt x="3437248" y="714263"/>
                </a:cubicBezTo>
                <a:cubicBezTo>
                  <a:pt x="3424810" y="725164"/>
                  <a:pt x="3418411" y="725135"/>
                  <a:pt x="3413254" y="712874"/>
                </a:cubicBezTo>
                <a:cubicBezTo>
                  <a:pt x="3405299" y="693706"/>
                  <a:pt x="3389031" y="681450"/>
                  <a:pt x="3362511" y="677414"/>
                </a:cubicBezTo>
                <a:cubicBezTo>
                  <a:pt x="3356728" y="676504"/>
                  <a:pt x="3349492" y="673891"/>
                  <a:pt x="3344467" y="679599"/>
                </a:cubicBezTo>
                <a:cubicBezTo>
                  <a:pt x="3340061" y="684428"/>
                  <a:pt x="3344392" y="689004"/>
                  <a:pt x="3347971" y="692328"/>
                </a:cubicBezTo>
                <a:cubicBezTo>
                  <a:pt x="3354407" y="698260"/>
                  <a:pt x="3360162" y="704004"/>
                  <a:pt x="3363008" y="711713"/>
                </a:cubicBezTo>
                <a:cubicBezTo>
                  <a:pt x="3365019" y="716838"/>
                  <a:pt x="3367062" y="722495"/>
                  <a:pt x="3362637" y="727058"/>
                </a:cubicBezTo>
                <a:cubicBezTo>
                  <a:pt x="3344342" y="746453"/>
                  <a:pt x="3358884" y="752745"/>
                  <a:pt x="3376167" y="759779"/>
                </a:cubicBezTo>
                <a:cubicBezTo>
                  <a:pt x="3400002" y="769239"/>
                  <a:pt x="3410177" y="786259"/>
                  <a:pt x="3406203" y="808483"/>
                </a:cubicBezTo>
                <a:cubicBezTo>
                  <a:pt x="3404757" y="817516"/>
                  <a:pt x="3406433" y="822682"/>
                  <a:pt x="3420116" y="820757"/>
                </a:cubicBezTo>
                <a:cubicBezTo>
                  <a:pt x="3425463" y="820110"/>
                  <a:pt x="3426984" y="822878"/>
                  <a:pt x="3429194" y="825831"/>
                </a:cubicBezTo>
                <a:cubicBezTo>
                  <a:pt x="3476758" y="896035"/>
                  <a:pt x="3542778" y="954609"/>
                  <a:pt x="3619149" y="1006561"/>
                </a:cubicBezTo>
                <a:cubicBezTo>
                  <a:pt x="3681093" y="1048718"/>
                  <a:pt x="3748746" y="1085351"/>
                  <a:pt x="3818654" y="1120369"/>
                </a:cubicBezTo>
                <a:cubicBezTo>
                  <a:pt x="3820742" y="1121458"/>
                  <a:pt x="3822850" y="1122813"/>
                  <a:pt x="3824021" y="1125355"/>
                </a:cubicBezTo>
                <a:cubicBezTo>
                  <a:pt x="3791940" y="1123873"/>
                  <a:pt x="3763844" y="1116270"/>
                  <a:pt x="3736668" y="1107215"/>
                </a:cubicBezTo>
                <a:cubicBezTo>
                  <a:pt x="3664431" y="1083216"/>
                  <a:pt x="3602610" y="1048291"/>
                  <a:pt x="3540174" y="1014247"/>
                </a:cubicBezTo>
                <a:cubicBezTo>
                  <a:pt x="3502142" y="993353"/>
                  <a:pt x="3463159" y="973379"/>
                  <a:pt x="3421640" y="955861"/>
                </a:cubicBezTo>
                <a:cubicBezTo>
                  <a:pt x="3414719" y="952940"/>
                  <a:pt x="3409737" y="948712"/>
                  <a:pt x="3404753" y="944484"/>
                </a:cubicBezTo>
                <a:cubicBezTo>
                  <a:pt x="3401911" y="942144"/>
                  <a:pt x="3398417" y="940152"/>
                  <a:pt x="3393138" y="941865"/>
                </a:cubicBezTo>
                <a:cubicBezTo>
                  <a:pt x="3386540" y="944006"/>
                  <a:pt x="3386126" y="948083"/>
                  <a:pt x="3385712" y="952159"/>
                </a:cubicBezTo>
                <a:cubicBezTo>
                  <a:pt x="3384520" y="965187"/>
                  <a:pt x="3389594" y="976116"/>
                  <a:pt x="3398641" y="986025"/>
                </a:cubicBezTo>
                <a:cubicBezTo>
                  <a:pt x="3422140" y="1011364"/>
                  <a:pt x="3455589" y="1029056"/>
                  <a:pt x="3489975" y="1045560"/>
                </a:cubicBezTo>
                <a:cubicBezTo>
                  <a:pt x="3534421" y="1066751"/>
                  <a:pt x="3577600" y="1089169"/>
                  <a:pt x="3617273" y="1114697"/>
                </a:cubicBezTo>
                <a:cubicBezTo>
                  <a:pt x="3620082" y="1116503"/>
                  <a:pt x="3625178" y="1117229"/>
                  <a:pt x="3623898" y="1123556"/>
                </a:cubicBezTo>
                <a:cubicBezTo>
                  <a:pt x="3599276" y="1112313"/>
                  <a:pt x="3576007" y="1101173"/>
                  <a:pt x="3552438" y="1090606"/>
                </a:cubicBezTo>
                <a:cubicBezTo>
                  <a:pt x="3529203" y="1079998"/>
                  <a:pt x="3505634" y="1069432"/>
                  <a:pt x="3482417" y="1059092"/>
                </a:cubicBezTo>
                <a:cubicBezTo>
                  <a:pt x="3476868" y="1056543"/>
                  <a:pt x="3470899" y="1052702"/>
                  <a:pt x="3463468" y="1057629"/>
                </a:cubicBezTo>
                <a:cubicBezTo>
                  <a:pt x="3455703" y="1062595"/>
                  <a:pt x="3457128" y="1069134"/>
                  <a:pt x="3459472" y="1074217"/>
                </a:cubicBezTo>
                <a:cubicBezTo>
                  <a:pt x="3466821" y="1089165"/>
                  <a:pt x="3478729" y="1101681"/>
                  <a:pt x="3494211" y="1112153"/>
                </a:cubicBezTo>
                <a:cubicBezTo>
                  <a:pt x="3546907" y="1146573"/>
                  <a:pt x="3606933" y="1174465"/>
                  <a:pt x="3663137" y="1205775"/>
                </a:cubicBezTo>
                <a:cubicBezTo>
                  <a:pt x="3693512" y="1222766"/>
                  <a:pt x="3721631" y="1241370"/>
                  <a:pt x="3748466" y="1260936"/>
                </a:cubicBezTo>
                <a:cubicBezTo>
                  <a:pt x="3754470" y="1265310"/>
                  <a:pt x="3754440" y="1270144"/>
                  <a:pt x="3753142" y="1276208"/>
                </a:cubicBezTo>
                <a:cubicBezTo>
                  <a:pt x="3747968" y="1300726"/>
                  <a:pt x="3758834" y="1307462"/>
                  <a:pt x="3791960" y="1298886"/>
                </a:cubicBezTo>
                <a:cubicBezTo>
                  <a:pt x="3802234" y="1296299"/>
                  <a:pt x="3809336" y="1296782"/>
                  <a:pt x="3816039" y="1301606"/>
                </a:cubicBezTo>
                <a:cubicBezTo>
                  <a:pt x="3897299" y="1361555"/>
                  <a:pt x="3991895" y="1408883"/>
                  <a:pt x="4094439" y="1448806"/>
                </a:cubicBezTo>
                <a:cubicBezTo>
                  <a:pt x="4136210" y="1464953"/>
                  <a:pt x="4179249" y="1479874"/>
                  <a:pt x="4222870" y="1493379"/>
                </a:cubicBezTo>
                <a:cubicBezTo>
                  <a:pt x="4222955" y="1494711"/>
                  <a:pt x="4223057" y="1496309"/>
                  <a:pt x="4223141" y="1497641"/>
                </a:cubicBezTo>
                <a:cubicBezTo>
                  <a:pt x="4222925" y="1499546"/>
                  <a:pt x="4222659" y="1500653"/>
                  <a:pt x="4222428" y="1502292"/>
                </a:cubicBezTo>
                <a:cubicBezTo>
                  <a:pt x="4160784" y="1480767"/>
                  <a:pt x="4099761" y="1458363"/>
                  <a:pt x="4039973" y="1434198"/>
                </a:cubicBezTo>
                <a:cubicBezTo>
                  <a:pt x="3877889" y="1368737"/>
                  <a:pt x="3722432" y="1296301"/>
                  <a:pt x="3564773" y="1226279"/>
                </a:cubicBezTo>
                <a:cubicBezTo>
                  <a:pt x="3511752" y="1202636"/>
                  <a:pt x="3468897" y="1169442"/>
                  <a:pt x="3420650" y="1141464"/>
                </a:cubicBezTo>
                <a:cubicBezTo>
                  <a:pt x="3388486" y="1122812"/>
                  <a:pt x="3357590" y="1102932"/>
                  <a:pt x="3320669" y="1088883"/>
                </a:cubicBezTo>
                <a:cubicBezTo>
                  <a:pt x="3305491" y="1083205"/>
                  <a:pt x="3289697" y="1078406"/>
                  <a:pt x="3270102" y="1082659"/>
                </a:cubicBezTo>
                <a:cubicBezTo>
                  <a:pt x="3262467" y="1084389"/>
                  <a:pt x="3253881" y="1087040"/>
                  <a:pt x="3251648" y="1094290"/>
                </a:cubicBezTo>
                <a:cubicBezTo>
                  <a:pt x="3249750" y="1101498"/>
                  <a:pt x="3256970" y="1103846"/>
                  <a:pt x="3263506" y="1106005"/>
                </a:cubicBezTo>
                <a:cubicBezTo>
                  <a:pt x="3265227" y="1106604"/>
                  <a:pt x="3266966" y="1107467"/>
                  <a:pt x="3268636" y="1107265"/>
                </a:cubicBezTo>
                <a:cubicBezTo>
                  <a:pt x="3300482" y="1105018"/>
                  <a:pt x="3309121" y="1124372"/>
                  <a:pt x="3325089" y="1137201"/>
                </a:cubicBezTo>
                <a:cubicBezTo>
                  <a:pt x="3330055" y="1141164"/>
                  <a:pt x="3330677" y="1145651"/>
                  <a:pt x="3326003" y="1151585"/>
                </a:cubicBezTo>
                <a:cubicBezTo>
                  <a:pt x="3317592" y="1162266"/>
                  <a:pt x="3324211" y="1165760"/>
                  <a:pt x="3336410" y="1166967"/>
                </a:cubicBezTo>
                <a:cubicBezTo>
                  <a:pt x="3348608" y="1168175"/>
                  <a:pt x="3361690" y="1167395"/>
                  <a:pt x="3375112" y="1171943"/>
                </a:cubicBezTo>
                <a:cubicBezTo>
                  <a:pt x="3354718" y="1179513"/>
                  <a:pt x="3340011" y="1175927"/>
                  <a:pt x="3326222" y="1170885"/>
                </a:cubicBezTo>
                <a:cubicBezTo>
                  <a:pt x="3295216" y="1159877"/>
                  <a:pt x="3274464" y="1140648"/>
                  <a:pt x="3254679" y="1120765"/>
                </a:cubicBezTo>
                <a:cubicBezTo>
                  <a:pt x="3250733" y="1116948"/>
                  <a:pt x="3247420" y="1112518"/>
                  <a:pt x="3242188" y="1109662"/>
                </a:cubicBezTo>
                <a:cubicBezTo>
                  <a:pt x="3232391" y="1103869"/>
                  <a:pt x="3222316" y="1104284"/>
                  <a:pt x="3211499" y="1114184"/>
                </a:cubicBezTo>
                <a:cubicBezTo>
                  <a:pt x="3197173" y="1127194"/>
                  <a:pt x="3191777" y="1127042"/>
                  <a:pt x="3185849" y="1113265"/>
                </a:cubicBezTo>
                <a:cubicBezTo>
                  <a:pt x="3177929" y="1094629"/>
                  <a:pt x="3162028" y="1082865"/>
                  <a:pt x="3135843" y="1078789"/>
                </a:cubicBezTo>
                <a:cubicBezTo>
                  <a:pt x="3130396" y="1077837"/>
                  <a:pt x="3124578" y="1076395"/>
                  <a:pt x="3119118" y="1080546"/>
                </a:cubicBezTo>
                <a:cubicBezTo>
                  <a:pt x="3113359" y="1085269"/>
                  <a:pt x="3117622" y="1088780"/>
                  <a:pt x="3120198" y="1092226"/>
                </a:cubicBezTo>
                <a:cubicBezTo>
                  <a:pt x="3123912" y="1097682"/>
                  <a:pt x="3128295" y="1103057"/>
                  <a:pt x="3131691" y="1108819"/>
                </a:cubicBezTo>
                <a:cubicBezTo>
                  <a:pt x="3137665" y="1118027"/>
                  <a:pt x="3139328" y="1128295"/>
                  <a:pt x="3129914" y="1139097"/>
                </a:cubicBezTo>
                <a:cubicBezTo>
                  <a:pt x="3123003" y="1146915"/>
                  <a:pt x="3123960" y="1151361"/>
                  <a:pt x="3133955" y="1154983"/>
                </a:cubicBezTo>
                <a:cubicBezTo>
                  <a:pt x="3165979" y="1166136"/>
                  <a:pt x="3186931" y="1183194"/>
                  <a:pt x="3178170" y="1214855"/>
                </a:cubicBezTo>
                <a:cubicBezTo>
                  <a:pt x="3176770" y="1219320"/>
                  <a:pt x="3179046" y="1223338"/>
                  <a:pt x="3185378" y="1222303"/>
                </a:cubicBezTo>
                <a:cubicBezTo>
                  <a:pt x="3199361" y="1219805"/>
                  <a:pt x="3202140" y="1226447"/>
                  <a:pt x="3206608" y="1233153"/>
                </a:cubicBezTo>
                <a:cubicBezTo>
                  <a:pt x="3250090" y="1297409"/>
                  <a:pt x="3310389" y="1350771"/>
                  <a:pt x="3379140" y="1399351"/>
                </a:cubicBezTo>
                <a:cubicBezTo>
                  <a:pt x="3447189" y="1447479"/>
                  <a:pt x="3522881" y="1488775"/>
                  <a:pt x="3603118" y="1527375"/>
                </a:cubicBezTo>
                <a:cubicBezTo>
                  <a:pt x="3581296" y="1528405"/>
                  <a:pt x="3552602" y="1521951"/>
                  <a:pt x="3524809" y="1513774"/>
                </a:cubicBezTo>
                <a:cubicBezTo>
                  <a:pt x="3451354" y="1491802"/>
                  <a:pt x="3389901" y="1457369"/>
                  <a:pt x="3327498" y="1423859"/>
                </a:cubicBezTo>
                <a:cubicBezTo>
                  <a:pt x="3283917" y="1400416"/>
                  <a:pt x="3241288" y="1376052"/>
                  <a:pt x="3192949" y="1357211"/>
                </a:cubicBezTo>
                <a:cubicBezTo>
                  <a:pt x="3187434" y="1355196"/>
                  <a:pt x="3183538" y="1352177"/>
                  <a:pt x="3180259" y="1348280"/>
                </a:cubicBezTo>
                <a:cubicBezTo>
                  <a:pt x="3177348" y="1344874"/>
                  <a:pt x="3173119" y="1341896"/>
                  <a:pt x="3166204" y="1344345"/>
                </a:cubicBezTo>
                <a:cubicBezTo>
                  <a:pt x="3159306" y="1347059"/>
                  <a:pt x="3158942" y="1351935"/>
                  <a:pt x="3159212" y="1356197"/>
                </a:cubicBezTo>
                <a:cubicBezTo>
                  <a:pt x="3161232" y="1372059"/>
                  <a:pt x="3167827" y="1385754"/>
                  <a:pt x="3181004" y="1397043"/>
                </a:cubicBezTo>
                <a:cubicBezTo>
                  <a:pt x="3206688" y="1419701"/>
                  <a:pt x="3240037" y="1435794"/>
                  <a:pt x="3273385" y="1451888"/>
                </a:cubicBezTo>
                <a:cubicBezTo>
                  <a:pt x="3319573" y="1473941"/>
                  <a:pt x="3362569" y="1498797"/>
                  <a:pt x="3401776" y="1527602"/>
                </a:cubicBezTo>
                <a:cubicBezTo>
                  <a:pt x="3374012" y="1514591"/>
                  <a:pt x="3346230" y="1501313"/>
                  <a:pt x="3318130" y="1488342"/>
                </a:cubicBezTo>
                <a:cubicBezTo>
                  <a:pt x="3296969" y="1478558"/>
                  <a:pt x="3275173" y="1469387"/>
                  <a:pt x="3253694" y="1459909"/>
                </a:cubicBezTo>
                <a:cubicBezTo>
                  <a:pt x="3248495" y="1457587"/>
                  <a:pt x="3242945" y="1455038"/>
                  <a:pt x="3236182" y="1459882"/>
                </a:cubicBezTo>
                <a:cubicBezTo>
                  <a:pt x="3230053" y="1464115"/>
                  <a:pt x="3231378" y="1469055"/>
                  <a:pt x="3233020" y="1473687"/>
                </a:cubicBezTo>
                <a:cubicBezTo>
                  <a:pt x="3239235" y="1491993"/>
                  <a:pt x="3254236" y="1505477"/>
                  <a:pt x="3272474" y="1516958"/>
                </a:cubicBezTo>
                <a:cubicBezTo>
                  <a:pt x="3294559" y="1530657"/>
                  <a:pt x="3317595" y="1543436"/>
                  <a:pt x="3341300" y="1556133"/>
                </a:cubicBezTo>
                <a:cubicBezTo>
                  <a:pt x="3316637" y="1554825"/>
                  <a:pt x="3291973" y="1553517"/>
                  <a:pt x="3267359" y="1553009"/>
                </a:cubicBezTo>
                <a:cubicBezTo>
                  <a:pt x="3280352" y="1582573"/>
                  <a:pt x="3306470" y="1585584"/>
                  <a:pt x="3329832" y="1587586"/>
                </a:cubicBezTo>
                <a:cubicBezTo>
                  <a:pt x="3361297" y="1589949"/>
                  <a:pt x="3391527" y="1594072"/>
                  <a:pt x="3421490" y="1599301"/>
                </a:cubicBezTo>
                <a:cubicBezTo>
                  <a:pt x="3434412" y="1606594"/>
                  <a:pt x="3447319" y="1613621"/>
                  <a:pt x="3459923" y="1621220"/>
                </a:cubicBezTo>
                <a:cubicBezTo>
                  <a:pt x="3472880" y="1629046"/>
                  <a:pt x="3485168" y="1636952"/>
                  <a:pt x="3497490" y="1645392"/>
                </a:cubicBezTo>
                <a:cubicBezTo>
                  <a:pt x="3506301" y="1651572"/>
                  <a:pt x="3516714" y="1656484"/>
                  <a:pt x="3507803" y="1669911"/>
                </a:cubicBezTo>
                <a:cubicBezTo>
                  <a:pt x="3503816" y="1676032"/>
                  <a:pt x="3534148" y="1702959"/>
                  <a:pt x="3543290" y="1703729"/>
                </a:cubicBezTo>
                <a:cubicBezTo>
                  <a:pt x="3544644" y="1703834"/>
                  <a:pt x="3545996" y="1703940"/>
                  <a:pt x="3546999" y="1703818"/>
                </a:cubicBezTo>
                <a:cubicBezTo>
                  <a:pt x="3566312" y="1700405"/>
                  <a:pt x="3571232" y="1708935"/>
                  <a:pt x="3572295" y="1720349"/>
                </a:cubicBezTo>
                <a:cubicBezTo>
                  <a:pt x="3573341" y="1731497"/>
                  <a:pt x="3570880" y="1745753"/>
                  <a:pt x="3596922" y="1736961"/>
                </a:cubicBezTo>
                <a:cubicBezTo>
                  <a:pt x="3599895" y="1736064"/>
                  <a:pt x="3600664" y="1737582"/>
                  <a:pt x="3602119" y="1739285"/>
                </a:cubicBezTo>
                <a:cubicBezTo>
                  <a:pt x="3633888" y="1783486"/>
                  <a:pt x="3684678" y="1814377"/>
                  <a:pt x="3734798" y="1845349"/>
                </a:cubicBezTo>
                <a:cubicBezTo>
                  <a:pt x="3737590" y="1846890"/>
                  <a:pt x="3740383" y="1848430"/>
                  <a:pt x="3743174" y="1849972"/>
                </a:cubicBezTo>
                <a:cubicBezTo>
                  <a:pt x="3692460" y="1846720"/>
                  <a:pt x="3526297" y="1854765"/>
                  <a:pt x="3478101" y="1864630"/>
                </a:cubicBezTo>
                <a:cubicBezTo>
                  <a:pt x="3435216" y="1873314"/>
                  <a:pt x="3187933" y="1844748"/>
                  <a:pt x="3135293" y="1816496"/>
                </a:cubicBezTo>
                <a:cubicBezTo>
                  <a:pt x="3129987" y="1844249"/>
                  <a:pt x="3145700" y="1853084"/>
                  <a:pt x="3158510" y="1863880"/>
                </a:cubicBezTo>
                <a:cubicBezTo>
                  <a:pt x="3176652" y="1879130"/>
                  <a:pt x="3180104" y="1891061"/>
                  <a:pt x="3148907" y="1908797"/>
                </a:cubicBezTo>
                <a:cubicBezTo>
                  <a:pt x="3059526" y="1959351"/>
                  <a:pt x="3060614" y="1960561"/>
                  <a:pt x="3150229" y="2003660"/>
                </a:cubicBezTo>
                <a:cubicBezTo>
                  <a:pt x="3154391" y="2005572"/>
                  <a:pt x="3152878" y="2013539"/>
                  <a:pt x="3154219" y="2018746"/>
                </a:cubicBezTo>
                <a:cubicBezTo>
                  <a:pt x="3132340" y="2029448"/>
                  <a:pt x="3104621" y="2011868"/>
                  <a:pt x="3079313" y="2037482"/>
                </a:cubicBezTo>
                <a:cubicBezTo>
                  <a:pt x="3200844" y="2121812"/>
                  <a:pt x="3382216" y="2194063"/>
                  <a:pt x="3545961" y="2248584"/>
                </a:cubicBezTo>
                <a:cubicBezTo>
                  <a:pt x="3418859" y="2288406"/>
                  <a:pt x="3336249" y="2212515"/>
                  <a:pt x="3242382" y="2234890"/>
                </a:cubicBezTo>
                <a:cubicBezTo>
                  <a:pt x="3196963" y="2267233"/>
                  <a:pt x="3340047" y="2293389"/>
                  <a:pt x="3206852" y="2322137"/>
                </a:cubicBezTo>
                <a:cubicBezTo>
                  <a:pt x="3266485" y="2338535"/>
                  <a:pt x="3311047" y="2356223"/>
                  <a:pt x="3352854" y="2378270"/>
                </a:cubicBezTo>
                <a:cubicBezTo>
                  <a:pt x="3427094" y="2417864"/>
                  <a:pt x="3443161" y="2448130"/>
                  <a:pt x="3414532" y="2516826"/>
                </a:cubicBezTo>
                <a:cubicBezTo>
                  <a:pt x="3395525" y="2562076"/>
                  <a:pt x="3366606" y="2605038"/>
                  <a:pt x="3397577" y="2652556"/>
                </a:cubicBezTo>
                <a:cubicBezTo>
                  <a:pt x="3418842" y="2685144"/>
                  <a:pt x="3412947" y="2708944"/>
                  <a:pt x="3339773" y="2701969"/>
                </a:cubicBezTo>
                <a:cubicBezTo>
                  <a:pt x="3260852" y="2694617"/>
                  <a:pt x="3233446" y="2729610"/>
                  <a:pt x="3257041" y="2788223"/>
                </a:cubicBezTo>
                <a:cubicBezTo>
                  <a:pt x="3272229" y="2825841"/>
                  <a:pt x="3259642" y="2839714"/>
                  <a:pt x="3205892" y="2841661"/>
                </a:cubicBezTo>
                <a:cubicBezTo>
                  <a:pt x="3146428" y="2843763"/>
                  <a:pt x="3088665" y="2824990"/>
                  <a:pt x="3016267" y="2846107"/>
                </a:cubicBezTo>
                <a:cubicBezTo>
                  <a:pt x="3079284" y="2910414"/>
                  <a:pt x="3202965" y="2875032"/>
                  <a:pt x="3275450" y="2934701"/>
                </a:cubicBezTo>
                <a:cubicBezTo>
                  <a:pt x="3194271" y="2944802"/>
                  <a:pt x="3132104" y="2952064"/>
                  <a:pt x="3071009" y="2944432"/>
                </a:cubicBezTo>
                <a:cubicBezTo>
                  <a:pt x="3045559" y="2941340"/>
                  <a:pt x="3017770" y="2938533"/>
                  <a:pt x="3005039" y="2960743"/>
                </a:cubicBezTo>
                <a:cubicBezTo>
                  <a:pt x="2989910" y="2987540"/>
                  <a:pt x="3024584" y="2992735"/>
                  <a:pt x="3045255" y="2994795"/>
                </a:cubicBezTo>
                <a:cubicBezTo>
                  <a:pt x="3103524" y="3000354"/>
                  <a:pt x="3149512" y="3024578"/>
                  <a:pt x="3198769" y="3041966"/>
                </a:cubicBezTo>
                <a:cubicBezTo>
                  <a:pt x="3306591" y="3080177"/>
                  <a:pt x="3424230" y="3108608"/>
                  <a:pt x="3518098" y="3181525"/>
                </a:cubicBezTo>
                <a:cubicBezTo>
                  <a:pt x="3405474" y="3173693"/>
                  <a:pt x="3319103" y="3133957"/>
                  <a:pt x="3214876" y="3136382"/>
                </a:cubicBezTo>
                <a:cubicBezTo>
                  <a:pt x="3309623" y="3201944"/>
                  <a:pt x="3428070" y="3237794"/>
                  <a:pt x="3540876" y="3280232"/>
                </a:cubicBezTo>
                <a:cubicBezTo>
                  <a:pt x="3572951" y="3292185"/>
                  <a:pt x="3605372" y="3298995"/>
                  <a:pt x="3614558" y="3332242"/>
                </a:cubicBezTo>
                <a:cubicBezTo>
                  <a:pt x="3632460" y="3396643"/>
                  <a:pt x="3676382" y="3446619"/>
                  <a:pt x="3765439" y="3465091"/>
                </a:cubicBezTo>
                <a:cubicBezTo>
                  <a:pt x="3766125" y="3465276"/>
                  <a:pt x="3762072" y="3475699"/>
                  <a:pt x="3759506" y="3482990"/>
                </a:cubicBezTo>
                <a:cubicBezTo>
                  <a:pt x="3706514" y="3491555"/>
                  <a:pt x="3662256" y="3457457"/>
                  <a:pt x="3594905" y="3478499"/>
                </a:cubicBezTo>
                <a:cubicBezTo>
                  <a:pt x="3663098" y="3523656"/>
                  <a:pt x="3720597" y="3564741"/>
                  <a:pt x="3814430" y="3578876"/>
                </a:cubicBezTo>
                <a:cubicBezTo>
                  <a:pt x="3889563" y="3590177"/>
                  <a:pt x="3981512" y="3590582"/>
                  <a:pt x="4039126" y="3649369"/>
                </a:cubicBezTo>
                <a:cubicBezTo>
                  <a:pt x="3977790" y="3669682"/>
                  <a:pt x="3930328" y="3659325"/>
                  <a:pt x="3883152" y="3653497"/>
                </a:cubicBezTo>
                <a:cubicBezTo>
                  <a:pt x="3810528" y="3644576"/>
                  <a:pt x="3739087" y="3633097"/>
                  <a:pt x="3666446" y="3623911"/>
                </a:cubicBezTo>
                <a:cubicBezTo>
                  <a:pt x="3638957" y="3620530"/>
                  <a:pt x="3608896" y="3619071"/>
                  <a:pt x="3593589" y="3653674"/>
                </a:cubicBezTo>
                <a:cubicBezTo>
                  <a:pt x="3684581" y="3649631"/>
                  <a:pt x="3741824" y="3686720"/>
                  <a:pt x="3801238" y="3720862"/>
                </a:cubicBezTo>
                <a:cubicBezTo>
                  <a:pt x="3834791" y="3740152"/>
                  <a:pt x="3862819" y="3767894"/>
                  <a:pt x="3919545" y="3749213"/>
                </a:cubicBezTo>
                <a:cubicBezTo>
                  <a:pt x="3949563" y="3739403"/>
                  <a:pt x="3970044" y="3754371"/>
                  <a:pt x="3968059" y="3776085"/>
                </a:cubicBezTo>
                <a:cubicBezTo>
                  <a:pt x="3961477" y="3852579"/>
                  <a:pt x="4033657" y="3870411"/>
                  <a:pt x="4107750" y="3875932"/>
                </a:cubicBezTo>
                <a:cubicBezTo>
                  <a:pt x="4247829" y="3886613"/>
                  <a:pt x="4367192" y="3936847"/>
                  <a:pt x="4504087" y="3955698"/>
                </a:cubicBezTo>
                <a:cubicBezTo>
                  <a:pt x="4637239" y="3973931"/>
                  <a:pt x="5630348" y="4013091"/>
                  <a:pt x="5880284" y="3998656"/>
                </a:cubicBezTo>
                <a:cubicBezTo>
                  <a:pt x="7409751" y="3910310"/>
                  <a:pt x="8457142" y="3018967"/>
                  <a:pt x="8461494" y="3007971"/>
                </a:cubicBezTo>
                <a:cubicBezTo>
                  <a:pt x="8481448" y="2956432"/>
                  <a:pt x="8537247" y="2928466"/>
                  <a:pt x="8587378" y="2896089"/>
                </a:cubicBezTo>
                <a:cubicBezTo>
                  <a:pt x="8631032" y="2867717"/>
                  <a:pt x="8677604" y="2837649"/>
                  <a:pt x="8693826" y="2796225"/>
                </a:cubicBezTo>
                <a:cubicBezTo>
                  <a:pt x="8715249" y="2741288"/>
                  <a:pt x="8647790" y="2792407"/>
                  <a:pt x="8633488" y="2774007"/>
                </a:cubicBezTo>
                <a:cubicBezTo>
                  <a:pt x="8658507" y="2743865"/>
                  <a:pt x="8698366" y="2714075"/>
                  <a:pt x="8707444" y="2682105"/>
                </a:cubicBezTo>
                <a:cubicBezTo>
                  <a:pt x="8739824" y="2566518"/>
                  <a:pt x="8819561" y="2475526"/>
                  <a:pt x="8942552" y="2397549"/>
                </a:cubicBezTo>
                <a:cubicBezTo>
                  <a:pt x="8977822" y="2375023"/>
                  <a:pt x="8999812" y="2339612"/>
                  <a:pt x="9049260" y="2328253"/>
                </a:cubicBezTo>
                <a:cubicBezTo>
                  <a:pt x="9159134" y="2303404"/>
                  <a:pt x="9118356" y="2218151"/>
                  <a:pt x="9174304" y="2171379"/>
                </a:cubicBezTo>
                <a:cubicBezTo>
                  <a:pt x="9179581" y="2166982"/>
                  <a:pt x="9181728" y="2117398"/>
                  <a:pt x="9182228" y="2067678"/>
                </a:cubicBezTo>
                <a:lnTo>
                  <a:pt x="9182278" y="2047313"/>
                </a:lnTo>
                <a:lnTo>
                  <a:pt x="9184334" y="2047686"/>
                </a:lnTo>
                <a:cubicBezTo>
                  <a:pt x="9192950" y="2042242"/>
                  <a:pt x="9192359" y="2022485"/>
                  <a:pt x="9185124" y="1997142"/>
                </a:cubicBezTo>
                <a:lnTo>
                  <a:pt x="9181592" y="1987782"/>
                </a:lnTo>
                <a:lnTo>
                  <a:pt x="9181190" y="1974586"/>
                </a:lnTo>
                <a:cubicBezTo>
                  <a:pt x="9180902" y="1968441"/>
                  <a:pt x="9180584" y="1964399"/>
                  <a:pt x="9180252" y="1963164"/>
                </a:cubicBezTo>
                <a:cubicBezTo>
                  <a:pt x="9179760" y="1961378"/>
                  <a:pt x="9179284" y="1962333"/>
                  <a:pt x="9178804" y="1965349"/>
                </a:cubicBezTo>
                <a:lnTo>
                  <a:pt x="9177606" y="1977215"/>
                </a:lnTo>
                <a:lnTo>
                  <a:pt x="9169614" y="1956030"/>
                </a:lnTo>
                <a:cubicBezTo>
                  <a:pt x="9143144" y="1898537"/>
                  <a:pt x="9095234" y="1836160"/>
                  <a:pt x="9046406" y="1838718"/>
                </a:cubicBezTo>
                <a:cubicBezTo>
                  <a:pt x="9077129" y="1760642"/>
                  <a:pt x="9077129" y="1760642"/>
                  <a:pt x="8960873" y="1764524"/>
                </a:cubicBezTo>
                <a:cubicBezTo>
                  <a:pt x="9002330" y="1712259"/>
                  <a:pt x="9001568" y="1700272"/>
                  <a:pt x="8946755" y="1690806"/>
                </a:cubicBezTo>
                <a:cubicBezTo>
                  <a:pt x="8893980" y="1681628"/>
                  <a:pt x="8836186" y="1683529"/>
                  <a:pt x="8786897" y="1665607"/>
                </a:cubicBezTo>
                <a:cubicBezTo>
                  <a:pt x="8827191" y="1600331"/>
                  <a:pt x="8835148" y="1529576"/>
                  <a:pt x="8924505" y="1489227"/>
                </a:cubicBezTo>
                <a:cubicBezTo>
                  <a:pt x="8938584" y="1482958"/>
                  <a:pt x="8947122" y="1463671"/>
                  <a:pt x="8937122" y="1454681"/>
                </a:cubicBezTo>
                <a:cubicBezTo>
                  <a:pt x="8901654" y="1421129"/>
                  <a:pt x="8944526" y="1343460"/>
                  <a:pt x="8841119" y="1348202"/>
                </a:cubicBezTo>
                <a:cubicBezTo>
                  <a:pt x="8828354" y="1348673"/>
                  <a:pt x="8816185" y="1342631"/>
                  <a:pt x="8825548" y="1331028"/>
                </a:cubicBezTo>
                <a:cubicBezTo>
                  <a:pt x="8857711" y="1291432"/>
                  <a:pt x="8816096" y="1298887"/>
                  <a:pt x="8790413" y="1297436"/>
                </a:cubicBezTo>
                <a:cubicBezTo>
                  <a:pt x="8759333" y="1295832"/>
                  <a:pt x="8725565" y="1315490"/>
                  <a:pt x="8695944" y="1299752"/>
                </a:cubicBezTo>
                <a:cubicBezTo>
                  <a:pt x="8701338" y="1278697"/>
                  <a:pt x="8726082" y="1275968"/>
                  <a:pt x="8743050" y="1267471"/>
                </a:cubicBezTo>
                <a:cubicBezTo>
                  <a:pt x="8792636" y="1242406"/>
                  <a:pt x="8832648" y="1215014"/>
                  <a:pt x="8831902" y="1166250"/>
                </a:cubicBezTo>
                <a:cubicBezTo>
                  <a:pt x="8831416" y="1126849"/>
                  <a:pt x="8834560" y="1091573"/>
                  <a:pt x="8763628" y="1088084"/>
                </a:cubicBezTo>
                <a:cubicBezTo>
                  <a:pt x="8752484" y="1087556"/>
                  <a:pt x="8746480" y="1083182"/>
                  <a:pt x="8744052" y="1076766"/>
                </a:cubicBezTo>
                <a:cubicBezTo>
                  <a:pt x="8751664" y="1069402"/>
                  <a:pt x="8758926" y="1061811"/>
                  <a:pt x="8767977" y="1055883"/>
                </a:cubicBezTo>
                <a:cubicBezTo>
                  <a:pt x="8798386" y="1036363"/>
                  <a:pt x="8807604" y="1011893"/>
                  <a:pt x="8815418" y="986519"/>
                </a:cubicBezTo>
                <a:cubicBezTo>
                  <a:pt x="8820450" y="970342"/>
                  <a:pt x="8826500" y="954308"/>
                  <a:pt x="8839356" y="939330"/>
                </a:cubicBezTo>
                <a:cubicBezTo>
                  <a:pt x="8847184" y="930060"/>
                  <a:pt x="8857152" y="922680"/>
                  <a:pt x="8869964" y="917639"/>
                </a:cubicBezTo>
                <a:cubicBezTo>
                  <a:pt x="8881119" y="913066"/>
                  <a:pt x="8884190" y="908399"/>
                  <a:pt x="8876013" y="901606"/>
                </a:cubicBezTo>
                <a:cubicBezTo>
                  <a:pt x="8852888" y="882126"/>
                  <a:pt x="8842659" y="858937"/>
                  <a:pt x="8855230" y="828963"/>
                </a:cubicBezTo>
                <a:cubicBezTo>
                  <a:pt x="8859032" y="819911"/>
                  <a:pt x="8855550" y="812818"/>
                  <a:pt x="8844988" y="810876"/>
                </a:cubicBezTo>
                <a:cubicBezTo>
                  <a:pt x="8801020" y="802512"/>
                  <a:pt x="8788328" y="772374"/>
                  <a:pt x="8768255" y="747963"/>
                </a:cubicBezTo>
                <a:cubicBezTo>
                  <a:pt x="8739786" y="713294"/>
                  <a:pt x="8713605" y="677543"/>
                  <a:pt x="8692953" y="638707"/>
                </a:cubicBezTo>
                <a:cubicBezTo>
                  <a:pt x="8680700" y="615495"/>
                  <a:pt x="8668800" y="592509"/>
                  <a:pt x="8674423" y="564449"/>
                </a:cubicBezTo>
                <a:cubicBezTo>
                  <a:pt x="8675670" y="557588"/>
                  <a:pt x="8672308" y="552358"/>
                  <a:pt x="8667642" y="547822"/>
                </a:cubicBezTo>
                <a:cubicBezTo>
                  <a:pt x="8647856" y="527939"/>
                  <a:pt x="8648704" y="504214"/>
                  <a:pt x="8661198" y="478275"/>
                </a:cubicBezTo>
                <a:cubicBezTo>
                  <a:pt x="8668953" y="462573"/>
                  <a:pt x="8667832" y="460828"/>
                  <a:pt x="8645813" y="464032"/>
                </a:cubicBezTo>
                <a:cubicBezTo>
                  <a:pt x="8601088" y="470255"/>
                  <a:pt x="8556732" y="476969"/>
                  <a:pt x="8512338" y="477784"/>
                </a:cubicBezTo>
                <a:cubicBezTo>
                  <a:pt x="8462562" y="478712"/>
                  <a:pt x="8445778" y="468934"/>
                  <a:pt x="8481050" y="430572"/>
                </a:cubicBezTo>
                <a:cubicBezTo>
                  <a:pt x="8488612" y="422408"/>
                  <a:pt x="8495122" y="413567"/>
                  <a:pt x="8498220" y="404064"/>
                </a:cubicBezTo>
                <a:cubicBezTo>
                  <a:pt x="8500436" y="396549"/>
                  <a:pt x="8497776" y="391771"/>
                  <a:pt x="8489536" y="38928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090F75-18C4-B229-D6AA-38D9A8613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063296"/>
            <a:ext cx="9144000" cy="11526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Partnership Journey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3E87D4-90CE-7A01-E62A-E68E7133A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596" y="2143759"/>
            <a:ext cx="3217333" cy="6171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681B2A-B3DC-07FF-EA16-C2265D913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9521" y="290173"/>
            <a:ext cx="1759040" cy="88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871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B7169B8-2507-43F4-A148-FA791CD9C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196A0C-D8F8-E7A6-8CF2-0480EAE3E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617" y="5322136"/>
            <a:ext cx="5257801" cy="89996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M365 Connector</a:t>
            </a:r>
            <a:b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Offer Development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SharePoint 365 with SA professional services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2"/>
              </a:rPr>
              <a:t>https://graphwise.ai/microsoft-365-integration/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 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Addressing the findability challenges (faceted taxonomies, semantic search)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Better search capabilities and improved collaboration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Semantic framework  to connect data silos – greater accuracy and faster retrieval with enriched metadata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Specific scoping, milestone, and level of effort - TBD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Delivers value within a 3-month period with a goal of achieving an expedient executive win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endParaRPr lang="en-US" sz="5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906628"/>
            <a:ext cx="0" cy="5942494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A5FB3749-836C-7D1B-E3CE-767573F45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397" y="861825"/>
            <a:ext cx="4474207" cy="858222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15575A9B-DBF3-42FB-B0CA-CF2CC74D4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1620" y="635895"/>
            <a:ext cx="492251" cy="851541"/>
            <a:chOff x="5661620" y="635895"/>
            <a:chExt cx="492251" cy="851541"/>
          </a:xfrm>
        </p:grpSpPr>
        <p:sp>
          <p:nvSpPr>
            <p:cNvPr id="26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661620" y="635895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2733" y="76951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41870" y="1359722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8D3BEBE-04C5-9FA0-0620-9C51526C7B3A}"/>
              </a:ext>
            </a:extLst>
          </p:cNvPr>
          <p:cNvSpPr txBox="1"/>
          <p:nvPr/>
        </p:nvSpPr>
        <p:spPr>
          <a:xfrm>
            <a:off x="6410640" y="1679613"/>
            <a:ext cx="5043224" cy="454249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 fontAlgn="base">
              <a:lnSpc>
                <a:spcPct val="90000"/>
              </a:lnSpc>
            </a:pPr>
            <a:r>
              <a:rPr lang="en-US" sz="2000" b="1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Outcomes to date …</a:t>
            </a:r>
          </a:p>
          <a:p>
            <a:pPr marL="742950" lvl="1"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Developed a Generic Capabilities Statement for Partnerships.  Baselin</a:t>
            </a: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e document describing SA:</a:t>
            </a:r>
            <a:endParaRPr lang="en-US" sz="1600" b="0" i="0" u="none" strike="noStrike"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marL="1143000" lvl="2"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Relationship, Data-Centric Journey, Implementation focus, Industry Disciplines, Pricing Service Packages (different levels of effort – strategic and execution)</a:t>
            </a:r>
            <a:endParaRPr lang="en-US" sz="1600">
              <a:solidFill>
                <a:schemeClr val="tx1">
                  <a:alpha val="80000"/>
                </a:schemeClr>
              </a:solidFill>
            </a:endParaRPr>
          </a:p>
          <a:p>
            <a:pPr fontAlgn="base">
              <a:lnSpc>
                <a:spcPct val="90000"/>
              </a:lnSpc>
            </a:pPr>
            <a:endParaRPr lang="en-US" sz="1600" b="1" i="0" u="none" strike="noStrike"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marL="742950" lvl="1"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Only North America partner for implementation </a:t>
            </a:r>
          </a:p>
          <a:p>
            <a:pPr marL="1143000" lvl="2"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Training is completed and experimentation with existing clients and internal to serve as testing ground. </a:t>
            </a:r>
          </a:p>
          <a:p>
            <a:pPr lvl="2" fontAlgn="base">
              <a:lnSpc>
                <a:spcPct val="90000"/>
              </a:lnSpc>
            </a:pPr>
            <a:endParaRPr lang="en-US" sz="1400" b="0" i="0" u="none" strike="noStrike"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marL="57150" fontAlgn="base">
              <a:lnSpc>
                <a:spcPct val="90000"/>
              </a:lnSpc>
              <a:spcAft>
                <a:spcPts val="800"/>
              </a:spcAft>
            </a:pPr>
            <a:r>
              <a:rPr lang="en-US" sz="2000" b="1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Next steps:</a:t>
            </a:r>
            <a:r>
              <a:rPr lang="en-US" sz="2000" b="0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600" b="0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Announce formal partnership, create LinkedIn post, joint streaming series event or webinar, market directly to SharePoint Admin, </a:t>
            </a:r>
            <a:r>
              <a:rPr lang="en-US" sz="1600" b="1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support </a:t>
            </a:r>
            <a:r>
              <a:rPr lang="en-US" sz="1600" b="1" i="0" u="none" strike="noStrike" err="1">
                <a:solidFill>
                  <a:schemeClr val="tx1">
                    <a:alpha val="80000"/>
                  </a:schemeClr>
                </a:solidFill>
                <a:effectLst/>
              </a:rPr>
              <a:t>Graphwise</a:t>
            </a:r>
            <a:r>
              <a:rPr lang="en-US" sz="1600" b="1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 lead gen activities as an implementation partner. </a:t>
            </a:r>
            <a:r>
              <a:rPr lang="en-US" sz="1600" b="0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 </a:t>
            </a:r>
          </a:p>
          <a:p>
            <a:pPr fontAlgn="base">
              <a:lnSpc>
                <a:spcPct val="90000"/>
              </a:lnSpc>
            </a:pPr>
            <a:br>
              <a:rPr lang="en-US" sz="1300" b="0">
                <a:effectLst/>
              </a:rPr>
            </a:br>
            <a:endParaRPr lang="en-US" sz="1300" b="0" i="0" u="none" strike="noStrike">
              <a:solidFill>
                <a:schemeClr val="tx1">
                  <a:alpha val="80000"/>
                </a:schemeClr>
              </a:solidFill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F552A9-0DC5-EB08-999F-332169A96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9521" y="290173"/>
            <a:ext cx="1759040" cy="8826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F99C6B-A3D5-0BDF-8D62-840C3583E2D8}"/>
              </a:ext>
            </a:extLst>
          </p:cNvPr>
          <p:cNvSpPr txBox="1"/>
          <p:nvPr/>
        </p:nvSpPr>
        <p:spPr>
          <a:xfrm>
            <a:off x="5579540" y="442452"/>
            <a:ext cx="742602" cy="1237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032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19536D-5685-395C-901D-821AE1878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8B49ED-6693-497D-8823-F50F891E8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DCD3BD4-4F32-431E-A9C3-8D2DA60CD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36AAC24-A98C-465E-AFEE-69D698E77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49158 w 12192000"/>
              <a:gd name="connsiteY0" fmla="*/ 2038490 h 6858000"/>
              <a:gd name="connsiteX1" fmla="*/ 9164184 w 12192000"/>
              <a:gd name="connsiteY1" fmla="*/ 2044026 h 6858000"/>
              <a:gd name="connsiteX2" fmla="*/ 9172532 w 12192000"/>
              <a:gd name="connsiteY2" fmla="*/ 2045543 h 6858000"/>
              <a:gd name="connsiteX3" fmla="*/ 9171580 w 12192000"/>
              <a:gd name="connsiteY3" fmla="*/ 2056997 h 6858000"/>
              <a:gd name="connsiteX4" fmla="*/ 9161257 w 12192000"/>
              <a:gd name="connsiteY4" fmla="*/ 2098605 h 6858000"/>
              <a:gd name="connsiteX5" fmla="*/ 9138232 w 12192000"/>
              <a:gd name="connsiteY5" fmla="*/ 2059518 h 6858000"/>
              <a:gd name="connsiteX6" fmla="*/ 9149158 w 12192000"/>
              <a:gd name="connsiteY6" fmla="*/ 2038490 h 6858000"/>
              <a:gd name="connsiteX7" fmla="*/ 9177606 w 12192000"/>
              <a:gd name="connsiteY7" fmla="*/ 1977215 h 6858000"/>
              <a:gd name="connsiteX8" fmla="*/ 9181592 w 12192000"/>
              <a:gd name="connsiteY8" fmla="*/ 1987782 h 6858000"/>
              <a:gd name="connsiteX9" fmla="*/ 9181923 w 12192000"/>
              <a:gd name="connsiteY9" fmla="*/ 1998627 h 6858000"/>
              <a:gd name="connsiteX10" fmla="*/ 9182316 w 12192000"/>
              <a:gd name="connsiteY10" fmla="*/ 2031066 h 6858000"/>
              <a:gd name="connsiteX11" fmla="*/ 9182278 w 12192000"/>
              <a:gd name="connsiteY11" fmla="*/ 2047313 h 6858000"/>
              <a:gd name="connsiteX12" fmla="*/ 9172532 w 12192000"/>
              <a:gd name="connsiteY12" fmla="*/ 2045543 h 6858000"/>
              <a:gd name="connsiteX13" fmla="*/ 9173842 w 12192000"/>
              <a:gd name="connsiteY13" fmla="*/ 2029805 h 6858000"/>
              <a:gd name="connsiteX14" fmla="*/ 9177334 w 12192000"/>
              <a:gd name="connsiteY14" fmla="*/ 1979903 h 6858000"/>
              <a:gd name="connsiteX15" fmla="*/ 3696300 w 12192000"/>
              <a:gd name="connsiteY15" fmla="*/ 1578900 h 6858000"/>
              <a:gd name="connsiteX16" fmla="*/ 3738823 w 12192000"/>
              <a:gd name="connsiteY16" fmla="*/ 1596298 h 6858000"/>
              <a:gd name="connsiteX17" fmla="*/ 3714409 w 12192000"/>
              <a:gd name="connsiteY17" fmla="*/ 1593618 h 6858000"/>
              <a:gd name="connsiteX18" fmla="*/ 3693161 w 12192000"/>
              <a:gd name="connsiteY18" fmla="*/ 1582501 h 6858000"/>
              <a:gd name="connsiteX19" fmla="*/ 3696300 w 12192000"/>
              <a:gd name="connsiteY19" fmla="*/ 1578900 h 6858000"/>
              <a:gd name="connsiteX20" fmla="*/ 3918454 w 12192000"/>
              <a:gd name="connsiteY20" fmla="*/ 1175387 h 6858000"/>
              <a:gd name="connsiteX21" fmla="*/ 4173607 w 12192000"/>
              <a:gd name="connsiteY21" fmla="*/ 1280040 h 6858000"/>
              <a:gd name="connsiteX22" fmla="*/ 4170135 w 12192000"/>
              <a:gd name="connsiteY22" fmla="*/ 1283683 h 6858000"/>
              <a:gd name="connsiteX23" fmla="*/ 3918454 w 12192000"/>
              <a:gd name="connsiteY23" fmla="*/ 1175387 h 6858000"/>
              <a:gd name="connsiteX24" fmla="*/ 8109090 w 12192000"/>
              <a:gd name="connsiteY24" fmla="*/ 602108 h 6858000"/>
              <a:gd name="connsiteX25" fmla="*/ 8113034 w 12192000"/>
              <a:gd name="connsiteY25" fmla="*/ 602645 h 6858000"/>
              <a:gd name="connsiteX26" fmla="*/ 8111220 w 12192000"/>
              <a:gd name="connsiteY26" fmla="*/ 603405 h 6858000"/>
              <a:gd name="connsiteX27" fmla="*/ 8489536 w 12192000"/>
              <a:gd name="connsiteY27" fmla="*/ 389280 h 6858000"/>
              <a:gd name="connsiteX28" fmla="*/ 8470194 w 12192000"/>
              <a:gd name="connsiteY28" fmla="*/ 397527 h 6858000"/>
              <a:gd name="connsiteX29" fmla="*/ 8373511 w 12192000"/>
              <a:gd name="connsiteY29" fmla="*/ 465608 h 6858000"/>
              <a:gd name="connsiteX30" fmla="*/ 8231753 w 12192000"/>
              <a:gd name="connsiteY30" fmla="*/ 560890 h 6858000"/>
              <a:gd name="connsiteX31" fmla="*/ 8199967 w 12192000"/>
              <a:gd name="connsiteY31" fmla="*/ 553465 h 6858000"/>
              <a:gd name="connsiteX32" fmla="*/ 8175616 w 12192000"/>
              <a:gd name="connsiteY32" fmla="*/ 546483 h 6858000"/>
              <a:gd name="connsiteX33" fmla="*/ 8128578 w 12192000"/>
              <a:gd name="connsiteY33" fmla="*/ 563992 h 6858000"/>
              <a:gd name="connsiteX34" fmla="*/ 8104845 w 12192000"/>
              <a:gd name="connsiteY34" fmla="*/ 593172 h 6858000"/>
              <a:gd name="connsiteX35" fmla="*/ 8105615 w 12192000"/>
              <a:gd name="connsiteY35" fmla="*/ 599991 h 6858000"/>
              <a:gd name="connsiteX36" fmla="*/ 8109090 w 12192000"/>
              <a:gd name="connsiteY36" fmla="*/ 602108 h 6858000"/>
              <a:gd name="connsiteX37" fmla="*/ 8092049 w 12192000"/>
              <a:gd name="connsiteY37" fmla="*/ 599788 h 6858000"/>
              <a:gd name="connsiteX38" fmla="*/ 8047646 w 12192000"/>
              <a:gd name="connsiteY38" fmla="*/ 588557 h 6858000"/>
              <a:gd name="connsiteX39" fmla="*/ 7793637 w 12192000"/>
              <a:gd name="connsiteY39" fmla="*/ 681868 h 6858000"/>
              <a:gd name="connsiteX40" fmla="*/ 6007741 w 12192000"/>
              <a:gd name="connsiteY40" fmla="*/ 1095470 h 6858000"/>
              <a:gd name="connsiteX41" fmla="*/ 5902533 w 12192000"/>
              <a:gd name="connsiteY41" fmla="*/ 1103650 h 6858000"/>
              <a:gd name="connsiteX42" fmla="*/ 5164222 w 12192000"/>
              <a:gd name="connsiteY42" fmla="*/ 1163546 h 6858000"/>
              <a:gd name="connsiteX43" fmla="*/ 4395075 w 12192000"/>
              <a:gd name="connsiteY43" fmla="*/ 1082763 h 6858000"/>
              <a:gd name="connsiteX44" fmla="*/ 3939440 w 12192000"/>
              <a:gd name="connsiteY44" fmla="*/ 891265 h 6858000"/>
              <a:gd name="connsiteX45" fmla="*/ 3747894 w 12192000"/>
              <a:gd name="connsiteY45" fmla="*/ 801994 h 6858000"/>
              <a:gd name="connsiteX46" fmla="*/ 3569553 w 12192000"/>
              <a:gd name="connsiteY46" fmla="*/ 697970 h 6858000"/>
              <a:gd name="connsiteX47" fmla="*/ 3507813 w 12192000"/>
              <a:gd name="connsiteY47" fmla="*/ 680216 h 6858000"/>
              <a:gd name="connsiteX48" fmla="*/ 3490455 w 12192000"/>
              <a:gd name="connsiteY48" fmla="*/ 682587 h 6858000"/>
              <a:gd name="connsiteX49" fmla="*/ 3477246 w 12192000"/>
              <a:gd name="connsiteY49" fmla="*/ 691971 h 6858000"/>
              <a:gd name="connsiteX50" fmla="*/ 3484273 w 12192000"/>
              <a:gd name="connsiteY50" fmla="*/ 701857 h 6858000"/>
              <a:gd name="connsiteX51" fmla="*/ 3495638 w 12192000"/>
              <a:gd name="connsiteY51" fmla="*/ 705849 h 6858000"/>
              <a:gd name="connsiteX52" fmla="*/ 3548914 w 12192000"/>
              <a:gd name="connsiteY52" fmla="*/ 733487 h 6858000"/>
              <a:gd name="connsiteX53" fmla="*/ 3551504 w 12192000"/>
              <a:gd name="connsiteY53" fmla="*/ 753036 h 6858000"/>
              <a:gd name="connsiteX54" fmla="*/ 3562075 w 12192000"/>
              <a:gd name="connsiteY54" fmla="*/ 765715 h 6858000"/>
              <a:gd name="connsiteX55" fmla="*/ 3605942 w 12192000"/>
              <a:gd name="connsiteY55" fmla="*/ 772481 h 6858000"/>
              <a:gd name="connsiteX56" fmla="*/ 3499309 w 12192000"/>
              <a:gd name="connsiteY56" fmla="*/ 737079 h 6858000"/>
              <a:gd name="connsiteX57" fmla="*/ 3473788 w 12192000"/>
              <a:gd name="connsiteY57" fmla="*/ 711717 h 6858000"/>
              <a:gd name="connsiteX58" fmla="*/ 3437248 w 12192000"/>
              <a:gd name="connsiteY58" fmla="*/ 714263 h 6858000"/>
              <a:gd name="connsiteX59" fmla="*/ 3413254 w 12192000"/>
              <a:gd name="connsiteY59" fmla="*/ 712874 h 6858000"/>
              <a:gd name="connsiteX60" fmla="*/ 3362511 w 12192000"/>
              <a:gd name="connsiteY60" fmla="*/ 677414 h 6858000"/>
              <a:gd name="connsiteX61" fmla="*/ 3344467 w 12192000"/>
              <a:gd name="connsiteY61" fmla="*/ 679599 h 6858000"/>
              <a:gd name="connsiteX62" fmla="*/ 3347971 w 12192000"/>
              <a:gd name="connsiteY62" fmla="*/ 692328 h 6858000"/>
              <a:gd name="connsiteX63" fmla="*/ 3363008 w 12192000"/>
              <a:gd name="connsiteY63" fmla="*/ 711713 h 6858000"/>
              <a:gd name="connsiteX64" fmla="*/ 3362637 w 12192000"/>
              <a:gd name="connsiteY64" fmla="*/ 727058 h 6858000"/>
              <a:gd name="connsiteX65" fmla="*/ 3376167 w 12192000"/>
              <a:gd name="connsiteY65" fmla="*/ 759779 h 6858000"/>
              <a:gd name="connsiteX66" fmla="*/ 3406203 w 12192000"/>
              <a:gd name="connsiteY66" fmla="*/ 808483 h 6858000"/>
              <a:gd name="connsiteX67" fmla="*/ 3420116 w 12192000"/>
              <a:gd name="connsiteY67" fmla="*/ 820757 h 6858000"/>
              <a:gd name="connsiteX68" fmla="*/ 3429194 w 12192000"/>
              <a:gd name="connsiteY68" fmla="*/ 825831 h 6858000"/>
              <a:gd name="connsiteX69" fmla="*/ 3619149 w 12192000"/>
              <a:gd name="connsiteY69" fmla="*/ 1006561 h 6858000"/>
              <a:gd name="connsiteX70" fmla="*/ 3818654 w 12192000"/>
              <a:gd name="connsiteY70" fmla="*/ 1120369 h 6858000"/>
              <a:gd name="connsiteX71" fmla="*/ 3824021 w 12192000"/>
              <a:gd name="connsiteY71" fmla="*/ 1125355 h 6858000"/>
              <a:gd name="connsiteX72" fmla="*/ 3736668 w 12192000"/>
              <a:gd name="connsiteY72" fmla="*/ 1107215 h 6858000"/>
              <a:gd name="connsiteX73" fmla="*/ 3540174 w 12192000"/>
              <a:gd name="connsiteY73" fmla="*/ 1014247 h 6858000"/>
              <a:gd name="connsiteX74" fmla="*/ 3421640 w 12192000"/>
              <a:gd name="connsiteY74" fmla="*/ 955861 h 6858000"/>
              <a:gd name="connsiteX75" fmla="*/ 3404753 w 12192000"/>
              <a:gd name="connsiteY75" fmla="*/ 944484 h 6858000"/>
              <a:gd name="connsiteX76" fmla="*/ 3393138 w 12192000"/>
              <a:gd name="connsiteY76" fmla="*/ 941865 h 6858000"/>
              <a:gd name="connsiteX77" fmla="*/ 3385712 w 12192000"/>
              <a:gd name="connsiteY77" fmla="*/ 952159 h 6858000"/>
              <a:gd name="connsiteX78" fmla="*/ 3398641 w 12192000"/>
              <a:gd name="connsiteY78" fmla="*/ 986025 h 6858000"/>
              <a:gd name="connsiteX79" fmla="*/ 3489975 w 12192000"/>
              <a:gd name="connsiteY79" fmla="*/ 1045560 h 6858000"/>
              <a:gd name="connsiteX80" fmla="*/ 3617273 w 12192000"/>
              <a:gd name="connsiteY80" fmla="*/ 1114697 h 6858000"/>
              <a:gd name="connsiteX81" fmla="*/ 3623898 w 12192000"/>
              <a:gd name="connsiteY81" fmla="*/ 1123556 h 6858000"/>
              <a:gd name="connsiteX82" fmla="*/ 3552438 w 12192000"/>
              <a:gd name="connsiteY82" fmla="*/ 1090606 h 6858000"/>
              <a:gd name="connsiteX83" fmla="*/ 3482417 w 12192000"/>
              <a:gd name="connsiteY83" fmla="*/ 1059092 h 6858000"/>
              <a:gd name="connsiteX84" fmla="*/ 3463468 w 12192000"/>
              <a:gd name="connsiteY84" fmla="*/ 1057629 h 6858000"/>
              <a:gd name="connsiteX85" fmla="*/ 3459472 w 12192000"/>
              <a:gd name="connsiteY85" fmla="*/ 1074217 h 6858000"/>
              <a:gd name="connsiteX86" fmla="*/ 3494211 w 12192000"/>
              <a:gd name="connsiteY86" fmla="*/ 1112153 h 6858000"/>
              <a:gd name="connsiteX87" fmla="*/ 3663137 w 12192000"/>
              <a:gd name="connsiteY87" fmla="*/ 1205775 h 6858000"/>
              <a:gd name="connsiteX88" fmla="*/ 3748466 w 12192000"/>
              <a:gd name="connsiteY88" fmla="*/ 1260936 h 6858000"/>
              <a:gd name="connsiteX89" fmla="*/ 3753142 w 12192000"/>
              <a:gd name="connsiteY89" fmla="*/ 1276208 h 6858000"/>
              <a:gd name="connsiteX90" fmla="*/ 3791960 w 12192000"/>
              <a:gd name="connsiteY90" fmla="*/ 1298886 h 6858000"/>
              <a:gd name="connsiteX91" fmla="*/ 3816039 w 12192000"/>
              <a:gd name="connsiteY91" fmla="*/ 1301606 h 6858000"/>
              <a:gd name="connsiteX92" fmla="*/ 4094439 w 12192000"/>
              <a:gd name="connsiteY92" fmla="*/ 1448806 h 6858000"/>
              <a:gd name="connsiteX93" fmla="*/ 4222870 w 12192000"/>
              <a:gd name="connsiteY93" fmla="*/ 1493379 h 6858000"/>
              <a:gd name="connsiteX94" fmla="*/ 4223141 w 12192000"/>
              <a:gd name="connsiteY94" fmla="*/ 1497641 h 6858000"/>
              <a:gd name="connsiteX95" fmla="*/ 4222428 w 12192000"/>
              <a:gd name="connsiteY95" fmla="*/ 1502292 h 6858000"/>
              <a:gd name="connsiteX96" fmla="*/ 4039973 w 12192000"/>
              <a:gd name="connsiteY96" fmla="*/ 1434198 h 6858000"/>
              <a:gd name="connsiteX97" fmla="*/ 3564773 w 12192000"/>
              <a:gd name="connsiteY97" fmla="*/ 1226279 h 6858000"/>
              <a:gd name="connsiteX98" fmla="*/ 3420650 w 12192000"/>
              <a:gd name="connsiteY98" fmla="*/ 1141464 h 6858000"/>
              <a:gd name="connsiteX99" fmla="*/ 3320669 w 12192000"/>
              <a:gd name="connsiteY99" fmla="*/ 1088883 h 6858000"/>
              <a:gd name="connsiteX100" fmla="*/ 3270102 w 12192000"/>
              <a:gd name="connsiteY100" fmla="*/ 1082659 h 6858000"/>
              <a:gd name="connsiteX101" fmla="*/ 3251648 w 12192000"/>
              <a:gd name="connsiteY101" fmla="*/ 1094290 h 6858000"/>
              <a:gd name="connsiteX102" fmla="*/ 3263506 w 12192000"/>
              <a:gd name="connsiteY102" fmla="*/ 1106005 h 6858000"/>
              <a:gd name="connsiteX103" fmla="*/ 3268636 w 12192000"/>
              <a:gd name="connsiteY103" fmla="*/ 1107265 h 6858000"/>
              <a:gd name="connsiteX104" fmla="*/ 3325089 w 12192000"/>
              <a:gd name="connsiteY104" fmla="*/ 1137201 h 6858000"/>
              <a:gd name="connsiteX105" fmla="*/ 3326003 w 12192000"/>
              <a:gd name="connsiteY105" fmla="*/ 1151585 h 6858000"/>
              <a:gd name="connsiteX106" fmla="*/ 3336410 w 12192000"/>
              <a:gd name="connsiteY106" fmla="*/ 1166967 h 6858000"/>
              <a:gd name="connsiteX107" fmla="*/ 3375112 w 12192000"/>
              <a:gd name="connsiteY107" fmla="*/ 1171943 h 6858000"/>
              <a:gd name="connsiteX108" fmla="*/ 3326222 w 12192000"/>
              <a:gd name="connsiteY108" fmla="*/ 1170885 h 6858000"/>
              <a:gd name="connsiteX109" fmla="*/ 3254679 w 12192000"/>
              <a:gd name="connsiteY109" fmla="*/ 1120765 h 6858000"/>
              <a:gd name="connsiteX110" fmla="*/ 3242188 w 12192000"/>
              <a:gd name="connsiteY110" fmla="*/ 1109662 h 6858000"/>
              <a:gd name="connsiteX111" fmla="*/ 3211499 w 12192000"/>
              <a:gd name="connsiteY111" fmla="*/ 1114184 h 6858000"/>
              <a:gd name="connsiteX112" fmla="*/ 3185849 w 12192000"/>
              <a:gd name="connsiteY112" fmla="*/ 1113265 h 6858000"/>
              <a:gd name="connsiteX113" fmla="*/ 3135843 w 12192000"/>
              <a:gd name="connsiteY113" fmla="*/ 1078789 h 6858000"/>
              <a:gd name="connsiteX114" fmla="*/ 3119118 w 12192000"/>
              <a:gd name="connsiteY114" fmla="*/ 1080546 h 6858000"/>
              <a:gd name="connsiteX115" fmla="*/ 3120198 w 12192000"/>
              <a:gd name="connsiteY115" fmla="*/ 1092226 h 6858000"/>
              <a:gd name="connsiteX116" fmla="*/ 3131691 w 12192000"/>
              <a:gd name="connsiteY116" fmla="*/ 1108819 h 6858000"/>
              <a:gd name="connsiteX117" fmla="*/ 3129914 w 12192000"/>
              <a:gd name="connsiteY117" fmla="*/ 1139097 h 6858000"/>
              <a:gd name="connsiteX118" fmla="*/ 3133955 w 12192000"/>
              <a:gd name="connsiteY118" fmla="*/ 1154983 h 6858000"/>
              <a:gd name="connsiteX119" fmla="*/ 3178170 w 12192000"/>
              <a:gd name="connsiteY119" fmla="*/ 1214855 h 6858000"/>
              <a:gd name="connsiteX120" fmla="*/ 3185378 w 12192000"/>
              <a:gd name="connsiteY120" fmla="*/ 1222303 h 6858000"/>
              <a:gd name="connsiteX121" fmla="*/ 3206608 w 12192000"/>
              <a:gd name="connsiteY121" fmla="*/ 1233153 h 6858000"/>
              <a:gd name="connsiteX122" fmla="*/ 3379140 w 12192000"/>
              <a:gd name="connsiteY122" fmla="*/ 1399351 h 6858000"/>
              <a:gd name="connsiteX123" fmla="*/ 3603118 w 12192000"/>
              <a:gd name="connsiteY123" fmla="*/ 1527375 h 6858000"/>
              <a:gd name="connsiteX124" fmla="*/ 3524809 w 12192000"/>
              <a:gd name="connsiteY124" fmla="*/ 1513774 h 6858000"/>
              <a:gd name="connsiteX125" fmla="*/ 3327498 w 12192000"/>
              <a:gd name="connsiteY125" fmla="*/ 1423859 h 6858000"/>
              <a:gd name="connsiteX126" fmla="*/ 3192949 w 12192000"/>
              <a:gd name="connsiteY126" fmla="*/ 1357211 h 6858000"/>
              <a:gd name="connsiteX127" fmla="*/ 3180259 w 12192000"/>
              <a:gd name="connsiteY127" fmla="*/ 1348280 h 6858000"/>
              <a:gd name="connsiteX128" fmla="*/ 3166204 w 12192000"/>
              <a:gd name="connsiteY128" fmla="*/ 1344345 h 6858000"/>
              <a:gd name="connsiteX129" fmla="*/ 3159212 w 12192000"/>
              <a:gd name="connsiteY129" fmla="*/ 1356197 h 6858000"/>
              <a:gd name="connsiteX130" fmla="*/ 3181004 w 12192000"/>
              <a:gd name="connsiteY130" fmla="*/ 1397043 h 6858000"/>
              <a:gd name="connsiteX131" fmla="*/ 3273385 w 12192000"/>
              <a:gd name="connsiteY131" fmla="*/ 1451888 h 6858000"/>
              <a:gd name="connsiteX132" fmla="*/ 3401776 w 12192000"/>
              <a:gd name="connsiteY132" fmla="*/ 1527602 h 6858000"/>
              <a:gd name="connsiteX133" fmla="*/ 3318130 w 12192000"/>
              <a:gd name="connsiteY133" fmla="*/ 1488342 h 6858000"/>
              <a:gd name="connsiteX134" fmla="*/ 3253694 w 12192000"/>
              <a:gd name="connsiteY134" fmla="*/ 1459909 h 6858000"/>
              <a:gd name="connsiteX135" fmla="*/ 3236182 w 12192000"/>
              <a:gd name="connsiteY135" fmla="*/ 1459882 h 6858000"/>
              <a:gd name="connsiteX136" fmla="*/ 3233020 w 12192000"/>
              <a:gd name="connsiteY136" fmla="*/ 1473687 h 6858000"/>
              <a:gd name="connsiteX137" fmla="*/ 3272474 w 12192000"/>
              <a:gd name="connsiteY137" fmla="*/ 1516958 h 6858000"/>
              <a:gd name="connsiteX138" fmla="*/ 3341300 w 12192000"/>
              <a:gd name="connsiteY138" fmla="*/ 1556133 h 6858000"/>
              <a:gd name="connsiteX139" fmla="*/ 3267359 w 12192000"/>
              <a:gd name="connsiteY139" fmla="*/ 1553009 h 6858000"/>
              <a:gd name="connsiteX140" fmla="*/ 3329832 w 12192000"/>
              <a:gd name="connsiteY140" fmla="*/ 1587586 h 6858000"/>
              <a:gd name="connsiteX141" fmla="*/ 3421490 w 12192000"/>
              <a:gd name="connsiteY141" fmla="*/ 1599301 h 6858000"/>
              <a:gd name="connsiteX142" fmla="*/ 3459923 w 12192000"/>
              <a:gd name="connsiteY142" fmla="*/ 1621220 h 6858000"/>
              <a:gd name="connsiteX143" fmla="*/ 3497490 w 12192000"/>
              <a:gd name="connsiteY143" fmla="*/ 1645392 h 6858000"/>
              <a:gd name="connsiteX144" fmla="*/ 3507803 w 12192000"/>
              <a:gd name="connsiteY144" fmla="*/ 1669911 h 6858000"/>
              <a:gd name="connsiteX145" fmla="*/ 3543290 w 12192000"/>
              <a:gd name="connsiteY145" fmla="*/ 1703729 h 6858000"/>
              <a:gd name="connsiteX146" fmla="*/ 3546999 w 12192000"/>
              <a:gd name="connsiteY146" fmla="*/ 1703818 h 6858000"/>
              <a:gd name="connsiteX147" fmla="*/ 3572295 w 12192000"/>
              <a:gd name="connsiteY147" fmla="*/ 1720349 h 6858000"/>
              <a:gd name="connsiteX148" fmla="*/ 3596922 w 12192000"/>
              <a:gd name="connsiteY148" fmla="*/ 1736961 h 6858000"/>
              <a:gd name="connsiteX149" fmla="*/ 3602119 w 12192000"/>
              <a:gd name="connsiteY149" fmla="*/ 1739285 h 6858000"/>
              <a:gd name="connsiteX150" fmla="*/ 3734798 w 12192000"/>
              <a:gd name="connsiteY150" fmla="*/ 1845349 h 6858000"/>
              <a:gd name="connsiteX151" fmla="*/ 3743174 w 12192000"/>
              <a:gd name="connsiteY151" fmla="*/ 1849972 h 6858000"/>
              <a:gd name="connsiteX152" fmla="*/ 3478101 w 12192000"/>
              <a:gd name="connsiteY152" fmla="*/ 1864630 h 6858000"/>
              <a:gd name="connsiteX153" fmla="*/ 3135293 w 12192000"/>
              <a:gd name="connsiteY153" fmla="*/ 1816496 h 6858000"/>
              <a:gd name="connsiteX154" fmla="*/ 3158510 w 12192000"/>
              <a:gd name="connsiteY154" fmla="*/ 1863880 h 6858000"/>
              <a:gd name="connsiteX155" fmla="*/ 3148907 w 12192000"/>
              <a:gd name="connsiteY155" fmla="*/ 1908797 h 6858000"/>
              <a:gd name="connsiteX156" fmla="*/ 3150229 w 12192000"/>
              <a:gd name="connsiteY156" fmla="*/ 2003660 h 6858000"/>
              <a:gd name="connsiteX157" fmla="*/ 3154219 w 12192000"/>
              <a:gd name="connsiteY157" fmla="*/ 2018746 h 6858000"/>
              <a:gd name="connsiteX158" fmla="*/ 3079313 w 12192000"/>
              <a:gd name="connsiteY158" fmla="*/ 2037482 h 6858000"/>
              <a:gd name="connsiteX159" fmla="*/ 3545961 w 12192000"/>
              <a:gd name="connsiteY159" fmla="*/ 2248584 h 6858000"/>
              <a:gd name="connsiteX160" fmla="*/ 3242382 w 12192000"/>
              <a:gd name="connsiteY160" fmla="*/ 2234890 h 6858000"/>
              <a:gd name="connsiteX161" fmla="*/ 3206852 w 12192000"/>
              <a:gd name="connsiteY161" fmla="*/ 2322137 h 6858000"/>
              <a:gd name="connsiteX162" fmla="*/ 3352854 w 12192000"/>
              <a:gd name="connsiteY162" fmla="*/ 2378270 h 6858000"/>
              <a:gd name="connsiteX163" fmla="*/ 3414532 w 12192000"/>
              <a:gd name="connsiteY163" fmla="*/ 2516826 h 6858000"/>
              <a:gd name="connsiteX164" fmla="*/ 3397577 w 12192000"/>
              <a:gd name="connsiteY164" fmla="*/ 2652556 h 6858000"/>
              <a:gd name="connsiteX165" fmla="*/ 3339773 w 12192000"/>
              <a:gd name="connsiteY165" fmla="*/ 2701969 h 6858000"/>
              <a:gd name="connsiteX166" fmla="*/ 3257041 w 12192000"/>
              <a:gd name="connsiteY166" fmla="*/ 2788223 h 6858000"/>
              <a:gd name="connsiteX167" fmla="*/ 3205892 w 12192000"/>
              <a:gd name="connsiteY167" fmla="*/ 2841661 h 6858000"/>
              <a:gd name="connsiteX168" fmla="*/ 3016267 w 12192000"/>
              <a:gd name="connsiteY168" fmla="*/ 2846107 h 6858000"/>
              <a:gd name="connsiteX169" fmla="*/ 3275450 w 12192000"/>
              <a:gd name="connsiteY169" fmla="*/ 2934701 h 6858000"/>
              <a:gd name="connsiteX170" fmla="*/ 3071009 w 12192000"/>
              <a:gd name="connsiteY170" fmla="*/ 2944432 h 6858000"/>
              <a:gd name="connsiteX171" fmla="*/ 3005039 w 12192000"/>
              <a:gd name="connsiteY171" fmla="*/ 2960743 h 6858000"/>
              <a:gd name="connsiteX172" fmla="*/ 3045255 w 12192000"/>
              <a:gd name="connsiteY172" fmla="*/ 2994795 h 6858000"/>
              <a:gd name="connsiteX173" fmla="*/ 3198769 w 12192000"/>
              <a:gd name="connsiteY173" fmla="*/ 3041966 h 6858000"/>
              <a:gd name="connsiteX174" fmla="*/ 3518098 w 12192000"/>
              <a:gd name="connsiteY174" fmla="*/ 3181525 h 6858000"/>
              <a:gd name="connsiteX175" fmla="*/ 3214876 w 12192000"/>
              <a:gd name="connsiteY175" fmla="*/ 3136382 h 6858000"/>
              <a:gd name="connsiteX176" fmla="*/ 3540876 w 12192000"/>
              <a:gd name="connsiteY176" fmla="*/ 3280232 h 6858000"/>
              <a:gd name="connsiteX177" fmla="*/ 3614558 w 12192000"/>
              <a:gd name="connsiteY177" fmla="*/ 3332242 h 6858000"/>
              <a:gd name="connsiteX178" fmla="*/ 3765439 w 12192000"/>
              <a:gd name="connsiteY178" fmla="*/ 3465091 h 6858000"/>
              <a:gd name="connsiteX179" fmla="*/ 3759506 w 12192000"/>
              <a:gd name="connsiteY179" fmla="*/ 3482990 h 6858000"/>
              <a:gd name="connsiteX180" fmla="*/ 3594905 w 12192000"/>
              <a:gd name="connsiteY180" fmla="*/ 3478499 h 6858000"/>
              <a:gd name="connsiteX181" fmla="*/ 3814430 w 12192000"/>
              <a:gd name="connsiteY181" fmla="*/ 3578876 h 6858000"/>
              <a:gd name="connsiteX182" fmla="*/ 4039126 w 12192000"/>
              <a:gd name="connsiteY182" fmla="*/ 3649369 h 6858000"/>
              <a:gd name="connsiteX183" fmla="*/ 3883152 w 12192000"/>
              <a:gd name="connsiteY183" fmla="*/ 3653497 h 6858000"/>
              <a:gd name="connsiteX184" fmla="*/ 3666446 w 12192000"/>
              <a:gd name="connsiteY184" fmla="*/ 3623911 h 6858000"/>
              <a:gd name="connsiteX185" fmla="*/ 3593589 w 12192000"/>
              <a:gd name="connsiteY185" fmla="*/ 3653674 h 6858000"/>
              <a:gd name="connsiteX186" fmla="*/ 3801238 w 12192000"/>
              <a:gd name="connsiteY186" fmla="*/ 3720862 h 6858000"/>
              <a:gd name="connsiteX187" fmla="*/ 3919545 w 12192000"/>
              <a:gd name="connsiteY187" fmla="*/ 3749213 h 6858000"/>
              <a:gd name="connsiteX188" fmla="*/ 3968059 w 12192000"/>
              <a:gd name="connsiteY188" fmla="*/ 3776085 h 6858000"/>
              <a:gd name="connsiteX189" fmla="*/ 4107750 w 12192000"/>
              <a:gd name="connsiteY189" fmla="*/ 3875932 h 6858000"/>
              <a:gd name="connsiteX190" fmla="*/ 4504087 w 12192000"/>
              <a:gd name="connsiteY190" fmla="*/ 3955698 h 6858000"/>
              <a:gd name="connsiteX191" fmla="*/ 5880284 w 12192000"/>
              <a:gd name="connsiteY191" fmla="*/ 3998656 h 6858000"/>
              <a:gd name="connsiteX192" fmla="*/ 8461494 w 12192000"/>
              <a:gd name="connsiteY192" fmla="*/ 3007971 h 6858000"/>
              <a:gd name="connsiteX193" fmla="*/ 8587378 w 12192000"/>
              <a:gd name="connsiteY193" fmla="*/ 2896089 h 6858000"/>
              <a:gd name="connsiteX194" fmla="*/ 8693826 w 12192000"/>
              <a:gd name="connsiteY194" fmla="*/ 2796225 h 6858000"/>
              <a:gd name="connsiteX195" fmla="*/ 8633488 w 12192000"/>
              <a:gd name="connsiteY195" fmla="*/ 2774007 h 6858000"/>
              <a:gd name="connsiteX196" fmla="*/ 8707444 w 12192000"/>
              <a:gd name="connsiteY196" fmla="*/ 2682105 h 6858000"/>
              <a:gd name="connsiteX197" fmla="*/ 8942552 w 12192000"/>
              <a:gd name="connsiteY197" fmla="*/ 2397549 h 6858000"/>
              <a:gd name="connsiteX198" fmla="*/ 9049260 w 12192000"/>
              <a:gd name="connsiteY198" fmla="*/ 2328253 h 6858000"/>
              <a:gd name="connsiteX199" fmla="*/ 9174304 w 12192000"/>
              <a:gd name="connsiteY199" fmla="*/ 2171379 h 6858000"/>
              <a:gd name="connsiteX200" fmla="*/ 9182228 w 12192000"/>
              <a:gd name="connsiteY200" fmla="*/ 2067678 h 6858000"/>
              <a:gd name="connsiteX201" fmla="*/ 9182278 w 12192000"/>
              <a:gd name="connsiteY201" fmla="*/ 2047313 h 6858000"/>
              <a:gd name="connsiteX202" fmla="*/ 9184334 w 12192000"/>
              <a:gd name="connsiteY202" fmla="*/ 2047686 h 6858000"/>
              <a:gd name="connsiteX203" fmla="*/ 9185124 w 12192000"/>
              <a:gd name="connsiteY203" fmla="*/ 1997142 h 6858000"/>
              <a:gd name="connsiteX204" fmla="*/ 9181592 w 12192000"/>
              <a:gd name="connsiteY204" fmla="*/ 1987782 h 6858000"/>
              <a:gd name="connsiteX205" fmla="*/ 9181190 w 12192000"/>
              <a:gd name="connsiteY205" fmla="*/ 1974586 h 6858000"/>
              <a:gd name="connsiteX206" fmla="*/ 9180252 w 12192000"/>
              <a:gd name="connsiteY206" fmla="*/ 1963164 h 6858000"/>
              <a:gd name="connsiteX207" fmla="*/ 9178804 w 12192000"/>
              <a:gd name="connsiteY207" fmla="*/ 1965349 h 6858000"/>
              <a:gd name="connsiteX208" fmla="*/ 9177606 w 12192000"/>
              <a:gd name="connsiteY208" fmla="*/ 1977215 h 6858000"/>
              <a:gd name="connsiteX209" fmla="*/ 9169614 w 12192000"/>
              <a:gd name="connsiteY209" fmla="*/ 1956030 h 6858000"/>
              <a:gd name="connsiteX210" fmla="*/ 9046406 w 12192000"/>
              <a:gd name="connsiteY210" fmla="*/ 1838718 h 6858000"/>
              <a:gd name="connsiteX211" fmla="*/ 8960873 w 12192000"/>
              <a:gd name="connsiteY211" fmla="*/ 1764524 h 6858000"/>
              <a:gd name="connsiteX212" fmla="*/ 8946755 w 12192000"/>
              <a:gd name="connsiteY212" fmla="*/ 1690806 h 6858000"/>
              <a:gd name="connsiteX213" fmla="*/ 8786897 w 12192000"/>
              <a:gd name="connsiteY213" fmla="*/ 1665607 h 6858000"/>
              <a:gd name="connsiteX214" fmla="*/ 8924505 w 12192000"/>
              <a:gd name="connsiteY214" fmla="*/ 1489227 h 6858000"/>
              <a:gd name="connsiteX215" fmla="*/ 8937122 w 12192000"/>
              <a:gd name="connsiteY215" fmla="*/ 1454681 h 6858000"/>
              <a:gd name="connsiteX216" fmla="*/ 8841119 w 12192000"/>
              <a:gd name="connsiteY216" fmla="*/ 1348202 h 6858000"/>
              <a:gd name="connsiteX217" fmla="*/ 8825548 w 12192000"/>
              <a:gd name="connsiteY217" fmla="*/ 1331028 h 6858000"/>
              <a:gd name="connsiteX218" fmla="*/ 8790413 w 12192000"/>
              <a:gd name="connsiteY218" fmla="*/ 1297436 h 6858000"/>
              <a:gd name="connsiteX219" fmla="*/ 8695944 w 12192000"/>
              <a:gd name="connsiteY219" fmla="*/ 1299752 h 6858000"/>
              <a:gd name="connsiteX220" fmla="*/ 8743050 w 12192000"/>
              <a:gd name="connsiteY220" fmla="*/ 1267471 h 6858000"/>
              <a:gd name="connsiteX221" fmla="*/ 8831902 w 12192000"/>
              <a:gd name="connsiteY221" fmla="*/ 1166250 h 6858000"/>
              <a:gd name="connsiteX222" fmla="*/ 8763628 w 12192000"/>
              <a:gd name="connsiteY222" fmla="*/ 1088084 h 6858000"/>
              <a:gd name="connsiteX223" fmla="*/ 8744052 w 12192000"/>
              <a:gd name="connsiteY223" fmla="*/ 1076766 h 6858000"/>
              <a:gd name="connsiteX224" fmla="*/ 8767977 w 12192000"/>
              <a:gd name="connsiteY224" fmla="*/ 1055883 h 6858000"/>
              <a:gd name="connsiteX225" fmla="*/ 8815418 w 12192000"/>
              <a:gd name="connsiteY225" fmla="*/ 986519 h 6858000"/>
              <a:gd name="connsiteX226" fmla="*/ 8839356 w 12192000"/>
              <a:gd name="connsiteY226" fmla="*/ 939330 h 6858000"/>
              <a:gd name="connsiteX227" fmla="*/ 8869964 w 12192000"/>
              <a:gd name="connsiteY227" fmla="*/ 917639 h 6858000"/>
              <a:gd name="connsiteX228" fmla="*/ 8876013 w 12192000"/>
              <a:gd name="connsiteY228" fmla="*/ 901606 h 6858000"/>
              <a:gd name="connsiteX229" fmla="*/ 8855230 w 12192000"/>
              <a:gd name="connsiteY229" fmla="*/ 828963 h 6858000"/>
              <a:gd name="connsiteX230" fmla="*/ 8844988 w 12192000"/>
              <a:gd name="connsiteY230" fmla="*/ 810876 h 6858000"/>
              <a:gd name="connsiteX231" fmla="*/ 8768255 w 12192000"/>
              <a:gd name="connsiteY231" fmla="*/ 747963 h 6858000"/>
              <a:gd name="connsiteX232" fmla="*/ 8692953 w 12192000"/>
              <a:gd name="connsiteY232" fmla="*/ 638707 h 6858000"/>
              <a:gd name="connsiteX233" fmla="*/ 8674423 w 12192000"/>
              <a:gd name="connsiteY233" fmla="*/ 564449 h 6858000"/>
              <a:gd name="connsiteX234" fmla="*/ 8667642 w 12192000"/>
              <a:gd name="connsiteY234" fmla="*/ 547822 h 6858000"/>
              <a:gd name="connsiteX235" fmla="*/ 8661198 w 12192000"/>
              <a:gd name="connsiteY235" fmla="*/ 478275 h 6858000"/>
              <a:gd name="connsiteX236" fmla="*/ 8645813 w 12192000"/>
              <a:gd name="connsiteY236" fmla="*/ 464032 h 6858000"/>
              <a:gd name="connsiteX237" fmla="*/ 8512338 w 12192000"/>
              <a:gd name="connsiteY237" fmla="*/ 477784 h 6858000"/>
              <a:gd name="connsiteX238" fmla="*/ 8481050 w 12192000"/>
              <a:gd name="connsiteY238" fmla="*/ 430572 h 6858000"/>
              <a:gd name="connsiteX239" fmla="*/ 8498220 w 12192000"/>
              <a:gd name="connsiteY239" fmla="*/ 404064 h 6858000"/>
              <a:gd name="connsiteX240" fmla="*/ 8489536 w 12192000"/>
              <a:gd name="connsiteY240" fmla="*/ 389280 h 6858000"/>
              <a:gd name="connsiteX241" fmla="*/ 0 w 12192000"/>
              <a:gd name="connsiteY241" fmla="*/ 0 h 6858000"/>
              <a:gd name="connsiteX242" fmla="*/ 12192000 w 12192000"/>
              <a:gd name="connsiteY242" fmla="*/ 0 h 6858000"/>
              <a:gd name="connsiteX243" fmla="*/ 12192000 w 12192000"/>
              <a:gd name="connsiteY243" fmla="*/ 6858000 h 6858000"/>
              <a:gd name="connsiteX244" fmla="*/ 0 w 12192000"/>
              <a:gd name="connsiteY2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</a:cxnLst>
            <a:rect l="l" t="t" r="r" b="b"/>
            <a:pathLst>
              <a:path w="12192000" h="6858000">
                <a:moveTo>
                  <a:pt x="9149158" y="2038490"/>
                </a:moveTo>
                <a:cubicBezTo>
                  <a:pt x="9152630" y="2038396"/>
                  <a:pt x="9157442" y="2039945"/>
                  <a:pt x="9164184" y="2044026"/>
                </a:cubicBezTo>
                <a:lnTo>
                  <a:pt x="9172532" y="2045543"/>
                </a:lnTo>
                <a:lnTo>
                  <a:pt x="9171580" y="2056997"/>
                </a:lnTo>
                <a:cubicBezTo>
                  <a:pt x="9169082" y="2082897"/>
                  <a:pt x="9165822" y="2102884"/>
                  <a:pt x="9161257" y="2098605"/>
                </a:cubicBezTo>
                <a:cubicBezTo>
                  <a:pt x="9149066" y="2086928"/>
                  <a:pt x="9130962" y="2077578"/>
                  <a:pt x="9138232" y="2059518"/>
                </a:cubicBezTo>
                <a:cubicBezTo>
                  <a:pt x="9140394" y="2053821"/>
                  <a:pt x="9138743" y="2038771"/>
                  <a:pt x="9149158" y="2038490"/>
                </a:cubicBezTo>
                <a:close/>
                <a:moveTo>
                  <a:pt x="9177606" y="1977215"/>
                </a:moveTo>
                <a:lnTo>
                  <a:pt x="9181592" y="1987782"/>
                </a:lnTo>
                <a:lnTo>
                  <a:pt x="9181923" y="1998627"/>
                </a:lnTo>
                <a:cubicBezTo>
                  <a:pt x="9182120" y="2008276"/>
                  <a:pt x="9182258" y="2019324"/>
                  <a:pt x="9182316" y="2031066"/>
                </a:cubicBezTo>
                <a:lnTo>
                  <a:pt x="9182278" y="2047313"/>
                </a:lnTo>
                <a:lnTo>
                  <a:pt x="9172532" y="2045543"/>
                </a:lnTo>
                <a:lnTo>
                  <a:pt x="9173842" y="2029805"/>
                </a:lnTo>
                <a:cubicBezTo>
                  <a:pt x="9175210" y="2011268"/>
                  <a:pt x="9176320" y="1992822"/>
                  <a:pt x="9177334" y="1979903"/>
                </a:cubicBezTo>
                <a:close/>
                <a:moveTo>
                  <a:pt x="3696300" y="1578900"/>
                </a:moveTo>
                <a:cubicBezTo>
                  <a:pt x="3710474" y="1584699"/>
                  <a:pt x="3724648" y="1590499"/>
                  <a:pt x="3738823" y="1596298"/>
                </a:cubicBezTo>
                <a:cubicBezTo>
                  <a:pt x="3731018" y="1595365"/>
                  <a:pt x="3722545" y="1594511"/>
                  <a:pt x="3714409" y="1593618"/>
                </a:cubicBezTo>
                <a:cubicBezTo>
                  <a:pt x="3707437" y="1589899"/>
                  <a:pt x="3700149" y="1586487"/>
                  <a:pt x="3693161" y="1582501"/>
                </a:cubicBezTo>
                <a:cubicBezTo>
                  <a:pt x="3694096" y="1581313"/>
                  <a:pt x="3695364" y="1580088"/>
                  <a:pt x="3696300" y="1578900"/>
                </a:cubicBezTo>
                <a:close/>
                <a:moveTo>
                  <a:pt x="3918454" y="1175387"/>
                </a:moveTo>
                <a:cubicBezTo>
                  <a:pt x="4003499" y="1210184"/>
                  <a:pt x="4088562" y="1245245"/>
                  <a:pt x="4173607" y="1280040"/>
                </a:cubicBezTo>
                <a:cubicBezTo>
                  <a:pt x="4172338" y="1281268"/>
                  <a:pt x="4171404" y="1282454"/>
                  <a:pt x="4170135" y="1283683"/>
                </a:cubicBezTo>
                <a:cubicBezTo>
                  <a:pt x="4077511" y="1256783"/>
                  <a:pt x="3989628" y="1225016"/>
                  <a:pt x="3918454" y="1175387"/>
                </a:cubicBezTo>
                <a:close/>
                <a:moveTo>
                  <a:pt x="8109090" y="602108"/>
                </a:moveTo>
                <a:lnTo>
                  <a:pt x="8113034" y="602645"/>
                </a:lnTo>
                <a:cubicBezTo>
                  <a:pt x="8117145" y="603257"/>
                  <a:pt x="8117456" y="603522"/>
                  <a:pt x="8111220" y="603405"/>
                </a:cubicBezTo>
                <a:close/>
                <a:moveTo>
                  <a:pt x="8489536" y="389280"/>
                </a:moveTo>
                <a:cubicBezTo>
                  <a:pt x="8479909" y="386150"/>
                  <a:pt x="8475270" y="392618"/>
                  <a:pt x="8470194" y="397527"/>
                </a:cubicBezTo>
                <a:cubicBezTo>
                  <a:pt x="8442581" y="423957"/>
                  <a:pt x="8407160" y="444085"/>
                  <a:pt x="8373511" y="465608"/>
                </a:cubicBezTo>
                <a:cubicBezTo>
                  <a:pt x="8325315" y="496678"/>
                  <a:pt x="8274262" y="525140"/>
                  <a:pt x="8231753" y="560890"/>
                </a:cubicBezTo>
                <a:cubicBezTo>
                  <a:pt x="8220884" y="569991"/>
                  <a:pt x="8202133" y="566357"/>
                  <a:pt x="8199967" y="553465"/>
                </a:cubicBezTo>
                <a:cubicBezTo>
                  <a:pt x="8197799" y="540575"/>
                  <a:pt x="8188778" y="541668"/>
                  <a:pt x="8175616" y="546483"/>
                </a:cubicBezTo>
                <a:cubicBezTo>
                  <a:pt x="8159813" y="552155"/>
                  <a:pt x="8144012" y="557828"/>
                  <a:pt x="8128578" y="563992"/>
                </a:cubicBezTo>
                <a:cubicBezTo>
                  <a:pt x="8112493" y="570503"/>
                  <a:pt x="8105752" y="580983"/>
                  <a:pt x="8104845" y="593172"/>
                </a:cubicBezTo>
                <a:cubicBezTo>
                  <a:pt x="8104654" y="595478"/>
                  <a:pt x="8104732" y="598018"/>
                  <a:pt x="8105615" y="599991"/>
                </a:cubicBezTo>
                <a:lnTo>
                  <a:pt x="8109090" y="602108"/>
                </a:lnTo>
                <a:lnTo>
                  <a:pt x="8092049" y="599788"/>
                </a:lnTo>
                <a:cubicBezTo>
                  <a:pt x="8074125" y="597229"/>
                  <a:pt x="8051995" y="593399"/>
                  <a:pt x="8047646" y="588557"/>
                </a:cubicBezTo>
                <a:cubicBezTo>
                  <a:pt x="8047278" y="588065"/>
                  <a:pt x="7852240" y="650342"/>
                  <a:pt x="7793637" y="681868"/>
                </a:cubicBezTo>
                <a:cubicBezTo>
                  <a:pt x="7757179" y="701583"/>
                  <a:pt x="7034011" y="1031296"/>
                  <a:pt x="6007741" y="1095470"/>
                </a:cubicBezTo>
                <a:cubicBezTo>
                  <a:pt x="5971519" y="1097710"/>
                  <a:pt x="5937353" y="1100506"/>
                  <a:pt x="5902533" y="1103650"/>
                </a:cubicBezTo>
                <a:cubicBezTo>
                  <a:pt x="5594429" y="1129961"/>
                  <a:pt x="5292360" y="1161179"/>
                  <a:pt x="5164222" y="1163546"/>
                </a:cubicBezTo>
                <a:cubicBezTo>
                  <a:pt x="5063988" y="1165217"/>
                  <a:pt x="4549164" y="1138992"/>
                  <a:pt x="4395075" y="1082763"/>
                </a:cubicBezTo>
                <a:cubicBezTo>
                  <a:pt x="4237527" y="1025076"/>
                  <a:pt x="4088158" y="958345"/>
                  <a:pt x="3939440" y="891265"/>
                </a:cubicBezTo>
                <a:cubicBezTo>
                  <a:pt x="3874968" y="862299"/>
                  <a:pt x="3806689" y="837016"/>
                  <a:pt x="3747894" y="801994"/>
                </a:cubicBezTo>
                <a:cubicBezTo>
                  <a:pt x="3689082" y="766706"/>
                  <a:pt x="3632839" y="729495"/>
                  <a:pt x="3569553" y="697970"/>
                </a:cubicBezTo>
                <a:cubicBezTo>
                  <a:pt x="3551464" y="688887"/>
                  <a:pt x="3533327" y="679005"/>
                  <a:pt x="3507813" y="680216"/>
                </a:cubicBezTo>
                <a:cubicBezTo>
                  <a:pt x="3502099" y="680371"/>
                  <a:pt x="3496101" y="681365"/>
                  <a:pt x="3490455" y="682587"/>
                </a:cubicBezTo>
                <a:cubicBezTo>
                  <a:pt x="3484140" y="683888"/>
                  <a:pt x="3479298" y="687159"/>
                  <a:pt x="3477246" y="691971"/>
                </a:cubicBezTo>
                <a:cubicBezTo>
                  <a:pt x="3475230" y="697315"/>
                  <a:pt x="3479426" y="699760"/>
                  <a:pt x="3484273" y="701857"/>
                </a:cubicBezTo>
                <a:cubicBezTo>
                  <a:pt x="3487733" y="703316"/>
                  <a:pt x="3491260" y="705843"/>
                  <a:pt x="3495638" y="705849"/>
                </a:cubicBezTo>
                <a:cubicBezTo>
                  <a:pt x="3523576" y="705686"/>
                  <a:pt x="3534967" y="720681"/>
                  <a:pt x="3548914" y="733487"/>
                </a:cubicBezTo>
                <a:cubicBezTo>
                  <a:pt x="3554984" y="738925"/>
                  <a:pt x="3561304" y="742991"/>
                  <a:pt x="3551504" y="753036"/>
                </a:cubicBezTo>
                <a:cubicBezTo>
                  <a:pt x="3542974" y="761854"/>
                  <a:pt x="3552584" y="764716"/>
                  <a:pt x="3562075" y="765715"/>
                </a:cubicBezTo>
                <a:cubicBezTo>
                  <a:pt x="3575293" y="767067"/>
                  <a:pt x="3590630" y="764672"/>
                  <a:pt x="3605942" y="772481"/>
                </a:cubicBezTo>
                <a:cubicBezTo>
                  <a:pt x="3550860" y="779958"/>
                  <a:pt x="3525860" y="757484"/>
                  <a:pt x="3499309" y="737079"/>
                </a:cubicBezTo>
                <a:cubicBezTo>
                  <a:pt x="3489410" y="729689"/>
                  <a:pt x="3482419" y="720334"/>
                  <a:pt x="3473788" y="711717"/>
                </a:cubicBezTo>
                <a:cubicBezTo>
                  <a:pt x="3463019" y="701211"/>
                  <a:pt x="3451290" y="702093"/>
                  <a:pt x="3437248" y="714263"/>
                </a:cubicBezTo>
                <a:cubicBezTo>
                  <a:pt x="3424810" y="725164"/>
                  <a:pt x="3418411" y="725135"/>
                  <a:pt x="3413254" y="712874"/>
                </a:cubicBezTo>
                <a:cubicBezTo>
                  <a:pt x="3405299" y="693706"/>
                  <a:pt x="3389031" y="681450"/>
                  <a:pt x="3362511" y="677414"/>
                </a:cubicBezTo>
                <a:cubicBezTo>
                  <a:pt x="3356728" y="676504"/>
                  <a:pt x="3349492" y="673891"/>
                  <a:pt x="3344467" y="679599"/>
                </a:cubicBezTo>
                <a:cubicBezTo>
                  <a:pt x="3340061" y="684428"/>
                  <a:pt x="3344392" y="689004"/>
                  <a:pt x="3347971" y="692328"/>
                </a:cubicBezTo>
                <a:cubicBezTo>
                  <a:pt x="3354407" y="698260"/>
                  <a:pt x="3360162" y="704004"/>
                  <a:pt x="3363008" y="711713"/>
                </a:cubicBezTo>
                <a:cubicBezTo>
                  <a:pt x="3365019" y="716838"/>
                  <a:pt x="3367062" y="722495"/>
                  <a:pt x="3362637" y="727058"/>
                </a:cubicBezTo>
                <a:cubicBezTo>
                  <a:pt x="3344342" y="746453"/>
                  <a:pt x="3358884" y="752745"/>
                  <a:pt x="3376167" y="759779"/>
                </a:cubicBezTo>
                <a:cubicBezTo>
                  <a:pt x="3400002" y="769239"/>
                  <a:pt x="3410177" y="786259"/>
                  <a:pt x="3406203" y="808483"/>
                </a:cubicBezTo>
                <a:cubicBezTo>
                  <a:pt x="3404757" y="817516"/>
                  <a:pt x="3406433" y="822682"/>
                  <a:pt x="3420116" y="820757"/>
                </a:cubicBezTo>
                <a:cubicBezTo>
                  <a:pt x="3425463" y="820110"/>
                  <a:pt x="3426984" y="822878"/>
                  <a:pt x="3429194" y="825831"/>
                </a:cubicBezTo>
                <a:cubicBezTo>
                  <a:pt x="3476758" y="896035"/>
                  <a:pt x="3542778" y="954609"/>
                  <a:pt x="3619149" y="1006561"/>
                </a:cubicBezTo>
                <a:cubicBezTo>
                  <a:pt x="3681093" y="1048718"/>
                  <a:pt x="3748746" y="1085351"/>
                  <a:pt x="3818654" y="1120369"/>
                </a:cubicBezTo>
                <a:cubicBezTo>
                  <a:pt x="3820742" y="1121458"/>
                  <a:pt x="3822850" y="1122813"/>
                  <a:pt x="3824021" y="1125355"/>
                </a:cubicBezTo>
                <a:cubicBezTo>
                  <a:pt x="3791940" y="1123873"/>
                  <a:pt x="3763844" y="1116270"/>
                  <a:pt x="3736668" y="1107215"/>
                </a:cubicBezTo>
                <a:cubicBezTo>
                  <a:pt x="3664431" y="1083216"/>
                  <a:pt x="3602610" y="1048291"/>
                  <a:pt x="3540174" y="1014247"/>
                </a:cubicBezTo>
                <a:cubicBezTo>
                  <a:pt x="3502142" y="993353"/>
                  <a:pt x="3463159" y="973379"/>
                  <a:pt x="3421640" y="955861"/>
                </a:cubicBezTo>
                <a:cubicBezTo>
                  <a:pt x="3414719" y="952940"/>
                  <a:pt x="3409737" y="948712"/>
                  <a:pt x="3404753" y="944484"/>
                </a:cubicBezTo>
                <a:cubicBezTo>
                  <a:pt x="3401911" y="942144"/>
                  <a:pt x="3398417" y="940152"/>
                  <a:pt x="3393138" y="941865"/>
                </a:cubicBezTo>
                <a:cubicBezTo>
                  <a:pt x="3386540" y="944006"/>
                  <a:pt x="3386126" y="948083"/>
                  <a:pt x="3385712" y="952159"/>
                </a:cubicBezTo>
                <a:cubicBezTo>
                  <a:pt x="3384520" y="965187"/>
                  <a:pt x="3389594" y="976116"/>
                  <a:pt x="3398641" y="986025"/>
                </a:cubicBezTo>
                <a:cubicBezTo>
                  <a:pt x="3422140" y="1011364"/>
                  <a:pt x="3455589" y="1029056"/>
                  <a:pt x="3489975" y="1045560"/>
                </a:cubicBezTo>
                <a:cubicBezTo>
                  <a:pt x="3534421" y="1066751"/>
                  <a:pt x="3577600" y="1089169"/>
                  <a:pt x="3617273" y="1114697"/>
                </a:cubicBezTo>
                <a:cubicBezTo>
                  <a:pt x="3620082" y="1116503"/>
                  <a:pt x="3625178" y="1117229"/>
                  <a:pt x="3623898" y="1123556"/>
                </a:cubicBezTo>
                <a:cubicBezTo>
                  <a:pt x="3599276" y="1112313"/>
                  <a:pt x="3576007" y="1101173"/>
                  <a:pt x="3552438" y="1090606"/>
                </a:cubicBezTo>
                <a:cubicBezTo>
                  <a:pt x="3529203" y="1079998"/>
                  <a:pt x="3505634" y="1069432"/>
                  <a:pt x="3482417" y="1059092"/>
                </a:cubicBezTo>
                <a:cubicBezTo>
                  <a:pt x="3476868" y="1056543"/>
                  <a:pt x="3470899" y="1052702"/>
                  <a:pt x="3463468" y="1057629"/>
                </a:cubicBezTo>
                <a:cubicBezTo>
                  <a:pt x="3455703" y="1062595"/>
                  <a:pt x="3457128" y="1069134"/>
                  <a:pt x="3459472" y="1074217"/>
                </a:cubicBezTo>
                <a:cubicBezTo>
                  <a:pt x="3466821" y="1089165"/>
                  <a:pt x="3478729" y="1101681"/>
                  <a:pt x="3494211" y="1112153"/>
                </a:cubicBezTo>
                <a:cubicBezTo>
                  <a:pt x="3546907" y="1146573"/>
                  <a:pt x="3606933" y="1174465"/>
                  <a:pt x="3663137" y="1205775"/>
                </a:cubicBezTo>
                <a:cubicBezTo>
                  <a:pt x="3693512" y="1222766"/>
                  <a:pt x="3721631" y="1241370"/>
                  <a:pt x="3748466" y="1260936"/>
                </a:cubicBezTo>
                <a:cubicBezTo>
                  <a:pt x="3754470" y="1265310"/>
                  <a:pt x="3754440" y="1270144"/>
                  <a:pt x="3753142" y="1276208"/>
                </a:cubicBezTo>
                <a:cubicBezTo>
                  <a:pt x="3747968" y="1300726"/>
                  <a:pt x="3758834" y="1307462"/>
                  <a:pt x="3791960" y="1298886"/>
                </a:cubicBezTo>
                <a:cubicBezTo>
                  <a:pt x="3802234" y="1296299"/>
                  <a:pt x="3809336" y="1296782"/>
                  <a:pt x="3816039" y="1301606"/>
                </a:cubicBezTo>
                <a:cubicBezTo>
                  <a:pt x="3897299" y="1361555"/>
                  <a:pt x="3991895" y="1408883"/>
                  <a:pt x="4094439" y="1448806"/>
                </a:cubicBezTo>
                <a:cubicBezTo>
                  <a:pt x="4136210" y="1464953"/>
                  <a:pt x="4179249" y="1479874"/>
                  <a:pt x="4222870" y="1493379"/>
                </a:cubicBezTo>
                <a:cubicBezTo>
                  <a:pt x="4222955" y="1494711"/>
                  <a:pt x="4223057" y="1496309"/>
                  <a:pt x="4223141" y="1497641"/>
                </a:cubicBezTo>
                <a:cubicBezTo>
                  <a:pt x="4222925" y="1499546"/>
                  <a:pt x="4222659" y="1500653"/>
                  <a:pt x="4222428" y="1502292"/>
                </a:cubicBezTo>
                <a:cubicBezTo>
                  <a:pt x="4160784" y="1480767"/>
                  <a:pt x="4099761" y="1458363"/>
                  <a:pt x="4039973" y="1434198"/>
                </a:cubicBezTo>
                <a:cubicBezTo>
                  <a:pt x="3877889" y="1368737"/>
                  <a:pt x="3722432" y="1296301"/>
                  <a:pt x="3564773" y="1226279"/>
                </a:cubicBezTo>
                <a:cubicBezTo>
                  <a:pt x="3511752" y="1202636"/>
                  <a:pt x="3468897" y="1169442"/>
                  <a:pt x="3420650" y="1141464"/>
                </a:cubicBezTo>
                <a:cubicBezTo>
                  <a:pt x="3388486" y="1122812"/>
                  <a:pt x="3357590" y="1102932"/>
                  <a:pt x="3320669" y="1088883"/>
                </a:cubicBezTo>
                <a:cubicBezTo>
                  <a:pt x="3305491" y="1083205"/>
                  <a:pt x="3289697" y="1078406"/>
                  <a:pt x="3270102" y="1082659"/>
                </a:cubicBezTo>
                <a:cubicBezTo>
                  <a:pt x="3262467" y="1084389"/>
                  <a:pt x="3253881" y="1087040"/>
                  <a:pt x="3251648" y="1094290"/>
                </a:cubicBezTo>
                <a:cubicBezTo>
                  <a:pt x="3249750" y="1101498"/>
                  <a:pt x="3256970" y="1103846"/>
                  <a:pt x="3263506" y="1106005"/>
                </a:cubicBezTo>
                <a:cubicBezTo>
                  <a:pt x="3265227" y="1106604"/>
                  <a:pt x="3266966" y="1107467"/>
                  <a:pt x="3268636" y="1107265"/>
                </a:cubicBezTo>
                <a:cubicBezTo>
                  <a:pt x="3300482" y="1105018"/>
                  <a:pt x="3309121" y="1124372"/>
                  <a:pt x="3325089" y="1137201"/>
                </a:cubicBezTo>
                <a:cubicBezTo>
                  <a:pt x="3330055" y="1141164"/>
                  <a:pt x="3330677" y="1145651"/>
                  <a:pt x="3326003" y="1151585"/>
                </a:cubicBezTo>
                <a:cubicBezTo>
                  <a:pt x="3317592" y="1162266"/>
                  <a:pt x="3324211" y="1165760"/>
                  <a:pt x="3336410" y="1166967"/>
                </a:cubicBezTo>
                <a:cubicBezTo>
                  <a:pt x="3348608" y="1168175"/>
                  <a:pt x="3361690" y="1167395"/>
                  <a:pt x="3375112" y="1171943"/>
                </a:cubicBezTo>
                <a:cubicBezTo>
                  <a:pt x="3354718" y="1179513"/>
                  <a:pt x="3340011" y="1175927"/>
                  <a:pt x="3326222" y="1170885"/>
                </a:cubicBezTo>
                <a:cubicBezTo>
                  <a:pt x="3295216" y="1159877"/>
                  <a:pt x="3274464" y="1140648"/>
                  <a:pt x="3254679" y="1120765"/>
                </a:cubicBezTo>
                <a:cubicBezTo>
                  <a:pt x="3250733" y="1116948"/>
                  <a:pt x="3247420" y="1112518"/>
                  <a:pt x="3242188" y="1109662"/>
                </a:cubicBezTo>
                <a:cubicBezTo>
                  <a:pt x="3232391" y="1103869"/>
                  <a:pt x="3222316" y="1104284"/>
                  <a:pt x="3211499" y="1114184"/>
                </a:cubicBezTo>
                <a:cubicBezTo>
                  <a:pt x="3197173" y="1127194"/>
                  <a:pt x="3191777" y="1127042"/>
                  <a:pt x="3185849" y="1113265"/>
                </a:cubicBezTo>
                <a:cubicBezTo>
                  <a:pt x="3177929" y="1094629"/>
                  <a:pt x="3162028" y="1082865"/>
                  <a:pt x="3135843" y="1078789"/>
                </a:cubicBezTo>
                <a:cubicBezTo>
                  <a:pt x="3130396" y="1077837"/>
                  <a:pt x="3124578" y="1076395"/>
                  <a:pt x="3119118" y="1080546"/>
                </a:cubicBezTo>
                <a:cubicBezTo>
                  <a:pt x="3113359" y="1085269"/>
                  <a:pt x="3117622" y="1088780"/>
                  <a:pt x="3120198" y="1092226"/>
                </a:cubicBezTo>
                <a:cubicBezTo>
                  <a:pt x="3123912" y="1097682"/>
                  <a:pt x="3128295" y="1103057"/>
                  <a:pt x="3131691" y="1108819"/>
                </a:cubicBezTo>
                <a:cubicBezTo>
                  <a:pt x="3137665" y="1118027"/>
                  <a:pt x="3139328" y="1128295"/>
                  <a:pt x="3129914" y="1139097"/>
                </a:cubicBezTo>
                <a:cubicBezTo>
                  <a:pt x="3123003" y="1146915"/>
                  <a:pt x="3123960" y="1151361"/>
                  <a:pt x="3133955" y="1154983"/>
                </a:cubicBezTo>
                <a:cubicBezTo>
                  <a:pt x="3165979" y="1166136"/>
                  <a:pt x="3186931" y="1183194"/>
                  <a:pt x="3178170" y="1214855"/>
                </a:cubicBezTo>
                <a:cubicBezTo>
                  <a:pt x="3176770" y="1219320"/>
                  <a:pt x="3179046" y="1223338"/>
                  <a:pt x="3185378" y="1222303"/>
                </a:cubicBezTo>
                <a:cubicBezTo>
                  <a:pt x="3199361" y="1219805"/>
                  <a:pt x="3202140" y="1226447"/>
                  <a:pt x="3206608" y="1233153"/>
                </a:cubicBezTo>
                <a:cubicBezTo>
                  <a:pt x="3250090" y="1297409"/>
                  <a:pt x="3310389" y="1350771"/>
                  <a:pt x="3379140" y="1399351"/>
                </a:cubicBezTo>
                <a:cubicBezTo>
                  <a:pt x="3447189" y="1447479"/>
                  <a:pt x="3522881" y="1488775"/>
                  <a:pt x="3603118" y="1527375"/>
                </a:cubicBezTo>
                <a:cubicBezTo>
                  <a:pt x="3581296" y="1528405"/>
                  <a:pt x="3552602" y="1521951"/>
                  <a:pt x="3524809" y="1513774"/>
                </a:cubicBezTo>
                <a:cubicBezTo>
                  <a:pt x="3451354" y="1491802"/>
                  <a:pt x="3389901" y="1457369"/>
                  <a:pt x="3327498" y="1423859"/>
                </a:cubicBezTo>
                <a:cubicBezTo>
                  <a:pt x="3283917" y="1400416"/>
                  <a:pt x="3241288" y="1376052"/>
                  <a:pt x="3192949" y="1357211"/>
                </a:cubicBezTo>
                <a:cubicBezTo>
                  <a:pt x="3187434" y="1355196"/>
                  <a:pt x="3183538" y="1352177"/>
                  <a:pt x="3180259" y="1348280"/>
                </a:cubicBezTo>
                <a:cubicBezTo>
                  <a:pt x="3177348" y="1344874"/>
                  <a:pt x="3173119" y="1341896"/>
                  <a:pt x="3166204" y="1344345"/>
                </a:cubicBezTo>
                <a:cubicBezTo>
                  <a:pt x="3159306" y="1347059"/>
                  <a:pt x="3158942" y="1351935"/>
                  <a:pt x="3159212" y="1356197"/>
                </a:cubicBezTo>
                <a:cubicBezTo>
                  <a:pt x="3161232" y="1372059"/>
                  <a:pt x="3167827" y="1385754"/>
                  <a:pt x="3181004" y="1397043"/>
                </a:cubicBezTo>
                <a:cubicBezTo>
                  <a:pt x="3206688" y="1419701"/>
                  <a:pt x="3240037" y="1435794"/>
                  <a:pt x="3273385" y="1451888"/>
                </a:cubicBezTo>
                <a:cubicBezTo>
                  <a:pt x="3319573" y="1473941"/>
                  <a:pt x="3362569" y="1498797"/>
                  <a:pt x="3401776" y="1527602"/>
                </a:cubicBezTo>
                <a:cubicBezTo>
                  <a:pt x="3374012" y="1514591"/>
                  <a:pt x="3346230" y="1501313"/>
                  <a:pt x="3318130" y="1488342"/>
                </a:cubicBezTo>
                <a:cubicBezTo>
                  <a:pt x="3296969" y="1478558"/>
                  <a:pt x="3275173" y="1469387"/>
                  <a:pt x="3253694" y="1459909"/>
                </a:cubicBezTo>
                <a:cubicBezTo>
                  <a:pt x="3248495" y="1457587"/>
                  <a:pt x="3242945" y="1455038"/>
                  <a:pt x="3236182" y="1459882"/>
                </a:cubicBezTo>
                <a:cubicBezTo>
                  <a:pt x="3230053" y="1464115"/>
                  <a:pt x="3231378" y="1469055"/>
                  <a:pt x="3233020" y="1473687"/>
                </a:cubicBezTo>
                <a:cubicBezTo>
                  <a:pt x="3239235" y="1491993"/>
                  <a:pt x="3254236" y="1505477"/>
                  <a:pt x="3272474" y="1516958"/>
                </a:cubicBezTo>
                <a:cubicBezTo>
                  <a:pt x="3294559" y="1530657"/>
                  <a:pt x="3317595" y="1543436"/>
                  <a:pt x="3341300" y="1556133"/>
                </a:cubicBezTo>
                <a:cubicBezTo>
                  <a:pt x="3316637" y="1554825"/>
                  <a:pt x="3291973" y="1553517"/>
                  <a:pt x="3267359" y="1553009"/>
                </a:cubicBezTo>
                <a:cubicBezTo>
                  <a:pt x="3280352" y="1582573"/>
                  <a:pt x="3306470" y="1585584"/>
                  <a:pt x="3329832" y="1587586"/>
                </a:cubicBezTo>
                <a:cubicBezTo>
                  <a:pt x="3361297" y="1589949"/>
                  <a:pt x="3391527" y="1594072"/>
                  <a:pt x="3421490" y="1599301"/>
                </a:cubicBezTo>
                <a:cubicBezTo>
                  <a:pt x="3434412" y="1606594"/>
                  <a:pt x="3447319" y="1613621"/>
                  <a:pt x="3459923" y="1621220"/>
                </a:cubicBezTo>
                <a:cubicBezTo>
                  <a:pt x="3472880" y="1629046"/>
                  <a:pt x="3485168" y="1636952"/>
                  <a:pt x="3497490" y="1645392"/>
                </a:cubicBezTo>
                <a:cubicBezTo>
                  <a:pt x="3506301" y="1651572"/>
                  <a:pt x="3516714" y="1656484"/>
                  <a:pt x="3507803" y="1669911"/>
                </a:cubicBezTo>
                <a:cubicBezTo>
                  <a:pt x="3503816" y="1676032"/>
                  <a:pt x="3534148" y="1702959"/>
                  <a:pt x="3543290" y="1703729"/>
                </a:cubicBezTo>
                <a:cubicBezTo>
                  <a:pt x="3544644" y="1703834"/>
                  <a:pt x="3545996" y="1703940"/>
                  <a:pt x="3546999" y="1703818"/>
                </a:cubicBezTo>
                <a:cubicBezTo>
                  <a:pt x="3566312" y="1700405"/>
                  <a:pt x="3571232" y="1708935"/>
                  <a:pt x="3572295" y="1720349"/>
                </a:cubicBezTo>
                <a:cubicBezTo>
                  <a:pt x="3573341" y="1731497"/>
                  <a:pt x="3570880" y="1745753"/>
                  <a:pt x="3596922" y="1736961"/>
                </a:cubicBezTo>
                <a:cubicBezTo>
                  <a:pt x="3599895" y="1736064"/>
                  <a:pt x="3600664" y="1737582"/>
                  <a:pt x="3602119" y="1739285"/>
                </a:cubicBezTo>
                <a:cubicBezTo>
                  <a:pt x="3633888" y="1783486"/>
                  <a:pt x="3684678" y="1814377"/>
                  <a:pt x="3734798" y="1845349"/>
                </a:cubicBezTo>
                <a:cubicBezTo>
                  <a:pt x="3737590" y="1846890"/>
                  <a:pt x="3740383" y="1848430"/>
                  <a:pt x="3743174" y="1849972"/>
                </a:cubicBezTo>
                <a:cubicBezTo>
                  <a:pt x="3692460" y="1846720"/>
                  <a:pt x="3526297" y="1854765"/>
                  <a:pt x="3478101" y="1864630"/>
                </a:cubicBezTo>
                <a:cubicBezTo>
                  <a:pt x="3435216" y="1873314"/>
                  <a:pt x="3187933" y="1844748"/>
                  <a:pt x="3135293" y="1816496"/>
                </a:cubicBezTo>
                <a:cubicBezTo>
                  <a:pt x="3129987" y="1844249"/>
                  <a:pt x="3145700" y="1853084"/>
                  <a:pt x="3158510" y="1863880"/>
                </a:cubicBezTo>
                <a:cubicBezTo>
                  <a:pt x="3176652" y="1879130"/>
                  <a:pt x="3180104" y="1891061"/>
                  <a:pt x="3148907" y="1908797"/>
                </a:cubicBezTo>
                <a:cubicBezTo>
                  <a:pt x="3059526" y="1959351"/>
                  <a:pt x="3060614" y="1960561"/>
                  <a:pt x="3150229" y="2003660"/>
                </a:cubicBezTo>
                <a:cubicBezTo>
                  <a:pt x="3154391" y="2005572"/>
                  <a:pt x="3152878" y="2013539"/>
                  <a:pt x="3154219" y="2018746"/>
                </a:cubicBezTo>
                <a:cubicBezTo>
                  <a:pt x="3132340" y="2029448"/>
                  <a:pt x="3104621" y="2011868"/>
                  <a:pt x="3079313" y="2037482"/>
                </a:cubicBezTo>
                <a:cubicBezTo>
                  <a:pt x="3200844" y="2121812"/>
                  <a:pt x="3382216" y="2194063"/>
                  <a:pt x="3545961" y="2248584"/>
                </a:cubicBezTo>
                <a:cubicBezTo>
                  <a:pt x="3418859" y="2288406"/>
                  <a:pt x="3336249" y="2212515"/>
                  <a:pt x="3242382" y="2234890"/>
                </a:cubicBezTo>
                <a:cubicBezTo>
                  <a:pt x="3196963" y="2267233"/>
                  <a:pt x="3340047" y="2293389"/>
                  <a:pt x="3206852" y="2322137"/>
                </a:cubicBezTo>
                <a:cubicBezTo>
                  <a:pt x="3266485" y="2338535"/>
                  <a:pt x="3311047" y="2356223"/>
                  <a:pt x="3352854" y="2378270"/>
                </a:cubicBezTo>
                <a:cubicBezTo>
                  <a:pt x="3427094" y="2417864"/>
                  <a:pt x="3443161" y="2448130"/>
                  <a:pt x="3414532" y="2516826"/>
                </a:cubicBezTo>
                <a:cubicBezTo>
                  <a:pt x="3395525" y="2562076"/>
                  <a:pt x="3366606" y="2605038"/>
                  <a:pt x="3397577" y="2652556"/>
                </a:cubicBezTo>
                <a:cubicBezTo>
                  <a:pt x="3418842" y="2685144"/>
                  <a:pt x="3412947" y="2708944"/>
                  <a:pt x="3339773" y="2701969"/>
                </a:cubicBezTo>
                <a:cubicBezTo>
                  <a:pt x="3260852" y="2694617"/>
                  <a:pt x="3233446" y="2729610"/>
                  <a:pt x="3257041" y="2788223"/>
                </a:cubicBezTo>
                <a:cubicBezTo>
                  <a:pt x="3272229" y="2825841"/>
                  <a:pt x="3259642" y="2839714"/>
                  <a:pt x="3205892" y="2841661"/>
                </a:cubicBezTo>
                <a:cubicBezTo>
                  <a:pt x="3146428" y="2843763"/>
                  <a:pt x="3088665" y="2824990"/>
                  <a:pt x="3016267" y="2846107"/>
                </a:cubicBezTo>
                <a:cubicBezTo>
                  <a:pt x="3079284" y="2910414"/>
                  <a:pt x="3202965" y="2875032"/>
                  <a:pt x="3275450" y="2934701"/>
                </a:cubicBezTo>
                <a:cubicBezTo>
                  <a:pt x="3194271" y="2944802"/>
                  <a:pt x="3132104" y="2952064"/>
                  <a:pt x="3071009" y="2944432"/>
                </a:cubicBezTo>
                <a:cubicBezTo>
                  <a:pt x="3045559" y="2941340"/>
                  <a:pt x="3017770" y="2938533"/>
                  <a:pt x="3005039" y="2960743"/>
                </a:cubicBezTo>
                <a:cubicBezTo>
                  <a:pt x="2989910" y="2987540"/>
                  <a:pt x="3024584" y="2992735"/>
                  <a:pt x="3045255" y="2994795"/>
                </a:cubicBezTo>
                <a:cubicBezTo>
                  <a:pt x="3103524" y="3000354"/>
                  <a:pt x="3149512" y="3024578"/>
                  <a:pt x="3198769" y="3041966"/>
                </a:cubicBezTo>
                <a:cubicBezTo>
                  <a:pt x="3306591" y="3080177"/>
                  <a:pt x="3424230" y="3108608"/>
                  <a:pt x="3518098" y="3181525"/>
                </a:cubicBezTo>
                <a:cubicBezTo>
                  <a:pt x="3405474" y="3173693"/>
                  <a:pt x="3319103" y="3133957"/>
                  <a:pt x="3214876" y="3136382"/>
                </a:cubicBezTo>
                <a:cubicBezTo>
                  <a:pt x="3309623" y="3201944"/>
                  <a:pt x="3428070" y="3237794"/>
                  <a:pt x="3540876" y="3280232"/>
                </a:cubicBezTo>
                <a:cubicBezTo>
                  <a:pt x="3572951" y="3292185"/>
                  <a:pt x="3605372" y="3298995"/>
                  <a:pt x="3614558" y="3332242"/>
                </a:cubicBezTo>
                <a:cubicBezTo>
                  <a:pt x="3632460" y="3396643"/>
                  <a:pt x="3676382" y="3446619"/>
                  <a:pt x="3765439" y="3465091"/>
                </a:cubicBezTo>
                <a:cubicBezTo>
                  <a:pt x="3766125" y="3465276"/>
                  <a:pt x="3762072" y="3475699"/>
                  <a:pt x="3759506" y="3482990"/>
                </a:cubicBezTo>
                <a:cubicBezTo>
                  <a:pt x="3706514" y="3491555"/>
                  <a:pt x="3662256" y="3457457"/>
                  <a:pt x="3594905" y="3478499"/>
                </a:cubicBezTo>
                <a:cubicBezTo>
                  <a:pt x="3663098" y="3523656"/>
                  <a:pt x="3720597" y="3564741"/>
                  <a:pt x="3814430" y="3578876"/>
                </a:cubicBezTo>
                <a:cubicBezTo>
                  <a:pt x="3889563" y="3590177"/>
                  <a:pt x="3981512" y="3590582"/>
                  <a:pt x="4039126" y="3649369"/>
                </a:cubicBezTo>
                <a:cubicBezTo>
                  <a:pt x="3977790" y="3669682"/>
                  <a:pt x="3930328" y="3659325"/>
                  <a:pt x="3883152" y="3653497"/>
                </a:cubicBezTo>
                <a:cubicBezTo>
                  <a:pt x="3810528" y="3644576"/>
                  <a:pt x="3739087" y="3633097"/>
                  <a:pt x="3666446" y="3623911"/>
                </a:cubicBezTo>
                <a:cubicBezTo>
                  <a:pt x="3638957" y="3620530"/>
                  <a:pt x="3608896" y="3619071"/>
                  <a:pt x="3593589" y="3653674"/>
                </a:cubicBezTo>
                <a:cubicBezTo>
                  <a:pt x="3684581" y="3649631"/>
                  <a:pt x="3741824" y="3686720"/>
                  <a:pt x="3801238" y="3720862"/>
                </a:cubicBezTo>
                <a:cubicBezTo>
                  <a:pt x="3834791" y="3740152"/>
                  <a:pt x="3862819" y="3767894"/>
                  <a:pt x="3919545" y="3749213"/>
                </a:cubicBezTo>
                <a:cubicBezTo>
                  <a:pt x="3949563" y="3739403"/>
                  <a:pt x="3970044" y="3754371"/>
                  <a:pt x="3968059" y="3776085"/>
                </a:cubicBezTo>
                <a:cubicBezTo>
                  <a:pt x="3961477" y="3852579"/>
                  <a:pt x="4033657" y="3870411"/>
                  <a:pt x="4107750" y="3875932"/>
                </a:cubicBezTo>
                <a:cubicBezTo>
                  <a:pt x="4247829" y="3886613"/>
                  <a:pt x="4367192" y="3936847"/>
                  <a:pt x="4504087" y="3955698"/>
                </a:cubicBezTo>
                <a:cubicBezTo>
                  <a:pt x="4637239" y="3973931"/>
                  <a:pt x="5630348" y="4013091"/>
                  <a:pt x="5880284" y="3998656"/>
                </a:cubicBezTo>
                <a:cubicBezTo>
                  <a:pt x="7409751" y="3910310"/>
                  <a:pt x="8457142" y="3018967"/>
                  <a:pt x="8461494" y="3007971"/>
                </a:cubicBezTo>
                <a:cubicBezTo>
                  <a:pt x="8481448" y="2956432"/>
                  <a:pt x="8537247" y="2928466"/>
                  <a:pt x="8587378" y="2896089"/>
                </a:cubicBezTo>
                <a:cubicBezTo>
                  <a:pt x="8631032" y="2867717"/>
                  <a:pt x="8677604" y="2837649"/>
                  <a:pt x="8693826" y="2796225"/>
                </a:cubicBezTo>
                <a:cubicBezTo>
                  <a:pt x="8715249" y="2741288"/>
                  <a:pt x="8647790" y="2792407"/>
                  <a:pt x="8633488" y="2774007"/>
                </a:cubicBezTo>
                <a:cubicBezTo>
                  <a:pt x="8658507" y="2743865"/>
                  <a:pt x="8698366" y="2714075"/>
                  <a:pt x="8707444" y="2682105"/>
                </a:cubicBezTo>
                <a:cubicBezTo>
                  <a:pt x="8739824" y="2566518"/>
                  <a:pt x="8819561" y="2475526"/>
                  <a:pt x="8942552" y="2397549"/>
                </a:cubicBezTo>
                <a:cubicBezTo>
                  <a:pt x="8977822" y="2375023"/>
                  <a:pt x="8999812" y="2339612"/>
                  <a:pt x="9049260" y="2328253"/>
                </a:cubicBezTo>
                <a:cubicBezTo>
                  <a:pt x="9159134" y="2303404"/>
                  <a:pt x="9118356" y="2218151"/>
                  <a:pt x="9174304" y="2171379"/>
                </a:cubicBezTo>
                <a:cubicBezTo>
                  <a:pt x="9179581" y="2166982"/>
                  <a:pt x="9181728" y="2117398"/>
                  <a:pt x="9182228" y="2067678"/>
                </a:cubicBezTo>
                <a:lnTo>
                  <a:pt x="9182278" y="2047313"/>
                </a:lnTo>
                <a:lnTo>
                  <a:pt x="9184334" y="2047686"/>
                </a:lnTo>
                <a:cubicBezTo>
                  <a:pt x="9192950" y="2042242"/>
                  <a:pt x="9192359" y="2022485"/>
                  <a:pt x="9185124" y="1997142"/>
                </a:cubicBezTo>
                <a:lnTo>
                  <a:pt x="9181592" y="1987782"/>
                </a:lnTo>
                <a:lnTo>
                  <a:pt x="9181190" y="1974586"/>
                </a:lnTo>
                <a:cubicBezTo>
                  <a:pt x="9180902" y="1968441"/>
                  <a:pt x="9180584" y="1964399"/>
                  <a:pt x="9180252" y="1963164"/>
                </a:cubicBezTo>
                <a:cubicBezTo>
                  <a:pt x="9179760" y="1961378"/>
                  <a:pt x="9179284" y="1962333"/>
                  <a:pt x="9178804" y="1965349"/>
                </a:cubicBezTo>
                <a:lnTo>
                  <a:pt x="9177606" y="1977215"/>
                </a:lnTo>
                <a:lnTo>
                  <a:pt x="9169614" y="1956030"/>
                </a:lnTo>
                <a:cubicBezTo>
                  <a:pt x="9143144" y="1898537"/>
                  <a:pt x="9095234" y="1836160"/>
                  <a:pt x="9046406" y="1838718"/>
                </a:cubicBezTo>
                <a:cubicBezTo>
                  <a:pt x="9077129" y="1760642"/>
                  <a:pt x="9077129" y="1760642"/>
                  <a:pt x="8960873" y="1764524"/>
                </a:cubicBezTo>
                <a:cubicBezTo>
                  <a:pt x="9002330" y="1712259"/>
                  <a:pt x="9001568" y="1700272"/>
                  <a:pt x="8946755" y="1690806"/>
                </a:cubicBezTo>
                <a:cubicBezTo>
                  <a:pt x="8893980" y="1681628"/>
                  <a:pt x="8836186" y="1683529"/>
                  <a:pt x="8786897" y="1665607"/>
                </a:cubicBezTo>
                <a:cubicBezTo>
                  <a:pt x="8827191" y="1600331"/>
                  <a:pt x="8835148" y="1529576"/>
                  <a:pt x="8924505" y="1489227"/>
                </a:cubicBezTo>
                <a:cubicBezTo>
                  <a:pt x="8938584" y="1482958"/>
                  <a:pt x="8947122" y="1463671"/>
                  <a:pt x="8937122" y="1454681"/>
                </a:cubicBezTo>
                <a:cubicBezTo>
                  <a:pt x="8901654" y="1421129"/>
                  <a:pt x="8944526" y="1343460"/>
                  <a:pt x="8841119" y="1348202"/>
                </a:cubicBezTo>
                <a:cubicBezTo>
                  <a:pt x="8828354" y="1348673"/>
                  <a:pt x="8816185" y="1342631"/>
                  <a:pt x="8825548" y="1331028"/>
                </a:cubicBezTo>
                <a:cubicBezTo>
                  <a:pt x="8857711" y="1291432"/>
                  <a:pt x="8816096" y="1298887"/>
                  <a:pt x="8790413" y="1297436"/>
                </a:cubicBezTo>
                <a:cubicBezTo>
                  <a:pt x="8759333" y="1295832"/>
                  <a:pt x="8725565" y="1315490"/>
                  <a:pt x="8695944" y="1299752"/>
                </a:cubicBezTo>
                <a:cubicBezTo>
                  <a:pt x="8701338" y="1278697"/>
                  <a:pt x="8726082" y="1275968"/>
                  <a:pt x="8743050" y="1267471"/>
                </a:cubicBezTo>
                <a:cubicBezTo>
                  <a:pt x="8792636" y="1242406"/>
                  <a:pt x="8832648" y="1215014"/>
                  <a:pt x="8831902" y="1166250"/>
                </a:cubicBezTo>
                <a:cubicBezTo>
                  <a:pt x="8831416" y="1126849"/>
                  <a:pt x="8834560" y="1091573"/>
                  <a:pt x="8763628" y="1088084"/>
                </a:cubicBezTo>
                <a:cubicBezTo>
                  <a:pt x="8752484" y="1087556"/>
                  <a:pt x="8746480" y="1083182"/>
                  <a:pt x="8744052" y="1076766"/>
                </a:cubicBezTo>
                <a:cubicBezTo>
                  <a:pt x="8751664" y="1069402"/>
                  <a:pt x="8758926" y="1061811"/>
                  <a:pt x="8767977" y="1055883"/>
                </a:cubicBezTo>
                <a:cubicBezTo>
                  <a:pt x="8798386" y="1036363"/>
                  <a:pt x="8807604" y="1011893"/>
                  <a:pt x="8815418" y="986519"/>
                </a:cubicBezTo>
                <a:cubicBezTo>
                  <a:pt x="8820450" y="970342"/>
                  <a:pt x="8826500" y="954308"/>
                  <a:pt x="8839356" y="939330"/>
                </a:cubicBezTo>
                <a:cubicBezTo>
                  <a:pt x="8847184" y="930060"/>
                  <a:pt x="8857152" y="922680"/>
                  <a:pt x="8869964" y="917639"/>
                </a:cubicBezTo>
                <a:cubicBezTo>
                  <a:pt x="8881119" y="913066"/>
                  <a:pt x="8884190" y="908399"/>
                  <a:pt x="8876013" y="901606"/>
                </a:cubicBezTo>
                <a:cubicBezTo>
                  <a:pt x="8852888" y="882126"/>
                  <a:pt x="8842659" y="858937"/>
                  <a:pt x="8855230" y="828963"/>
                </a:cubicBezTo>
                <a:cubicBezTo>
                  <a:pt x="8859032" y="819911"/>
                  <a:pt x="8855550" y="812818"/>
                  <a:pt x="8844988" y="810876"/>
                </a:cubicBezTo>
                <a:cubicBezTo>
                  <a:pt x="8801020" y="802512"/>
                  <a:pt x="8788328" y="772374"/>
                  <a:pt x="8768255" y="747963"/>
                </a:cubicBezTo>
                <a:cubicBezTo>
                  <a:pt x="8739786" y="713294"/>
                  <a:pt x="8713605" y="677543"/>
                  <a:pt x="8692953" y="638707"/>
                </a:cubicBezTo>
                <a:cubicBezTo>
                  <a:pt x="8680700" y="615495"/>
                  <a:pt x="8668800" y="592509"/>
                  <a:pt x="8674423" y="564449"/>
                </a:cubicBezTo>
                <a:cubicBezTo>
                  <a:pt x="8675670" y="557588"/>
                  <a:pt x="8672308" y="552358"/>
                  <a:pt x="8667642" y="547822"/>
                </a:cubicBezTo>
                <a:cubicBezTo>
                  <a:pt x="8647856" y="527939"/>
                  <a:pt x="8648704" y="504214"/>
                  <a:pt x="8661198" y="478275"/>
                </a:cubicBezTo>
                <a:cubicBezTo>
                  <a:pt x="8668953" y="462573"/>
                  <a:pt x="8667832" y="460828"/>
                  <a:pt x="8645813" y="464032"/>
                </a:cubicBezTo>
                <a:cubicBezTo>
                  <a:pt x="8601088" y="470255"/>
                  <a:pt x="8556732" y="476969"/>
                  <a:pt x="8512338" y="477784"/>
                </a:cubicBezTo>
                <a:cubicBezTo>
                  <a:pt x="8462562" y="478712"/>
                  <a:pt x="8445778" y="468934"/>
                  <a:pt x="8481050" y="430572"/>
                </a:cubicBezTo>
                <a:cubicBezTo>
                  <a:pt x="8488612" y="422408"/>
                  <a:pt x="8495122" y="413567"/>
                  <a:pt x="8498220" y="404064"/>
                </a:cubicBezTo>
                <a:cubicBezTo>
                  <a:pt x="8500436" y="396549"/>
                  <a:pt x="8497776" y="391771"/>
                  <a:pt x="8489536" y="38928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85F5DB-B2AD-E0E5-A476-85383815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063296"/>
            <a:ext cx="9144000" cy="11526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Partnership Journey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ED91C4-ED2D-7729-248B-669591AA6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596" y="1984350"/>
            <a:ext cx="3217333" cy="9359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7DF6C7-EA36-88D1-B302-DC0C09109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9521" y="290173"/>
            <a:ext cx="1759040" cy="88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10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3AB0D-21A9-F32D-A485-D2E320AFA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E729FEE-69DA-28EA-D69D-D8033F714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EFF398-AC13-0F3A-862A-9B1060ADD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02" y="5471333"/>
            <a:ext cx="5043225" cy="89996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fontAlgn="base">
              <a:spcBef>
                <a:spcPts val="0"/>
              </a:spcBef>
              <a:defRPr/>
            </a:pPr>
            <a:r>
              <a:rPr lang="en-US" sz="5600"/>
              <a:t>eCTD Drug Submission</a:t>
            </a:r>
            <a:br>
              <a:rPr lang="en-US" sz="5600" kern="1200"/>
            </a:b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Offer Development </a:t>
            </a:r>
            <a:br>
              <a:rPr lang="en-US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br>
              <a:rPr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lang="en-US" sz="1600">
                <a:solidFill>
                  <a:prstClr val="black">
                    <a:alpha val="80000"/>
                  </a:prstClr>
                </a:solidFill>
                <a:latin typeface="Aptos" panose="02110004020202020204"/>
                <a:ea typeface="+mn-ea"/>
                <a:cs typeface="+mn-cs"/>
              </a:rPr>
              <a:t>CMC data subsets – </a:t>
            </a:r>
            <a:r>
              <a:rPr lang="en-US" sz="1600" err="1">
                <a:solidFill>
                  <a:prstClr val="black">
                    <a:alpha val="80000"/>
                  </a:prstClr>
                </a:solidFill>
                <a:latin typeface="Aptos" panose="02110004020202020204"/>
                <a:ea typeface="+mn-ea"/>
                <a:cs typeface="+mn-cs"/>
              </a:rPr>
              <a:t>Fluree</a:t>
            </a:r>
            <a:r>
              <a:rPr lang="en-US" sz="1600">
                <a:solidFill>
                  <a:prstClr val="black">
                    <a:alpha val="80000"/>
                  </a:prstClr>
                </a:solidFill>
                <a:latin typeface="Aptos" panose="02110004020202020204"/>
                <a:ea typeface="+mn-ea"/>
                <a:cs typeface="+mn-cs"/>
              </a:rPr>
              <a:t> products w/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SA services</a:t>
            </a:r>
            <a:br>
              <a:rPr lang="en-US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https://acrobat.adobe.com/id/urn:aaid:sc:VA6C2:1dd1d554-7397-415e-b596-2caefc8533f0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br>
              <a:rPr lang="en-US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 </a:t>
            </a:r>
            <a:br>
              <a:rPr lang="en-US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</a:t>
            </a:r>
            <a:r>
              <a:rPr lang="en-US" sz="1600">
                <a:solidFill>
                  <a:prstClr val="black">
                    <a:alpha val="80000"/>
                  </a:prstClr>
                </a:solidFill>
                <a:latin typeface="Aptos"/>
                <a:ea typeface="+mn-ea"/>
                <a:cs typeface="+mn-cs"/>
              </a:rPr>
              <a:t>Demonstrate value of semantic KG’s in producing regulatory filing documents </a:t>
            </a:r>
            <a:br>
              <a:rPr lang="en-US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- </a:t>
            </a:r>
            <a:r>
              <a:rPr lang="en-US" sz="1600">
                <a:solidFill>
                  <a:prstClr val="black">
                    <a:alpha val="80000"/>
                  </a:prstClr>
                </a:solidFill>
                <a:latin typeface="Aptos"/>
                <a:ea typeface="+mn-ea"/>
                <a:cs typeface="+mn-cs"/>
              </a:rPr>
              <a:t>Use of </a:t>
            </a:r>
            <a:r>
              <a:rPr lang="en-US" sz="1600" err="1">
                <a:solidFill>
                  <a:prstClr val="black">
                    <a:alpha val="80000"/>
                  </a:prstClr>
                </a:solidFill>
                <a:latin typeface="Aptos"/>
                <a:ea typeface="+mn-ea"/>
                <a:cs typeface="+mn-cs"/>
              </a:rPr>
              <a:t>gistPharma</a:t>
            </a:r>
            <a:r>
              <a:rPr lang="en-US" sz="1600">
                <a:solidFill>
                  <a:prstClr val="black">
                    <a:alpha val="80000"/>
                  </a:prstClr>
                </a:solidFill>
                <a:latin typeface="Aptos"/>
                <a:ea typeface="+mn-ea"/>
                <a:cs typeface="+mn-cs"/>
              </a:rPr>
              <a:t> &amp; </a:t>
            </a:r>
            <a:r>
              <a:rPr lang="en-US" sz="1600" err="1">
                <a:solidFill>
                  <a:prstClr val="black">
                    <a:alpha val="80000"/>
                  </a:prstClr>
                </a:solidFill>
                <a:latin typeface="Aptos"/>
                <a:ea typeface="+mn-ea"/>
                <a:cs typeface="+mn-cs"/>
              </a:rPr>
              <a:t>Fluree</a:t>
            </a:r>
            <a:r>
              <a:rPr lang="en-US" sz="1600">
                <a:solidFill>
                  <a:prstClr val="black">
                    <a:alpha val="80000"/>
                  </a:prstClr>
                </a:solidFill>
                <a:latin typeface="Aptos"/>
                <a:ea typeface="+mn-ea"/>
                <a:cs typeface="+mn-cs"/>
              </a:rPr>
              <a:t> Sense conversion tool to map table doc’s into a semantic model with traditional AI  </a:t>
            </a:r>
            <a:br>
              <a:rPr lang="en-US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- SA to extend ontology w/ SME’s for customer specific harmonization, terminology tagging, and model representation</a:t>
            </a:r>
            <a:br>
              <a:rPr lang="en-US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- Delivers value with a dynamic eCTD Word template, populated with live data and in-scope of the data sources.</a:t>
            </a:r>
            <a:br>
              <a:rPr lang="en-US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- A Drug Manufacturing Asset in the form of a KG allowing users to query and retrieve information across compounds, operational process, batches, recipes and analytical tests/equipment </a:t>
            </a:r>
            <a:br>
              <a:rPr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</a:br>
            <a:endParaRPr lang="en-US" sz="1800" kern="120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9C3931A-E572-030E-A95C-0092EB403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906628"/>
            <a:ext cx="0" cy="5942494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9365C44-FF4A-8FE7-F789-D0DBFECA6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1620" y="635895"/>
            <a:ext cx="492251" cy="851541"/>
            <a:chOff x="5661620" y="635895"/>
            <a:chExt cx="492251" cy="851541"/>
          </a:xfrm>
        </p:grpSpPr>
        <p:sp>
          <p:nvSpPr>
            <p:cNvPr id="26" name="Graphic 11">
              <a:extLst>
                <a:ext uri="{FF2B5EF4-FFF2-40B4-BE49-F238E27FC236}">
                  <a16:creationId xmlns:a16="http://schemas.microsoft.com/office/drawing/2014/main" id="{4C50B9A3-3B14-E5B4-1E9B-5E0CB9E1D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661620" y="635895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10">
              <a:extLst>
                <a:ext uri="{FF2B5EF4-FFF2-40B4-BE49-F238E27FC236}">
                  <a16:creationId xmlns:a16="http://schemas.microsoft.com/office/drawing/2014/main" id="{E856DB3E-A961-8C48-7B01-6386E54796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2733" y="76951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2">
              <a:extLst>
                <a:ext uri="{FF2B5EF4-FFF2-40B4-BE49-F238E27FC236}">
                  <a16:creationId xmlns:a16="http://schemas.microsoft.com/office/drawing/2014/main" id="{38138DC1-D3A9-0477-1A3A-4513F5A725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41870" y="1359722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EB4CB8C-B4EA-6D61-150B-BCC2052C15F4}"/>
              </a:ext>
            </a:extLst>
          </p:cNvPr>
          <p:cNvSpPr txBox="1"/>
          <p:nvPr/>
        </p:nvSpPr>
        <p:spPr>
          <a:xfrm>
            <a:off x="6310204" y="1379697"/>
            <a:ext cx="5497633" cy="50115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/>
          <a:p>
            <a:pPr fontAlgn="base">
              <a:lnSpc>
                <a:spcPct val="90000"/>
              </a:lnSpc>
            </a:pPr>
            <a:r>
              <a:rPr lang="en-US" sz="2000" b="1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Outcomes to date …</a:t>
            </a:r>
          </a:p>
          <a:p>
            <a:pPr fontAlgn="base">
              <a:lnSpc>
                <a:spcPct val="90000"/>
              </a:lnSpc>
            </a:pPr>
            <a:endParaRPr lang="en-US" sz="2000" b="1" i="0" u="none" strike="noStrike"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marL="742950" lvl="1"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0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Development of a 90-day clearly documented offering that includes</a:t>
            </a: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:</a:t>
            </a:r>
          </a:p>
          <a:p>
            <a:pPr marL="1200150" lvl="2"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0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Scope of Work, </a:t>
            </a:r>
            <a:r>
              <a:rPr lang="en-US" sz="1700" b="0" i="0" u="none" strike="noStrike" err="1">
                <a:solidFill>
                  <a:schemeClr val="tx1">
                    <a:alpha val="80000"/>
                  </a:schemeClr>
                </a:solidFill>
                <a:effectLst/>
              </a:rPr>
              <a:t>Fluree</a:t>
            </a:r>
            <a:r>
              <a:rPr lang="en-US" sz="1700" b="0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 &amp; SA contributions, proposal inputs and solution outputs, client expectations</a:t>
            </a:r>
          </a:p>
          <a:p>
            <a:pPr marL="1200150" lvl="2"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Time boxed, prescriptive offering w/ pricing</a:t>
            </a:r>
            <a:endParaRPr lang="en-US" sz="1700" b="0" i="0" u="none" strike="noStrike"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fontAlgn="base">
              <a:lnSpc>
                <a:spcPct val="90000"/>
              </a:lnSpc>
            </a:pPr>
            <a:endParaRPr lang="en-US" sz="1700" b="1" i="0" u="none" strike="noStrike"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marL="742950" lvl="1"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0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Promotional 1-page document – outlines the challenge, joint solution, anticipated results, and how to get started</a:t>
            </a:r>
          </a:p>
          <a:p>
            <a:pPr marL="742950" lvl="1"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“Live” LinkedIn streaming event completed</a:t>
            </a:r>
            <a:r>
              <a:rPr lang="en-US" sz="1700" b="0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 between Eliud (</a:t>
            </a:r>
            <a:r>
              <a:rPr lang="en-US" sz="1700" b="0" i="0" u="none" strike="noStrike" err="1">
                <a:solidFill>
                  <a:schemeClr val="tx1">
                    <a:alpha val="80000"/>
                  </a:schemeClr>
                </a:solidFill>
                <a:effectLst/>
              </a:rPr>
              <a:t>Fluree</a:t>
            </a:r>
            <a:r>
              <a:rPr lang="en-US" sz="1700" b="0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), Doug Beeson and Irina </a:t>
            </a:r>
            <a:r>
              <a:rPr lang="en-US" sz="1700" b="0" i="0" u="none" strike="noStrike" err="1">
                <a:solidFill>
                  <a:schemeClr val="tx1">
                    <a:alpha val="80000"/>
                  </a:schemeClr>
                </a:solidFill>
                <a:effectLst/>
              </a:rPr>
              <a:t>Filitovich</a:t>
            </a:r>
            <a:r>
              <a:rPr lang="en-US" sz="1700" b="0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 (SA)</a:t>
            </a:r>
          </a:p>
          <a:p>
            <a:pPr marL="742950" lvl="1"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400" b="0" i="0" u="none" strike="noStrike"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marL="57150" fontAlgn="base">
              <a:lnSpc>
                <a:spcPct val="90000"/>
              </a:lnSpc>
              <a:spcAft>
                <a:spcPts val="800"/>
              </a:spcAft>
            </a:pPr>
            <a:r>
              <a:rPr lang="en-US" sz="2000" b="1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Next steps:</a:t>
            </a:r>
            <a:r>
              <a:rPr lang="en-US" sz="2000" b="0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P</a:t>
            </a:r>
            <a:r>
              <a:rPr lang="en-US" sz="1600" b="0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resent at KGC 2025 part of Master Class session – Tuesday, May 6. </a:t>
            </a:r>
            <a:r>
              <a:rPr lang="en-US" sz="1600" b="0" i="0" u="none" strike="noStrike">
                <a:solidFill>
                  <a:schemeClr val="tx1">
                    <a:alpha val="80000"/>
                  </a:schemeClr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https://www.knowledgegraph.tech/</a:t>
            </a:r>
            <a:r>
              <a:rPr lang="en-US" sz="1600" b="0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</a:p>
          <a:p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Attend KGC 2025 with </a:t>
            </a:r>
            <a:r>
              <a:rPr lang="en-US" sz="1600" err="1">
                <a:solidFill>
                  <a:schemeClr val="tx1">
                    <a:alpha val="80000"/>
                  </a:schemeClr>
                </a:solidFill>
              </a:rPr>
              <a:t>Fluree</a:t>
            </a: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 &amp; SA in booth partnership  – Promote social &amp; KG networking evening on May 6</a:t>
            </a:r>
            <a:r>
              <a:rPr lang="en-US" sz="1600" baseline="30000">
                <a:solidFill>
                  <a:schemeClr val="tx1">
                    <a:alpha val="80000"/>
                  </a:schemeClr>
                </a:solidFill>
              </a:rPr>
              <a:t>th</a:t>
            </a: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x-none" sz="1600">
                <a:hlinkClick r:id="rId4"/>
              </a:rPr>
              <a:t>https://bit.ly/4jiZzgC</a:t>
            </a:r>
            <a:endParaRPr lang="en-US" sz="1600"/>
          </a:p>
          <a:p>
            <a:endParaRPr lang="en-US" sz="1600">
              <a:solidFill>
                <a:schemeClr val="tx1">
                  <a:alpha val="80000"/>
                </a:schemeClr>
              </a:solidFill>
            </a:endParaRPr>
          </a:p>
          <a:p>
            <a:pPr marL="57150" fontAlgn="base">
              <a:lnSpc>
                <a:spcPct val="90000"/>
              </a:lnSpc>
              <a:spcAft>
                <a:spcPts val="800"/>
              </a:spcAft>
            </a:pP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A</a:t>
            </a:r>
            <a:r>
              <a:rPr lang="en-US" sz="1600" b="0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nnounce formal partnership, create LinkedIn post, market directly to </a:t>
            </a: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Regulatory and CMC pharma leadership</a:t>
            </a:r>
            <a:r>
              <a:rPr lang="en-US" sz="1600" b="0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, and explore further lead gen activities</a:t>
            </a: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 </a:t>
            </a:r>
            <a:r>
              <a:rPr lang="en-US" sz="1600" b="0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from </a:t>
            </a:r>
            <a:r>
              <a:rPr lang="en-US" sz="1600" b="0" i="0" u="none" strike="noStrike" err="1">
                <a:solidFill>
                  <a:schemeClr val="tx1">
                    <a:alpha val="80000"/>
                  </a:schemeClr>
                </a:solidFill>
                <a:effectLst/>
              </a:rPr>
              <a:t>BioIT</a:t>
            </a:r>
            <a:r>
              <a:rPr lang="en-US" sz="1600" b="0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 2025 conference and Life Sciences &amp; Healthcare audience at KGC</a:t>
            </a:r>
            <a:r>
              <a:rPr lang="en-US" sz="1400" b="0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.  </a:t>
            </a:r>
          </a:p>
          <a:p>
            <a:pPr fontAlgn="base">
              <a:lnSpc>
                <a:spcPct val="90000"/>
              </a:lnSpc>
            </a:pPr>
            <a:br>
              <a:rPr lang="en-US" sz="1300" b="0">
                <a:effectLst/>
              </a:rPr>
            </a:br>
            <a:endParaRPr lang="en-US" sz="1300" b="0" i="0" u="none" strike="noStrike">
              <a:solidFill>
                <a:schemeClr val="tx1">
                  <a:alpha val="80000"/>
                </a:schemeClr>
              </a:solidFill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73E214-F430-F57D-56C5-3ADF39CE48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9521" y="290173"/>
            <a:ext cx="1759040" cy="8826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960A51-CE0F-1BF9-3142-31746A4030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1078" y="616634"/>
            <a:ext cx="3034268" cy="88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330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4C978B-BF43-D7B0-224D-EAEC6CB63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8B49ED-6693-497D-8823-F50F891E8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DCD3BD4-4F32-431E-A9C3-8D2DA60CD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36AAC24-A98C-465E-AFEE-69D698E77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49158 w 12192000"/>
              <a:gd name="connsiteY0" fmla="*/ 2038490 h 6858000"/>
              <a:gd name="connsiteX1" fmla="*/ 9164184 w 12192000"/>
              <a:gd name="connsiteY1" fmla="*/ 2044026 h 6858000"/>
              <a:gd name="connsiteX2" fmla="*/ 9172532 w 12192000"/>
              <a:gd name="connsiteY2" fmla="*/ 2045543 h 6858000"/>
              <a:gd name="connsiteX3" fmla="*/ 9171580 w 12192000"/>
              <a:gd name="connsiteY3" fmla="*/ 2056997 h 6858000"/>
              <a:gd name="connsiteX4" fmla="*/ 9161257 w 12192000"/>
              <a:gd name="connsiteY4" fmla="*/ 2098605 h 6858000"/>
              <a:gd name="connsiteX5" fmla="*/ 9138232 w 12192000"/>
              <a:gd name="connsiteY5" fmla="*/ 2059518 h 6858000"/>
              <a:gd name="connsiteX6" fmla="*/ 9149158 w 12192000"/>
              <a:gd name="connsiteY6" fmla="*/ 2038490 h 6858000"/>
              <a:gd name="connsiteX7" fmla="*/ 9177606 w 12192000"/>
              <a:gd name="connsiteY7" fmla="*/ 1977215 h 6858000"/>
              <a:gd name="connsiteX8" fmla="*/ 9181592 w 12192000"/>
              <a:gd name="connsiteY8" fmla="*/ 1987782 h 6858000"/>
              <a:gd name="connsiteX9" fmla="*/ 9181923 w 12192000"/>
              <a:gd name="connsiteY9" fmla="*/ 1998627 h 6858000"/>
              <a:gd name="connsiteX10" fmla="*/ 9182316 w 12192000"/>
              <a:gd name="connsiteY10" fmla="*/ 2031066 h 6858000"/>
              <a:gd name="connsiteX11" fmla="*/ 9182278 w 12192000"/>
              <a:gd name="connsiteY11" fmla="*/ 2047313 h 6858000"/>
              <a:gd name="connsiteX12" fmla="*/ 9172532 w 12192000"/>
              <a:gd name="connsiteY12" fmla="*/ 2045543 h 6858000"/>
              <a:gd name="connsiteX13" fmla="*/ 9173842 w 12192000"/>
              <a:gd name="connsiteY13" fmla="*/ 2029805 h 6858000"/>
              <a:gd name="connsiteX14" fmla="*/ 9177334 w 12192000"/>
              <a:gd name="connsiteY14" fmla="*/ 1979903 h 6858000"/>
              <a:gd name="connsiteX15" fmla="*/ 3696300 w 12192000"/>
              <a:gd name="connsiteY15" fmla="*/ 1578900 h 6858000"/>
              <a:gd name="connsiteX16" fmla="*/ 3738823 w 12192000"/>
              <a:gd name="connsiteY16" fmla="*/ 1596298 h 6858000"/>
              <a:gd name="connsiteX17" fmla="*/ 3714409 w 12192000"/>
              <a:gd name="connsiteY17" fmla="*/ 1593618 h 6858000"/>
              <a:gd name="connsiteX18" fmla="*/ 3693161 w 12192000"/>
              <a:gd name="connsiteY18" fmla="*/ 1582501 h 6858000"/>
              <a:gd name="connsiteX19" fmla="*/ 3696300 w 12192000"/>
              <a:gd name="connsiteY19" fmla="*/ 1578900 h 6858000"/>
              <a:gd name="connsiteX20" fmla="*/ 3918454 w 12192000"/>
              <a:gd name="connsiteY20" fmla="*/ 1175387 h 6858000"/>
              <a:gd name="connsiteX21" fmla="*/ 4173607 w 12192000"/>
              <a:gd name="connsiteY21" fmla="*/ 1280040 h 6858000"/>
              <a:gd name="connsiteX22" fmla="*/ 4170135 w 12192000"/>
              <a:gd name="connsiteY22" fmla="*/ 1283683 h 6858000"/>
              <a:gd name="connsiteX23" fmla="*/ 3918454 w 12192000"/>
              <a:gd name="connsiteY23" fmla="*/ 1175387 h 6858000"/>
              <a:gd name="connsiteX24" fmla="*/ 8109090 w 12192000"/>
              <a:gd name="connsiteY24" fmla="*/ 602108 h 6858000"/>
              <a:gd name="connsiteX25" fmla="*/ 8113034 w 12192000"/>
              <a:gd name="connsiteY25" fmla="*/ 602645 h 6858000"/>
              <a:gd name="connsiteX26" fmla="*/ 8111220 w 12192000"/>
              <a:gd name="connsiteY26" fmla="*/ 603405 h 6858000"/>
              <a:gd name="connsiteX27" fmla="*/ 8489536 w 12192000"/>
              <a:gd name="connsiteY27" fmla="*/ 389280 h 6858000"/>
              <a:gd name="connsiteX28" fmla="*/ 8470194 w 12192000"/>
              <a:gd name="connsiteY28" fmla="*/ 397527 h 6858000"/>
              <a:gd name="connsiteX29" fmla="*/ 8373511 w 12192000"/>
              <a:gd name="connsiteY29" fmla="*/ 465608 h 6858000"/>
              <a:gd name="connsiteX30" fmla="*/ 8231753 w 12192000"/>
              <a:gd name="connsiteY30" fmla="*/ 560890 h 6858000"/>
              <a:gd name="connsiteX31" fmla="*/ 8199967 w 12192000"/>
              <a:gd name="connsiteY31" fmla="*/ 553465 h 6858000"/>
              <a:gd name="connsiteX32" fmla="*/ 8175616 w 12192000"/>
              <a:gd name="connsiteY32" fmla="*/ 546483 h 6858000"/>
              <a:gd name="connsiteX33" fmla="*/ 8128578 w 12192000"/>
              <a:gd name="connsiteY33" fmla="*/ 563992 h 6858000"/>
              <a:gd name="connsiteX34" fmla="*/ 8104845 w 12192000"/>
              <a:gd name="connsiteY34" fmla="*/ 593172 h 6858000"/>
              <a:gd name="connsiteX35" fmla="*/ 8105615 w 12192000"/>
              <a:gd name="connsiteY35" fmla="*/ 599991 h 6858000"/>
              <a:gd name="connsiteX36" fmla="*/ 8109090 w 12192000"/>
              <a:gd name="connsiteY36" fmla="*/ 602108 h 6858000"/>
              <a:gd name="connsiteX37" fmla="*/ 8092049 w 12192000"/>
              <a:gd name="connsiteY37" fmla="*/ 599788 h 6858000"/>
              <a:gd name="connsiteX38" fmla="*/ 8047646 w 12192000"/>
              <a:gd name="connsiteY38" fmla="*/ 588557 h 6858000"/>
              <a:gd name="connsiteX39" fmla="*/ 7793637 w 12192000"/>
              <a:gd name="connsiteY39" fmla="*/ 681868 h 6858000"/>
              <a:gd name="connsiteX40" fmla="*/ 6007741 w 12192000"/>
              <a:gd name="connsiteY40" fmla="*/ 1095470 h 6858000"/>
              <a:gd name="connsiteX41" fmla="*/ 5902533 w 12192000"/>
              <a:gd name="connsiteY41" fmla="*/ 1103650 h 6858000"/>
              <a:gd name="connsiteX42" fmla="*/ 5164222 w 12192000"/>
              <a:gd name="connsiteY42" fmla="*/ 1163546 h 6858000"/>
              <a:gd name="connsiteX43" fmla="*/ 4395075 w 12192000"/>
              <a:gd name="connsiteY43" fmla="*/ 1082763 h 6858000"/>
              <a:gd name="connsiteX44" fmla="*/ 3939440 w 12192000"/>
              <a:gd name="connsiteY44" fmla="*/ 891265 h 6858000"/>
              <a:gd name="connsiteX45" fmla="*/ 3747894 w 12192000"/>
              <a:gd name="connsiteY45" fmla="*/ 801994 h 6858000"/>
              <a:gd name="connsiteX46" fmla="*/ 3569553 w 12192000"/>
              <a:gd name="connsiteY46" fmla="*/ 697970 h 6858000"/>
              <a:gd name="connsiteX47" fmla="*/ 3507813 w 12192000"/>
              <a:gd name="connsiteY47" fmla="*/ 680216 h 6858000"/>
              <a:gd name="connsiteX48" fmla="*/ 3490455 w 12192000"/>
              <a:gd name="connsiteY48" fmla="*/ 682587 h 6858000"/>
              <a:gd name="connsiteX49" fmla="*/ 3477246 w 12192000"/>
              <a:gd name="connsiteY49" fmla="*/ 691971 h 6858000"/>
              <a:gd name="connsiteX50" fmla="*/ 3484273 w 12192000"/>
              <a:gd name="connsiteY50" fmla="*/ 701857 h 6858000"/>
              <a:gd name="connsiteX51" fmla="*/ 3495638 w 12192000"/>
              <a:gd name="connsiteY51" fmla="*/ 705849 h 6858000"/>
              <a:gd name="connsiteX52" fmla="*/ 3548914 w 12192000"/>
              <a:gd name="connsiteY52" fmla="*/ 733487 h 6858000"/>
              <a:gd name="connsiteX53" fmla="*/ 3551504 w 12192000"/>
              <a:gd name="connsiteY53" fmla="*/ 753036 h 6858000"/>
              <a:gd name="connsiteX54" fmla="*/ 3562075 w 12192000"/>
              <a:gd name="connsiteY54" fmla="*/ 765715 h 6858000"/>
              <a:gd name="connsiteX55" fmla="*/ 3605942 w 12192000"/>
              <a:gd name="connsiteY55" fmla="*/ 772481 h 6858000"/>
              <a:gd name="connsiteX56" fmla="*/ 3499309 w 12192000"/>
              <a:gd name="connsiteY56" fmla="*/ 737079 h 6858000"/>
              <a:gd name="connsiteX57" fmla="*/ 3473788 w 12192000"/>
              <a:gd name="connsiteY57" fmla="*/ 711717 h 6858000"/>
              <a:gd name="connsiteX58" fmla="*/ 3437248 w 12192000"/>
              <a:gd name="connsiteY58" fmla="*/ 714263 h 6858000"/>
              <a:gd name="connsiteX59" fmla="*/ 3413254 w 12192000"/>
              <a:gd name="connsiteY59" fmla="*/ 712874 h 6858000"/>
              <a:gd name="connsiteX60" fmla="*/ 3362511 w 12192000"/>
              <a:gd name="connsiteY60" fmla="*/ 677414 h 6858000"/>
              <a:gd name="connsiteX61" fmla="*/ 3344467 w 12192000"/>
              <a:gd name="connsiteY61" fmla="*/ 679599 h 6858000"/>
              <a:gd name="connsiteX62" fmla="*/ 3347971 w 12192000"/>
              <a:gd name="connsiteY62" fmla="*/ 692328 h 6858000"/>
              <a:gd name="connsiteX63" fmla="*/ 3363008 w 12192000"/>
              <a:gd name="connsiteY63" fmla="*/ 711713 h 6858000"/>
              <a:gd name="connsiteX64" fmla="*/ 3362637 w 12192000"/>
              <a:gd name="connsiteY64" fmla="*/ 727058 h 6858000"/>
              <a:gd name="connsiteX65" fmla="*/ 3376167 w 12192000"/>
              <a:gd name="connsiteY65" fmla="*/ 759779 h 6858000"/>
              <a:gd name="connsiteX66" fmla="*/ 3406203 w 12192000"/>
              <a:gd name="connsiteY66" fmla="*/ 808483 h 6858000"/>
              <a:gd name="connsiteX67" fmla="*/ 3420116 w 12192000"/>
              <a:gd name="connsiteY67" fmla="*/ 820757 h 6858000"/>
              <a:gd name="connsiteX68" fmla="*/ 3429194 w 12192000"/>
              <a:gd name="connsiteY68" fmla="*/ 825831 h 6858000"/>
              <a:gd name="connsiteX69" fmla="*/ 3619149 w 12192000"/>
              <a:gd name="connsiteY69" fmla="*/ 1006561 h 6858000"/>
              <a:gd name="connsiteX70" fmla="*/ 3818654 w 12192000"/>
              <a:gd name="connsiteY70" fmla="*/ 1120369 h 6858000"/>
              <a:gd name="connsiteX71" fmla="*/ 3824021 w 12192000"/>
              <a:gd name="connsiteY71" fmla="*/ 1125355 h 6858000"/>
              <a:gd name="connsiteX72" fmla="*/ 3736668 w 12192000"/>
              <a:gd name="connsiteY72" fmla="*/ 1107215 h 6858000"/>
              <a:gd name="connsiteX73" fmla="*/ 3540174 w 12192000"/>
              <a:gd name="connsiteY73" fmla="*/ 1014247 h 6858000"/>
              <a:gd name="connsiteX74" fmla="*/ 3421640 w 12192000"/>
              <a:gd name="connsiteY74" fmla="*/ 955861 h 6858000"/>
              <a:gd name="connsiteX75" fmla="*/ 3404753 w 12192000"/>
              <a:gd name="connsiteY75" fmla="*/ 944484 h 6858000"/>
              <a:gd name="connsiteX76" fmla="*/ 3393138 w 12192000"/>
              <a:gd name="connsiteY76" fmla="*/ 941865 h 6858000"/>
              <a:gd name="connsiteX77" fmla="*/ 3385712 w 12192000"/>
              <a:gd name="connsiteY77" fmla="*/ 952159 h 6858000"/>
              <a:gd name="connsiteX78" fmla="*/ 3398641 w 12192000"/>
              <a:gd name="connsiteY78" fmla="*/ 986025 h 6858000"/>
              <a:gd name="connsiteX79" fmla="*/ 3489975 w 12192000"/>
              <a:gd name="connsiteY79" fmla="*/ 1045560 h 6858000"/>
              <a:gd name="connsiteX80" fmla="*/ 3617273 w 12192000"/>
              <a:gd name="connsiteY80" fmla="*/ 1114697 h 6858000"/>
              <a:gd name="connsiteX81" fmla="*/ 3623898 w 12192000"/>
              <a:gd name="connsiteY81" fmla="*/ 1123556 h 6858000"/>
              <a:gd name="connsiteX82" fmla="*/ 3552438 w 12192000"/>
              <a:gd name="connsiteY82" fmla="*/ 1090606 h 6858000"/>
              <a:gd name="connsiteX83" fmla="*/ 3482417 w 12192000"/>
              <a:gd name="connsiteY83" fmla="*/ 1059092 h 6858000"/>
              <a:gd name="connsiteX84" fmla="*/ 3463468 w 12192000"/>
              <a:gd name="connsiteY84" fmla="*/ 1057629 h 6858000"/>
              <a:gd name="connsiteX85" fmla="*/ 3459472 w 12192000"/>
              <a:gd name="connsiteY85" fmla="*/ 1074217 h 6858000"/>
              <a:gd name="connsiteX86" fmla="*/ 3494211 w 12192000"/>
              <a:gd name="connsiteY86" fmla="*/ 1112153 h 6858000"/>
              <a:gd name="connsiteX87" fmla="*/ 3663137 w 12192000"/>
              <a:gd name="connsiteY87" fmla="*/ 1205775 h 6858000"/>
              <a:gd name="connsiteX88" fmla="*/ 3748466 w 12192000"/>
              <a:gd name="connsiteY88" fmla="*/ 1260936 h 6858000"/>
              <a:gd name="connsiteX89" fmla="*/ 3753142 w 12192000"/>
              <a:gd name="connsiteY89" fmla="*/ 1276208 h 6858000"/>
              <a:gd name="connsiteX90" fmla="*/ 3791960 w 12192000"/>
              <a:gd name="connsiteY90" fmla="*/ 1298886 h 6858000"/>
              <a:gd name="connsiteX91" fmla="*/ 3816039 w 12192000"/>
              <a:gd name="connsiteY91" fmla="*/ 1301606 h 6858000"/>
              <a:gd name="connsiteX92" fmla="*/ 4094439 w 12192000"/>
              <a:gd name="connsiteY92" fmla="*/ 1448806 h 6858000"/>
              <a:gd name="connsiteX93" fmla="*/ 4222870 w 12192000"/>
              <a:gd name="connsiteY93" fmla="*/ 1493379 h 6858000"/>
              <a:gd name="connsiteX94" fmla="*/ 4223141 w 12192000"/>
              <a:gd name="connsiteY94" fmla="*/ 1497641 h 6858000"/>
              <a:gd name="connsiteX95" fmla="*/ 4222428 w 12192000"/>
              <a:gd name="connsiteY95" fmla="*/ 1502292 h 6858000"/>
              <a:gd name="connsiteX96" fmla="*/ 4039973 w 12192000"/>
              <a:gd name="connsiteY96" fmla="*/ 1434198 h 6858000"/>
              <a:gd name="connsiteX97" fmla="*/ 3564773 w 12192000"/>
              <a:gd name="connsiteY97" fmla="*/ 1226279 h 6858000"/>
              <a:gd name="connsiteX98" fmla="*/ 3420650 w 12192000"/>
              <a:gd name="connsiteY98" fmla="*/ 1141464 h 6858000"/>
              <a:gd name="connsiteX99" fmla="*/ 3320669 w 12192000"/>
              <a:gd name="connsiteY99" fmla="*/ 1088883 h 6858000"/>
              <a:gd name="connsiteX100" fmla="*/ 3270102 w 12192000"/>
              <a:gd name="connsiteY100" fmla="*/ 1082659 h 6858000"/>
              <a:gd name="connsiteX101" fmla="*/ 3251648 w 12192000"/>
              <a:gd name="connsiteY101" fmla="*/ 1094290 h 6858000"/>
              <a:gd name="connsiteX102" fmla="*/ 3263506 w 12192000"/>
              <a:gd name="connsiteY102" fmla="*/ 1106005 h 6858000"/>
              <a:gd name="connsiteX103" fmla="*/ 3268636 w 12192000"/>
              <a:gd name="connsiteY103" fmla="*/ 1107265 h 6858000"/>
              <a:gd name="connsiteX104" fmla="*/ 3325089 w 12192000"/>
              <a:gd name="connsiteY104" fmla="*/ 1137201 h 6858000"/>
              <a:gd name="connsiteX105" fmla="*/ 3326003 w 12192000"/>
              <a:gd name="connsiteY105" fmla="*/ 1151585 h 6858000"/>
              <a:gd name="connsiteX106" fmla="*/ 3336410 w 12192000"/>
              <a:gd name="connsiteY106" fmla="*/ 1166967 h 6858000"/>
              <a:gd name="connsiteX107" fmla="*/ 3375112 w 12192000"/>
              <a:gd name="connsiteY107" fmla="*/ 1171943 h 6858000"/>
              <a:gd name="connsiteX108" fmla="*/ 3326222 w 12192000"/>
              <a:gd name="connsiteY108" fmla="*/ 1170885 h 6858000"/>
              <a:gd name="connsiteX109" fmla="*/ 3254679 w 12192000"/>
              <a:gd name="connsiteY109" fmla="*/ 1120765 h 6858000"/>
              <a:gd name="connsiteX110" fmla="*/ 3242188 w 12192000"/>
              <a:gd name="connsiteY110" fmla="*/ 1109662 h 6858000"/>
              <a:gd name="connsiteX111" fmla="*/ 3211499 w 12192000"/>
              <a:gd name="connsiteY111" fmla="*/ 1114184 h 6858000"/>
              <a:gd name="connsiteX112" fmla="*/ 3185849 w 12192000"/>
              <a:gd name="connsiteY112" fmla="*/ 1113265 h 6858000"/>
              <a:gd name="connsiteX113" fmla="*/ 3135843 w 12192000"/>
              <a:gd name="connsiteY113" fmla="*/ 1078789 h 6858000"/>
              <a:gd name="connsiteX114" fmla="*/ 3119118 w 12192000"/>
              <a:gd name="connsiteY114" fmla="*/ 1080546 h 6858000"/>
              <a:gd name="connsiteX115" fmla="*/ 3120198 w 12192000"/>
              <a:gd name="connsiteY115" fmla="*/ 1092226 h 6858000"/>
              <a:gd name="connsiteX116" fmla="*/ 3131691 w 12192000"/>
              <a:gd name="connsiteY116" fmla="*/ 1108819 h 6858000"/>
              <a:gd name="connsiteX117" fmla="*/ 3129914 w 12192000"/>
              <a:gd name="connsiteY117" fmla="*/ 1139097 h 6858000"/>
              <a:gd name="connsiteX118" fmla="*/ 3133955 w 12192000"/>
              <a:gd name="connsiteY118" fmla="*/ 1154983 h 6858000"/>
              <a:gd name="connsiteX119" fmla="*/ 3178170 w 12192000"/>
              <a:gd name="connsiteY119" fmla="*/ 1214855 h 6858000"/>
              <a:gd name="connsiteX120" fmla="*/ 3185378 w 12192000"/>
              <a:gd name="connsiteY120" fmla="*/ 1222303 h 6858000"/>
              <a:gd name="connsiteX121" fmla="*/ 3206608 w 12192000"/>
              <a:gd name="connsiteY121" fmla="*/ 1233153 h 6858000"/>
              <a:gd name="connsiteX122" fmla="*/ 3379140 w 12192000"/>
              <a:gd name="connsiteY122" fmla="*/ 1399351 h 6858000"/>
              <a:gd name="connsiteX123" fmla="*/ 3603118 w 12192000"/>
              <a:gd name="connsiteY123" fmla="*/ 1527375 h 6858000"/>
              <a:gd name="connsiteX124" fmla="*/ 3524809 w 12192000"/>
              <a:gd name="connsiteY124" fmla="*/ 1513774 h 6858000"/>
              <a:gd name="connsiteX125" fmla="*/ 3327498 w 12192000"/>
              <a:gd name="connsiteY125" fmla="*/ 1423859 h 6858000"/>
              <a:gd name="connsiteX126" fmla="*/ 3192949 w 12192000"/>
              <a:gd name="connsiteY126" fmla="*/ 1357211 h 6858000"/>
              <a:gd name="connsiteX127" fmla="*/ 3180259 w 12192000"/>
              <a:gd name="connsiteY127" fmla="*/ 1348280 h 6858000"/>
              <a:gd name="connsiteX128" fmla="*/ 3166204 w 12192000"/>
              <a:gd name="connsiteY128" fmla="*/ 1344345 h 6858000"/>
              <a:gd name="connsiteX129" fmla="*/ 3159212 w 12192000"/>
              <a:gd name="connsiteY129" fmla="*/ 1356197 h 6858000"/>
              <a:gd name="connsiteX130" fmla="*/ 3181004 w 12192000"/>
              <a:gd name="connsiteY130" fmla="*/ 1397043 h 6858000"/>
              <a:gd name="connsiteX131" fmla="*/ 3273385 w 12192000"/>
              <a:gd name="connsiteY131" fmla="*/ 1451888 h 6858000"/>
              <a:gd name="connsiteX132" fmla="*/ 3401776 w 12192000"/>
              <a:gd name="connsiteY132" fmla="*/ 1527602 h 6858000"/>
              <a:gd name="connsiteX133" fmla="*/ 3318130 w 12192000"/>
              <a:gd name="connsiteY133" fmla="*/ 1488342 h 6858000"/>
              <a:gd name="connsiteX134" fmla="*/ 3253694 w 12192000"/>
              <a:gd name="connsiteY134" fmla="*/ 1459909 h 6858000"/>
              <a:gd name="connsiteX135" fmla="*/ 3236182 w 12192000"/>
              <a:gd name="connsiteY135" fmla="*/ 1459882 h 6858000"/>
              <a:gd name="connsiteX136" fmla="*/ 3233020 w 12192000"/>
              <a:gd name="connsiteY136" fmla="*/ 1473687 h 6858000"/>
              <a:gd name="connsiteX137" fmla="*/ 3272474 w 12192000"/>
              <a:gd name="connsiteY137" fmla="*/ 1516958 h 6858000"/>
              <a:gd name="connsiteX138" fmla="*/ 3341300 w 12192000"/>
              <a:gd name="connsiteY138" fmla="*/ 1556133 h 6858000"/>
              <a:gd name="connsiteX139" fmla="*/ 3267359 w 12192000"/>
              <a:gd name="connsiteY139" fmla="*/ 1553009 h 6858000"/>
              <a:gd name="connsiteX140" fmla="*/ 3329832 w 12192000"/>
              <a:gd name="connsiteY140" fmla="*/ 1587586 h 6858000"/>
              <a:gd name="connsiteX141" fmla="*/ 3421490 w 12192000"/>
              <a:gd name="connsiteY141" fmla="*/ 1599301 h 6858000"/>
              <a:gd name="connsiteX142" fmla="*/ 3459923 w 12192000"/>
              <a:gd name="connsiteY142" fmla="*/ 1621220 h 6858000"/>
              <a:gd name="connsiteX143" fmla="*/ 3497490 w 12192000"/>
              <a:gd name="connsiteY143" fmla="*/ 1645392 h 6858000"/>
              <a:gd name="connsiteX144" fmla="*/ 3507803 w 12192000"/>
              <a:gd name="connsiteY144" fmla="*/ 1669911 h 6858000"/>
              <a:gd name="connsiteX145" fmla="*/ 3543290 w 12192000"/>
              <a:gd name="connsiteY145" fmla="*/ 1703729 h 6858000"/>
              <a:gd name="connsiteX146" fmla="*/ 3546999 w 12192000"/>
              <a:gd name="connsiteY146" fmla="*/ 1703818 h 6858000"/>
              <a:gd name="connsiteX147" fmla="*/ 3572295 w 12192000"/>
              <a:gd name="connsiteY147" fmla="*/ 1720349 h 6858000"/>
              <a:gd name="connsiteX148" fmla="*/ 3596922 w 12192000"/>
              <a:gd name="connsiteY148" fmla="*/ 1736961 h 6858000"/>
              <a:gd name="connsiteX149" fmla="*/ 3602119 w 12192000"/>
              <a:gd name="connsiteY149" fmla="*/ 1739285 h 6858000"/>
              <a:gd name="connsiteX150" fmla="*/ 3734798 w 12192000"/>
              <a:gd name="connsiteY150" fmla="*/ 1845349 h 6858000"/>
              <a:gd name="connsiteX151" fmla="*/ 3743174 w 12192000"/>
              <a:gd name="connsiteY151" fmla="*/ 1849972 h 6858000"/>
              <a:gd name="connsiteX152" fmla="*/ 3478101 w 12192000"/>
              <a:gd name="connsiteY152" fmla="*/ 1864630 h 6858000"/>
              <a:gd name="connsiteX153" fmla="*/ 3135293 w 12192000"/>
              <a:gd name="connsiteY153" fmla="*/ 1816496 h 6858000"/>
              <a:gd name="connsiteX154" fmla="*/ 3158510 w 12192000"/>
              <a:gd name="connsiteY154" fmla="*/ 1863880 h 6858000"/>
              <a:gd name="connsiteX155" fmla="*/ 3148907 w 12192000"/>
              <a:gd name="connsiteY155" fmla="*/ 1908797 h 6858000"/>
              <a:gd name="connsiteX156" fmla="*/ 3150229 w 12192000"/>
              <a:gd name="connsiteY156" fmla="*/ 2003660 h 6858000"/>
              <a:gd name="connsiteX157" fmla="*/ 3154219 w 12192000"/>
              <a:gd name="connsiteY157" fmla="*/ 2018746 h 6858000"/>
              <a:gd name="connsiteX158" fmla="*/ 3079313 w 12192000"/>
              <a:gd name="connsiteY158" fmla="*/ 2037482 h 6858000"/>
              <a:gd name="connsiteX159" fmla="*/ 3545961 w 12192000"/>
              <a:gd name="connsiteY159" fmla="*/ 2248584 h 6858000"/>
              <a:gd name="connsiteX160" fmla="*/ 3242382 w 12192000"/>
              <a:gd name="connsiteY160" fmla="*/ 2234890 h 6858000"/>
              <a:gd name="connsiteX161" fmla="*/ 3206852 w 12192000"/>
              <a:gd name="connsiteY161" fmla="*/ 2322137 h 6858000"/>
              <a:gd name="connsiteX162" fmla="*/ 3352854 w 12192000"/>
              <a:gd name="connsiteY162" fmla="*/ 2378270 h 6858000"/>
              <a:gd name="connsiteX163" fmla="*/ 3414532 w 12192000"/>
              <a:gd name="connsiteY163" fmla="*/ 2516826 h 6858000"/>
              <a:gd name="connsiteX164" fmla="*/ 3397577 w 12192000"/>
              <a:gd name="connsiteY164" fmla="*/ 2652556 h 6858000"/>
              <a:gd name="connsiteX165" fmla="*/ 3339773 w 12192000"/>
              <a:gd name="connsiteY165" fmla="*/ 2701969 h 6858000"/>
              <a:gd name="connsiteX166" fmla="*/ 3257041 w 12192000"/>
              <a:gd name="connsiteY166" fmla="*/ 2788223 h 6858000"/>
              <a:gd name="connsiteX167" fmla="*/ 3205892 w 12192000"/>
              <a:gd name="connsiteY167" fmla="*/ 2841661 h 6858000"/>
              <a:gd name="connsiteX168" fmla="*/ 3016267 w 12192000"/>
              <a:gd name="connsiteY168" fmla="*/ 2846107 h 6858000"/>
              <a:gd name="connsiteX169" fmla="*/ 3275450 w 12192000"/>
              <a:gd name="connsiteY169" fmla="*/ 2934701 h 6858000"/>
              <a:gd name="connsiteX170" fmla="*/ 3071009 w 12192000"/>
              <a:gd name="connsiteY170" fmla="*/ 2944432 h 6858000"/>
              <a:gd name="connsiteX171" fmla="*/ 3005039 w 12192000"/>
              <a:gd name="connsiteY171" fmla="*/ 2960743 h 6858000"/>
              <a:gd name="connsiteX172" fmla="*/ 3045255 w 12192000"/>
              <a:gd name="connsiteY172" fmla="*/ 2994795 h 6858000"/>
              <a:gd name="connsiteX173" fmla="*/ 3198769 w 12192000"/>
              <a:gd name="connsiteY173" fmla="*/ 3041966 h 6858000"/>
              <a:gd name="connsiteX174" fmla="*/ 3518098 w 12192000"/>
              <a:gd name="connsiteY174" fmla="*/ 3181525 h 6858000"/>
              <a:gd name="connsiteX175" fmla="*/ 3214876 w 12192000"/>
              <a:gd name="connsiteY175" fmla="*/ 3136382 h 6858000"/>
              <a:gd name="connsiteX176" fmla="*/ 3540876 w 12192000"/>
              <a:gd name="connsiteY176" fmla="*/ 3280232 h 6858000"/>
              <a:gd name="connsiteX177" fmla="*/ 3614558 w 12192000"/>
              <a:gd name="connsiteY177" fmla="*/ 3332242 h 6858000"/>
              <a:gd name="connsiteX178" fmla="*/ 3765439 w 12192000"/>
              <a:gd name="connsiteY178" fmla="*/ 3465091 h 6858000"/>
              <a:gd name="connsiteX179" fmla="*/ 3759506 w 12192000"/>
              <a:gd name="connsiteY179" fmla="*/ 3482990 h 6858000"/>
              <a:gd name="connsiteX180" fmla="*/ 3594905 w 12192000"/>
              <a:gd name="connsiteY180" fmla="*/ 3478499 h 6858000"/>
              <a:gd name="connsiteX181" fmla="*/ 3814430 w 12192000"/>
              <a:gd name="connsiteY181" fmla="*/ 3578876 h 6858000"/>
              <a:gd name="connsiteX182" fmla="*/ 4039126 w 12192000"/>
              <a:gd name="connsiteY182" fmla="*/ 3649369 h 6858000"/>
              <a:gd name="connsiteX183" fmla="*/ 3883152 w 12192000"/>
              <a:gd name="connsiteY183" fmla="*/ 3653497 h 6858000"/>
              <a:gd name="connsiteX184" fmla="*/ 3666446 w 12192000"/>
              <a:gd name="connsiteY184" fmla="*/ 3623911 h 6858000"/>
              <a:gd name="connsiteX185" fmla="*/ 3593589 w 12192000"/>
              <a:gd name="connsiteY185" fmla="*/ 3653674 h 6858000"/>
              <a:gd name="connsiteX186" fmla="*/ 3801238 w 12192000"/>
              <a:gd name="connsiteY186" fmla="*/ 3720862 h 6858000"/>
              <a:gd name="connsiteX187" fmla="*/ 3919545 w 12192000"/>
              <a:gd name="connsiteY187" fmla="*/ 3749213 h 6858000"/>
              <a:gd name="connsiteX188" fmla="*/ 3968059 w 12192000"/>
              <a:gd name="connsiteY188" fmla="*/ 3776085 h 6858000"/>
              <a:gd name="connsiteX189" fmla="*/ 4107750 w 12192000"/>
              <a:gd name="connsiteY189" fmla="*/ 3875932 h 6858000"/>
              <a:gd name="connsiteX190" fmla="*/ 4504087 w 12192000"/>
              <a:gd name="connsiteY190" fmla="*/ 3955698 h 6858000"/>
              <a:gd name="connsiteX191" fmla="*/ 5880284 w 12192000"/>
              <a:gd name="connsiteY191" fmla="*/ 3998656 h 6858000"/>
              <a:gd name="connsiteX192" fmla="*/ 8461494 w 12192000"/>
              <a:gd name="connsiteY192" fmla="*/ 3007971 h 6858000"/>
              <a:gd name="connsiteX193" fmla="*/ 8587378 w 12192000"/>
              <a:gd name="connsiteY193" fmla="*/ 2896089 h 6858000"/>
              <a:gd name="connsiteX194" fmla="*/ 8693826 w 12192000"/>
              <a:gd name="connsiteY194" fmla="*/ 2796225 h 6858000"/>
              <a:gd name="connsiteX195" fmla="*/ 8633488 w 12192000"/>
              <a:gd name="connsiteY195" fmla="*/ 2774007 h 6858000"/>
              <a:gd name="connsiteX196" fmla="*/ 8707444 w 12192000"/>
              <a:gd name="connsiteY196" fmla="*/ 2682105 h 6858000"/>
              <a:gd name="connsiteX197" fmla="*/ 8942552 w 12192000"/>
              <a:gd name="connsiteY197" fmla="*/ 2397549 h 6858000"/>
              <a:gd name="connsiteX198" fmla="*/ 9049260 w 12192000"/>
              <a:gd name="connsiteY198" fmla="*/ 2328253 h 6858000"/>
              <a:gd name="connsiteX199" fmla="*/ 9174304 w 12192000"/>
              <a:gd name="connsiteY199" fmla="*/ 2171379 h 6858000"/>
              <a:gd name="connsiteX200" fmla="*/ 9182228 w 12192000"/>
              <a:gd name="connsiteY200" fmla="*/ 2067678 h 6858000"/>
              <a:gd name="connsiteX201" fmla="*/ 9182278 w 12192000"/>
              <a:gd name="connsiteY201" fmla="*/ 2047313 h 6858000"/>
              <a:gd name="connsiteX202" fmla="*/ 9184334 w 12192000"/>
              <a:gd name="connsiteY202" fmla="*/ 2047686 h 6858000"/>
              <a:gd name="connsiteX203" fmla="*/ 9185124 w 12192000"/>
              <a:gd name="connsiteY203" fmla="*/ 1997142 h 6858000"/>
              <a:gd name="connsiteX204" fmla="*/ 9181592 w 12192000"/>
              <a:gd name="connsiteY204" fmla="*/ 1987782 h 6858000"/>
              <a:gd name="connsiteX205" fmla="*/ 9181190 w 12192000"/>
              <a:gd name="connsiteY205" fmla="*/ 1974586 h 6858000"/>
              <a:gd name="connsiteX206" fmla="*/ 9180252 w 12192000"/>
              <a:gd name="connsiteY206" fmla="*/ 1963164 h 6858000"/>
              <a:gd name="connsiteX207" fmla="*/ 9178804 w 12192000"/>
              <a:gd name="connsiteY207" fmla="*/ 1965349 h 6858000"/>
              <a:gd name="connsiteX208" fmla="*/ 9177606 w 12192000"/>
              <a:gd name="connsiteY208" fmla="*/ 1977215 h 6858000"/>
              <a:gd name="connsiteX209" fmla="*/ 9169614 w 12192000"/>
              <a:gd name="connsiteY209" fmla="*/ 1956030 h 6858000"/>
              <a:gd name="connsiteX210" fmla="*/ 9046406 w 12192000"/>
              <a:gd name="connsiteY210" fmla="*/ 1838718 h 6858000"/>
              <a:gd name="connsiteX211" fmla="*/ 8960873 w 12192000"/>
              <a:gd name="connsiteY211" fmla="*/ 1764524 h 6858000"/>
              <a:gd name="connsiteX212" fmla="*/ 8946755 w 12192000"/>
              <a:gd name="connsiteY212" fmla="*/ 1690806 h 6858000"/>
              <a:gd name="connsiteX213" fmla="*/ 8786897 w 12192000"/>
              <a:gd name="connsiteY213" fmla="*/ 1665607 h 6858000"/>
              <a:gd name="connsiteX214" fmla="*/ 8924505 w 12192000"/>
              <a:gd name="connsiteY214" fmla="*/ 1489227 h 6858000"/>
              <a:gd name="connsiteX215" fmla="*/ 8937122 w 12192000"/>
              <a:gd name="connsiteY215" fmla="*/ 1454681 h 6858000"/>
              <a:gd name="connsiteX216" fmla="*/ 8841119 w 12192000"/>
              <a:gd name="connsiteY216" fmla="*/ 1348202 h 6858000"/>
              <a:gd name="connsiteX217" fmla="*/ 8825548 w 12192000"/>
              <a:gd name="connsiteY217" fmla="*/ 1331028 h 6858000"/>
              <a:gd name="connsiteX218" fmla="*/ 8790413 w 12192000"/>
              <a:gd name="connsiteY218" fmla="*/ 1297436 h 6858000"/>
              <a:gd name="connsiteX219" fmla="*/ 8695944 w 12192000"/>
              <a:gd name="connsiteY219" fmla="*/ 1299752 h 6858000"/>
              <a:gd name="connsiteX220" fmla="*/ 8743050 w 12192000"/>
              <a:gd name="connsiteY220" fmla="*/ 1267471 h 6858000"/>
              <a:gd name="connsiteX221" fmla="*/ 8831902 w 12192000"/>
              <a:gd name="connsiteY221" fmla="*/ 1166250 h 6858000"/>
              <a:gd name="connsiteX222" fmla="*/ 8763628 w 12192000"/>
              <a:gd name="connsiteY222" fmla="*/ 1088084 h 6858000"/>
              <a:gd name="connsiteX223" fmla="*/ 8744052 w 12192000"/>
              <a:gd name="connsiteY223" fmla="*/ 1076766 h 6858000"/>
              <a:gd name="connsiteX224" fmla="*/ 8767977 w 12192000"/>
              <a:gd name="connsiteY224" fmla="*/ 1055883 h 6858000"/>
              <a:gd name="connsiteX225" fmla="*/ 8815418 w 12192000"/>
              <a:gd name="connsiteY225" fmla="*/ 986519 h 6858000"/>
              <a:gd name="connsiteX226" fmla="*/ 8839356 w 12192000"/>
              <a:gd name="connsiteY226" fmla="*/ 939330 h 6858000"/>
              <a:gd name="connsiteX227" fmla="*/ 8869964 w 12192000"/>
              <a:gd name="connsiteY227" fmla="*/ 917639 h 6858000"/>
              <a:gd name="connsiteX228" fmla="*/ 8876013 w 12192000"/>
              <a:gd name="connsiteY228" fmla="*/ 901606 h 6858000"/>
              <a:gd name="connsiteX229" fmla="*/ 8855230 w 12192000"/>
              <a:gd name="connsiteY229" fmla="*/ 828963 h 6858000"/>
              <a:gd name="connsiteX230" fmla="*/ 8844988 w 12192000"/>
              <a:gd name="connsiteY230" fmla="*/ 810876 h 6858000"/>
              <a:gd name="connsiteX231" fmla="*/ 8768255 w 12192000"/>
              <a:gd name="connsiteY231" fmla="*/ 747963 h 6858000"/>
              <a:gd name="connsiteX232" fmla="*/ 8692953 w 12192000"/>
              <a:gd name="connsiteY232" fmla="*/ 638707 h 6858000"/>
              <a:gd name="connsiteX233" fmla="*/ 8674423 w 12192000"/>
              <a:gd name="connsiteY233" fmla="*/ 564449 h 6858000"/>
              <a:gd name="connsiteX234" fmla="*/ 8667642 w 12192000"/>
              <a:gd name="connsiteY234" fmla="*/ 547822 h 6858000"/>
              <a:gd name="connsiteX235" fmla="*/ 8661198 w 12192000"/>
              <a:gd name="connsiteY235" fmla="*/ 478275 h 6858000"/>
              <a:gd name="connsiteX236" fmla="*/ 8645813 w 12192000"/>
              <a:gd name="connsiteY236" fmla="*/ 464032 h 6858000"/>
              <a:gd name="connsiteX237" fmla="*/ 8512338 w 12192000"/>
              <a:gd name="connsiteY237" fmla="*/ 477784 h 6858000"/>
              <a:gd name="connsiteX238" fmla="*/ 8481050 w 12192000"/>
              <a:gd name="connsiteY238" fmla="*/ 430572 h 6858000"/>
              <a:gd name="connsiteX239" fmla="*/ 8498220 w 12192000"/>
              <a:gd name="connsiteY239" fmla="*/ 404064 h 6858000"/>
              <a:gd name="connsiteX240" fmla="*/ 8489536 w 12192000"/>
              <a:gd name="connsiteY240" fmla="*/ 389280 h 6858000"/>
              <a:gd name="connsiteX241" fmla="*/ 0 w 12192000"/>
              <a:gd name="connsiteY241" fmla="*/ 0 h 6858000"/>
              <a:gd name="connsiteX242" fmla="*/ 12192000 w 12192000"/>
              <a:gd name="connsiteY242" fmla="*/ 0 h 6858000"/>
              <a:gd name="connsiteX243" fmla="*/ 12192000 w 12192000"/>
              <a:gd name="connsiteY243" fmla="*/ 6858000 h 6858000"/>
              <a:gd name="connsiteX244" fmla="*/ 0 w 12192000"/>
              <a:gd name="connsiteY2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</a:cxnLst>
            <a:rect l="l" t="t" r="r" b="b"/>
            <a:pathLst>
              <a:path w="12192000" h="6858000">
                <a:moveTo>
                  <a:pt x="9149158" y="2038490"/>
                </a:moveTo>
                <a:cubicBezTo>
                  <a:pt x="9152630" y="2038396"/>
                  <a:pt x="9157442" y="2039945"/>
                  <a:pt x="9164184" y="2044026"/>
                </a:cubicBezTo>
                <a:lnTo>
                  <a:pt x="9172532" y="2045543"/>
                </a:lnTo>
                <a:lnTo>
                  <a:pt x="9171580" y="2056997"/>
                </a:lnTo>
                <a:cubicBezTo>
                  <a:pt x="9169082" y="2082897"/>
                  <a:pt x="9165822" y="2102884"/>
                  <a:pt x="9161257" y="2098605"/>
                </a:cubicBezTo>
                <a:cubicBezTo>
                  <a:pt x="9149066" y="2086928"/>
                  <a:pt x="9130962" y="2077578"/>
                  <a:pt x="9138232" y="2059518"/>
                </a:cubicBezTo>
                <a:cubicBezTo>
                  <a:pt x="9140394" y="2053821"/>
                  <a:pt x="9138743" y="2038771"/>
                  <a:pt x="9149158" y="2038490"/>
                </a:cubicBezTo>
                <a:close/>
                <a:moveTo>
                  <a:pt x="9177606" y="1977215"/>
                </a:moveTo>
                <a:lnTo>
                  <a:pt x="9181592" y="1987782"/>
                </a:lnTo>
                <a:lnTo>
                  <a:pt x="9181923" y="1998627"/>
                </a:lnTo>
                <a:cubicBezTo>
                  <a:pt x="9182120" y="2008276"/>
                  <a:pt x="9182258" y="2019324"/>
                  <a:pt x="9182316" y="2031066"/>
                </a:cubicBezTo>
                <a:lnTo>
                  <a:pt x="9182278" y="2047313"/>
                </a:lnTo>
                <a:lnTo>
                  <a:pt x="9172532" y="2045543"/>
                </a:lnTo>
                <a:lnTo>
                  <a:pt x="9173842" y="2029805"/>
                </a:lnTo>
                <a:cubicBezTo>
                  <a:pt x="9175210" y="2011268"/>
                  <a:pt x="9176320" y="1992822"/>
                  <a:pt x="9177334" y="1979903"/>
                </a:cubicBezTo>
                <a:close/>
                <a:moveTo>
                  <a:pt x="3696300" y="1578900"/>
                </a:moveTo>
                <a:cubicBezTo>
                  <a:pt x="3710474" y="1584699"/>
                  <a:pt x="3724648" y="1590499"/>
                  <a:pt x="3738823" y="1596298"/>
                </a:cubicBezTo>
                <a:cubicBezTo>
                  <a:pt x="3731018" y="1595365"/>
                  <a:pt x="3722545" y="1594511"/>
                  <a:pt x="3714409" y="1593618"/>
                </a:cubicBezTo>
                <a:cubicBezTo>
                  <a:pt x="3707437" y="1589899"/>
                  <a:pt x="3700149" y="1586487"/>
                  <a:pt x="3693161" y="1582501"/>
                </a:cubicBezTo>
                <a:cubicBezTo>
                  <a:pt x="3694096" y="1581313"/>
                  <a:pt x="3695364" y="1580088"/>
                  <a:pt x="3696300" y="1578900"/>
                </a:cubicBezTo>
                <a:close/>
                <a:moveTo>
                  <a:pt x="3918454" y="1175387"/>
                </a:moveTo>
                <a:cubicBezTo>
                  <a:pt x="4003499" y="1210184"/>
                  <a:pt x="4088562" y="1245245"/>
                  <a:pt x="4173607" y="1280040"/>
                </a:cubicBezTo>
                <a:cubicBezTo>
                  <a:pt x="4172338" y="1281268"/>
                  <a:pt x="4171404" y="1282454"/>
                  <a:pt x="4170135" y="1283683"/>
                </a:cubicBezTo>
                <a:cubicBezTo>
                  <a:pt x="4077511" y="1256783"/>
                  <a:pt x="3989628" y="1225016"/>
                  <a:pt x="3918454" y="1175387"/>
                </a:cubicBezTo>
                <a:close/>
                <a:moveTo>
                  <a:pt x="8109090" y="602108"/>
                </a:moveTo>
                <a:lnTo>
                  <a:pt x="8113034" y="602645"/>
                </a:lnTo>
                <a:cubicBezTo>
                  <a:pt x="8117145" y="603257"/>
                  <a:pt x="8117456" y="603522"/>
                  <a:pt x="8111220" y="603405"/>
                </a:cubicBezTo>
                <a:close/>
                <a:moveTo>
                  <a:pt x="8489536" y="389280"/>
                </a:moveTo>
                <a:cubicBezTo>
                  <a:pt x="8479909" y="386150"/>
                  <a:pt x="8475270" y="392618"/>
                  <a:pt x="8470194" y="397527"/>
                </a:cubicBezTo>
                <a:cubicBezTo>
                  <a:pt x="8442581" y="423957"/>
                  <a:pt x="8407160" y="444085"/>
                  <a:pt x="8373511" y="465608"/>
                </a:cubicBezTo>
                <a:cubicBezTo>
                  <a:pt x="8325315" y="496678"/>
                  <a:pt x="8274262" y="525140"/>
                  <a:pt x="8231753" y="560890"/>
                </a:cubicBezTo>
                <a:cubicBezTo>
                  <a:pt x="8220884" y="569991"/>
                  <a:pt x="8202133" y="566357"/>
                  <a:pt x="8199967" y="553465"/>
                </a:cubicBezTo>
                <a:cubicBezTo>
                  <a:pt x="8197799" y="540575"/>
                  <a:pt x="8188778" y="541668"/>
                  <a:pt x="8175616" y="546483"/>
                </a:cubicBezTo>
                <a:cubicBezTo>
                  <a:pt x="8159813" y="552155"/>
                  <a:pt x="8144012" y="557828"/>
                  <a:pt x="8128578" y="563992"/>
                </a:cubicBezTo>
                <a:cubicBezTo>
                  <a:pt x="8112493" y="570503"/>
                  <a:pt x="8105752" y="580983"/>
                  <a:pt x="8104845" y="593172"/>
                </a:cubicBezTo>
                <a:cubicBezTo>
                  <a:pt x="8104654" y="595478"/>
                  <a:pt x="8104732" y="598018"/>
                  <a:pt x="8105615" y="599991"/>
                </a:cubicBezTo>
                <a:lnTo>
                  <a:pt x="8109090" y="602108"/>
                </a:lnTo>
                <a:lnTo>
                  <a:pt x="8092049" y="599788"/>
                </a:lnTo>
                <a:cubicBezTo>
                  <a:pt x="8074125" y="597229"/>
                  <a:pt x="8051995" y="593399"/>
                  <a:pt x="8047646" y="588557"/>
                </a:cubicBezTo>
                <a:cubicBezTo>
                  <a:pt x="8047278" y="588065"/>
                  <a:pt x="7852240" y="650342"/>
                  <a:pt x="7793637" y="681868"/>
                </a:cubicBezTo>
                <a:cubicBezTo>
                  <a:pt x="7757179" y="701583"/>
                  <a:pt x="7034011" y="1031296"/>
                  <a:pt x="6007741" y="1095470"/>
                </a:cubicBezTo>
                <a:cubicBezTo>
                  <a:pt x="5971519" y="1097710"/>
                  <a:pt x="5937353" y="1100506"/>
                  <a:pt x="5902533" y="1103650"/>
                </a:cubicBezTo>
                <a:cubicBezTo>
                  <a:pt x="5594429" y="1129961"/>
                  <a:pt x="5292360" y="1161179"/>
                  <a:pt x="5164222" y="1163546"/>
                </a:cubicBezTo>
                <a:cubicBezTo>
                  <a:pt x="5063988" y="1165217"/>
                  <a:pt x="4549164" y="1138992"/>
                  <a:pt x="4395075" y="1082763"/>
                </a:cubicBezTo>
                <a:cubicBezTo>
                  <a:pt x="4237527" y="1025076"/>
                  <a:pt x="4088158" y="958345"/>
                  <a:pt x="3939440" y="891265"/>
                </a:cubicBezTo>
                <a:cubicBezTo>
                  <a:pt x="3874968" y="862299"/>
                  <a:pt x="3806689" y="837016"/>
                  <a:pt x="3747894" y="801994"/>
                </a:cubicBezTo>
                <a:cubicBezTo>
                  <a:pt x="3689082" y="766706"/>
                  <a:pt x="3632839" y="729495"/>
                  <a:pt x="3569553" y="697970"/>
                </a:cubicBezTo>
                <a:cubicBezTo>
                  <a:pt x="3551464" y="688887"/>
                  <a:pt x="3533327" y="679005"/>
                  <a:pt x="3507813" y="680216"/>
                </a:cubicBezTo>
                <a:cubicBezTo>
                  <a:pt x="3502099" y="680371"/>
                  <a:pt x="3496101" y="681365"/>
                  <a:pt x="3490455" y="682587"/>
                </a:cubicBezTo>
                <a:cubicBezTo>
                  <a:pt x="3484140" y="683888"/>
                  <a:pt x="3479298" y="687159"/>
                  <a:pt x="3477246" y="691971"/>
                </a:cubicBezTo>
                <a:cubicBezTo>
                  <a:pt x="3475230" y="697315"/>
                  <a:pt x="3479426" y="699760"/>
                  <a:pt x="3484273" y="701857"/>
                </a:cubicBezTo>
                <a:cubicBezTo>
                  <a:pt x="3487733" y="703316"/>
                  <a:pt x="3491260" y="705843"/>
                  <a:pt x="3495638" y="705849"/>
                </a:cubicBezTo>
                <a:cubicBezTo>
                  <a:pt x="3523576" y="705686"/>
                  <a:pt x="3534967" y="720681"/>
                  <a:pt x="3548914" y="733487"/>
                </a:cubicBezTo>
                <a:cubicBezTo>
                  <a:pt x="3554984" y="738925"/>
                  <a:pt x="3561304" y="742991"/>
                  <a:pt x="3551504" y="753036"/>
                </a:cubicBezTo>
                <a:cubicBezTo>
                  <a:pt x="3542974" y="761854"/>
                  <a:pt x="3552584" y="764716"/>
                  <a:pt x="3562075" y="765715"/>
                </a:cubicBezTo>
                <a:cubicBezTo>
                  <a:pt x="3575293" y="767067"/>
                  <a:pt x="3590630" y="764672"/>
                  <a:pt x="3605942" y="772481"/>
                </a:cubicBezTo>
                <a:cubicBezTo>
                  <a:pt x="3550860" y="779958"/>
                  <a:pt x="3525860" y="757484"/>
                  <a:pt x="3499309" y="737079"/>
                </a:cubicBezTo>
                <a:cubicBezTo>
                  <a:pt x="3489410" y="729689"/>
                  <a:pt x="3482419" y="720334"/>
                  <a:pt x="3473788" y="711717"/>
                </a:cubicBezTo>
                <a:cubicBezTo>
                  <a:pt x="3463019" y="701211"/>
                  <a:pt x="3451290" y="702093"/>
                  <a:pt x="3437248" y="714263"/>
                </a:cubicBezTo>
                <a:cubicBezTo>
                  <a:pt x="3424810" y="725164"/>
                  <a:pt x="3418411" y="725135"/>
                  <a:pt x="3413254" y="712874"/>
                </a:cubicBezTo>
                <a:cubicBezTo>
                  <a:pt x="3405299" y="693706"/>
                  <a:pt x="3389031" y="681450"/>
                  <a:pt x="3362511" y="677414"/>
                </a:cubicBezTo>
                <a:cubicBezTo>
                  <a:pt x="3356728" y="676504"/>
                  <a:pt x="3349492" y="673891"/>
                  <a:pt x="3344467" y="679599"/>
                </a:cubicBezTo>
                <a:cubicBezTo>
                  <a:pt x="3340061" y="684428"/>
                  <a:pt x="3344392" y="689004"/>
                  <a:pt x="3347971" y="692328"/>
                </a:cubicBezTo>
                <a:cubicBezTo>
                  <a:pt x="3354407" y="698260"/>
                  <a:pt x="3360162" y="704004"/>
                  <a:pt x="3363008" y="711713"/>
                </a:cubicBezTo>
                <a:cubicBezTo>
                  <a:pt x="3365019" y="716838"/>
                  <a:pt x="3367062" y="722495"/>
                  <a:pt x="3362637" y="727058"/>
                </a:cubicBezTo>
                <a:cubicBezTo>
                  <a:pt x="3344342" y="746453"/>
                  <a:pt x="3358884" y="752745"/>
                  <a:pt x="3376167" y="759779"/>
                </a:cubicBezTo>
                <a:cubicBezTo>
                  <a:pt x="3400002" y="769239"/>
                  <a:pt x="3410177" y="786259"/>
                  <a:pt x="3406203" y="808483"/>
                </a:cubicBezTo>
                <a:cubicBezTo>
                  <a:pt x="3404757" y="817516"/>
                  <a:pt x="3406433" y="822682"/>
                  <a:pt x="3420116" y="820757"/>
                </a:cubicBezTo>
                <a:cubicBezTo>
                  <a:pt x="3425463" y="820110"/>
                  <a:pt x="3426984" y="822878"/>
                  <a:pt x="3429194" y="825831"/>
                </a:cubicBezTo>
                <a:cubicBezTo>
                  <a:pt x="3476758" y="896035"/>
                  <a:pt x="3542778" y="954609"/>
                  <a:pt x="3619149" y="1006561"/>
                </a:cubicBezTo>
                <a:cubicBezTo>
                  <a:pt x="3681093" y="1048718"/>
                  <a:pt x="3748746" y="1085351"/>
                  <a:pt x="3818654" y="1120369"/>
                </a:cubicBezTo>
                <a:cubicBezTo>
                  <a:pt x="3820742" y="1121458"/>
                  <a:pt x="3822850" y="1122813"/>
                  <a:pt x="3824021" y="1125355"/>
                </a:cubicBezTo>
                <a:cubicBezTo>
                  <a:pt x="3791940" y="1123873"/>
                  <a:pt x="3763844" y="1116270"/>
                  <a:pt x="3736668" y="1107215"/>
                </a:cubicBezTo>
                <a:cubicBezTo>
                  <a:pt x="3664431" y="1083216"/>
                  <a:pt x="3602610" y="1048291"/>
                  <a:pt x="3540174" y="1014247"/>
                </a:cubicBezTo>
                <a:cubicBezTo>
                  <a:pt x="3502142" y="993353"/>
                  <a:pt x="3463159" y="973379"/>
                  <a:pt x="3421640" y="955861"/>
                </a:cubicBezTo>
                <a:cubicBezTo>
                  <a:pt x="3414719" y="952940"/>
                  <a:pt x="3409737" y="948712"/>
                  <a:pt x="3404753" y="944484"/>
                </a:cubicBezTo>
                <a:cubicBezTo>
                  <a:pt x="3401911" y="942144"/>
                  <a:pt x="3398417" y="940152"/>
                  <a:pt x="3393138" y="941865"/>
                </a:cubicBezTo>
                <a:cubicBezTo>
                  <a:pt x="3386540" y="944006"/>
                  <a:pt x="3386126" y="948083"/>
                  <a:pt x="3385712" y="952159"/>
                </a:cubicBezTo>
                <a:cubicBezTo>
                  <a:pt x="3384520" y="965187"/>
                  <a:pt x="3389594" y="976116"/>
                  <a:pt x="3398641" y="986025"/>
                </a:cubicBezTo>
                <a:cubicBezTo>
                  <a:pt x="3422140" y="1011364"/>
                  <a:pt x="3455589" y="1029056"/>
                  <a:pt x="3489975" y="1045560"/>
                </a:cubicBezTo>
                <a:cubicBezTo>
                  <a:pt x="3534421" y="1066751"/>
                  <a:pt x="3577600" y="1089169"/>
                  <a:pt x="3617273" y="1114697"/>
                </a:cubicBezTo>
                <a:cubicBezTo>
                  <a:pt x="3620082" y="1116503"/>
                  <a:pt x="3625178" y="1117229"/>
                  <a:pt x="3623898" y="1123556"/>
                </a:cubicBezTo>
                <a:cubicBezTo>
                  <a:pt x="3599276" y="1112313"/>
                  <a:pt x="3576007" y="1101173"/>
                  <a:pt x="3552438" y="1090606"/>
                </a:cubicBezTo>
                <a:cubicBezTo>
                  <a:pt x="3529203" y="1079998"/>
                  <a:pt x="3505634" y="1069432"/>
                  <a:pt x="3482417" y="1059092"/>
                </a:cubicBezTo>
                <a:cubicBezTo>
                  <a:pt x="3476868" y="1056543"/>
                  <a:pt x="3470899" y="1052702"/>
                  <a:pt x="3463468" y="1057629"/>
                </a:cubicBezTo>
                <a:cubicBezTo>
                  <a:pt x="3455703" y="1062595"/>
                  <a:pt x="3457128" y="1069134"/>
                  <a:pt x="3459472" y="1074217"/>
                </a:cubicBezTo>
                <a:cubicBezTo>
                  <a:pt x="3466821" y="1089165"/>
                  <a:pt x="3478729" y="1101681"/>
                  <a:pt x="3494211" y="1112153"/>
                </a:cubicBezTo>
                <a:cubicBezTo>
                  <a:pt x="3546907" y="1146573"/>
                  <a:pt x="3606933" y="1174465"/>
                  <a:pt x="3663137" y="1205775"/>
                </a:cubicBezTo>
                <a:cubicBezTo>
                  <a:pt x="3693512" y="1222766"/>
                  <a:pt x="3721631" y="1241370"/>
                  <a:pt x="3748466" y="1260936"/>
                </a:cubicBezTo>
                <a:cubicBezTo>
                  <a:pt x="3754470" y="1265310"/>
                  <a:pt x="3754440" y="1270144"/>
                  <a:pt x="3753142" y="1276208"/>
                </a:cubicBezTo>
                <a:cubicBezTo>
                  <a:pt x="3747968" y="1300726"/>
                  <a:pt x="3758834" y="1307462"/>
                  <a:pt x="3791960" y="1298886"/>
                </a:cubicBezTo>
                <a:cubicBezTo>
                  <a:pt x="3802234" y="1296299"/>
                  <a:pt x="3809336" y="1296782"/>
                  <a:pt x="3816039" y="1301606"/>
                </a:cubicBezTo>
                <a:cubicBezTo>
                  <a:pt x="3897299" y="1361555"/>
                  <a:pt x="3991895" y="1408883"/>
                  <a:pt x="4094439" y="1448806"/>
                </a:cubicBezTo>
                <a:cubicBezTo>
                  <a:pt x="4136210" y="1464953"/>
                  <a:pt x="4179249" y="1479874"/>
                  <a:pt x="4222870" y="1493379"/>
                </a:cubicBezTo>
                <a:cubicBezTo>
                  <a:pt x="4222955" y="1494711"/>
                  <a:pt x="4223057" y="1496309"/>
                  <a:pt x="4223141" y="1497641"/>
                </a:cubicBezTo>
                <a:cubicBezTo>
                  <a:pt x="4222925" y="1499546"/>
                  <a:pt x="4222659" y="1500653"/>
                  <a:pt x="4222428" y="1502292"/>
                </a:cubicBezTo>
                <a:cubicBezTo>
                  <a:pt x="4160784" y="1480767"/>
                  <a:pt x="4099761" y="1458363"/>
                  <a:pt x="4039973" y="1434198"/>
                </a:cubicBezTo>
                <a:cubicBezTo>
                  <a:pt x="3877889" y="1368737"/>
                  <a:pt x="3722432" y="1296301"/>
                  <a:pt x="3564773" y="1226279"/>
                </a:cubicBezTo>
                <a:cubicBezTo>
                  <a:pt x="3511752" y="1202636"/>
                  <a:pt x="3468897" y="1169442"/>
                  <a:pt x="3420650" y="1141464"/>
                </a:cubicBezTo>
                <a:cubicBezTo>
                  <a:pt x="3388486" y="1122812"/>
                  <a:pt x="3357590" y="1102932"/>
                  <a:pt x="3320669" y="1088883"/>
                </a:cubicBezTo>
                <a:cubicBezTo>
                  <a:pt x="3305491" y="1083205"/>
                  <a:pt x="3289697" y="1078406"/>
                  <a:pt x="3270102" y="1082659"/>
                </a:cubicBezTo>
                <a:cubicBezTo>
                  <a:pt x="3262467" y="1084389"/>
                  <a:pt x="3253881" y="1087040"/>
                  <a:pt x="3251648" y="1094290"/>
                </a:cubicBezTo>
                <a:cubicBezTo>
                  <a:pt x="3249750" y="1101498"/>
                  <a:pt x="3256970" y="1103846"/>
                  <a:pt x="3263506" y="1106005"/>
                </a:cubicBezTo>
                <a:cubicBezTo>
                  <a:pt x="3265227" y="1106604"/>
                  <a:pt x="3266966" y="1107467"/>
                  <a:pt x="3268636" y="1107265"/>
                </a:cubicBezTo>
                <a:cubicBezTo>
                  <a:pt x="3300482" y="1105018"/>
                  <a:pt x="3309121" y="1124372"/>
                  <a:pt x="3325089" y="1137201"/>
                </a:cubicBezTo>
                <a:cubicBezTo>
                  <a:pt x="3330055" y="1141164"/>
                  <a:pt x="3330677" y="1145651"/>
                  <a:pt x="3326003" y="1151585"/>
                </a:cubicBezTo>
                <a:cubicBezTo>
                  <a:pt x="3317592" y="1162266"/>
                  <a:pt x="3324211" y="1165760"/>
                  <a:pt x="3336410" y="1166967"/>
                </a:cubicBezTo>
                <a:cubicBezTo>
                  <a:pt x="3348608" y="1168175"/>
                  <a:pt x="3361690" y="1167395"/>
                  <a:pt x="3375112" y="1171943"/>
                </a:cubicBezTo>
                <a:cubicBezTo>
                  <a:pt x="3354718" y="1179513"/>
                  <a:pt x="3340011" y="1175927"/>
                  <a:pt x="3326222" y="1170885"/>
                </a:cubicBezTo>
                <a:cubicBezTo>
                  <a:pt x="3295216" y="1159877"/>
                  <a:pt x="3274464" y="1140648"/>
                  <a:pt x="3254679" y="1120765"/>
                </a:cubicBezTo>
                <a:cubicBezTo>
                  <a:pt x="3250733" y="1116948"/>
                  <a:pt x="3247420" y="1112518"/>
                  <a:pt x="3242188" y="1109662"/>
                </a:cubicBezTo>
                <a:cubicBezTo>
                  <a:pt x="3232391" y="1103869"/>
                  <a:pt x="3222316" y="1104284"/>
                  <a:pt x="3211499" y="1114184"/>
                </a:cubicBezTo>
                <a:cubicBezTo>
                  <a:pt x="3197173" y="1127194"/>
                  <a:pt x="3191777" y="1127042"/>
                  <a:pt x="3185849" y="1113265"/>
                </a:cubicBezTo>
                <a:cubicBezTo>
                  <a:pt x="3177929" y="1094629"/>
                  <a:pt x="3162028" y="1082865"/>
                  <a:pt x="3135843" y="1078789"/>
                </a:cubicBezTo>
                <a:cubicBezTo>
                  <a:pt x="3130396" y="1077837"/>
                  <a:pt x="3124578" y="1076395"/>
                  <a:pt x="3119118" y="1080546"/>
                </a:cubicBezTo>
                <a:cubicBezTo>
                  <a:pt x="3113359" y="1085269"/>
                  <a:pt x="3117622" y="1088780"/>
                  <a:pt x="3120198" y="1092226"/>
                </a:cubicBezTo>
                <a:cubicBezTo>
                  <a:pt x="3123912" y="1097682"/>
                  <a:pt x="3128295" y="1103057"/>
                  <a:pt x="3131691" y="1108819"/>
                </a:cubicBezTo>
                <a:cubicBezTo>
                  <a:pt x="3137665" y="1118027"/>
                  <a:pt x="3139328" y="1128295"/>
                  <a:pt x="3129914" y="1139097"/>
                </a:cubicBezTo>
                <a:cubicBezTo>
                  <a:pt x="3123003" y="1146915"/>
                  <a:pt x="3123960" y="1151361"/>
                  <a:pt x="3133955" y="1154983"/>
                </a:cubicBezTo>
                <a:cubicBezTo>
                  <a:pt x="3165979" y="1166136"/>
                  <a:pt x="3186931" y="1183194"/>
                  <a:pt x="3178170" y="1214855"/>
                </a:cubicBezTo>
                <a:cubicBezTo>
                  <a:pt x="3176770" y="1219320"/>
                  <a:pt x="3179046" y="1223338"/>
                  <a:pt x="3185378" y="1222303"/>
                </a:cubicBezTo>
                <a:cubicBezTo>
                  <a:pt x="3199361" y="1219805"/>
                  <a:pt x="3202140" y="1226447"/>
                  <a:pt x="3206608" y="1233153"/>
                </a:cubicBezTo>
                <a:cubicBezTo>
                  <a:pt x="3250090" y="1297409"/>
                  <a:pt x="3310389" y="1350771"/>
                  <a:pt x="3379140" y="1399351"/>
                </a:cubicBezTo>
                <a:cubicBezTo>
                  <a:pt x="3447189" y="1447479"/>
                  <a:pt x="3522881" y="1488775"/>
                  <a:pt x="3603118" y="1527375"/>
                </a:cubicBezTo>
                <a:cubicBezTo>
                  <a:pt x="3581296" y="1528405"/>
                  <a:pt x="3552602" y="1521951"/>
                  <a:pt x="3524809" y="1513774"/>
                </a:cubicBezTo>
                <a:cubicBezTo>
                  <a:pt x="3451354" y="1491802"/>
                  <a:pt x="3389901" y="1457369"/>
                  <a:pt x="3327498" y="1423859"/>
                </a:cubicBezTo>
                <a:cubicBezTo>
                  <a:pt x="3283917" y="1400416"/>
                  <a:pt x="3241288" y="1376052"/>
                  <a:pt x="3192949" y="1357211"/>
                </a:cubicBezTo>
                <a:cubicBezTo>
                  <a:pt x="3187434" y="1355196"/>
                  <a:pt x="3183538" y="1352177"/>
                  <a:pt x="3180259" y="1348280"/>
                </a:cubicBezTo>
                <a:cubicBezTo>
                  <a:pt x="3177348" y="1344874"/>
                  <a:pt x="3173119" y="1341896"/>
                  <a:pt x="3166204" y="1344345"/>
                </a:cubicBezTo>
                <a:cubicBezTo>
                  <a:pt x="3159306" y="1347059"/>
                  <a:pt x="3158942" y="1351935"/>
                  <a:pt x="3159212" y="1356197"/>
                </a:cubicBezTo>
                <a:cubicBezTo>
                  <a:pt x="3161232" y="1372059"/>
                  <a:pt x="3167827" y="1385754"/>
                  <a:pt x="3181004" y="1397043"/>
                </a:cubicBezTo>
                <a:cubicBezTo>
                  <a:pt x="3206688" y="1419701"/>
                  <a:pt x="3240037" y="1435794"/>
                  <a:pt x="3273385" y="1451888"/>
                </a:cubicBezTo>
                <a:cubicBezTo>
                  <a:pt x="3319573" y="1473941"/>
                  <a:pt x="3362569" y="1498797"/>
                  <a:pt x="3401776" y="1527602"/>
                </a:cubicBezTo>
                <a:cubicBezTo>
                  <a:pt x="3374012" y="1514591"/>
                  <a:pt x="3346230" y="1501313"/>
                  <a:pt x="3318130" y="1488342"/>
                </a:cubicBezTo>
                <a:cubicBezTo>
                  <a:pt x="3296969" y="1478558"/>
                  <a:pt x="3275173" y="1469387"/>
                  <a:pt x="3253694" y="1459909"/>
                </a:cubicBezTo>
                <a:cubicBezTo>
                  <a:pt x="3248495" y="1457587"/>
                  <a:pt x="3242945" y="1455038"/>
                  <a:pt x="3236182" y="1459882"/>
                </a:cubicBezTo>
                <a:cubicBezTo>
                  <a:pt x="3230053" y="1464115"/>
                  <a:pt x="3231378" y="1469055"/>
                  <a:pt x="3233020" y="1473687"/>
                </a:cubicBezTo>
                <a:cubicBezTo>
                  <a:pt x="3239235" y="1491993"/>
                  <a:pt x="3254236" y="1505477"/>
                  <a:pt x="3272474" y="1516958"/>
                </a:cubicBezTo>
                <a:cubicBezTo>
                  <a:pt x="3294559" y="1530657"/>
                  <a:pt x="3317595" y="1543436"/>
                  <a:pt x="3341300" y="1556133"/>
                </a:cubicBezTo>
                <a:cubicBezTo>
                  <a:pt x="3316637" y="1554825"/>
                  <a:pt x="3291973" y="1553517"/>
                  <a:pt x="3267359" y="1553009"/>
                </a:cubicBezTo>
                <a:cubicBezTo>
                  <a:pt x="3280352" y="1582573"/>
                  <a:pt x="3306470" y="1585584"/>
                  <a:pt x="3329832" y="1587586"/>
                </a:cubicBezTo>
                <a:cubicBezTo>
                  <a:pt x="3361297" y="1589949"/>
                  <a:pt x="3391527" y="1594072"/>
                  <a:pt x="3421490" y="1599301"/>
                </a:cubicBezTo>
                <a:cubicBezTo>
                  <a:pt x="3434412" y="1606594"/>
                  <a:pt x="3447319" y="1613621"/>
                  <a:pt x="3459923" y="1621220"/>
                </a:cubicBezTo>
                <a:cubicBezTo>
                  <a:pt x="3472880" y="1629046"/>
                  <a:pt x="3485168" y="1636952"/>
                  <a:pt x="3497490" y="1645392"/>
                </a:cubicBezTo>
                <a:cubicBezTo>
                  <a:pt x="3506301" y="1651572"/>
                  <a:pt x="3516714" y="1656484"/>
                  <a:pt x="3507803" y="1669911"/>
                </a:cubicBezTo>
                <a:cubicBezTo>
                  <a:pt x="3503816" y="1676032"/>
                  <a:pt x="3534148" y="1702959"/>
                  <a:pt x="3543290" y="1703729"/>
                </a:cubicBezTo>
                <a:cubicBezTo>
                  <a:pt x="3544644" y="1703834"/>
                  <a:pt x="3545996" y="1703940"/>
                  <a:pt x="3546999" y="1703818"/>
                </a:cubicBezTo>
                <a:cubicBezTo>
                  <a:pt x="3566312" y="1700405"/>
                  <a:pt x="3571232" y="1708935"/>
                  <a:pt x="3572295" y="1720349"/>
                </a:cubicBezTo>
                <a:cubicBezTo>
                  <a:pt x="3573341" y="1731497"/>
                  <a:pt x="3570880" y="1745753"/>
                  <a:pt x="3596922" y="1736961"/>
                </a:cubicBezTo>
                <a:cubicBezTo>
                  <a:pt x="3599895" y="1736064"/>
                  <a:pt x="3600664" y="1737582"/>
                  <a:pt x="3602119" y="1739285"/>
                </a:cubicBezTo>
                <a:cubicBezTo>
                  <a:pt x="3633888" y="1783486"/>
                  <a:pt x="3684678" y="1814377"/>
                  <a:pt x="3734798" y="1845349"/>
                </a:cubicBezTo>
                <a:cubicBezTo>
                  <a:pt x="3737590" y="1846890"/>
                  <a:pt x="3740383" y="1848430"/>
                  <a:pt x="3743174" y="1849972"/>
                </a:cubicBezTo>
                <a:cubicBezTo>
                  <a:pt x="3692460" y="1846720"/>
                  <a:pt x="3526297" y="1854765"/>
                  <a:pt x="3478101" y="1864630"/>
                </a:cubicBezTo>
                <a:cubicBezTo>
                  <a:pt x="3435216" y="1873314"/>
                  <a:pt x="3187933" y="1844748"/>
                  <a:pt x="3135293" y="1816496"/>
                </a:cubicBezTo>
                <a:cubicBezTo>
                  <a:pt x="3129987" y="1844249"/>
                  <a:pt x="3145700" y="1853084"/>
                  <a:pt x="3158510" y="1863880"/>
                </a:cubicBezTo>
                <a:cubicBezTo>
                  <a:pt x="3176652" y="1879130"/>
                  <a:pt x="3180104" y="1891061"/>
                  <a:pt x="3148907" y="1908797"/>
                </a:cubicBezTo>
                <a:cubicBezTo>
                  <a:pt x="3059526" y="1959351"/>
                  <a:pt x="3060614" y="1960561"/>
                  <a:pt x="3150229" y="2003660"/>
                </a:cubicBezTo>
                <a:cubicBezTo>
                  <a:pt x="3154391" y="2005572"/>
                  <a:pt x="3152878" y="2013539"/>
                  <a:pt x="3154219" y="2018746"/>
                </a:cubicBezTo>
                <a:cubicBezTo>
                  <a:pt x="3132340" y="2029448"/>
                  <a:pt x="3104621" y="2011868"/>
                  <a:pt x="3079313" y="2037482"/>
                </a:cubicBezTo>
                <a:cubicBezTo>
                  <a:pt x="3200844" y="2121812"/>
                  <a:pt x="3382216" y="2194063"/>
                  <a:pt x="3545961" y="2248584"/>
                </a:cubicBezTo>
                <a:cubicBezTo>
                  <a:pt x="3418859" y="2288406"/>
                  <a:pt x="3336249" y="2212515"/>
                  <a:pt x="3242382" y="2234890"/>
                </a:cubicBezTo>
                <a:cubicBezTo>
                  <a:pt x="3196963" y="2267233"/>
                  <a:pt x="3340047" y="2293389"/>
                  <a:pt x="3206852" y="2322137"/>
                </a:cubicBezTo>
                <a:cubicBezTo>
                  <a:pt x="3266485" y="2338535"/>
                  <a:pt x="3311047" y="2356223"/>
                  <a:pt x="3352854" y="2378270"/>
                </a:cubicBezTo>
                <a:cubicBezTo>
                  <a:pt x="3427094" y="2417864"/>
                  <a:pt x="3443161" y="2448130"/>
                  <a:pt x="3414532" y="2516826"/>
                </a:cubicBezTo>
                <a:cubicBezTo>
                  <a:pt x="3395525" y="2562076"/>
                  <a:pt x="3366606" y="2605038"/>
                  <a:pt x="3397577" y="2652556"/>
                </a:cubicBezTo>
                <a:cubicBezTo>
                  <a:pt x="3418842" y="2685144"/>
                  <a:pt x="3412947" y="2708944"/>
                  <a:pt x="3339773" y="2701969"/>
                </a:cubicBezTo>
                <a:cubicBezTo>
                  <a:pt x="3260852" y="2694617"/>
                  <a:pt x="3233446" y="2729610"/>
                  <a:pt x="3257041" y="2788223"/>
                </a:cubicBezTo>
                <a:cubicBezTo>
                  <a:pt x="3272229" y="2825841"/>
                  <a:pt x="3259642" y="2839714"/>
                  <a:pt x="3205892" y="2841661"/>
                </a:cubicBezTo>
                <a:cubicBezTo>
                  <a:pt x="3146428" y="2843763"/>
                  <a:pt x="3088665" y="2824990"/>
                  <a:pt x="3016267" y="2846107"/>
                </a:cubicBezTo>
                <a:cubicBezTo>
                  <a:pt x="3079284" y="2910414"/>
                  <a:pt x="3202965" y="2875032"/>
                  <a:pt x="3275450" y="2934701"/>
                </a:cubicBezTo>
                <a:cubicBezTo>
                  <a:pt x="3194271" y="2944802"/>
                  <a:pt x="3132104" y="2952064"/>
                  <a:pt x="3071009" y="2944432"/>
                </a:cubicBezTo>
                <a:cubicBezTo>
                  <a:pt x="3045559" y="2941340"/>
                  <a:pt x="3017770" y="2938533"/>
                  <a:pt x="3005039" y="2960743"/>
                </a:cubicBezTo>
                <a:cubicBezTo>
                  <a:pt x="2989910" y="2987540"/>
                  <a:pt x="3024584" y="2992735"/>
                  <a:pt x="3045255" y="2994795"/>
                </a:cubicBezTo>
                <a:cubicBezTo>
                  <a:pt x="3103524" y="3000354"/>
                  <a:pt x="3149512" y="3024578"/>
                  <a:pt x="3198769" y="3041966"/>
                </a:cubicBezTo>
                <a:cubicBezTo>
                  <a:pt x="3306591" y="3080177"/>
                  <a:pt x="3424230" y="3108608"/>
                  <a:pt x="3518098" y="3181525"/>
                </a:cubicBezTo>
                <a:cubicBezTo>
                  <a:pt x="3405474" y="3173693"/>
                  <a:pt x="3319103" y="3133957"/>
                  <a:pt x="3214876" y="3136382"/>
                </a:cubicBezTo>
                <a:cubicBezTo>
                  <a:pt x="3309623" y="3201944"/>
                  <a:pt x="3428070" y="3237794"/>
                  <a:pt x="3540876" y="3280232"/>
                </a:cubicBezTo>
                <a:cubicBezTo>
                  <a:pt x="3572951" y="3292185"/>
                  <a:pt x="3605372" y="3298995"/>
                  <a:pt x="3614558" y="3332242"/>
                </a:cubicBezTo>
                <a:cubicBezTo>
                  <a:pt x="3632460" y="3396643"/>
                  <a:pt x="3676382" y="3446619"/>
                  <a:pt x="3765439" y="3465091"/>
                </a:cubicBezTo>
                <a:cubicBezTo>
                  <a:pt x="3766125" y="3465276"/>
                  <a:pt x="3762072" y="3475699"/>
                  <a:pt x="3759506" y="3482990"/>
                </a:cubicBezTo>
                <a:cubicBezTo>
                  <a:pt x="3706514" y="3491555"/>
                  <a:pt x="3662256" y="3457457"/>
                  <a:pt x="3594905" y="3478499"/>
                </a:cubicBezTo>
                <a:cubicBezTo>
                  <a:pt x="3663098" y="3523656"/>
                  <a:pt x="3720597" y="3564741"/>
                  <a:pt x="3814430" y="3578876"/>
                </a:cubicBezTo>
                <a:cubicBezTo>
                  <a:pt x="3889563" y="3590177"/>
                  <a:pt x="3981512" y="3590582"/>
                  <a:pt x="4039126" y="3649369"/>
                </a:cubicBezTo>
                <a:cubicBezTo>
                  <a:pt x="3977790" y="3669682"/>
                  <a:pt x="3930328" y="3659325"/>
                  <a:pt x="3883152" y="3653497"/>
                </a:cubicBezTo>
                <a:cubicBezTo>
                  <a:pt x="3810528" y="3644576"/>
                  <a:pt x="3739087" y="3633097"/>
                  <a:pt x="3666446" y="3623911"/>
                </a:cubicBezTo>
                <a:cubicBezTo>
                  <a:pt x="3638957" y="3620530"/>
                  <a:pt x="3608896" y="3619071"/>
                  <a:pt x="3593589" y="3653674"/>
                </a:cubicBezTo>
                <a:cubicBezTo>
                  <a:pt x="3684581" y="3649631"/>
                  <a:pt x="3741824" y="3686720"/>
                  <a:pt x="3801238" y="3720862"/>
                </a:cubicBezTo>
                <a:cubicBezTo>
                  <a:pt x="3834791" y="3740152"/>
                  <a:pt x="3862819" y="3767894"/>
                  <a:pt x="3919545" y="3749213"/>
                </a:cubicBezTo>
                <a:cubicBezTo>
                  <a:pt x="3949563" y="3739403"/>
                  <a:pt x="3970044" y="3754371"/>
                  <a:pt x="3968059" y="3776085"/>
                </a:cubicBezTo>
                <a:cubicBezTo>
                  <a:pt x="3961477" y="3852579"/>
                  <a:pt x="4033657" y="3870411"/>
                  <a:pt x="4107750" y="3875932"/>
                </a:cubicBezTo>
                <a:cubicBezTo>
                  <a:pt x="4247829" y="3886613"/>
                  <a:pt x="4367192" y="3936847"/>
                  <a:pt x="4504087" y="3955698"/>
                </a:cubicBezTo>
                <a:cubicBezTo>
                  <a:pt x="4637239" y="3973931"/>
                  <a:pt x="5630348" y="4013091"/>
                  <a:pt x="5880284" y="3998656"/>
                </a:cubicBezTo>
                <a:cubicBezTo>
                  <a:pt x="7409751" y="3910310"/>
                  <a:pt x="8457142" y="3018967"/>
                  <a:pt x="8461494" y="3007971"/>
                </a:cubicBezTo>
                <a:cubicBezTo>
                  <a:pt x="8481448" y="2956432"/>
                  <a:pt x="8537247" y="2928466"/>
                  <a:pt x="8587378" y="2896089"/>
                </a:cubicBezTo>
                <a:cubicBezTo>
                  <a:pt x="8631032" y="2867717"/>
                  <a:pt x="8677604" y="2837649"/>
                  <a:pt x="8693826" y="2796225"/>
                </a:cubicBezTo>
                <a:cubicBezTo>
                  <a:pt x="8715249" y="2741288"/>
                  <a:pt x="8647790" y="2792407"/>
                  <a:pt x="8633488" y="2774007"/>
                </a:cubicBezTo>
                <a:cubicBezTo>
                  <a:pt x="8658507" y="2743865"/>
                  <a:pt x="8698366" y="2714075"/>
                  <a:pt x="8707444" y="2682105"/>
                </a:cubicBezTo>
                <a:cubicBezTo>
                  <a:pt x="8739824" y="2566518"/>
                  <a:pt x="8819561" y="2475526"/>
                  <a:pt x="8942552" y="2397549"/>
                </a:cubicBezTo>
                <a:cubicBezTo>
                  <a:pt x="8977822" y="2375023"/>
                  <a:pt x="8999812" y="2339612"/>
                  <a:pt x="9049260" y="2328253"/>
                </a:cubicBezTo>
                <a:cubicBezTo>
                  <a:pt x="9159134" y="2303404"/>
                  <a:pt x="9118356" y="2218151"/>
                  <a:pt x="9174304" y="2171379"/>
                </a:cubicBezTo>
                <a:cubicBezTo>
                  <a:pt x="9179581" y="2166982"/>
                  <a:pt x="9181728" y="2117398"/>
                  <a:pt x="9182228" y="2067678"/>
                </a:cubicBezTo>
                <a:lnTo>
                  <a:pt x="9182278" y="2047313"/>
                </a:lnTo>
                <a:lnTo>
                  <a:pt x="9184334" y="2047686"/>
                </a:lnTo>
                <a:cubicBezTo>
                  <a:pt x="9192950" y="2042242"/>
                  <a:pt x="9192359" y="2022485"/>
                  <a:pt x="9185124" y="1997142"/>
                </a:cubicBezTo>
                <a:lnTo>
                  <a:pt x="9181592" y="1987782"/>
                </a:lnTo>
                <a:lnTo>
                  <a:pt x="9181190" y="1974586"/>
                </a:lnTo>
                <a:cubicBezTo>
                  <a:pt x="9180902" y="1968441"/>
                  <a:pt x="9180584" y="1964399"/>
                  <a:pt x="9180252" y="1963164"/>
                </a:cubicBezTo>
                <a:cubicBezTo>
                  <a:pt x="9179760" y="1961378"/>
                  <a:pt x="9179284" y="1962333"/>
                  <a:pt x="9178804" y="1965349"/>
                </a:cubicBezTo>
                <a:lnTo>
                  <a:pt x="9177606" y="1977215"/>
                </a:lnTo>
                <a:lnTo>
                  <a:pt x="9169614" y="1956030"/>
                </a:lnTo>
                <a:cubicBezTo>
                  <a:pt x="9143144" y="1898537"/>
                  <a:pt x="9095234" y="1836160"/>
                  <a:pt x="9046406" y="1838718"/>
                </a:cubicBezTo>
                <a:cubicBezTo>
                  <a:pt x="9077129" y="1760642"/>
                  <a:pt x="9077129" y="1760642"/>
                  <a:pt x="8960873" y="1764524"/>
                </a:cubicBezTo>
                <a:cubicBezTo>
                  <a:pt x="9002330" y="1712259"/>
                  <a:pt x="9001568" y="1700272"/>
                  <a:pt x="8946755" y="1690806"/>
                </a:cubicBezTo>
                <a:cubicBezTo>
                  <a:pt x="8893980" y="1681628"/>
                  <a:pt x="8836186" y="1683529"/>
                  <a:pt x="8786897" y="1665607"/>
                </a:cubicBezTo>
                <a:cubicBezTo>
                  <a:pt x="8827191" y="1600331"/>
                  <a:pt x="8835148" y="1529576"/>
                  <a:pt x="8924505" y="1489227"/>
                </a:cubicBezTo>
                <a:cubicBezTo>
                  <a:pt x="8938584" y="1482958"/>
                  <a:pt x="8947122" y="1463671"/>
                  <a:pt x="8937122" y="1454681"/>
                </a:cubicBezTo>
                <a:cubicBezTo>
                  <a:pt x="8901654" y="1421129"/>
                  <a:pt x="8944526" y="1343460"/>
                  <a:pt x="8841119" y="1348202"/>
                </a:cubicBezTo>
                <a:cubicBezTo>
                  <a:pt x="8828354" y="1348673"/>
                  <a:pt x="8816185" y="1342631"/>
                  <a:pt x="8825548" y="1331028"/>
                </a:cubicBezTo>
                <a:cubicBezTo>
                  <a:pt x="8857711" y="1291432"/>
                  <a:pt x="8816096" y="1298887"/>
                  <a:pt x="8790413" y="1297436"/>
                </a:cubicBezTo>
                <a:cubicBezTo>
                  <a:pt x="8759333" y="1295832"/>
                  <a:pt x="8725565" y="1315490"/>
                  <a:pt x="8695944" y="1299752"/>
                </a:cubicBezTo>
                <a:cubicBezTo>
                  <a:pt x="8701338" y="1278697"/>
                  <a:pt x="8726082" y="1275968"/>
                  <a:pt x="8743050" y="1267471"/>
                </a:cubicBezTo>
                <a:cubicBezTo>
                  <a:pt x="8792636" y="1242406"/>
                  <a:pt x="8832648" y="1215014"/>
                  <a:pt x="8831902" y="1166250"/>
                </a:cubicBezTo>
                <a:cubicBezTo>
                  <a:pt x="8831416" y="1126849"/>
                  <a:pt x="8834560" y="1091573"/>
                  <a:pt x="8763628" y="1088084"/>
                </a:cubicBezTo>
                <a:cubicBezTo>
                  <a:pt x="8752484" y="1087556"/>
                  <a:pt x="8746480" y="1083182"/>
                  <a:pt x="8744052" y="1076766"/>
                </a:cubicBezTo>
                <a:cubicBezTo>
                  <a:pt x="8751664" y="1069402"/>
                  <a:pt x="8758926" y="1061811"/>
                  <a:pt x="8767977" y="1055883"/>
                </a:cubicBezTo>
                <a:cubicBezTo>
                  <a:pt x="8798386" y="1036363"/>
                  <a:pt x="8807604" y="1011893"/>
                  <a:pt x="8815418" y="986519"/>
                </a:cubicBezTo>
                <a:cubicBezTo>
                  <a:pt x="8820450" y="970342"/>
                  <a:pt x="8826500" y="954308"/>
                  <a:pt x="8839356" y="939330"/>
                </a:cubicBezTo>
                <a:cubicBezTo>
                  <a:pt x="8847184" y="930060"/>
                  <a:pt x="8857152" y="922680"/>
                  <a:pt x="8869964" y="917639"/>
                </a:cubicBezTo>
                <a:cubicBezTo>
                  <a:pt x="8881119" y="913066"/>
                  <a:pt x="8884190" y="908399"/>
                  <a:pt x="8876013" y="901606"/>
                </a:cubicBezTo>
                <a:cubicBezTo>
                  <a:pt x="8852888" y="882126"/>
                  <a:pt x="8842659" y="858937"/>
                  <a:pt x="8855230" y="828963"/>
                </a:cubicBezTo>
                <a:cubicBezTo>
                  <a:pt x="8859032" y="819911"/>
                  <a:pt x="8855550" y="812818"/>
                  <a:pt x="8844988" y="810876"/>
                </a:cubicBezTo>
                <a:cubicBezTo>
                  <a:pt x="8801020" y="802512"/>
                  <a:pt x="8788328" y="772374"/>
                  <a:pt x="8768255" y="747963"/>
                </a:cubicBezTo>
                <a:cubicBezTo>
                  <a:pt x="8739786" y="713294"/>
                  <a:pt x="8713605" y="677543"/>
                  <a:pt x="8692953" y="638707"/>
                </a:cubicBezTo>
                <a:cubicBezTo>
                  <a:pt x="8680700" y="615495"/>
                  <a:pt x="8668800" y="592509"/>
                  <a:pt x="8674423" y="564449"/>
                </a:cubicBezTo>
                <a:cubicBezTo>
                  <a:pt x="8675670" y="557588"/>
                  <a:pt x="8672308" y="552358"/>
                  <a:pt x="8667642" y="547822"/>
                </a:cubicBezTo>
                <a:cubicBezTo>
                  <a:pt x="8647856" y="527939"/>
                  <a:pt x="8648704" y="504214"/>
                  <a:pt x="8661198" y="478275"/>
                </a:cubicBezTo>
                <a:cubicBezTo>
                  <a:pt x="8668953" y="462573"/>
                  <a:pt x="8667832" y="460828"/>
                  <a:pt x="8645813" y="464032"/>
                </a:cubicBezTo>
                <a:cubicBezTo>
                  <a:pt x="8601088" y="470255"/>
                  <a:pt x="8556732" y="476969"/>
                  <a:pt x="8512338" y="477784"/>
                </a:cubicBezTo>
                <a:cubicBezTo>
                  <a:pt x="8462562" y="478712"/>
                  <a:pt x="8445778" y="468934"/>
                  <a:pt x="8481050" y="430572"/>
                </a:cubicBezTo>
                <a:cubicBezTo>
                  <a:pt x="8488612" y="422408"/>
                  <a:pt x="8495122" y="413567"/>
                  <a:pt x="8498220" y="404064"/>
                </a:cubicBezTo>
                <a:cubicBezTo>
                  <a:pt x="8500436" y="396549"/>
                  <a:pt x="8497776" y="391771"/>
                  <a:pt x="8489536" y="38928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39FF9A43-766D-DEF6-3E80-064A5900A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596" y="2062224"/>
            <a:ext cx="3217333" cy="7802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F32CA0-6A08-D916-6B6A-3F80E5EB4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9521" y="290173"/>
            <a:ext cx="1759040" cy="8826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E3B384-57CC-BCAA-6E91-0593AD53EF42}"/>
              </a:ext>
            </a:extLst>
          </p:cNvPr>
          <p:cNvSpPr txBox="1"/>
          <p:nvPr/>
        </p:nvSpPr>
        <p:spPr>
          <a:xfrm>
            <a:off x="2054942" y="3942735"/>
            <a:ext cx="81607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Partnership Journey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944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2DA073-5AC8-AE49-C853-1D33F9C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417025C-24EE-C117-5293-2381CC8D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E3E8EB-454D-CD62-09B4-9A56577F8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193" y="5010451"/>
            <a:ext cx="5043225" cy="89996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fontAlgn="base">
              <a:spcBef>
                <a:spcPts val="0"/>
              </a:spcBef>
              <a:defRPr/>
            </a:pPr>
            <a:r>
              <a:rPr lang="en-US" sz="5600" kern="1200">
                <a:latin typeface="+mj-lt"/>
                <a:ea typeface="+mj-ea"/>
                <a:cs typeface="+mj-cs"/>
              </a:rPr>
              <a:t>Next</a:t>
            </a:r>
            <a:r>
              <a:rPr lang="en-US" sz="5600"/>
              <a:t>-Gen Cyber Security </a:t>
            </a:r>
            <a:br>
              <a:rPr lang="en-US" sz="5600" kern="1200"/>
            </a:b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Offer Development </a:t>
            </a:r>
            <a:br>
              <a:rPr lang="en-US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br>
              <a:rPr lang="en-US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br>
              <a:rPr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</a:t>
            </a:r>
            <a:r>
              <a:rPr lang="en-US" sz="1800">
                <a:latin typeface="Aptos" panose="02110004020202020204"/>
                <a:ea typeface="+mn-ea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yber Security standards </a:t>
            </a:r>
            <a:r>
              <a:rPr lang="en-US" sz="1800">
                <a:latin typeface="Aptos" panose="02110004020202020204"/>
                <a:ea typeface="+mn-ea"/>
                <a:cs typeface="+mn-cs"/>
              </a:rPr>
              <a:t>bodies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(NIST, </a:t>
            </a:r>
            <a:r>
              <a:rPr lang="en-US" sz="1800">
                <a:latin typeface="Aptos" panose="02110004020202020204"/>
                <a:ea typeface="+mn-ea"/>
                <a:cs typeface="+mn-cs"/>
              </a:rPr>
              <a:t>DEFEND, MITRE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CCO …) modeled into an o</a:t>
            </a:r>
            <a:r>
              <a:rPr lang="en-US" sz="1800">
                <a:latin typeface="Aptos" panose="02110004020202020204"/>
                <a:ea typeface="+mn-ea"/>
                <a:cs typeface="+mn-cs"/>
              </a:rPr>
              <a:t>ntological representation (Ryan).  </a:t>
            </a:r>
            <a:br>
              <a:rPr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- Extend and map data for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GraphRAG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 demonstration </a:t>
            </a:r>
            <a:r>
              <a:rPr lang="en-US" sz="1800">
                <a:latin typeface="Aptos"/>
                <a:ea typeface="+mn-ea"/>
                <a:cs typeface="+mn-cs"/>
              </a:rPr>
              <a:t>of the inner workings for query generation 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(Jans)</a:t>
            </a:r>
            <a:r>
              <a:rPr lang="en-US" sz="1800">
                <a:solidFill>
                  <a:prstClr val="black">
                    <a:alpha val="80000"/>
                  </a:prstClr>
                </a:solidFill>
                <a:latin typeface="Aptos"/>
                <a:ea typeface="+mn-ea"/>
                <a:cs typeface="+mn-cs"/>
              </a:rPr>
              <a:t> </a:t>
            </a:r>
            <a:br>
              <a:rPr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</a:br>
            <a:r>
              <a:rPr lang="en-US" sz="1800">
                <a:solidFill>
                  <a:prstClr val="black">
                    <a:alpha val="80000"/>
                  </a:prstClr>
                </a:solidFill>
                <a:latin typeface="Aptos"/>
                <a:ea typeface="+mn-ea"/>
                <a:cs typeface="+mn-cs"/>
              </a:rPr>
              <a:t>- </a:t>
            </a:r>
            <a:r>
              <a:rPr lang="en-US" sz="1800">
                <a:solidFill>
                  <a:srgbClr val="000000"/>
                </a:solidFill>
                <a:latin typeface="Aptos"/>
                <a:ea typeface="+mn-ea"/>
                <a:cs typeface="+mn-cs"/>
              </a:rPr>
              <a:t>Specific scoping, milestone, and level of effort - TBD</a:t>
            </a:r>
            <a:br>
              <a:rPr lang="en-US" sz="1800">
                <a:solidFill>
                  <a:srgbClr val="000000"/>
                </a:solidFill>
                <a:latin typeface="Aptos"/>
                <a:ea typeface="+mn-ea"/>
                <a:cs typeface="+mn-cs"/>
              </a:rPr>
            </a:br>
            <a:r>
              <a:rPr lang="en-US" sz="1800">
                <a:solidFill>
                  <a:srgbClr val="000000"/>
                </a:solidFill>
                <a:latin typeface="Aptos"/>
                <a:ea typeface="+mn-ea"/>
                <a:cs typeface="+mn-cs"/>
              </a:rPr>
              <a:t>- INTENT - Delivers value within a 3-month period with a goal of achieving an expedient executive win</a:t>
            </a:r>
            <a:br>
              <a:rPr lang="en-US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</a:br>
            <a:br>
              <a:rPr lang="en-US" sz="1800">
                <a:latin typeface="Aptos" panose="020B0004020202020204" pitchFamily="34" charset="0"/>
                <a:ea typeface="+mn-ea"/>
                <a:cs typeface="+mn-cs"/>
              </a:rPr>
            </a:br>
            <a:endParaRPr lang="en-US" sz="1800" kern="120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06139CB-A2A3-AB65-A234-F125889E0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906628"/>
            <a:ext cx="0" cy="5942494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7995DD-81D9-DAAD-4F1E-B1599D200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1620" y="635895"/>
            <a:ext cx="492251" cy="851541"/>
            <a:chOff x="5661620" y="635895"/>
            <a:chExt cx="492251" cy="851541"/>
          </a:xfrm>
        </p:grpSpPr>
        <p:sp>
          <p:nvSpPr>
            <p:cNvPr id="26" name="Graphic 11">
              <a:extLst>
                <a:ext uri="{FF2B5EF4-FFF2-40B4-BE49-F238E27FC236}">
                  <a16:creationId xmlns:a16="http://schemas.microsoft.com/office/drawing/2014/main" id="{F38F108E-2EEA-06F9-1A2A-C4552126C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661620" y="635895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10">
              <a:extLst>
                <a:ext uri="{FF2B5EF4-FFF2-40B4-BE49-F238E27FC236}">
                  <a16:creationId xmlns:a16="http://schemas.microsoft.com/office/drawing/2014/main" id="{5FD9C47E-BE13-938E-A622-0CD008403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2733" y="76951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2">
              <a:extLst>
                <a:ext uri="{FF2B5EF4-FFF2-40B4-BE49-F238E27FC236}">
                  <a16:creationId xmlns:a16="http://schemas.microsoft.com/office/drawing/2014/main" id="{AE1E099A-8BFE-B6F0-EB46-8EC44DA048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41870" y="1359722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0F15633-31D3-D063-0692-A8F29596B20C}"/>
              </a:ext>
            </a:extLst>
          </p:cNvPr>
          <p:cNvSpPr txBox="1"/>
          <p:nvPr/>
        </p:nvSpPr>
        <p:spPr>
          <a:xfrm>
            <a:off x="6155646" y="1478308"/>
            <a:ext cx="5497633" cy="50115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fontAlgn="base">
              <a:lnSpc>
                <a:spcPct val="90000"/>
              </a:lnSpc>
            </a:pPr>
            <a:r>
              <a:rPr lang="en-US" sz="2000" b="1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Outcomes to date …</a:t>
            </a:r>
          </a:p>
          <a:p>
            <a:pPr fontAlgn="base">
              <a:lnSpc>
                <a:spcPct val="90000"/>
              </a:lnSpc>
            </a:pPr>
            <a:endParaRPr lang="en-US" sz="2000" b="1" i="0" u="none" strike="noStrike"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marL="742950" lvl="1"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0" i="0" u="none" strike="noStrike">
                <a:effectLst/>
              </a:rPr>
              <a:t>Demo - LinkedIn streaming series video explaining the challenge, use of ontology models coupled with standards, and embedding of NLP and </a:t>
            </a:r>
            <a:r>
              <a:rPr lang="en-US" sz="1700" b="0" i="0" u="none" strike="noStrike" err="1">
                <a:effectLst/>
              </a:rPr>
              <a:t>GraphRAG</a:t>
            </a:r>
            <a:r>
              <a:rPr lang="en-US" sz="1700" b="0" i="0" u="none" strike="noStrike">
                <a:effectLst/>
              </a:rPr>
              <a:t> capabilities</a:t>
            </a:r>
            <a:endParaRPr lang="en-US" sz="1700" b="1" i="0" u="none" strike="noStrike">
              <a:effectLst/>
            </a:endParaRPr>
          </a:p>
          <a:p>
            <a:pPr marL="742950" lvl="1"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0" i="0" u="none" strike="noStrike">
                <a:effectLst/>
              </a:rPr>
              <a:t>Promotional via a </a:t>
            </a:r>
            <a:r>
              <a:rPr lang="en-US" sz="1700" b="0" i="0" u="none" strike="noStrike" err="1">
                <a:effectLst/>
              </a:rPr>
              <a:t>T</a:t>
            </a:r>
            <a:r>
              <a:rPr lang="en-US" sz="1700" err="1"/>
              <a:t>icTok</a:t>
            </a:r>
            <a:r>
              <a:rPr lang="en-US" sz="1700"/>
              <a:t> style, 3-minute video entry at KGC 2025</a:t>
            </a:r>
          </a:p>
          <a:p>
            <a:pPr marL="742950" lvl="1"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400" b="0" i="0" u="none" strike="noStrike"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marL="57150" fontAlgn="base">
              <a:lnSpc>
                <a:spcPct val="90000"/>
              </a:lnSpc>
              <a:spcAft>
                <a:spcPts val="800"/>
              </a:spcAft>
            </a:pPr>
            <a:r>
              <a:rPr lang="en-US" sz="2000" b="1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Next steps:</a:t>
            </a:r>
            <a:r>
              <a:rPr lang="en-US" sz="2000" b="0" i="0" u="none" strike="noStrike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600" b="0" i="0" u="none" strike="noStrike">
                <a:effectLst/>
              </a:rPr>
              <a:t>More thought and analysis on </a:t>
            </a:r>
            <a:r>
              <a:rPr lang="en-US" sz="1600"/>
              <a:t>s</a:t>
            </a:r>
            <a:r>
              <a:rPr lang="en-US" sz="1600" b="0" i="0" u="none" strike="noStrike">
                <a:effectLst/>
              </a:rPr>
              <a:t>cope of work, Franz &amp; SA contributions, proposal inputs and solution outputs, client expectations, and pricing for a time boxed, prescriptive offering</a:t>
            </a:r>
          </a:p>
          <a:p>
            <a:pPr marL="57150" fontAlgn="base">
              <a:lnSpc>
                <a:spcPct val="90000"/>
              </a:lnSpc>
              <a:spcAft>
                <a:spcPts val="800"/>
              </a:spcAft>
            </a:pPr>
            <a:r>
              <a:rPr lang="en-US" sz="1600"/>
              <a:t>Deeper discussion with FBI, DIOWG, John Beverly, and other security communities of interest to capture alignment in addressing a targeted security challenge with a tightly scoped offering. </a:t>
            </a: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 </a:t>
            </a:r>
            <a:endParaRPr lang="en-US" sz="1400" b="0" i="0" u="none" strike="noStrike"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fontAlgn="base">
              <a:lnSpc>
                <a:spcPct val="90000"/>
              </a:lnSpc>
            </a:pPr>
            <a:br>
              <a:rPr lang="en-US" sz="1300" b="0">
                <a:effectLst/>
              </a:rPr>
            </a:br>
            <a:endParaRPr lang="en-US" sz="1300" b="0" i="0" u="none" strike="noStrike">
              <a:solidFill>
                <a:schemeClr val="tx1">
                  <a:alpha val="80000"/>
                </a:schemeClr>
              </a:solidFill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AF5A81-6BCD-5928-F845-188A3D088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9521" y="290173"/>
            <a:ext cx="1759040" cy="8826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C998BF-E4B1-E3CB-4AA0-68127625F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980" y="583532"/>
            <a:ext cx="3712370" cy="89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267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06F7E-572B-2DC5-7B9D-D4473D41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Joaquin for more on Marketing Execution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643FA9-AF31-B24B-DEF6-B5B8D115E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9521" y="290173"/>
            <a:ext cx="1759040" cy="88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57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B6E12-4CF8-109D-05CF-A763EED7B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Assertion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59251-DF1E-761A-7D86-0EC719848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Formal partnerships with Tool and Graph Vendors:</a:t>
            </a:r>
          </a:p>
          <a:p>
            <a:pPr marL="514350" indent="-514350">
              <a:buAutoNum type="arabicPeriod"/>
            </a:pPr>
            <a:r>
              <a:rPr lang="en-US"/>
              <a:t>Bundle proven solutions for faster sales.​</a:t>
            </a:r>
          </a:p>
          <a:p>
            <a:pPr marL="514350" indent="-514350">
              <a:buAutoNum type="arabicPeriod"/>
            </a:pPr>
            <a:r>
              <a:rPr lang="en-US"/>
              <a:t>Tap into partner marketing and sales channels.</a:t>
            </a:r>
          </a:p>
          <a:p>
            <a:pPr marL="514350" indent="-514350">
              <a:buAutoNum type="arabicPeriod"/>
            </a:pPr>
            <a:r>
              <a:rPr lang="en-US"/>
              <a:t>Unlock targeted customer pipelines for specific industries or use cases</a:t>
            </a:r>
          </a:p>
        </p:txBody>
      </p:sp>
    </p:spTree>
    <p:extLst>
      <p:ext uri="{BB962C8B-B14F-4D97-AF65-F5344CB8AC3E}">
        <p14:creationId xmlns:p14="http://schemas.microsoft.com/office/powerpoint/2010/main" val="1945504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577FE-6F36-B63C-68D5-81A3C723F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665C4-4D9B-4F4F-6C0C-7E5BB9256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does a Pipeline Typically Look Like?</a:t>
            </a:r>
          </a:p>
        </p:txBody>
      </p:sp>
      <p:pic>
        <p:nvPicPr>
          <p:cNvPr id="6" name="Content Placeholder 5" descr="The 5 Main Types of Oil and Gas Pipelines [And Their Purposes]">
            <a:extLst>
              <a:ext uri="{FF2B5EF4-FFF2-40B4-BE49-F238E27FC236}">
                <a16:creationId xmlns:a16="http://schemas.microsoft.com/office/drawing/2014/main" id="{E448EAC8-8D1C-2ACE-FB7F-2E768F4AAE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8671" y="1825625"/>
            <a:ext cx="8314658" cy="4351338"/>
          </a:xfrm>
        </p:spPr>
      </p:pic>
    </p:spTree>
    <p:extLst>
      <p:ext uri="{BB962C8B-B14F-4D97-AF65-F5344CB8AC3E}">
        <p14:creationId xmlns:p14="http://schemas.microsoft.com/office/powerpoint/2010/main" val="682643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7D481-C048-3E2F-868A-2E8F8C5E3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E8F99-EDAD-BF11-D76B-A09E8A7C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the Relationship between </a:t>
            </a:r>
            <a:br>
              <a:rPr lang="en-US"/>
            </a:br>
            <a:r>
              <a:rPr lang="en-US"/>
              <a:t>Marketing and Sales?</a:t>
            </a:r>
          </a:p>
        </p:txBody>
      </p:sp>
      <p:pic>
        <p:nvPicPr>
          <p:cNvPr id="5" name="Content Placeholder 4" descr="Downpipes and Hoppers Hayling Island, Hampshire Guttercare UK">
            <a:extLst>
              <a:ext uri="{FF2B5EF4-FFF2-40B4-BE49-F238E27FC236}">
                <a16:creationId xmlns:a16="http://schemas.microsoft.com/office/drawing/2014/main" id="{EF61806E-6BE2-6109-1BFA-4CCE01DB71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239" b="4279"/>
          <a:stretch/>
        </p:blipFill>
        <p:spPr>
          <a:xfrm>
            <a:off x="2145926" y="1695684"/>
            <a:ext cx="7900146" cy="5141425"/>
          </a:xfrm>
        </p:spPr>
      </p:pic>
    </p:spTree>
    <p:extLst>
      <p:ext uri="{BB962C8B-B14F-4D97-AF65-F5344CB8AC3E}">
        <p14:creationId xmlns:p14="http://schemas.microsoft.com/office/powerpoint/2010/main" val="3489983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BC57C-4E76-8C5D-318D-3A214ED1D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B2497-5E63-A796-BD9C-B0CF4AF06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does a Marketing Funnel Look Like?</a:t>
            </a:r>
          </a:p>
        </p:txBody>
      </p:sp>
      <p:pic>
        <p:nvPicPr>
          <p:cNvPr id="6" name="Content Placeholder 5" descr="How Do Marketing Funnel Stages Work? | Pipedrive">
            <a:extLst>
              <a:ext uri="{FF2B5EF4-FFF2-40B4-BE49-F238E27FC236}">
                <a16:creationId xmlns:a16="http://schemas.microsoft.com/office/drawing/2014/main" id="{2FBAD660-8036-2C12-9502-9E4DB644D4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0078" y="1825625"/>
            <a:ext cx="7731844" cy="4351338"/>
          </a:xfrm>
        </p:spPr>
      </p:pic>
    </p:spTree>
    <p:extLst>
      <p:ext uri="{BB962C8B-B14F-4D97-AF65-F5344CB8AC3E}">
        <p14:creationId xmlns:p14="http://schemas.microsoft.com/office/powerpoint/2010/main" val="1132402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96288-AE08-38AA-5276-7E959DE73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83EA8-713F-2267-489A-689B1D3C8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does a Sales Pipeline Look Like?</a:t>
            </a:r>
          </a:p>
        </p:txBody>
      </p:sp>
      <p:pic>
        <p:nvPicPr>
          <p:cNvPr id="5" name="Content Placeholder 4" descr="A line of colorful tubes with text&#10;&#10;AI-generated content may be incorrect.">
            <a:extLst>
              <a:ext uri="{FF2B5EF4-FFF2-40B4-BE49-F238E27FC236}">
                <a16:creationId xmlns:a16="http://schemas.microsoft.com/office/drawing/2014/main" id="{34FA3C55-CABD-00D1-5934-51D8F20197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3939" y="1692868"/>
            <a:ext cx="9336424" cy="4262792"/>
          </a:xfrm>
        </p:spPr>
      </p:pic>
    </p:spTree>
    <p:extLst>
      <p:ext uri="{BB962C8B-B14F-4D97-AF65-F5344CB8AC3E}">
        <p14:creationId xmlns:p14="http://schemas.microsoft.com/office/powerpoint/2010/main" val="2195180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D30C8-8D75-448C-3FE6-A8DF7F9EE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D9B7B-19DD-ABE9-C7F2-8623BD082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does Our Sales Pipeline Look Like?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3502618-A5A7-D799-26A4-A8FEBA5196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283972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96345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807148F-A31E-849D-1E4E-290A1B4CC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A90A2-3009-5562-C2BA-337757A79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Warm Lead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25E0C27-9BA2-534A-F40E-8772B16A0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DEFINITION: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We have captured the contact and expressed desire to engage via an email or form.</a:t>
            </a:r>
            <a:br>
              <a:rPr lang="en-US">
                <a:ea typeface="+mn-lt"/>
                <a:cs typeface="+mn-lt"/>
              </a:rPr>
            </a:b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PRIORITY: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Education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Filtering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19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2341A2C-3FF1-CF53-D203-9335B75E1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01357-E09D-6AC1-413A-808DDBBC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Sponsor Identified</a:t>
            </a:r>
          </a:p>
        </p:txBody>
      </p:sp>
      <p:sp>
        <p:nvSpPr>
          <p:cNvPr id="53" name="Content Placeholder 52">
            <a:extLst>
              <a:ext uri="{FF2B5EF4-FFF2-40B4-BE49-F238E27FC236}">
                <a16:creationId xmlns:a16="http://schemas.microsoft.com/office/drawing/2014/main" id="{A6CDF97C-FFB5-BE0C-C206-D0BAFFBF5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DEFINITION: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We need to find the person with money who can cut a check. It’s not a quick process to get to identify a sponsor. There are still conversations around solutions here, including:</a:t>
            </a:r>
          </a:p>
          <a:p>
            <a:pPr marL="457200" indent="-457200"/>
            <a:r>
              <a:rPr lang="en-US">
                <a:ea typeface="+mn-lt"/>
                <a:cs typeface="+mn-lt"/>
              </a:rPr>
              <a:t>Requesting additional info</a:t>
            </a:r>
          </a:p>
          <a:p>
            <a:pPr marL="457200" indent="-457200"/>
            <a:r>
              <a:rPr lang="en-US">
                <a:ea typeface="+mn-lt"/>
                <a:cs typeface="+mn-lt"/>
              </a:rPr>
              <a:t>White papers</a:t>
            </a:r>
          </a:p>
          <a:p>
            <a:pPr marL="457200" indent="-457200"/>
            <a:r>
              <a:rPr lang="en-US">
                <a:ea typeface="+mn-lt"/>
                <a:cs typeface="+mn-lt"/>
              </a:rPr>
              <a:t>Share examples of previous projects in industry</a:t>
            </a:r>
          </a:p>
          <a:p>
            <a:pPr marL="457200" indent="-457200"/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PRIORITY: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Education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42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5AEFF8D-9F7D-1C01-191E-05578681C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B26C1-7218-BFA5-CCBB-7D404E0FD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Opportunity Discussed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E7273F7B-6B5C-4A9F-5D1A-531F96FCB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DEFINITION: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An opportunity discussed during the warm lead identification leads us to have more meaningful discussion on what they are seeking to accomplish.</a:t>
            </a:r>
            <a:br>
              <a:rPr lang="en-US">
                <a:ea typeface="+mn-lt"/>
                <a:cs typeface="+mn-lt"/>
              </a:rPr>
            </a:b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PRIORITY: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Start creating a rough proposal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Access to SMEs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Access to data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157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3330084-9BF4-7062-B25F-502D405B1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8D43A-57B0-B863-6592-D0155EFBD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Exploratory Proposal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4B5EA02-77F6-E97C-DB40-D4A4B1098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DEFINITION: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We create a proposal, show deliverables, costs, milestones, and a timetable.</a:t>
            </a:r>
            <a:br>
              <a:rPr lang="en-US">
                <a:ea typeface="+mn-lt"/>
                <a:cs typeface="+mn-lt"/>
              </a:rPr>
            </a:b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PRIORITY: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Draft a project plan to determine a potential start date.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441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B74E622-B56D-89CB-9743-849B01BC9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51D76-6A63-0675-C069-15B80B7D6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Converged Proposal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433926C7-A302-41C6-8C03-6AB645FCE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DEFINITION: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We deliver a presentation from SA’s perspective on how we would deliver a solution and benefits to the client.</a:t>
            </a:r>
            <a:br>
              <a:rPr lang="en-US">
                <a:ea typeface="+mn-lt"/>
                <a:cs typeface="+mn-lt"/>
              </a:rPr>
            </a:b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PRIORITY: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Determine process of approval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Completed mutual NDA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Completed a master SLA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Plotted access to SME &amp; Data sources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390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131AD7C-6437-D6A0-7D34-BB7F2A643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F91C6-658E-D1B0-1B79-53E0220C6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Contract Negotiated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3F0EC06-0E3C-B861-6801-09EC22983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DEFINITION: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We produce a formal contract from a Statement of Work template including the notes and previous engagements. </a:t>
            </a:r>
            <a:br>
              <a:rPr lang="en-US">
                <a:ea typeface="+mn-lt"/>
                <a:cs typeface="+mn-lt"/>
              </a:rPr>
            </a:b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PRIORITY: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Onboarding the SA representatives to the client.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Security protocol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Client screening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Getting secured access to certain client data / systems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Getting secured access to SMEs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657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2AB6C0-6B47-BB55-C16E-C73B51E07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148CF-A2C3-A10A-F885-1D13BD508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Contract Signed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66E4C14-D38F-ABDB-6EBE-3AA1A6087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DEFINITION: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We kick start the project into production by assigning a lead </a:t>
            </a:r>
            <a:r>
              <a:rPr lang="en-US" err="1">
                <a:ea typeface="+mn-lt"/>
                <a:cs typeface="+mn-lt"/>
              </a:rPr>
              <a:t>ontologist</a:t>
            </a:r>
            <a:r>
              <a:rPr lang="en-US">
                <a:ea typeface="+mn-lt"/>
                <a:cs typeface="+mn-lt"/>
              </a:rPr>
              <a:t> as the point of contact with the client. </a:t>
            </a:r>
            <a:br>
              <a:rPr lang="en-US">
                <a:ea typeface="+mn-lt"/>
                <a:cs typeface="+mn-lt"/>
              </a:rPr>
            </a:b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PRIORITY: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Lead </a:t>
            </a:r>
            <a:r>
              <a:rPr lang="en-US" err="1">
                <a:ea typeface="+mn-lt"/>
                <a:cs typeface="+mn-lt"/>
              </a:rPr>
              <a:t>ontologist</a:t>
            </a:r>
            <a:r>
              <a:rPr lang="en-US">
                <a:ea typeface="+mn-lt"/>
                <a:cs typeface="+mn-lt"/>
              </a:rPr>
              <a:t> begins setting expectations via a deck to provide a clear set of expectations with the client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A cadence is set with SMEs, and other client representatives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6873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5FCDD45-EEF3-8671-5688-E233C8555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65962-96B8-24D8-BBCC-0D5B601CB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Started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FF1297BE-0BA0-F7EC-38E7-2EAE61299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DEFINITION:</a:t>
            </a:r>
          </a:p>
          <a:p>
            <a:pPr marL="0" indent="0">
              <a:buNone/>
            </a:pPr>
            <a:r>
              <a:rPr lang="en-US"/>
              <a:t>We build and bill around the Statement of Work.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PRIORITY:</a:t>
            </a:r>
          </a:p>
          <a:p>
            <a:pPr marL="0" indent="0">
              <a:buNone/>
            </a:pPr>
            <a:r>
              <a:rPr lang="en-US"/>
              <a:t>Complete work as it is described and promised.</a:t>
            </a:r>
          </a:p>
          <a:p>
            <a:pPr marL="0" indent="0">
              <a:buNone/>
            </a:pPr>
            <a:r>
              <a:rPr lang="en-US"/>
              <a:t>Scan the environment to see what subsequent work may be tied in as a potential adjacent area of expansion.</a:t>
            </a:r>
          </a:p>
        </p:txBody>
      </p:sp>
    </p:spTree>
    <p:extLst>
      <p:ext uri="{BB962C8B-B14F-4D97-AF65-F5344CB8AC3E}">
        <p14:creationId xmlns:p14="http://schemas.microsoft.com/office/powerpoint/2010/main" val="8113346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22E34-B954-6AEE-7E29-463D57B69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31C12-2A27-3C5B-CC51-C4C4D0675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might an Offer + Partner Sales Pipeline look like?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D3A6E33-9D1B-1FE5-5255-E69A942E4A6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5767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E16D6-1532-03CA-49FF-50F3566AC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F17BB-95C7-8708-53DE-343FCAF28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Each Offer-Based Partnership Creates a new Customer Acquisition Channel</a:t>
            </a:r>
          </a:p>
        </p:txBody>
      </p:sp>
      <p:pic>
        <p:nvPicPr>
          <p:cNvPr id="18" name="Content Placeholder 17" descr="Server 88780 Wall-Mount Topping Dispenser, (4) 2 liter Hoppers">
            <a:extLst>
              <a:ext uri="{FF2B5EF4-FFF2-40B4-BE49-F238E27FC236}">
                <a16:creationId xmlns:a16="http://schemas.microsoft.com/office/drawing/2014/main" id="{A5EB61CC-33B9-C56F-0DBF-5DBD3D9527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6355" r="117" b="117"/>
          <a:stretch/>
        </p:blipFill>
        <p:spPr>
          <a:xfrm>
            <a:off x="838714" y="1982508"/>
            <a:ext cx="5852929" cy="4872768"/>
          </a:xfr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6507D6C6-AE01-91C3-461D-8186A602A580}"/>
              </a:ext>
            </a:extLst>
          </p:cNvPr>
          <p:cNvGrpSpPr/>
          <p:nvPr/>
        </p:nvGrpSpPr>
        <p:grpSpPr>
          <a:xfrm>
            <a:off x="7541559" y="2056169"/>
            <a:ext cx="3809737" cy="4721455"/>
            <a:chOff x="9368117" y="1983331"/>
            <a:chExt cx="2347370" cy="2906103"/>
          </a:xfrm>
        </p:grpSpPr>
        <p:pic>
          <p:nvPicPr>
            <p:cNvPr id="20" name="Picture 19" descr="A blue cartoon dog with a yellow star&#10;&#10;AI-generated content may be incorrect.">
              <a:extLst>
                <a:ext uri="{FF2B5EF4-FFF2-40B4-BE49-F238E27FC236}">
                  <a16:creationId xmlns:a16="http://schemas.microsoft.com/office/drawing/2014/main" id="{4185342D-065E-69E9-CC95-AE5A71380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27559" y="1983331"/>
              <a:ext cx="2272553" cy="1136519"/>
            </a:xfrm>
            <a:prstGeom prst="rect">
              <a:avLst/>
            </a:prstGeom>
          </p:spPr>
        </p:pic>
        <p:pic>
          <p:nvPicPr>
            <p:cNvPr id="22" name="Picture 21" descr="A close up of a logo&#10;&#10;AI-generated content may be incorrect.">
              <a:extLst>
                <a:ext uri="{FF2B5EF4-FFF2-40B4-BE49-F238E27FC236}">
                  <a16:creationId xmlns:a16="http://schemas.microsoft.com/office/drawing/2014/main" id="{EBB9D56A-B759-8B3D-1F09-DC3EC4A6C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68117" y="4418866"/>
              <a:ext cx="2347370" cy="470568"/>
            </a:xfrm>
            <a:prstGeom prst="rect">
              <a:avLst/>
            </a:prstGeom>
          </p:spPr>
        </p:pic>
        <p:pic>
          <p:nvPicPr>
            <p:cNvPr id="24" name="Picture 23" descr="A blue and white logo&#10;&#10;AI-generated content may be incorrect.">
              <a:extLst>
                <a:ext uri="{FF2B5EF4-FFF2-40B4-BE49-F238E27FC236}">
                  <a16:creationId xmlns:a16="http://schemas.microsoft.com/office/drawing/2014/main" id="{EE03AD22-FDE8-57D3-F8A1-865694B9AA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84615" y="3792143"/>
              <a:ext cx="2312295" cy="624250"/>
            </a:xfrm>
            <a:prstGeom prst="rect">
              <a:avLst/>
            </a:prstGeom>
          </p:spPr>
        </p:pic>
        <p:pic>
          <p:nvPicPr>
            <p:cNvPr id="26" name="Picture 25" descr="A black text on a white background&#10;&#10;AI-generated content may be incorrect.">
              <a:extLst>
                <a:ext uri="{FF2B5EF4-FFF2-40B4-BE49-F238E27FC236}">
                  <a16:creationId xmlns:a16="http://schemas.microsoft.com/office/drawing/2014/main" id="{55D92E3D-BCEE-923C-E00C-20C244329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98693" y="3120756"/>
              <a:ext cx="2296229" cy="6679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247845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02327-885E-5B3E-AF0B-E53FD1AFC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87DE5-D01A-4418-3C96-155CAEFAB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But... Nothing in Life is FREE</a:t>
            </a:r>
          </a:p>
        </p:txBody>
      </p:sp>
      <p:pic>
        <p:nvPicPr>
          <p:cNvPr id="5" name="Content Placeholder 4" descr="How To Detect Hidden Fees in a Hidden Cost Economy | WHNT.com">
            <a:extLst>
              <a:ext uri="{FF2B5EF4-FFF2-40B4-BE49-F238E27FC236}">
                <a16:creationId xmlns:a16="http://schemas.microsoft.com/office/drawing/2014/main" id="{4D600332-1C56-5505-EF39-3552E55D93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2981" y="1691153"/>
            <a:ext cx="7726036" cy="5146956"/>
          </a:xfrm>
        </p:spPr>
      </p:pic>
    </p:spTree>
    <p:extLst>
      <p:ext uri="{BB962C8B-B14F-4D97-AF65-F5344CB8AC3E}">
        <p14:creationId xmlns:p14="http://schemas.microsoft.com/office/powerpoint/2010/main" val="10834148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A888D-5B6E-A27C-7444-8C0841F3F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73401-7FB3-E59E-76DC-110DAD58A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Partnerships Requires Co-Operation</a:t>
            </a:r>
          </a:p>
        </p:txBody>
      </p:sp>
      <p:pic>
        <p:nvPicPr>
          <p:cNvPr id="6" name="Content Placeholder 5" descr="Project Maple Gas Pipeline Explained">
            <a:extLst>
              <a:ext uri="{FF2B5EF4-FFF2-40B4-BE49-F238E27FC236}">
                <a16:creationId xmlns:a16="http://schemas.microsoft.com/office/drawing/2014/main" id="{EB6A5DBC-BAA3-5BB0-07D5-8347D8EB66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6195" y="1691153"/>
            <a:ext cx="8234007" cy="5146956"/>
          </a:xfrm>
        </p:spPr>
      </p:pic>
    </p:spTree>
    <p:extLst>
      <p:ext uri="{BB962C8B-B14F-4D97-AF65-F5344CB8AC3E}">
        <p14:creationId xmlns:p14="http://schemas.microsoft.com/office/powerpoint/2010/main" val="16476588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71635-6406-8DBB-5A69-871385C68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959A9-EB1E-CB45-BC58-E4FEFBBA8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Each Partnership Requires Maintenance</a:t>
            </a:r>
          </a:p>
        </p:txBody>
      </p:sp>
      <p:pic>
        <p:nvPicPr>
          <p:cNvPr id="6" name="Content Placeholder 5" descr="Project Maple Gas Pipeline Explained">
            <a:extLst>
              <a:ext uri="{FF2B5EF4-FFF2-40B4-BE49-F238E27FC236}">
                <a16:creationId xmlns:a16="http://schemas.microsoft.com/office/drawing/2014/main" id="{88E9483E-9BE4-285B-A593-EA731A24AE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592" y="2318682"/>
            <a:ext cx="2429360" cy="1510649"/>
          </a:xfrm>
        </p:spPr>
      </p:pic>
      <p:pic>
        <p:nvPicPr>
          <p:cNvPr id="4" name="Content Placeholder 5" descr="Project Maple Gas Pipeline Explained">
            <a:extLst>
              <a:ext uri="{FF2B5EF4-FFF2-40B4-BE49-F238E27FC236}">
                <a16:creationId xmlns:a16="http://schemas.microsoft.com/office/drawing/2014/main" id="{56EEA4AB-66BA-A8AF-01C2-B0705B42E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407" y="2319803"/>
            <a:ext cx="2429360" cy="1510649"/>
          </a:xfrm>
          <a:prstGeom prst="rect">
            <a:avLst/>
          </a:prstGeom>
        </p:spPr>
      </p:pic>
      <p:pic>
        <p:nvPicPr>
          <p:cNvPr id="7" name="Content Placeholder 5" descr="Project Maple Gas Pipeline Explained">
            <a:extLst>
              <a:ext uri="{FF2B5EF4-FFF2-40B4-BE49-F238E27FC236}">
                <a16:creationId xmlns:a16="http://schemas.microsoft.com/office/drawing/2014/main" id="{E1DD6395-4165-EF84-2BCD-8DE75D536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21" y="2319803"/>
            <a:ext cx="2429360" cy="1510649"/>
          </a:xfrm>
          <a:prstGeom prst="rect">
            <a:avLst/>
          </a:prstGeom>
        </p:spPr>
      </p:pic>
      <p:pic>
        <p:nvPicPr>
          <p:cNvPr id="8" name="Content Placeholder 5" descr="Project Maple Gas Pipeline Explained">
            <a:extLst>
              <a:ext uri="{FF2B5EF4-FFF2-40B4-BE49-F238E27FC236}">
                <a16:creationId xmlns:a16="http://schemas.microsoft.com/office/drawing/2014/main" id="{E1ED4AD3-B31F-49E3-9276-287AAA499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4036" y="2319803"/>
            <a:ext cx="2429360" cy="1510649"/>
          </a:xfrm>
          <a:prstGeom prst="rect">
            <a:avLst/>
          </a:prstGeom>
        </p:spPr>
      </p:pic>
      <p:pic>
        <p:nvPicPr>
          <p:cNvPr id="10" name="Content Placeholder 5" descr="Project Maple Gas Pipeline Explained">
            <a:extLst>
              <a:ext uri="{FF2B5EF4-FFF2-40B4-BE49-F238E27FC236}">
                <a16:creationId xmlns:a16="http://schemas.microsoft.com/office/drawing/2014/main" id="{62A68B4B-CFE7-EBB4-7DE7-4164E37CE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507" y="4011891"/>
            <a:ext cx="2429360" cy="1510649"/>
          </a:xfrm>
          <a:prstGeom prst="rect">
            <a:avLst/>
          </a:prstGeom>
        </p:spPr>
      </p:pic>
      <p:pic>
        <p:nvPicPr>
          <p:cNvPr id="11" name="Content Placeholder 5" descr="Project Maple Gas Pipeline Explained">
            <a:extLst>
              <a:ext uri="{FF2B5EF4-FFF2-40B4-BE49-F238E27FC236}">
                <a16:creationId xmlns:a16="http://schemas.microsoft.com/office/drawing/2014/main" id="{7DFBF4F3-CD14-44F2-7B9D-E986E986D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598" y="4006288"/>
            <a:ext cx="2429360" cy="1510649"/>
          </a:xfrm>
          <a:prstGeom prst="rect">
            <a:avLst/>
          </a:prstGeom>
        </p:spPr>
      </p:pic>
      <p:pic>
        <p:nvPicPr>
          <p:cNvPr id="12" name="Content Placeholder 5" descr="Project Maple Gas Pipeline Explained">
            <a:extLst>
              <a:ext uri="{FF2B5EF4-FFF2-40B4-BE49-F238E27FC236}">
                <a16:creationId xmlns:a16="http://schemas.microsoft.com/office/drawing/2014/main" id="{B5453545-1F50-E6CE-EAF3-7CEA2CC55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412" y="4006288"/>
            <a:ext cx="2429360" cy="1510649"/>
          </a:xfrm>
          <a:prstGeom prst="rect">
            <a:avLst/>
          </a:prstGeom>
        </p:spPr>
      </p:pic>
      <p:pic>
        <p:nvPicPr>
          <p:cNvPr id="13" name="Content Placeholder 5" descr="Project Maple Gas Pipeline Explained">
            <a:extLst>
              <a:ext uri="{FF2B5EF4-FFF2-40B4-BE49-F238E27FC236}">
                <a16:creationId xmlns:a16="http://schemas.microsoft.com/office/drawing/2014/main" id="{AD976A5F-08CA-6379-AADF-0890C484E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227" y="4006288"/>
            <a:ext cx="2429360" cy="151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1141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02A75-7625-BC16-439B-B38787A94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DEDE1-9BFC-23E0-4B98-644344545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Each Deal Requires (Varying) Time + Effort</a:t>
            </a:r>
          </a:p>
        </p:txBody>
      </p:sp>
      <p:pic>
        <p:nvPicPr>
          <p:cNvPr id="9" name="Content Placeholder 8" descr="Shrubs, Bushes &amp; Hedges - Wowcher">
            <a:extLst>
              <a:ext uri="{FF2B5EF4-FFF2-40B4-BE49-F238E27FC236}">
                <a16:creationId xmlns:a16="http://schemas.microsoft.com/office/drawing/2014/main" id="{F737573B-D3B4-A70C-797D-374AD75005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6865" y="1694282"/>
            <a:ext cx="7678270" cy="5151905"/>
          </a:xfrm>
        </p:spPr>
      </p:pic>
    </p:spTree>
    <p:extLst>
      <p:ext uri="{BB962C8B-B14F-4D97-AF65-F5344CB8AC3E}">
        <p14:creationId xmlns:p14="http://schemas.microsoft.com/office/powerpoint/2010/main" val="2505983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8A898-DAA4-27BC-10CC-174077FC8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0F6AE-EA3F-9A46-8E24-1670C2D85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This can Get Hairy if NOT Organized...</a:t>
            </a:r>
          </a:p>
        </p:txBody>
      </p:sp>
      <p:pic>
        <p:nvPicPr>
          <p:cNvPr id="9" name="Content Placeholder 8" descr="Shrubs, Bushes &amp; Hedges - Wowcher">
            <a:extLst>
              <a:ext uri="{FF2B5EF4-FFF2-40B4-BE49-F238E27FC236}">
                <a16:creationId xmlns:a16="http://schemas.microsoft.com/office/drawing/2014/main" id="{31D09BA8-31AB-2732-6AAB-7C30ABDE94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9321" y="1716693"/>
            <a:ext cx="2176183" cy="1414746"/>
          </a:xfrm>
        </p:spPr>
      </p:pic>
      <p:pic>
        <p:nvPicPr>
          <p:cNvPr id="4" name="Content Placeholder 8" descr="Shrubs, Bushes &amp; Hedges - Wowcher">
            <a:extLst>
              <a:ext uri="{FF2B5EF4-FFF2-40B4-BE49-F238E27FC236}">
                <a16:creationId xmlns:a16="http://schemas.microsoft.com/office/drawing/2014/main" id="{A04D13E1-A68B-919D-9714-72DC666E2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162" y="1712211"/>
            <a:ext cx="2176183" cy="1414746"/>
          </a:xfrm>
          <a:prstGeom prst="rect">
            <a:avLst/>
          </a:prstGeom>
        </p:spPr>
      </p:pic>
      <p:pic>
        <p:nvPicPr>
          <p:cNvPr id="6" name="Content Placeholder 8" descr="Shrubs, Bushes &amp; Hedges - Wowcher">
            <a:extLst>
              <a:ext uri="{FF2B5EF4-FFF2-40B4-BE49-F238E27FC236}">
                <a16:creationId xmlns:a16="http://schemas.microsoft.com/office/drawing/2014/main" id="{053730E1-B285-39B9-2340-82E24E092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897" y="1695402"/>
            <a:ext cx="2176183" cy="1414746"/>
          </a:xfrm>
          <a:prstGeom prst="rect">
            <a:avLst/>
          </a:prstGeom>
        </p:spPr>
      </p:pic>
      <p:pic>
        <p:nvPicPr>
          <p:cNvPr id="8" name="Content Placeholder 8" descr="Shrubs, Bushes &amp; Hedges - Wowcher">
            <a:extLst>
              <a:ext uri="{FF2B5EF4-FFF2-40B4-BE49-F238E27FC236}">
                <a16:creationId xmlns:a16="http://schemas.microsoft.com/office/drawing/2014/main" id="{CEF8946B-55B7-7CD8-EB4F-DE3B78FC1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9589" y="1695402"/>
            <a:ext cx="2176183" cy="141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9972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F3422-A3AE-0906-497F-9135FA3F5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84226-F131-620B-2674-40D2BD256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Partnerships are a Consequence of Trust</a:t>
            </a:r>
          </a:p>
        </p:txBody>
      </p:sp>
      <p:pic>
        <p:nvPicPr>
          <p:cNvPr id="5" name="Content Placeholder 4" descr="5 Dysfunctions of a team (1) absence of trust -">
            <a:extLst>
              <a:ext uri="{FF2B5EF4-FFF2-40B4-BE49-F238E27FC236}">
                <a16:creationId xmlns:a16="http://schemas.microsoft.com/office/drawing/2014/main" id="{46A5AAF1-12F3-6A19-3917-80166D1DAD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7923" y="1691153"/>
            <a:ext cx="8216155" cy="5124544"/>
          </a:xfrm>
        </p:spPr>
      </p:pic>
    </p:spTree>
    <p:extLst>
      <p:ext uri="{BB962C8B-B14F-4D97-AF65-F5344CB8AC3E}">
        <p14:creationId xmlns:p14="http://schemas.microsoft.com/office/powerpoint/2010/main" val="42652518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3F63-7142-54E2-0543-00AD9ADED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86CF6-7817-ACF3-2655-1D2C916D2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 Need Clear Parameters and Procedures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E7B9D28-229E-276A-EEDE-9938AFD58F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4681296"/>
              </p:ext>
            </p:extLst>
          </p:nvPr>
        </p:nvGraphicFramePr>
        <p:xfrm>
          <a:off x="597274" y="1691155"/>
          <a:ext cx="11003055" cy="50012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33487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127EC-1491-F24E-39DC-782AE9664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D695B-1C51-37BB-77D7-9E42EFF3F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 all Partnerships are the Same</a:t>
            </a:r>
          </a:p>
        </p:txBody>
      </p:sp>
      <p:pic>
        <p:nvPicPr>
          <p:cNvPr id="17" name="Content Placeholder 16" descr="Creating Powerful Partnerships: Unlocking Business Success">
            <a:extLst>
              <a:ext uri="{FF2B5EF4-FFF2-40B4-BE49-F238E27FC236}">
                <a16:creationId xmlns:a16="http://schemas.microsoft.com/office/drawing/2014/main" id="{9FB0F8AA-CEB3-1E31-28F6-240CC367C6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227" r="-215" b="2445"/>
          <a:stretch/>
        </p:blipFill>
        <p:spPr>
          <a:xfrm>
            <a:off x="2465864" y="1696758"/>
            <a:ext cx="7254653" cy="5158469"/>
          </a:xfrm>
        </p:spPr>
      </p:pic>
    </p:spTree>
    <p:extLst>
      <p:ext uri="{BB962C8B-B14F-4D97-AF65-F5344CB8AC3E}">
        <p14:creationId xmlns:p14="http://schemas.microsoft.com/office/powerpoint/2010/main" val="36186091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7CBFB-E665-4A97-5EF4-5233DDB81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CEBAC-9453-F1F6-5EC7-B8207A3B2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Partnership Offerings Need to be Codified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3296FF9-1DA3-C58E-9CC4-B871B49E58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01985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53624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47350-73AE-626D-F9BC-D4AA89B7A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E5C46-C3EC-2907-C1DE-C4FDAE10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Go-To Market Ready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3BCDF5E-726F-DEF0-0E0B-CE47DF8BF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Graphwise</a:t>
            </a:r>
          </a:p>
          <a:p>
            <a:r>
              <a:rPr lang="en-US" err="1"/>
              <a:t>Fluree</a:t>
            </a:r>
          </a:p>
        </p:txBody>
      </p:sp>
    </p:spTree>
    <p:extLst>
      <p:ext uri="{BB962C8B-B14F-4D97-AF65-F5344CB8AC3E}">
        <p14:creationId xmlns:p14="http://schemas.microsoft.com/office/powerpoint/2010/main" val="40997834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30812-39E6-502F-559C-C5006B2E4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1D670-6CAF-AC8F-1618-C80C8CBBE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3FAEEA-F8E2-24A3-7ADC-D5754DF2D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Stardog</a:t>
            </a:r>
          </a:p>
          <a:p>
            <a:r>
              <a:rPr lang="en-US" err="1"/>
              <a:t>RDFox</a:t>
            </a:r>
          </a:p>
        </p:txBody>
      </p:sp>
    </p:spTree>
    <p:extLst>
      <p:ext uri="{BB962C8B-B14F-4D97-AF65-F5344CB8AC3E}">
        <p14:creationId xmlns:p14="http://schemas.microsoft.com/office/powerpoint/2010/main" val="6658463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14C2B-1A2C-8F4D-8568-5B8E044AC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5374D-4D4A-112E-EA87-47AE39D8D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Promising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661FFAF-8CF8-F479-E8EC-4906AAD2B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Franz, Inc</a:t>
            </a:r>
          </a:p>
          <a:p>
            <a:r>
              <a:rPr lang="en-US" err="1"/>
              <a:t>TopQuadrant</a:t>
            </a:r>
          </a:p>
          <a:p>
            <a:r>
              <a:rPr lang="en-US"/>
              <a:t>University of Buffalo</a:t>
            </a:r>
          </a:p>
          <a:p>
            <a:r>
              <a:rPr lang="en-US" err="1"/>
              <a:t>CyberSecurity</a:t>
            </a:r>
            <a:r>
              <a:rPr lang="en-US"/>
              <a:t> Foundry</a:t>
            </a:r>
          </a:p>
          <a:p>
            <a:r>
              <a:rPr lang="en-US" err="1"/>
              <a:t>Data.World</a:t>
            </a:r>
          </a:p>
          <a:p>
            <a:r>
              <a:rPr lang="en-US"/>
              <a:t>Relational AI</a:t>
            </a:r>
          </a:p>
          <a:p>
            <a:r>
              <a:rPr lang="en-US" err="1"/>
              <a:t>metaphacts</a:t>
            </a:r>
          </a:p>
        </p:txBody>
      </p:sp>
    </p:spTree>
    <p:extLst>
      <p:ext uri="{BB962C8B-B14F-4D97-AF65-F5344CB8AC3E}">
        <p14:creationId xmlns:p14="http://schemas.microsoft.com/office/powerpoint/2010/main" val="12339517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7CF5-580E-8475-2E79-ACD9068B6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 Steps to Making an Offer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68325D-878C-F96E-7A99-D004B9B55B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27330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9027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5771A86-FC6B-CE1C-F968-E911BFE20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CD5BF-0250-B2C5-3093-E9AE9BA7C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does it take to Develop an Offer?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8CB01FC-91C8-C1B9-C9B9-DE07A2676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By working backward from a past project, a known issue within a client’s organization, or a promising area of interest, we can formulate a hypothesis about what makes an offer attractive.</a:t>
            </a:r>
          </a:p>
          <a:p>
            <a:r>
              <a:rPr lang="en-US"/>
              <a:t>The first exercise to undergo is how this offer has occurred spontaneously in the past following the marketing and sales pipeline to document the patterns emerged. </a:t>
            </a:r>
          </a:p>
        </p:txBody>
      </p:sp>
    </p:spTree>
    <p:extLst>
      <p:ext uri="{BB962C8B-B14F-4D97-AF65-F5344CB8AC3E}">
        <p14:creationId xmlns:p14="http://schemas.microsoft.com/office/powerpoint/2010/main" val="32222331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2519E8-243A-BE18-56ED-C5C678038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9F5C4-FC2D-DEA8-53C4-579FE16A0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does it take to Develop an Offer?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5F0936-2BFA-9D3D-9832-E0F506BDF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In order of priority, we need to match the sales pipeline pattern: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What were the compentecy questions?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What kind of data sources are required?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What was the parti? Is there documentation to reference or produce?</a:t>
            </a:r>
          </a:p>
          <a:p>
            <a:r>
              <a:rPr lang="en-US"/>
              <a:t>We want to look at the different stages of a proposal's development to walk through the logical steps of what a client would deem to be a valuable reflection of their problem / solution.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What was the initial opportunity discussed?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What was the exploratory proposal look like?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What was the converged proposal look like?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What was included </a:t>
            </a:r>
          </a:p>
        </p:txBody>
      </p:sp>
    </p:spTree>
    <p:extLst>
      <p:ext uri="{BB962C8B-B14F-4D97-AF65-F5344CB8AC3E}">
        <p14:creationId xmlns:p14="http://schemas.microsoft.com/office/powerpoint/2010/main" val="17253549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E155926-FB09-C21A-5E64-C18D83FA8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C534F-2301-5235-CB18-5DB93465B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does it take to Develop an Offer?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BE6C4D9-9909-E55A-E22B-B102BCFB7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We want to find outDo we have any records on the kind of tech stack the client was working with?</a:t>
            </a:r>
          </a:p>
          <a:p>
            <a:r>
              <a:rPr lang="en-US"/>
              <a:t>Do we have any records on what the ontology model looks like?</a:t>
            </a:r>
          </a:p>
          <a:p>
            <a:r>
              <a:rPr lang="en-US"/>
              <a:t>Do we have any records on what the taxonomy looked like?</a:t>
            </a:r>
          </a:p>
          <a:p>
            <a:r>
              <a:rPr lang="en-US"/>
              <a:t>Do we have any</a:t>
            </a:r>
          </a:p>
        </p:txBody>
      </p:sp>
    </p:spTree>
    <p:extLst>
      <p:ext uri="{BB962C8B-B14F-4D97-AF65-F5344CB8AC3E}">
        <p14:creationId xmlns:p14="http://schemas.microsoft.com/office/powerpoint/2010/main" val="2863133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ceccf08-63ec-4710-8281-c4f866954846" xsi:nil="true"/>
    <lcf76f155ced4ddcb4097134ff3c332f xmlns="2630dede-d2f4-4c5d-bf66-4a7da4f911f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9ECAAC2E0A9A47897C97F2DDAAFAFE" ma:contentTypeVersion="15" ma:contentTypeDescription="Create a new document." ma:contentTypeScope="" ma:versionID="bbec31fb6850635a55689b7512e21539">
  <xsd:schema xmlns:xsd="http://www.w3.org/2001/XMLSchema" xmlns:xs="http://www.w3.org/2001/XMLSchema" xmlns:p="http://schemas.microsoft.com/office/2006/metadata/properties" xmlns:ns2="2630dede-d2f4-4c5d-bf66-4a7da4f911f8" xmlns:ns3="6ceccf08-63ec-4710-8281-c4f866954846" targetNamespace="http://schemas.microsoft.com/office/2006/metadata/properties" ma:root="true" ma:fieldsID="101df225896d8a20c2c247fb6efb5310" ns2:_="" ns3:_="">
    <xsd:import namespace="2630dede-d2f4-4c5d-bf66-4a7da4f911f8"/>
    <xsd:import namespace="6ceccf08-63ec-4710-8281-c4f8669548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30dede-d2f4-4c5d-bf66-4a7da4f911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a2a07c6-bdb9-426b-bdea-050ee0b8852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eccf08-63ec-4710-8281-c4f86695484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35a5c4d-0a80-4cc2-875c-e3c3410cc738}" ma:internalName="TaxCatchAll" ma:showField="CatchAllData" ma:web="6ceccf08-63ec-4710-8281-c4f86695484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1465628-8D92-4AB9-A32B-F607611D91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D6C25E5-61A8-4940-B2B6-B86AE62AA1EF}">
  <ds:schemaRefs>
    <ds:schemaRef ds:uri="2630dede-d2f4-4c5d-bf66-4a7da4f911f8"/>
    <ds:schemaRef ds:uri="6ceccf08-63ec-4710-8281-c4f866954846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B6297DF-9E65-4D2D-8033-40E2568741FF}">
  <ds:schemaRefs>
    <ds:schemaRef ds:uri="2630dede-d2f4-4c5d-bf66-4a7da4f911f8"/>
    <ds:schemaRef ds:uri="6ceccf08-63ec-4710-8281-c4f86695484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1998</Words>
  <Application>Microsoft Office PowerPoint</Application>
  <PresentationFormat>Widescreen</PresentationFormat>
  <Paragraphs>201</Paragraphs>
  <Slides>44</Slides>
  <Notes>0</Notes>
  <HiddenSlides>11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Aptos</vt:lpstr>
      <vt:lpstr>Aptos Display</vt:lpstr>
      <vt:lpstr>Arial</vt:lpstr>
      <vt:lpstr>Calibri</vt:lpstr>
      <vt:lpstr>Courier New</vt:lpstr>
      <vt:lpstr>Courier New,monospace</vt:lpstr>
      <vt:lpstr>Office Theme</vt:lpstr>
      <vt:lpstr>Developing Vendor Partnerships &amp; Lead Gen</vt:lpstr>
      <vt:lpstr>Short Agenda:</vt:lpstr>
      <vt:lpstr>PowerPoint Presentation</vt:lpstr>
      <vt:lpstr>Why Partner?</vt:lpstr>
      <vt:lpstr>So, why is it not working … a few theories</vt:lpstr>
      <vt:lpstr>Partnership Journey</vt:lpstr>
      <vt:lpstr>M365 Connector Offer Development  SharePoint 365 with SA professional services https://graphwise.ai/microsoft-365-integration/    - Addressing the findability challenges (faceted taxonomies, semantic search) - Better search capabilities and improved collaboration - Semantic framework  to connect data silos – greater accuracy and faster retrieval with enriched metadata - Specific scoping, milestone, and level of effort - TBD - Delivers value within a 3-month period with a goal of achieving an expedient executive win </vt:lpstr>
      <vt:lpstr>Partnership Journey</vt:lpstr>
      <vt:lpstr>eCTD Drug Submission Offer Development   CMC data subsets – Fluree products w/ SA services https://acrobat.adobe.com/id/urn:aaid:sc:VA6C2:1dd1d554-7397-415e-b596-2caefc8533f0    - Demonstrate value of semantic KG’s in producing regulatory filing documents  - Use of gistPharma &amp; Fluree Sense conversion tool to map table doc’s into a semantic model with traditional AI   - SA to extend ontology w/ SME’s for customer specific harmonization, terminology tagging, and model representation - Delivers value with a dynamic eCTD Word template, populated with live data and in-scope of the data sources. - A Drug Manufacturing Asset in the form of a KG allowing users to query and retrieve information across compounds, operational process, batches, recipes and analytical tests/equipment  </vt:lpstr>
      <vt:lpstr>PowerPoint Presentation</vt:lpstr>
      <vt:lpstr>Next-Gen Cyber Security  Offer Development    - Cyber Security standards bodies (NIST, DEFEND, MITRE, CCO …) modeled into an ontological representation (Ryan).   - Extend and map data for GraphRAG demonstration of the inner workings for query generation (Jans)  - Specific scoping, milestone, and level of effort - TBD - INTENT - Delivers value within a 3-month period with a goal of achieving an expedient executive win  </vt:lpstr>
      <vt:lpstr>Joaquin for more on Marketing Execution</vt:lpstr>
      <vt:lpstr>The Assertion</vt:lpstr>
      <vt:lpstr>What does a Pipeline Typically Look Like?</vt:lpstr>
      <vt:lpstr>What is the Relationship between  Marketing and Sales?</vt:lpstr>
      <vt:lpstr>What does a Marketing Funnel Look Like?</vt:lpstr>
      <vt:lpstr>What does a Sales Pipeline Look Like?</vt:lpstr>
      <vt:lpstr>What does Our Sales Pipeline Look Like?</vt:lpstr>
      <vt:lpstr>Warm Lead</vt:lpstr>
      <vt:lpstr>Sponsor Identified</vt:lpstr>
      <vt:lpstr>Opportunity Discussed</vt:lpstr>
      <vt:lpstr>Exploratory Proposal</vt:lpstr>
      <vt:lpstr>Converged Proposal</vt:lpstr>
      <vt:lpstr>Contract Negotiated</vt:lpstr>
      <vt:lpstr>Contract Signed</vt:lpstr>
      <vt:lpstr>Project Started</vt:lpstr>
      <vt:lpstr>What might an Offer + Partner Sales Pipeline look like?</vt:lpstr>
      <vt:lpstr>Each Offer-Based Partnership Creates a new Customer Acquisition Channel</vt:lpstr>
      <vt:lpstr>But... Nothing in Life is FREE</vt:lpstr>
      <vt:lpstr>Building Partnerships Requires Co-Operation</vt:lpstr>
      <vt:lpstr>Each Partnership Requires Maintenance</vt:lpstr>
      <vt:lpstr>Each Deal Requires (Varying) Time + Effort</vt:lpstr>
      <vt:lpstr>This can Get Hairy if NOT Organized...</vt:lpstr>
      <vt:lpstr>Partnerships are a Consequence of Trust</vt:lpstr>
      <vt:lpstr>We Need Clear Parameters and Procedures</vt:lpstr>
      <vt:lpstr>Not all Partnerships are the Same</vt:lpstr>
      <vt:lpstr>Partnership Offerings Need to be Codified</vt:lpstr>
      <vt:lpstr>Go-To Market Ready</vt:lpstr>
      <vt:lpstr>Mature</vt:lpstr>
      <vt:lpstr>Promising</vt:lpstr>
      <vt:lpstr>4 Steps to Making an Offer</vt:lpstr>
      <vt:lpstr>What does it take to Develop an Offer?</vt:lpstr>
      <vt:lpstr>What does it take to Develop an Offer?</vt:lpstr>
      <vt:lpstr>What does it take to Develop an Offer?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Adrianne Vanspeybroeck</dc:creator>
  <cp:lastModifiedBy>Steve Case</cp:lastModifiedBy>
  <cp:revision>2</cp:revision>
  <dcterms:created xsi:type="dcterms:W3CDTF">2025-04-27T16:49:57Z</dcterms:created>
  <dcterms:modified xsi:type="dcterms:W3CDTF">2025-05-01T21:01:53Z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0x0101004C9ECAAC2E0A9A47897C97F2DDAAFAFE</vt:lpwstr>
  </property>
  <property fmtid="{D5CDD505-2E9C-101B-9397-08002B2CF9AE}" pid="3" name="MediaServiceImageTags">
    <vt:lpwstr/>
  </property>
</Properties>
</file>