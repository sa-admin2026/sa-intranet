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6009C4-0D46-4F13-80A4-227842E5A42C}" v="526" dt="2024-10-16T22:00:16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5" autoAdjust="0"/>
    <p:restoredTop sz="86444" autoAdjust="0"/>
  </p:normalViewPr>
  <p:slideViewPr>
    <p:cSldViewPr snapToGrid="0">
      <p:cViewPr varScale="1">
        <p:scale>
          <a:sx n="59" d="100"/>
          <a:sy n="59" d="100"/>
        </p:scale>
        <p:origin x="24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E2E43-8682-45FB-A401-0C6D6AD7F33B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F5825-AA49-4F45-B086-8CD76832E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47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PROACTIVE WAY:</a:t>
            </a:r>
          </a:p>
          <a:p>
            <a:endParaRPr lang="en-US" dirty="0"/>
          </a:p>
          <a:p>
            <a:r>
              <a:rPr lang="en-US" dirty="0"/>
              <a:t>Always build your query step by step!</a:t>
            </a:r>
          </a:p>
          <a:p>
            <a:r>
              <a:rPr lang="en-US" dirty="0"/>
              <a:t> You will see when something really slows it down.</a:t>
            </a:r>
          </a:p>
          <a:p>
            <a:endParaRPr lang="en-US" dirty="0"/>
          </a:p>
          <a:p>
            <a:r>
              <a:rPr lang="en-US" dirty="0"/>
              <a:t>Only ask for what you really need.  Think about it.</a:t>
            </a:r>
          </a:p>
          <a:p>
            <a:r>
              <a:rPr lang="en-US" dirty="0"/>
              <a:t> Skip variables if you don't need them.</a:t>
            </a:r>
          </a:p>
          <a:p>
            <a:endParaRPr lang="en-US" dirty="0"/>
          </a:p>
          <a:p>
            <a:r>
              <a:rPr lang="en-US" dirty="0"/>
              <a:t>Use sub- (inner-) queries to force doing most specific work first.</a:t>
            </a:r>
          </a:p>
          <a:p>
            <a:r>
              <a:rPr lang="en-US" dirty="0"/>
              <a:t> Do "skeletal query" first; just what's needed.  Get "decoration" data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F5825-AA49-4F45-B086-8CD76832E1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62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DIAGNOSTIC WAY (you already have a slow query)</a:t>
            </a:r>
          </a:p>
          <a:p>
            <a:endParaRPr lang="en-US" dirty="0"/>
          </a:p>
          <a:p>
            <a:r>
              <a:rPr lang="en-US" dirty="0"/>
              <a:t>Look at query plan.  You may see some obvious slowdowns:</a:t>
            </a:r>
          </a:p>
          <a:p>
            <a:r>
              <a:rPr lang="en-US" dirty="0"/>
              <a:t> Sorting (just get all values)</a:t>
            </a:r>
          </a:p>
          <a:p>
            <a:r>
              <a:rPr lang="en-US" dirty="0"/>
              <a:t> Hashing (have to build entire hash map before going forward)</a:t>
            </a:r>
          </a:p>
          <a:p>
            <a:endParaRPr lang="en-US" dirty="0"/>
          </a:p>
          <a:p>
            <a:r>
              <a:rPr lang="en-US" dirty="0"/>
              <a:t>Think about most selective parts of query; try these as an inner query. </a:t>
            </a:r>
          </a:p>
          <a:p>
            <a:endParaRPr lang="en-US" dirty="0"/>
          </a:p>
          <a:p>
            <a:r>
              <a:rPr lang="en-US"/>
              <a:t>Comment out stuff; go back to the beginning.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F5825-AA49-4F45-B086-8CD76832E1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87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8446-DA43-A1A3-6F0A-9CF603573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D3D5C-E5EE-5ACF-7AA4-A58ABB4E3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8AAD5-53EB-1C0F-D6A5-FC6486F0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14F13-1CC2-4EA6-AE26-5843FC6068F0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9F17B-C994-9A58-7118-8EB3E744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53488-A4B5-CA99-4824-F2C7DF6C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60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D94A-D467-3553-3D44-7D8C46DD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C6703-BAB3-A935-6337-9C41F6EAD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46B89-E647-2A8A-4AF3-544B88759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C148-C392-40E5-ACF5-AA1A988276AD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A5FD0-F7FE-B5DB-9EA0-36533767B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344DE-9A6C-79F0-1ED1-3709169E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9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DE389-468E-91B8-43DC-48DCB9EB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5A9B1-2689-131C-BBE5-E89C9ADF3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9873-8496-868E-CA8B-95248500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EFA72-FD0B-4845-A7B9-F14236A09B49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BB5DF-B23A-4DD9-8632-16C4BC6C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BF355-F349-B49E-4286-047CD95F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05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F50B-EB03-6F09-B974-C270EE9B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D623A-7E25-9324-A17F-3A5616F4F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DC99D-833F-5D62-F8F1-370558D6F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60C7AB-517D-7CFA-A2B9-0BECE213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ECAF4-E69F-4359-BA5E-8E1E74BA0E0D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04FF4-BFF0-01E3-6801-219D8CD5B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9662A-0408-3181-2848-412EBBBB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C9542-E582-1E83-715A-53F16130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E61F0-ABF0-0005-6030-2AC0957CF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8DE2B-D539-A905-C8B0-518029B7F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1FB43-7F35-220C-5190-7D7282663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476305-F505-68EF-53AF-AFC3AD47F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DC013-6175-8605-A2CA-FF1EBBF2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77B3-63BA-4A38-A29C-418298DE35CB}" type="datetime1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DBC50-F593-50D8-0CD6-EE6EC330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E1FEE-376E-D977-89B3-BAB18700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67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877F-BD81-B62E-3D46-826CB2D9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4856E-5D71-E195-9187-5D4132B07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3F4A7-E31A-45CD-949A-98BF04FA05BD}" type="datetime1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45341-32FC-3893-621E-1DD5868E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5ED9D-2EC2-083A-6B1A-FD753400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55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9DD39-566A-8886-3E22-BC9C746B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9817-CE1B-4318-8032-C12D324BA4BB}" type="datetime1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C79EB-5310-D1DB-E1E9-9CE5FA5B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0538C-85C7-6557-31F3-B3ACFC32C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73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44361-D225-EF6E-900B-7452DE3DA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B543-4BD8-A574-50BF-B3DA56491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00E65-FCD7-A12D-F491-753AE252F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5B642-1DCD-0CD9-6A12-5017B193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D6911-5E70-45B7-94F4-FF30DB7A2C86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436C7-60F6-6346-B1C8-78093CBA8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32136-5B89-DB51-025A-6FD29BF1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3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FFCF7-9153-7B9E-DE59-E08BF74E0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2D00B8-B390-4C11-84C5-E24E6B632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C5934-F354-0390-1E2B-9ACFBAF08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E5AF9-A282-323C-8569-6C5DDED8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B5050-7910-42AA-9177-F5338CE2F8E1}" type="datetime1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0C863-CF86-A515-03D3-D36469B5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4622B-ECA8-2DAC-A0A1-F2E0892E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88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836D-4E6E-48C7-4C35-EC429312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0B3958-8E3E-CE52-9F9C-57C72EE20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3B6A2-01B4-37C2-E44B-2CEC5CECD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7825F-7520-4D9A-AA40-E32F41198763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8A893-AD94-4BE0-3426-B73930B02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BAE4A-7FC6-0B4F-EDED-2CF9F7C1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4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0B94EC-077B-01F7-D84A-5D637B330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41276-439A-7CE5-D8DC-64A92116E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ACB79-B315-266C-4432-45C208B4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D113-9458-4584-A77F-151553B8C82A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E0A7D-07D9-963F-DB00-5B935C4A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AD8BA-2C4F-809C-3F3D-7305A7B9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92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95CF2C-38DC-5C82-8B9A-D2864124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E0D24-A5CA-8168-951B-EF5C0A4F7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4845"/>
            <a:ext cx="5257800" cy="4682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87435-C807-0BD8-359A-BB7C23A84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914A9-D256-47BC-A5A2-B555F41B0A9B}" type="datetime1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5C7E4-CDDF-1865-15E3-5E3EE0889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2AF-C73B-5737-0EBC-496FD7926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5668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CAD05-B47F-477B-A56C-E5FA5EF8CAB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AE212C-2192-587D-E0F6-8635E19808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04791" y="6050388"/>
            <a:ext cx="1566862" cy="80291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54ACD2-E3A3-0D8D-5A4F-A9A4E1709123}"/>
              </a:ext>
            </a:extLst>
          </p:cNvPr>
          <p:cNvSpPr/>
          <p:nvPr/>
        </p:nvSpPr>
        <p:spPr>
          <a:xfrm>
            <a:off x="588397" y="365126"/>
            <a:ext cx="45719" cy="784156"/>
          </a:xfrm>
          <a:prstGeom prst="roundRect">
            <a:avLst/>
          </a:prstGeom>
          <a:solidFill>
            <a:srgbClr val="4BA7CB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7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7DD3-E93E-81B9-378C-72B8489A25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Optimizing SPARQL Queries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9B9535-520A-3345-92FA-9026144583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Mark Wallace &amp; Boris Pelakh</a:t>
            </a:r>
          </a:p>
          <a:p>
            <a:r>
              <a:rPr lang="en-US" dirty="0"/>
              <a:t>Semantic Arts Inc.</a:t>
            </a:r>
          </a:p>
          <a:p>
            <a:r>
              <a:rPr lang="en-US" dirty="0"/>
              <a:t>October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B883A-A68C-DA78-35AA-B7DBAEE8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21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F0A84-5EDB-317A-DC16-C8B477E06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E377A-2484-8ACE-C6CA-22432EA4E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Proactively – as you write</a:t>
            </a:r>
          </a:p>
          <a:p>
            <a:r>
              <a:rPr lang="en-US" dirty="0"/>
              <a:t>Diagnostically – given a </a:t>
            </a:r>
            <a:r>
              <a:rPr lang="en-US" baseline="0" dirty="0"/>
              <a:t>query</a:t>
            </a:r>
          </a:p>
          <a:p>
            <a:r>
              <a:rPr lang="en-US" baseline="0" dirty="0"/>
              <a:t>Case Study</a:t>
            </a:r>
          </a:p>
          <a:p>
            <a:r>
              <a:rPr lang="en-US" baseline="0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DAAB1-DCE4-D8A2-06F0-1F092C4B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2</a:t>
            </a:fld>
            <a:endParaRPr lang="en-US"/>
          </a:p>
        </p:txBody>
      </p:sp>
      <p:pic>
        <p:nvPicPr>
          <p:cNvPr id="1030" name="Picture 6" descr="Meet Topics API, Google's Latest ...">
            <a:extLst>
              <a:ext uri="{FF2B5EF4-FFF2-40B4-BE49-F238E27FC236}">
                <a16:creationId xmlns:a16="http://schemas.microsoft.com/office/drawing/2014/main" id="{B2FB3CCE-E059-3BBA-8D74-4DE928027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143" y="1781175"/>
            <a:ext cx="27717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6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B568-37DC-ACA4-26C0-8C6C790E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Proactively – as you write</a:t>
            </a:r>
            <a:endParaRPr lang="en-US" sz="4400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22E8B-7C30-A5A5-44AB-848D4018D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</a:t>
            </a:r>
            <a:r>
              <a:rPr lang="en-US" baseline="0" dirty="0"/>
              <a:t> line at a time; test</a:t>
            </a:r>
          </a:p>
          <a:p>
            <a:r>
              <a:rPr lang="en-US" baseline="0" dirty="0"/>
              <a:t>Write "skeletal" query first</a:t>
            </a:r>
          </a:p>
          <a:p>
            <a:pPr lvl="1"/>
            <a:r>
              <a:rPr lang="en-US" baseline="0" dirty="0"/>
              <a:t>just the key </a:t>
            </a:r>
            <a:r>
              <a:rPr lang="en-US" dirty="0"/>
              <a:t>node navigation</a:t>
            </a:r>
          </a:p>
          <a:p>
            <a:r>
              <a:rPr lang="en-US" baseline="0" dirty="0"/>
              <a:t>Decorate later </a:t>
            </a:r>
          </a:p>
          <a:p>
            <a:pPr lvl="1"/>
            <a:r>
              <a:rPr lang="en-US" baseline="0" dirty="0"/>
              <a:t>labels, etc.</a:t>
            </a:r>
          </a:p>
          <a:p>
            <a:pPr lvl="0"/>
            <a:r>
              <a:rPr lang="en-US" dirty="0"/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EA6C3-E941-A040-3630-00627B8C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3</a:t>
            </a:fld>
            <a:endParaRPr lang="en-US"/>
          </a:p>
        </p:txBody>
      </p:sp>
      <p:pic>
        <p:nvPicPr>
          <p:cNvPr id="2052" name="Picture 4" descr="digital commerce ...">
            <a:extLst>
              <a:ext uri="{FF2B5EF4-FFF2-40B4-BE49-F238E27FC236}">
                <a16:creationId xmlns:a16="http://schemas.microsoft.com/office/drawing/2014/main" id="{C0A32CE0-9646-9EB4-31D0-37A35B6DE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906" y="2095466"/>
            <a:ext cx="27622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6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A55F5-0CFC-2F63-06EA-B0ACDD3F6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Diagnostically – given a </a:t>
            </a:r>
            <a:r>
              <a:rPr lang="en-US" dirty="0"/>
              <a:t>slow </a:t>
            </a:r>
            <a:r>
              <a:rPr lang="en-US" sz="440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query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06CE6-C4CB-3E96-A429-230C2A79D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You can …</a:t>
            </a:r>
          </a:p>
          <a:p>
            <a:r>
              <a:rPr lang="en-US" dirty="0"/>
              <a:t>Check </a:t>
            </a:r>
            <a:r>
              <a:rPr lang="en-US" i="1" dirty="0"/>
              <a:t>query plan </a:t>
            </a:r>
            <a:r>
              <a:rPr lang="en-US" dirty="0"/>
              <a:t>for slow-downs</a:t>
            </a:r>
          </a:p>
          <a:p>
            <a:pPr lvl="1"/>
            <a:r>
              <a:rPr lang="en-US" dirty="0"/>
              <a:t>Sorting (must get all values)</a:t>
            </a:r>
          </a:p>
          <a:p>
            <a:pPr lvl="1"/>
            <a:r>
              <a:rPr lang="en-US" dirty="0"/>
              <a:t>Hashing (must build full hash table)</a:t>
            </a:r>
          </a:p>
          <a:p>
            <a:r>
              <a:rPr lang="en-US" dirty="0"/>
              <a:t>Check query </a:t>
            </a:r>
            <a:r>
              <a:rPr lang="en-US" i="1" dirty="0"/>
              <a:t>profile</a:t>
            </a:r>
            <a:r>
              <a:rPr lang="en-US" dirty="0"/>
              <a:t> </a:t>
            </a:r>
            <a:r>
              <a:rPr lang="en-US"/>
              <a:t>if available</a:t>
            </a:r>
            <a:endParaRPr lang="en-US" dirty="0"/>
          </a:p>
          <a:p>
            <a:r>
              <a:rPr lang="en-US" dirty="0"/>
              <a:t>DEMO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Though I usually …</a:t>
            </a:r>
          </a:p>
          <a:p>
            <a:r>
              <a:rPr lang="en-US" dirty="0"/>
              <a:t>Comment</a:t>
            </a:r>
            <a:r>
              <a:rPr lang="en-US" baseline="0" dirty="0"/>
              <a:t> out</a:t>
            </a:r>
            <a:r>
              <a:rPr lang="en-US" dirty="0"/>
              <a:t>; test incrementally</a:t>
            </a:r>
            <a:endParaRPr lang="en-US" baseline="0" dirty="0"/>
          </a:p>
          <a:p>
            <a:r>
              <a:rPr lang="en-US" dirty="0"/>
              <a:t>Do most selective parts first</a:t>
            </a:r>
          </a:p>
          <a:p>
            <a:pPr lvl="1"/>
            <a:r>
              <a:rPr lang="en-US" baseline="0" dirty="0"/>
              <a:t>Use Inner/Sub Queries</a:t>
            </a:r>
          </a:p>
          <a:p>
            <a:r>
              <a:rPr lang="en-US" baseline="0" dirty="0"/>
              <a:t>DEMO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B92C3-6E00-AE09-0AF9-3323C922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4</a:t>
            </a:fld>
            <a:endParaRPr lang="en-US"/>
          </a:p>
        </p:txBody>
      </p:sp>
      <p:pic>
        <p:nvPicPr>
          <p:cNvPr id="3074" name="Picture 2" descr="Getting an Autism Spectrum Diagnosis">
            <a:extLst>
              <a:ext uri="{FF2B5EF4-FFF2-40B4-BE49-F238E27FC236}">
                <a16:creationId xmlns:a16="http://schemas.microsoft.com/office/drawing/2014/main" id="{61D33307-BA70-E142-4094-8F5219BC6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438" y="2187373"/>
            <a:ext cx="2919119" cy="2189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820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CE454-A9D8-1330-4C83-470FD258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– by Boris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2BFF5-7201-CD45-79F9-49CC91562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FBA9C-AAB3-7ACE-515B-B9AD96A13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9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299E4-D4AF-0F15-5971-1F94A9BD0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E5E45-AD25-7EBF-B7FA-BC9D65A53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49147-738D-6182-53CB-D1D654B9D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CAD05-B47F-477B-A56C-E5FA5EF8CA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20777"/>
      </p:ext>
    </p:extLst>
  </p:cSld>
  <p:clrMapOvr>
    <a:masterClrMapping/>
  </p:clrMapOvr>
</p:sld>
</file>

<file path=ppt/theme/theme1.xml><?xml version="1.0" encoding="utf-8"?>
<a:theme xmlns:a="http://schemas.openxmlformats.org/drawingml/2006/main" name="SA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.potx" id="{33C5706E-AE75-461D-AC0A-23822843B0F9}" vid="{B1ED94AB-0583-4845-BCA1-D6941E744B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564BC56D35914A8AA760B443BB6891" ma:contentTypeVersion="14" ma:contentTypeDescription="Create a new document." ma:contentTypeScope="" ma:versionID="6c4eed9d56cf578aeb5242c8e3c6e963">
  <xsd:schema xmlns:xsd="http://www.w3.org/2001/XMLSchema" xmlns:xs="http://www.w3.org/2001/XMLSchema" xmlns:p="http://schemas.microsoft.com/office/2006/metadata/properties" xmlns:ns3="22df5150-b511-4070-b8c8-672fec5e0985" xmlns:ns4="7aff74b1-fe22-4bab-b4b2-c126b02c57a1" targetNamespace="http://schemas.microsoft.com/office/2006/metadata/properties" ma:root="true" ma:fieldsID="291dc4501065302c4abd3fe6dbcbf7f5" ns3:_="" ns4:_="">
    <xsd:import namespace="22df5150-b511-4070-b8c8-672fec5e0985"/>
    <xsd:import namespace="7aff74b1-fe22-4bab-b4b2-c126b02c57a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df5150-b511-4070-b8c8-672fec5e09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ff74b1-fe22-4bab-b4b2-c126b02c57a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df5150-b511-4070-b8c8-672fec5e0985" xsi:nil="true"/>
  </documentManagement>
</p:properties>
</file>

<file path=customXml/itemProps1.xml><?xml version="1.0" encoding="utf-8"?>
<ds:datastoreItem xmlns:ds="http://schemas.openxmlformats.org/officeDocument/2006/customXml" ds:itemID="{C7009AB8-5F2D-412D-A638-6833542A54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df5150-b511-4070-b8c8-672fec5e0985"/>
    <ds:schemaRef ds:uri="7aff74b1-fe22-4bab-b4b2-c126b02c57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B51225-8725-40C2-8D8B-6A366B70EB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4489C1-61D9-4E12-BA2E-397D6ABEBDAA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7aff74b1-fe22-4bab-b4b2-c126b02c57a1"/>
    <ds:schemaRef ds:uri="22df5150-b511-4070-b8c8-672fec5e098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 Light</Template>
  <TotalTime>198</TotalTime>
  <Words>276</Words>
  <Application>Microsoft Office PowerPoint</Application>
  <PresentationFormat>Widescreen</PresentationFormat>
  <Paragraphs>60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SA Light</vt:lpstr>
      <vt:lpstr>Optimizing SPARQL Queries</vt:lpstr>
      <vt:lpstr>Topics</vt:lpstr>
      <vt:lpstr>Proactively – as you write</vt:lpstr>
      <vt:lpstr>Diagnostically – given a slow query</vt:lpstr>
      <vt:lpstr>Case Study – by Boris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Wallace</dc:creator>
  <cp:lastModifiedBy>Mark Wallace</cp:lastModifiedBy>
  <cp:revision>4</cp:revision>
  <dcterms:created xsi:type="dcterms:W3CDTF">2024-10-16T19:52:10Z</dcterms:created>
  <dcterms:modified xsi:type="dcterms:W3CDTF">2024-10-17T15:14:32Z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0x0101001A564BC56D35914A8AA760B443BB6891</vt:lpwstr>
  </property>
</Properties>
</file>