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4"/>
  </p:notesMasterIdLst>
  <p:handoutMasterIdLst>
    <p:handoutMasterId r:id="rId115"/>
  </p:handoutMasterIdLst>
  <p:sldIdLst>
    <p:sldId id="256" r:id="rId2"/>
    <p:sldId id="508" r:id="rId3"/>
    <p:sldId id="520" r:id="rId4"/>
    <p:sldId id="521" r:id="rId5"/>
    <p:sldId id="261" r:id="rId6"/>
    <p:sldId id="260" r:id="rId7"/>
    <p:sldId id="259" r:id="rId8"/>
    <p:sldId id="262" r:id="rId9"/>
    <p:sldId id="529" r:id="rId10"/>
    <p:sldId id="265" r:id="rId11"/>
    <p:sldId id="405" r:id="rId12"/>
    <p:sldId id="522" r:id="rId13"/>
    <p:sldId id="480" r:id="rId14"/>
    <p:sldId id="407" r:id="rId15"/>
    <p:sldId id="408" r:id="rId16"/>
    <p:sldId id="432" r:id="rId17"/>
    <p:sldId id="409" r:id="rId18"/>
    <p:sldId id="510" r:id="rId19"/>
    <p:sldId id="487" r:id="rId20"/>
    <p:sldId id="511" r:id="rId21"/>
    <p:sldId id="417" r:id="rId22"/>
    <p:sldId id="418" r:id="rId23"/>
    <p:sldId id="488" r:id="rId24"/>
    <p:sldId id="433" r:id="rId25"/>
    <p:sldId id="482" r:id="rId26"/>
    <p:sldId id="483" r:id="rId27"/>
    <p:sldId id="427" r:id="rId28"/>
    <p:sldId id="512" r:id="rId29"/>
    <p:sldId id="419" r:id="rId30"/>
    <p:sldId id="420" r:id="rId31"/>
    <p:sldId id="421" r:id="rId32"/>
    <p:sldId id="481" r:id="rId33"/>
    <p:sldId id="423" r:id="rId34"/>
    <p:sldId id="426" r:id="rId35"/>
    <p:sldId id="424" r:id="rId36"/>
    <p:sldId id="484" r:id="rId37"/>
    <p:sldId id="491" r:id="rId38"/>
    <p:sldId id="492" r:id="rId39"/>
    <p:sldId id="493" r:id="rId40"/>
    <p:sldId id="523" r:id="rId41"/>
    <p:sldId id="524" r:id="rId42"/>
    <p:sldId id="525" r:id="rId43"/>
    <p:sldId id="526" r:id="rId44"/>
    <p:sldId id="527" r:id="rId45"/>
    <p:sldId id="289" r:id="rId46"/>
    <p:sldId id="290" r:id="rId47"/>
    <p:sldId id="505" r:id="rId48"/>
    <p:sldId id="513" r:id="rId49"/>
    <p:sldId id="291" r:id="rId50"/>
    <p:sldId id="300" r:id="rId51"/>
    <p:sldId id="301" r:id="rId52"/>
    <p:sldId id="302" r:id="rId53"/>
    <p:sldId id="303" r:id="rId54"/>
    <p:sldId id="514" r:id="rId55"/>
    <p:sldId id="494" r:id="rId56"/>
    <p:sldId id="495" r:id="rId57"/>
    <p:sldId id="496" r:id="rId58"/>
    <p:sldId id="497" r:id="rId59"/>
    <p:sldId id="498" r:id="rId60"/>
    <p:sldId id="499" r:id="rId61"/>
    <p:sldId id="500" r:id="rId62"/>
    <p:sldId id="501" r:id="rId63"/>
    <p:sldId id="503" r:id="rId64"/>
    <p:sldId id="504" r:id="rId65"/>
    <p:sldId id="502" r:id="rId66"/>
    <p:sldId id="324" r:id="rId67"/>
    <p:sldId id="442" r:id="rId68"/>
    <p:sldId id="446" r:id="rId69"/>
    <p:sldId id="447" r:id="rId70"/>
    <p:sldId id="448" r:id="rId71"/>
    <p:sldId id="449" r:id="rId72"/>
    <p:sldId id="450" r:id="rId73"/>
    <p:sldId id="456" r:id="rId74"/>
    <p:sldId id="457" r:id="rId75"/>
    <p:sldId id="486" r:id="rId76"/>
    <p:sldId id="528" r:id="rId77"/>
    <p:sldId id="459" r:id="rId78"/>
    <p:sldId id="515" r:id="rId79"/>
    <p:sldId id="516" r:id="rId80"/>
    <p:sldId id="460" r:id="rId81"/>
    <p:sldId id="462" r:id="rId82"/>
    <p:sldId id="463" r:id="rId83"/>
    <p:sldId id="331" r:id="rId84"/>
    <p:sldId id="472" r:id="rId85"/>
    <p:sldId id="332" r:id="rId86"/>
    <p:sldId id="333" r:id="rId87"/>
    <p:sldId id="431" r:id="rId88"/>
    <p:sldId id="440" r:id="rId89"/>
    <p:sldId id="475" r:id="rId90"/>
    <p:sldId id="336" r:id="rId91"/>
    <p:sldId id="337" r:id="rId92"/>
    <p:sldId id="477" r:id="rId93"/>
    <p:sldId id="479" r:id="rId94"/>
    <p:sldId id="478" r:id="rId95"/>
    <p:sldId id="464" r:id="rId96"/>
    <p:sldId id="338" r:id="rId97"/>
    <p:sldId id="339" r:id="rId98"/>
    <p:sldId id="340" r:id="rId99"/>
    <p:sldId id="341" r:id="rId100"/>
    <p:sldId id="517" r:id="rId101"/>
    <p:sldId id="518" r:id="rId102"/>
    <p:sldId id="519" r:id="rId103"/>
    <p:sldId id="342" r:id="rId104"/>
    <p:sldId id="343" r:id="rId105"/>
    <p:sldId id="466" r:id="rId106"/>
    <p:sldId id="467" r:id="rId107"/>
    <p:sldId id="468" r:id="rId108"/>
    <p:sldId id="469" r:id="rId109"/>
    <p:sldId id="403" r:id="rId110"/>
    <p:sldId id="404" r:id="rId111"/>
    <p:sldId id="348" r:id="rId112"/>
    <p:sldId id="349" r:id="rId113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F63E661-B18C-4366-AA01-62A7EAC6688E}">
          <p14:sldIdLst>
            <p14:sldId id="256"/>
            <p14:sldId id="508"/>
            <p14:sldId id="520"/>
            <p14:sldId id="521"/>
            <p14:sldId id="261"/>
            <p14:sldId id="260"/>
            <p14:sldId id="259"/>
            <p14:sldId id="262"/>
            <p14:sldId id="529"/>
            <p14:sldId id="265"/>
            <p14:sldId id="405"/>
            <p14:sldId id="522"/>
            <p14:sldId id="480"/>
          </p14:sldIdLst>
        </p14:section>
        <p14:section name="Untitled Section" id="{154959FC-7D4B-4A35-A18E-9460EAEE332E}">
          <p14:sldIdLst>
            <p14:sldId id="407"/>
            <p14:sldId id="408"/>
            <p14:sldId id="432"/>
            <p14:sldId id="409"/>
            <p14:sldId id="510"/>
            <p14:sldId id="487"/>
            <p14:sldId id="511"/>
            <p14:sldId id="417"/>
            <p14:sldId id="418"/>
            <p14:sldId id="488"/>
            <p14:sldId id="433"/>
            <p14:sldId id="482"/>
            <p14:sldId id="483"/>
            <p14:sldId id="427"/>
            <p14:sldId id="512"/>
            <p14:sldId id="419"/>
            <p14:sldId id="420"/>
            <p14:sldId id="421"/>
            <p14:sldId id="481"/>
            <p14:sldId id="423"/>
            <p14:sldId id="426"/>
            <p14:sldId id="424"/>
            <p14:sldId id="484"/>
            <p14:sldId id="491"/>
            <p14:sldId id="492"/>
            <p14:sldId id="493"/>
            <p14:sldId id="523"/>
            <p14:sldId id="524"/>
            <p14:sldId id="525"/>
            <p14:sldId id="526"/>
            <p14:sldId id="527"/>
            <p14:sldId id="289"/>
            <p14:sldId id="290"/>
            <p14:sldId id="505"/>
            <p14:sldId id="513"/>
            <p14:sldId id="291"/>
            <p14:sldId id="300"/>
            <p14:sldId id="301"/>
            <p14:sldId id="302"/>
            <p14:sldId id="303"/>
            <p14:sldId id="514"/>
            <p14:sldId id="494"/>
            <p14:sldId id="495"/>
            <p14:sldId id="496"/>
            <p14:sldId id="497"/>
            <p14:sldId id="498"/>
            <p14:sldId id="499"/>
            <p14:sldId id="500"/>
            <p14:sldId id="501"/>
            <p14:sldId id="503"/>
            <p14:sldId id="504"/>
            <p14:sldId id="502"/>
            <p14:sldId id="324"/>
            <p14:sldId id="442"/>
            <p14:sldId id="446"/>
            <p14:sldId id="447"/>
            <p14:sldId id="448"/>
            <p14:sldId id="449"/>
            <p14:sldId id="450"/>
            <p14:sldId id="456"/>
            <p14:sldId id="457"/>
            <p14:sldId id="486"/>
            <p14:sldId id="528"/>
            <p14:sldId id="459"/>
            <p14:sldId id="515"/>
            <p14:sldId id="516"/>
            <p14:sldId id="460"/>
            <p14:sldId id="462"/>
            <p14:sldId id="463"/>
            <p14:sldId id="331"/>
            <p14:sldId id="472"/>
            <p14:sldId id="332"/>
            <p14:sldId id="333"/>
            <p14:sldId id="431"/>
            <p14:sldId id="440"/>
            <p14:sldId id="475"/>
            <p14:sldId id="336"/>
            <p14:sldId id="337"/>
            <p14:sldId id="477"/>
            <p14:sldId id="479"/>
            <p14:sldId id="478"/>
            <p14:sldId id="464"/>
            <p14:sldId id="338"/>
            <p14:sldId id="339"/>
            <p14:sldId id="340"/>
            <p14:sldId id="341"/>
            <p14:sldId id="517"/>
            <p14:sldId id="518"/>
            <p14:sldId id="519"/>
            <p14:sldId id="342"/>
            <p14:sldId id="343"/>
            <p14:sldId id="466"/>
            <p14:sldId id="467"/>
            <p14:sldId id="468"/>
            <p14:sldId id="469"/>
            <p14:sldId id="403"/>
            <p14:sldId id="404"/>
            <p14:sldId id="348"/>
            <p14:sldId id="3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6FA2"/>
    <a:srgbClr val="CC9F2A"/>
    <a:srgbClr val="541852"/>
    <a:srgbClr val="FFFF99"/>
    <a:srgbClr val="CB9F2A"/>
    <a:srgbClr val="6B8E23"/>
    <a:srgbClr val="CB0000"/>
    <a:srgbClr val="FFFFFF"/>
    <a:srgbClr val="6B8E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9" autoAdjust="0"/>
    <p:restoredTop sz="94301" autoAdjust="0"/>
  </p:normalViewPr>
  <p:slideViewPr>
    <p:cSldViewPr snapToGrid="0">
      <p:cViewPr varScale="1">
        <p:scale>
          <a:sx n="70" d="100"/>
          <a:sy n="70" d="100"/>
        </p:scale>
        <p:origin x="105" y="3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2" d="100"/>
        <a:sy n="72" d="100"/>
      </p:scale>
      <p:origin x="0" y="0"/>
    </p:cViewPr>
  </p:sorterViewPr>
  <p:notesViewPr>
    <p:cSldViewPr snapToGrid="0">
      <p:cViewPr>
        <p:scale>
          <a:sx n="48" d="100"/>
          <a:sy n="48" d="100"/>
        </p:scale>
        <p:origin x="2733" y="345"/>
      </p:cViewPr>
      <p:guideLst>
        <p:guide orient="horz" pos="3024"/>
        <p:guide pos="2304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viewProps" Target="view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slide" Target="slides/slide109.xml"/><Relationship Id="rId11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notesMaster" Target="notesMasters/notesMaster1.xml"/><Relationship Id="rId119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image" Target="../media/image17.emf"/><Relationship Id="rId4" Type="http://schemas.openxmlformats.org/officeDocument/2006/relationships/image" Target="../media/image20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image" Target="../media/image17.emf"/><Relationship Id="rId4" Type="http://schemas.openxmlformats.org/officeDocument/2006/relationships/image" Target="../media/image2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8829676"/>
            <a:ext cx="3038475" cy="465139"/>
          </a:xfrm>
          <a:prstGeom prst="rect">
            <a:avLst/>
          </a:prstGeom>
        </p:spPr>
        <p:txBody>
          <a:bodyPr vert="horz" lIns="91428" tIns="45714" rIns="91428" bIns="45714" rtlCol="0" anchor="b"/>
          <a:lstStyle>
            <a:lvl1pPr algn="l">
              <a:defRPr sz="1300"/>
            </a:lvl1pPr>
          </a:lstStyle>
          <a:p>
            <a:r>
              <a:rPr lang="en-US" sz="1100" dirty="0" smtClean="0"/>
              <a:t>Introducing Semantic Technology</a:t>
            </a:r>
            <a:br>
              <a:rPr lang="en-US" sz="1100" dirty="0" smtClean="0"/>
            </a:br>
            <a:r>
              <a:rPr lang="en-US" sz="1100" dirty="0" smtClean="0"/>
              <a:t>and Enterprise Ontology</a:t>
            </a:r>
            <a:endParaRPr lang="en-US" sz="11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9" y="8829676"/>
            <a:ext cx="3038475" cy="465139"/>
          </a:xfrm>
          <a:prstGeom prst="rect">
            <a:avLst/>
          </a:prstGeom>
        </p:spPr>
        <p:txBody>
          <a:bodyPr vert="horz" lIns="91428" tIns="45714" rIns="91428" bIns="45714" rtlCol="0" anchor="b"/>
          <a:lstStyle>
            <a:lvl1pPr algn="r">
              <a:defRPr sz="1300"/>
            </a:lvl1pPr>
          </a:lstStyle>
          <a:p>
            <a:fld id="{04B5DBB8-07BC-4FC8-87B7-DDE762CC01CB}" type="slidenum">
              <a:rPr lang="en-US" sz="1100" smtClean="0"/>
              <a:pPr/>
              <a:t>‹#›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663809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64" tIns="46582" rIns="93164" bIns="4658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64" tIns="46582" rIns="93164" bIns="46582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6433"/>
          </a:xfrm>
          <a:prstGeom prst="rect">
            <a:avLst/>
          </a:prstGeom>
        </p:spPr>
        <p:txBody>
          <a:bodyPr vert="horz" lIns="93164" tIns="46582" rIns="93164" bIns="46582" rtlCol="0" anchor="b"/>
          <a:lstStyle>
            <a:lvl1pPr algn="l">
              <a:defRPr sz="1300"/>
            </a:lvl1pPr>
          </a:lstStyle>
          <a:p>
            <a:r>
              <a:rPr lang="en-US" smtClean="0"/>
              <a:t>Introductions &amp; Introducing Semantic Technology and Enterprise Ontology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8"/>
            <a:ext cx="3037840" cy="466433"/>
          </a:xfrm>
          <a:prstGeom prst="rect">
            <a:avLst/>
          </a:prstGeom>
        </p:spPr>
        <p:txBody>
          <a:bodyPr vert="horz" lIns="93164" tIns="46582" rIns="93164" bIns="46582" rtlCol="0" anchor="b"/>
          <a:lstStyle>
            <a:lvl1pPr algn="r">
              <a:defRPr sz="1300"/>
            </a:lvl1pPr>
          </a:lstStyle>
          <a:p>
            <a:fld id="{F97A1AEF-A890-4693-859A-E0AB59F295E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24368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A1AEF-A890-4693-859A-E0AB59F295E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526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Introductions &amp; Introducing Semantic Technology and Enterprise Ontology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7A1AEF-A890-4693-859A-E0AB59F295E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E278-B939-DF40-859E-CFC37C1C27D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219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E278-B939-DF40-859E-CFC37C1C27D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3916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E278-B939-DF40-859E-CFC37C1C27D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286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E278-B939-DF40-859E-CFC37C1C27D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05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E278-B939-DF40-859E-CFC37C1C27D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4699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E278-B939-DF40-859E-CFC37C1C27D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2389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Introductions &amp; Introducing Semantic Technology and Enterprise Ontology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7A1AEF-A890-4693-859A-E0AB59F295E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0214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E278-B939-DF40-859E-CFC37C1C27D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1108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E278-B939-DF40-859E-CFC37C1C27D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1108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743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1518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1906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7A1AEF-A890-4693-859A-E0AB59F295EC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12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0572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Introductions &amp; Introducing Semantic Technology and Enterprise Ontology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7A1AEF-A890-4693-859A-E0AB59F295EC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6377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Introductions &amp; Introducing Semantic Technology and Enterprise Ontology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7A1AEF-A890-4693-859A-E0AB59F295EC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8500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62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2057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7A1AEF-A890-4693-859A-E0AB59F295EC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6142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lIns="88139" tIns="44070" rIns="88139" bIns="4407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0762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4812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7A1AEF-A890-4693-859A-E0AB59F295EC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9699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Introductions &amp; Introducing Semantic Technology and Enterprise Ontology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7A1AEF-A890-4693-859A-E0AB59F295EC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99F7B-1585-4D54-956A-349BF8122114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3476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99F7B-1585-4D54-956A-349BF8122114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6803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99F7B-1585-4D54-956A-349BF8122114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3375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99F7B-1585-4D54-956A-349BF8122114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6037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lIns="88139" tIns="44070" rIns="88139" bIns="4407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4382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99F7B-1585-4D54-956A-349BF8122114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85248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lIns="88139" tIns="44070" rIns="88139" bIns="4407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60564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7A1AEF-A890-4693-859A-E0AB59F295EC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76690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7235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3675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7A1AEF-A890-4693-859A-E0AB59F295EC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61903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5487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5340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74646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61008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06041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lIns="88139" tIns="44070" rIns="88139" bIns="4407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7022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lIns="88139" tIns="44070" rIns="88139" bIns="4407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07648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7A1AEF-A890-4693-859A-E0AB59F295EC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50175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Introductions &amp; Introducing Semantic Technology and Enterprise Ontology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7A1AEF-A890-4693-859A-E0AB59F295EC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lIns="88139" tIns="44070" rIns="88139" bIns="4407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61425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lIns="88139" tIns="44070" rIns="88139" bIns="4407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54592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lIns="88139" tIns="44070" rIns="88139" bIns="4407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89586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99F7B-1585-4D54-956A-349BF8122114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12773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lIns="88139" tIns="44070" rIns="88139" bIns="4407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02201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Introductions &amp; Introducing Semantic Technology and Enterprise Ontology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7A1AEF-A890-4693-859A-E0AB59F295EC}" type="slidenum">
              <a:rPr lang="en-US" smtClean="0"/>
              <a:pPr/>
              <a:t>54</a:t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39524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3881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5318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55656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34562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39435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01909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996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13012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57688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7A1AEF-A890-4693-859A-E0AB59F295EC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0704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lIns="88139" tIns="44070" rIns="88139" bIns="4407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786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6359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15118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42095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9908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9F9F92-2E98-4826-922F-1EABE5D71AC1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78847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9F9F92-2E98-4826-922F-1EABE5D71AC1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0525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9F9F92-2E98-4826-922F-1EABE5D71AC1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87893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9F9F92-2E98-4826-922F-1EABE5D71AC1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94151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7A1AEF-A890-4693-859A-E0AB59F295EC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6705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9F9F92-2E98-4826-922F-1EABE5D71AC1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02828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9F9F92-2E98-4826-922F-1EABE5D71AC1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294788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Introductions &amp; Introducing Semantic Technology and Enterprise Ontology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7A1AEF-A890-4693-859A-E0AB59F295EC}" type="slidenum">
              <a:rPr lang="en-US" smtClean="0"/>
              <a:pPr/>
              <a:t>78</a:t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Introductions &amp; Introducing Semantic Technology and Enterprise Ontology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7A1AEF-A890-4693-859A-E0AB59F295EC}" type="slidenum">
              <a:rPr lang="en-US" smtClean="0"/>
              <a:pPr/>
              <a:t>79</a:t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9F9F92-2E98-4826-922F-1EABE5D71AC1}" type="slidenum">
              <a:rPr lang="en-US" smtClean="0"/>
              <a:pPr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486362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91972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9F9F92-2E98-4826-922F-1EABE5D71AC1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596517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230367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5DE004-AAF7-4AE5-98A0-FA8DA0E5B063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816992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30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1011090"/>
            <a:fld id="{97B26328-0877-460E-B9F6-F0C47B7C0483}" type="slidenum">
              <a:rPr lang="en-US" smtClean="0"/>
              <a:pPr defTabSz="1011090"/>
              <a:t>85</a:t>
            </a:fld>
            <a:endParaRPr lang="en-US" dirty="0" smtClean="0"/>
          </a:p>
        </p:txBody>
      </p:sp>
      <p:sp>
        <p:nvSpPr>
          <p:cNvPr id="256004" name="Rectangle 30"/>
          <p:cNvSpPr txBox="1">
            <a:spLocks noGrp="1" noChangeArrowheads="1"/>
          </p:cNvSpPr>
          <p:nvPr/>
        </p:nvSpPr>
        <p:spPr bwMode="auto">
          <a:xfrm>
            <a:off x="6162675" y="9364664"/>
            <a:ext cx="871538" cy="223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1175" tIns="50587" rIns="101175" bIns="50587" anchor="b"/>
          <a:lstStyle/>
          <a:p>
            <a:pPr algn="r" defTabSz="1011090" eaLnBrk="0" hangingPunct="0"/>
            <a:fld id="{2C564383-30C5-4F78-9E07-9F15AE2EECA5}" type="slidenum">
              <a:rPr lang="en-US" sz="1000">
                <a:solidFill>
                  <a:schemeClr val="bg2"/>
                </a:solidFill>
                <a:latin typeface="Times" pitchFamily="18" charset="0"/>
              </a:rPr>
              <a:pPr algn="r" defTabSz="1011090" eaLnBrk="0" hangingPunct="0"/>
              <a:t>85</a:t>
            </a:fld>
            <a:endParaRPr lang="en-US" sz="1000" dirty="0">
              <a:solidFill>
                <a:schemeClr val="bg2"/>
              </a:solidFill>
              <a:latin typeface="Times" pitchFamily="18" charset="0"/>
            </a:endParaRPr>
          </a:p>
        </p:txBody>
      </p:sp>
      <p:sp>
        <p:nvSpPr>
          <p:cNvPr id="256006" name="Rectangle 30"/>
          <p:cNvSpPr txBox="1">
            <a:spLocks noGrp="1" noChangeArrowheads="1"/>
          </p:cNvSpPr>
          <p:nvPr/>
        </p:nvSpPr>
        <p:spPr bwMode="auto">
          <a:xfrm>
            <a:off x="6162675" y="9364664"/>
            <a:ext cx="871538" cy="223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1175" tIns="50587" rIns="101175" bIns="50587" anchor="b"/>
          <a:lstStyle/>
          <a:p>
            <a:pPr algn="r" defTabSz="1011090" eaLnBrk="0" hangingPunct="0"/>
            <a:fld id="{33943B00-C504-4D05-8C5F-324328932D10}" type="slidenum">
              <a:rPr lang="en-US" sz="1000">
                <a:solidFill>
                  <a:schemeClr val="bg2"/>
                </a:solidFill>
                <a:latin typeface="Times" pitchFamily="18" charset="0"/>
              </a:rPr>
              <a:pPr algn="r" defTabSz="1011090" eaLnBrk="0" hangingPunct="0"/>
              <a:t>85</a:t>
            </a:fld>
            <a:endParaRPr lang="en-US" sz="1000" dirty="0">
              <a:solidFill>
                <a:schemeClr val="bg2"/>
              </a:solidFill>
              <a:latin typeface="Times" pitchFamily="18" charset="0"/>
            </a:endParaRPr>
          </a:p>
        </p:txBody>
      </p:sp>
      <p:sp>
        <p:nvSpPr>
          <p:cNvPr id="256007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08" name="Rectangle 5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383565364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30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1011090"/>
            <a:fld id="{0BC18376-01D7-47E2-BA1B-B6606D5E24C4}" type="slidenum">
              <a:rPr lang="en-US" smtClean="0"/>
              <a:pPr defTabSz="1011090"/>
              <a:t>86</a:t>
            </a:fld>
            <a:endParaRPr lang="en-US" dirty="0" smtClean="0"/>
          </a:p>
        </p:txBody>
      </p:sp>
      <p:sp>
        <p:nvSpPr>
          <p:cNvPr id="259076" name="Rectangle 30"/>
          <p:cNvSpPr txBox="1">
            <a:spLocks noGrp="1" noChangeArrowheads="1"/>
          </p:cNvSpPr>
          <p:nvPr/>
        </p:nvSpPr>
        <p:spPr bwMode="auto">
          <a:xfrm>
            <a:off x="6162675" y="9364664"/>
            <a:ext cx="871538" cy="223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1175" tIns="50587" rIns="101175" bIns="50587" anchor="b"/>
          <a:lstStyle/>
          <a:p>
            <a:pPr algn="r" defTabSz="1011090" eaLnBrk="0" hangingPunct="0"/>
            <a:fld id="{000DCB57-E4F5-49F3-BA9C-38796982DB74}" type="slidenum">
              <a:rPr lang="en-US" sz="1000">
                <a:solidFill>
                  <a:schemeClr val="bg2"/>
                </a:solidFill>
                <a:latin typeface="Times" pitchFamily="18" charset="0"/>
              </a:rPr>
              <a:pPr algn="r" defTabSz="1011090" eaLnBrk="0" hangingPunct="0"/>
              <a:t>86</a:t>
            </a:fld>
            <a:endParaRPr lang="en-US" sz="1000" dirty="0">
              <a:solidFill>
                <a:schemeClr val="bg2"/>
              </a:solidFill>
              <a:latin typeface="Times" pitchFamily="18" charset="0"/>
            </a:endParaRPr>
          </a:p>
        </p:txBody>
      </p:sp>
      <p:sp>
        <p:nvSpPr>
          <p:cNvPr id="259078" name="Rectangle 30"/>
          <p:cNvSpPr txBox="1">
            <a:spLocks noGrp="1" noChangeArrowheads="1"/>
          </p:cNvSpPr>
          <p:nvPr/>
        </p:nvSpPr>
        <p:spPr bwMode="auto">
          <a:xfrm>
            <a:off x="6162675" y="9364664"/>
            <a:ext cx="871538" cy="223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1175" tIns="50587" rIns="101175" bIns="50587" anchor="b"/>
          <a:lstStyle/>
          <a:p>
            <a:pPr algn="r" defTabSz="1011090" eaLnBrk="0" hangingPunct="0"/>
            <a:fld id="{2F21FF51-1C91-444A-95FF-EF16847A059B}" type="slidenum">
              <a:rPr lang="en-US" sz="1000">
                <a:solidFill>
                  <a:schemeClr val="bg2"/>
                </a:solidFill>
                <a:latin typeface="Times" pitchFamily="18" charset="0"/>
              </a:rPr>
              <a:pPr algn="r" defTabSz="1011090" eaLnBrk="0" hangingPunct="0"/>
              <a:t>86</a:t>
            </a:fld>
            <a:endParaRPr lang="en-US" sz="1000" dirty="0">
              <a:solidFill>
                <a:schemeClr val="bg2"/>
              </a:solidFill>
              <a:latin typeface="Times" pitchFamily="18" charset="0"/>
            </a:endParaRPr>
          </a:p>
        </p:txBody>
      </p:sp>
      <p:sp>
        <p:nvSpPr>
          <p:cNvPr id="259079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9080" name="Rectangle 5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392214882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7A1AEF-A890-4693-859A-E0AB59F295EC}" type="slidenum">
              <a:rPr lang="en-US" smtClean="0"/>
              <a:pPr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0062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7A1AEF-A890-4693-859A-E0AB59F295EC}" type="slidenum">
              <a:rPr lang="en-US" smtClean="0"/>
              <a:pPr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99912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872413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30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1011090"/>
            <a:fld id="{0BC18376-01D7-47E2-BA1B-B6606D5E24C4}" type="slidenum">
              <a:rPr lang="en-US" smtClean="0"/>
              <a:pPr defTabSz="1011090"/>
              <a:t>90</a:t>
            </a:fld>
            <a:endParaRPr lang="en-US" dirty="0" smtClean="0"/>
          </a:p>
        </p:txBody>
      </p:sp>
      <p:sp>
        <p:nvSpPr>
          <p:cNvPr id="259076" name="Rectangle 30"/>
          <p:cNvSpPr txBox="1">
            <a:spLocks noGrp="1" noChangeArrowheads="1"/>
          </p:cNvSpPr>
          <p:nvPr/>
        </p:nvSpPr>
        <p:spPr bwMode="auto">
          <a:xfrm>
            <a:off x="6162675" y="9364664"/>
            <a:ext cx="871538" cy="223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1175" tIns="50587" rIns="101175" bIns="50587" anchor="b"/>
          <a:lstStyle/>
          <a:p>
            <a:pPr algn="r" defTabSz="1011090" eaLnBrk="0" hangingPunct="0"/>
            <a:fld id="{000DCB57-E4F5-49F3-BA9C-38796982DB74}" type="slidenum">
              <a:rPr lang="en-US" sz="1000">
                <a:solidFill>
                  <a:schemeClr val="bg2"/>
                </a:solidFill>
                <a:latin typeface="Times" pitchFamily="18" charset="0"/>
              </a:rPr>
              <a:pPr algn="r" defTabSz="1011090" eaLnBrk="0" hangingPunct="0"/>
              <a:t>90</a:t>
            </a:fld>
            <a:endParaRPr lang="en-US" sz="1000" dirty="0">
              <a:solidFill>
                <a:schemeClr val="bg2"/>
              </a:solidFill>
              <a:latin typeface="Times" pitchFamily="18" charset="0"/>
            </a:endParaRPr>
          </a:p>
        </p:txBody>
      </p:sp>
      <p:sp>
        <p:nvSpPr>
          <p:cNvPr id="259078" name="Rectangle 30"/>
          <p:cNvSpPr txBox="1">
            <a:spLocks noGrp="1" noChangeArrowheads="1"/>
          </p:cNvSpPr>
          <p:nvPr/>
        </p:nvSpPr>
        <p:spPr bwMode="auto">
          <a:xfrm>
            <a:off x="6162675" y="9364664"/>
            <a:ext cx="871538" cy="223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1175" tIns="50587" rIns="101175" bIns="50587" anchor="b"/>
          <a:lstStyle/>
          <a:p>
            <a:pPr algn="r" defTabSz="1011090" eaLnBrk="0" hangingPunct="0"/>
            <a:fld id="{2F21FF51-1C91-444A-95FF-EF16847A059B}" type="slidenum">
              <a:rPr lang="en-US" sz="1000">
                <a:solidFill>
                  <a:schemeClr val="bg2"/>
                </a:solidFill>
                <a:latin typeface="Times" pitchFamily="18" charset="0"/>
              </a:rPr>
              <a:pPr algn="r" defTabSz="1011090" eaLnBrk="0" hangingPunct="0"/>
              <a:t>90</a:t>
            </a:fld>
            <a:endParaRPr lang="en-US" sz="1000" dirty="0">
              <a:solidFill>
                <a:schemeClr val="bg2"/>
              </a:solidFill>
              <a:latin typeface="Times" pitchFamily="18" charset="0"/>
            </a:endParaRPr>
          </a:p>
        </p:txBody>
      </p:sp>
      <p:sp>
        <p:nvSpPr>
          <p:cNvPr id="259079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9080" name="Rectangle 5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392214882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30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1011090"/>
            <a:fld id="{0BC18376-01D7-47E2-BA1B-B6606D5E24C4}" type="slidenum">
              <a:rPr lang="en-US" smtClean="0"/>
              <a:pPr defTabSz="1011090"/>
              <a:t>91</a:t>
            </a:fld>
            <a:endParaRPr lang="en-US" dirty="0" smtClean="0"/>
          </a:p>
        </p:txBody>
      </p:sp>
      <p:sp>
        <p:nvSpPr>
          <p:cNvPr id="259076" name="Rectangle 30"/>
          <p:cNvSpPr txBox="1">
            <a:spLocks noGrp="1" noChangeArrowheads="1"/>
          </p:cNvSpPr>
          <p:nvPr/>
        </p:nvSpPr>
        <p:spPr bwMode="auto">
          <a:xfrm>
            <a:off x="6162675" y="9364664"/>
            <a:ext cx="871538" cy="223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1175" tIns="50587" rIns="101175" bIns="50587" anchor="b"/>
          <a:lstStyle/>
          <a:p>
            <a:pPr algn="r" defTabSz="1011090" eaLnBrk="0" hangingPunct="0"/>
            <a:fld id="{000DCB57-E4F5-49F3-BA9C-38796982DB74}" type="slidenum">
              <a:rPr lang="en-US" sz="1000">
                <a:solidFill>
                  <a:schemeClr val="bg2"/>
                </a:solidFill>
                <a:latin typeface="Times" pitchFamily="18" charset="0"/>
              </a:rPr>
              <a:pPr algn="r" defTabSz="1011090" eaLnBrk="0" hangingPunct="0"/>
              <a:t>91</a:t>
            </a:fld>
            <a:endParaRPr lang="en-US" sz="1000" dirty="0">
              <a:solidFill>
                <a:schemeClr val="bg2"/>
              </a:solidFill>
              <a:latin typeface="Times" pitchFamily="18" charset="0"/>
            </a:endParaRPr>
          </a:p>
        </p:txBody>
      </p:sp>
      <p:sp>
        <p:nvSpPr>
          <p:cNvPr id="259078" name="Rectangle 30"/>
          <p:cNvSpPr txBox="1">
            <a:spLocks noGrp="1" noChangeArrowheads="1"/>
          </p:cNvSpPr>
          <p:nvPr/>
        </p:nvSpPr>
        <p:spPr bwMode="auto">
          <a:xfrm>
            <a:off x="6162675" y="9364664"/>
            <a:ext cx="871538" cy="223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1175" tIns="50587" rIns="101175" bIns="50587" anchor="b"/>
          <a:lstStyle/>
          <a:p>
            <a:pPr algn="r" defTabSz="1011090" eaLnBrk="0" hangingPunct="0"/>
            <a:fld id="{2F21FF51-1C91-444A-95FF-EF16847A059B}" type="slidenum">
              <a:rPr lang="en-US" sz="1000">
                <a:solidFill>
                  <a:schemeClr val="bg2"/>
                </a:solidFill>
                <a:latin typeface="Times" pitchFamily="18" charset="0"/>
              </a:rPr>
              <a:pPr algn="r" defTabSz="1011090" eaLnBrk="0" hangingPunct="0"/>
              <a:t>91</a:t>
            </a:fld>
            <a:endParaRPr lang="en-US" sz="1000" dirty="0">
              <a:solidFill>
                <a:schemeClr val="bg2"/>
              </a:solidFill>
              <a:latin typeface="Times" pitchFamily="18" charset="0"/>
            </a:endParaRPr>
          </a:p>
        </p:txBody>
      </p:sp>
      <p:sp>
        <p:nvSpPr>
          <p:cNvPr id="259079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9080" name="Rectangle 5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392214882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701946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701946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7A1AEF-A890-4693-859A-E0AB59F295EC}" type="slidenum">
              <a:rPr lang="en-US" smtClean="0"/>
              <a:pPr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52470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7A1AEF-A890-4693-859A-E0AB59F295EC}" type="slidenum">
              <a:rPr lang="en-US" smtClean="0"/>
              <a:pPr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293386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810874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810874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810874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810874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88447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05418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7046882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810874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05418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67800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5DE004-AAF7-4AE5-98A0-FA8DA0E5B063}" type="slidenum">
              <a:rPr lang="en-US" smtClean="0"/>
              <a:pPr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76112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9F9F92-2E98-4826-922F-1EABE5D71AC1}" type="slidenum">
              <a:rPr lang="en-US" smtClean="0"/>
              <a:pPr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125856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9F9F92-2E98-4826-922F-1EABE5D71AC1}" type="slidenum">
              <a:rPr lang="en-US" smtClean="0"/>
              <a:pPr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197538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897166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96903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208568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F263F-A53C-4EB6-879C-7ED777E13842}" type="slidenum">
              <a:rPr lang="en-US" smtClean="0"/>
              <a:pPr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208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>
                <a:latin typeface="Graphite MM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latin typeface="Graphite MM" panose="020B0604020202020204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403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711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995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>
                <a:latin typeface="Graphite MM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buFont typeface="Agency FB" panose="020B0503020202020204" pitchFamily="34" charset="0"/>
              <a:buChar char="•"/>
              <a:defRPr sz="2800">
                <a:latin typeface="Graphite MM" panose="020B0604020202020204"/>
              </a:defRPr>
            </a:lvl1pPr>
            <a:lvl2pPr marL="514350" indent="-171450">
              <a:buFont typeface="Courier New" panose="02070309020205020404" pitchFamily="49" charset="0"/>
              <a:buChar char="o"/>
              <a:defRPr>
                <a:latin typeface="Graphite MM" panose="020B0604020202020204"/>
              </a:defRPr>
            </a:lvl2pPr>
            <a:lvl3pPr marL="857250" indent="-171450">
              <a:buFont typeface="Calibri" panose="020F0502020204030204" pitchFamily="34" charset="0"/>
              <a:buChar char="‒"/>
              <a:defRPr>
                <a:latin typeface="Graphite MM" panose="020B0604020202020204"/>
              </a:defRPr>
            </a:lvl3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2C2D308B-B31D-4C87-80A7-0C493512D79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1932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856D00-7E3A-474F-A645-5B00B94AB3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913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856D00-7E3A-474F-A645-5B00B94AB3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81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856D00-7E3A-474F-A645-5B00B94AB3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693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856D00-7E3A-474F-A645-5B00B94AB3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012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856D00-7E3A-474F-A645-5B00B94AB3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60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856D00-7E3A-474F-A645-5B00B94AB3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7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856D00-7E3A-474F-A645-5B00B94AB3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888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856D00-7E3A-474F-A645-5B00B94AB3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014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856D00-7E3A-474F-A645-5B00B94AB3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432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2183" y="236533"/>
            <a:ext cx="8443913" cy="13398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2183" y="1825625"/>
            <a:ext cx="8443913" cy="44180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 txBox="1">
            <a:spLocks/>
          </p:cNvSpPr>
          <p:nvPr userDrawn="1"/>
        </p:nvSpPr>
        <p:spPr>
          <a:xfrm>
            <a:off x="3580899" y="6496719"/>
            <a:ext cx="1295901" cy="228600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smtClean="0">
                <a:solidFill>
                  <a:schemeClr val="tx1"/>
                </a:solidFill>
              </a:rPr>
              <a:t>©  2015 Semantic Arts, Inc. </a:t>
            </a: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D308B-B31D-4C87-80A7-0C493512D7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400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Graphite MM" panose="020B0604020202020204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Graphite MM" panose="020B0604020202020204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raphite MM" panose="020B0604020202020204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Graphite MM" panose="020B0604020202020204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2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notesSlide" Target="../notesSlides/notesSlide30.xml"/><Relationship Id="rId7" Type="http://schemas.openxmlformats.org/officeDocument/2006/relationships/image" Target="../media/image18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20.emf"/><Relationship Id="rId5" Type="http://schemas.openxmlformats.org/officeDocument/2006/relationships/image" Target="../media/image17.e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19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notesSlide" Target="../notesSlides/notesSlide31.xml"/><Relationship Id="rId7" Type="http://schemas.openxmlformats.org/officeDocument/2006/relationships/image" Target="../media/image18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20.emf"/><Relationship Id="rId5" Type="http://schemas.openxmlformats.org/officeDocument/2006/relationships/image" Target="../media/image17.emf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19.e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0.png"/><Relationship Id="rId4" Type="http://schemas.openxmlformats.org/officeDocument/2006/relationships/image" Target="../media/image49.emf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4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9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4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4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4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4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tx2"/>
                </a:solidFill>
              </a:rPr>
              <a:t>Hands On Building an Ontology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Training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in Semantics and Ontology Development </a:t>
            </a:r>
          </a:p>
          <a:p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Wednesday October 28,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2015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67946" y="5590309"/>
            <a:ext cx="2074718" cy="1092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8962" name="Picture 2" descr="Platts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7045" y="5657850"/>
            <a:ext cx="3020803" cy="6511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05314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Thoughts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14812" y="1855960"/>
            <a:ext cx="664765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Make the colors same as Protégé (have to do blue/green for relation</a:t>
            </a:r>
            <a:r>
              <a:rPr lang="en-US" dirty="0" smtClean="0"/>
              <a:t>)</a:t>
            </a:r>
          </a:p>
          <a:p>
            <a:r>
              <a:rPr lang="en-US" dirty="0"/>
              <a:t>	</a:t>
            </a:r>
            <a:r>
              <a:rPr lang="en-US" b="1" dirty="0" smtClean="0">
                <a:solidFill>
                  <a:srgbClr val="FF0000"/>
                </a:solidFill>
              </a:rPr>
              <a:t>[Done.  --DC] </a:t>
            </a:r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Make relation </a:t>
            </a:r>
            <a:r>
              <a:rPr lang="en-US" dirty="0"/>
              <a:t>second</a:t>
            </a:r>
          </a:p>
          <a:p>
            <a:r>
              <a:rPr lang="en-US" dirty="0"/>
              <a:t>	</a:t>
            </a:r>
            <a:r>
              <a:rPr lang="en-US" b="1" dirty="0">
                <a:solidFill>
                  <a:srgbClr val="FF0000"/>
                </a:solidFill>
              </a:rPr>
              <a:t>[Done.  --DC]</a:t>
            </a:r>
            <a:endParaRPr lang="en-US" dirty="0" smtClean="0"/>
          </a:p>
          <a:p>
            <a:r>
              <a:rPr lang="en-US" sz="2400" i="1" dirty="0" smtClean="0"/>
              <a:t>Add the classes and relations to the spreadsheet</a:t>
            </a:r>
            <a:endParaRPr lang="en-US" sz="240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Five Important Distinctions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748149" y="1576389"/>
            <a:ext cx="1213658" cy="415636"/>
          </a:xfrm>
          <a:prstGeom prst="rect">
            <a:avLst/>
          </a:prstGeom>
          <a:solidFill>
            <a:srgbClr val="5418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Instance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5433009" y="1576389"/>
            <a:ext cx="1213658" cy="415636"/>
          </a:xfrm>
          <a:prstGeom prst="rect">
            <a:avLst/>
          </a:prstGeom>
          <a:solidFill>
            <a:srgbClr val="CC9F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Class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2325543" y="1576389"/>
            <a:ext cx="1213658" cy="41563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Value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7010404" y="1576389"/>
            <a:ext cx="1213658" cy="415636"/>
          </a:xfrm>
          <a:prstGeom prst="rect">
            <a:avLst/>
          </a:prstGeom>
          <a:solidFill>
            <a:srgbClr val="CB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Taxonomy</a:t>
            </a:r>
            <a:endParaRPr lang="en-US" dirty="0"/>
          </a:p>
        </p:txBody>
      </p:sp>
      <p:grpSp>
        <p:nvGrpSpPr>
          <p:cNvPr id="23" name="Group 22"/>
          <p:cNvGrpSpPr/>
          <p:nvPr/>
        </p:nvGrpSpPr>
        <p:grpSpPr>
          <a:xfrm>
            <a:off x="3902937" y="1576389"/>
            <a:ext cx="1166336" cy="415636"/>
            <a:chOff x="2313713" y="1524866"/>
            <a:chExt cx="1166336" cy="415636"/>
          </a:xfrm>
        </p:grpSpPr>
        <p:grpSp>
          <p:nvGrpSpPr>
            <p:cNvPr id="24" name="Group 23"/>
            <p:cNvGrpSpPr/>
            <p:nvPr/>
          </p:nvGrpSpPr>
          <p:grpSpPr>
            <a:xfrm>
              <a:off x="2313713" y="1524866"/>
              <a:ext cx="1166336" cy="415636"/>
              <a:chOff x="2313713" y="1524866"/>
              <a:chExt cx="1166336" cy="415636"/>
            </a:xfrm>
          </p:grpSpPr>
          <p:sp>
            <p:nvSpPr>
              <p:cNvPr id="26" name="Rectangle 25"/>
              <p:cNvSpPr/>
              <p:nvPr/>
            </p:nvSpPr>
            <p:spPr>
              <a:xfrm>
                <a:off x="2313713" y="1524866"/>
                <a:ext cx="583168" cy="415636"/>
              </a:xfrm>
              <a:prstGeom prst="rect">
                <a:avLst/>
              </a:prstGeom>
              <a:solidFill>
                <a:srgbClr val="306FA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2896881" y="1524866"/>
                <a:ext cx="583168" cy="415636"/>
              </a:xfrm>
              <a:prstGeom prst="rect">
                <a:avLst/>
              </a:prstGeom>
              <a:solidFill>
                <a:srgbClr val="6B8E23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5" name="Rectangle 24"/>
            <p:cNvSpPr/>
            <p:nvPr/>
          </p:nvSpPr>
          <p:spPr>
            <a:xfrm>
              <a:off x="2418897" y="1543029"/>
              <a:ext cx="95596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FFFFFF"/>
                  </a:solidFill>
                </a:rPr>
                <a:t>Relation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24358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Instance (aka Individual)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41320" y="2024384"/>
            <a:ext cx="2596896" cy="591310"/>
          </a:xfrm>
          <a:prstGeom prst="rect">
            <a:avLst/>
          </a:prstGeom>
          <a:solidFill>
            <a:srgbClr val="5418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Instance</a:t>
            </a:r>
            <a:endParaRPr lang="en-US" b="1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781050" y="2850955"/>
            <a:ext cx="7886700" cy="3478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Graphite MM" charset="0"/>
                <a:ea typeface="Graphite MM" charset="0"/>
                <a:cs typeface="Graphite MM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>
                <a:latin typeface="Graphite Light ATT" panose="03020402050402020203" pitchFamily="66" charset="0"/>
              </a:rPr>
              <a:t>Things with independent existence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b="1" dirty="0" smtClean="0">
                <a:solidFill>
                  <a:srgbClr val="541852"/>
                </a:solidFill>
                <a:latin typeface="Graphite Light ATT" panose="03020402050402020203" pitchFamily="66" charset="0"/>
              </a:rPr>
              <a:t>“British Petroleum” 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b="1" dirty="0" smtClean="0">
                <a:solidFill>
                  <a:srgbClr val="541852"/>
                </a:solidFill>
                <a:latin typeface="Graphite Light ATT" panose="03020402050402020203" pitchFamily="66" charset="0"/>
              </a:rPr>
              <a:t>“MV Sirius Star”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b="1" dirty="0" smtClean="0">
                <a:solidFill>
                  <a:srgbClr val="541852"/>
                </a:solidFill>
                <a:latin typeface="Graphite Light ATT" panose="03020402050402020203" pitchFamily="66" charset="0"/>
              </a:rPr>
              <a:t>“Houston, TX”</a:t>
            </a:r>
          </a:p>
          <a:p>
            <a:r>
              <a:rPr lang="en-US" b="1" dirty="0" smtClean="0">
                <a:latin typeface="Graphite Light ATT" panose="03020402050402020203" pitchFamily="66" charset="0"/>
              </a:rPr>
              <a:t>Typically have many complex relationships</a:t>
            </a:r>
            <a:endParaRPr lang="en-US" b="1" dirty="0">
              <a:latin typeface="Graphite Light ATT" panose="03020402050402020203" pitchFamily="66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748149" y="1576389"/>
            <a:ext cx="1213658" cy="415636"/>
          </a:xfrm>
          <a:prstGeom prst="rect">
            <a:avLst/>
          </a:prstGeom>
          <a:solidFill>
            <a:srgbClr val="5418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Instance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5433009" y="1576389"/>
            <a:ext cx="1213658" cy="415636"/>
          </a:xfrm>
          <a:prstGeom prst="rect">
            <a:avLst/>
          </a:prstGeom>
          <a:solidFill>
            <a:srgbClr val="CC9F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Class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2325543" y="1576389"/>
            <a:ext cx="1213658" cy="41563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Value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7010404" y="1576389"/>
            <a:ext cx="1213658" cy="415636"/>
          </a:xfrm>
          <a:prstGeom prst="rect">
            <a:avLst/>
          </a:prstGeom>
          <a:solidFill>
            <a:srgbClr val="CB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Taxonomy</a:t>
            </a:r>
            <a:endParaRPr lang="en-US" dirty="0"/>
          </a:p>
        </p:txBody>
      </p:sp>
      <p:grpSp>
        <p:nvGrpSpPr>
          <p:cNvPr id="25" name="Group 24"/>
          <p:cNvGrpSpPr/>
          <p:nvPr/>
        </p:nvGrpSpPr>
        <p:grpSpPr>
          <a:xfrm>
            <a:off x="3902937" y="1576389"/>
            <a:ext cx="1166336" cy="415636"/>
            <a:chOff x="2313713" y="1524866"/>
            <a:chExt cx="1166336" cy="415636"/>
          </a:xfrm>
        </p:grpSpPr>
        <p:grpSp>
          <p:nvGrpSpPr>
            <p:cNvPr id="26" name="Group 25"/>
            <p:cNvGrpSpPr/>
            <p:nvPr/>
          </p:nvGrpSpPr>
          <p:grpSpPr>
            <a:xfrm>
              <a:off x="2313713" y="1524866"/>
              <a:ext cx="1166336" cy="415636"/>
              <a:chOff x="2313713" y="1524866"/>
              <a:chExt cx="1166336" cy="415636"/>
            </a:xfrm>
          </p:grpSpPr>
          <p:sp>
            <p:nvSpPr>
              <p:cNvPr id="28" name="Rectangle 27"/>
              <p:cNvSpPr/>
              <p:nvPr/>
            </p:nvSpPr>
            <p:spPr>
              <a:xfrm>
                <a:off x="2313713" y="1524866"/>
                <a:ext cx="583168" cy="415636"/>
              </a:xfrm>
              <a:prstGeom prst="rect">
                <a:avLst/>
              </a:prstGeom>
              <a:solidFill>
                <a:srgbClr val="306FA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2896881" y="1524866"/>
                <a:ext cx="583168" cy="415636"/>
              </a:xfrm>
              <a:prstGeom prst="rect">
                <a:avLst/>
              </a:prstGeom>
              <a:solidFill>
                <a:srgbClr val="6B8E23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7" name="Rectangle 26"/>
            <p:cNvSpPr/>
            <p:nvPr/>
          </p:nvSpPr>
          <p:spPr>
            <a:xfrm>
              <a:off x="2418897" y="1543029"/>
              <a:ext cx="95596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FFFFFF"/>
                  </a:solidFill>
                </a:rPr>
                <a:t>Relation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4367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Value (literal)</a:t>
            </a:r>
            <a:endParaRPr lang="en-US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781051" y="2713221"/>
            <a:ext cx="3333750" cy="3719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Graphite MM" charset="0"/>
                <a:ea typeface="Graphite MM" charset="0"/>
                <a:cs typeface="Graphite MM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b="1" dirty="0" smtClean="0">
                <a:latin typeface="Graphite Light ATT" panose="03020402050402020203" pitchFamily="66" charset="0"/>
              </a:rPr>
              <a:t>Descriptive text, number, or date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b="1" smtClean="0">
                <a:latin typeface="Graphite Light ATT" panose="03020402050402020203" pitchFamily="66" charset="0"/>
              </a:rPr>
              <a:t>“It </a:t>
            </a:r>
            <a:r>
              <a:rPr lang="en-US" sz="2400" b="1" dirty="0" smtClean="0">
                <a:latin typeface="Graphite Light ATT" panose="03020402050402020203" pitchFamily="66" charset="0"/>
              </a:rPr>
              <a:t>was a dark and stormy night..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b="1" dirty="0" smtClean="0">
                <a:latin typeface="Graphite Light ATT" panose="03020402050402020203" pitchFamily="66" charset="0"/>
              </a:rPr>
              <a:t>$45.10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b="1" dirty="0" smtClean="0">
                <a:latin typeface="Graphite Light ATT" panose="03020402050402020203" pitchFamily="66" charset="0"/>
              </a:rPr>
              <a:t>.03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b="1" dirty="0" smtClean="0">
                <a:latin typeface="Graphite Light ATT" panose="03020402050402020203" pitchFamily="66" charset="0"/>
              </a:rPr>
              <a:t>8/25/2015</a:t>
            </a:r>
            <a:endParaRPr lang="en-US" sz="2400" b="1" dirty="0">
              <a:latin typeface="Graphite Light ATT" panose="03020402050402020203" pitchFamily="66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631145" y="2066371"/>
            <a:ext cx="2593571" cy="5486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Value</a:t>
            </a:r>
            <a:endParaRPr lang="en-US" b="1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4732565" y="2691450"/>
            <a:ext cx="3333750" cy="3719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Graphite MM" charset="0"/>
                <a:ea typeface="Graphite MM" charset="0"/>
                <a:cs typeface="Graphite MM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b="1" dirty="0" smtClean="0">
                <a:latin typeface="Graphite Light ATT" panose="03020402050402020203" pitchFamily="66" charset="0"/>
              </a:rPr>
              <a:t>Technically </a:t>
            </a:r>
            <a:r>
              <a:rPr lang="en-US" b="1" i="1" dirty="0" smtClean="0">
                <a:latin typeface="Graphite Light ATT" panose="03020402050402020203" pitchFamily="66" charset="0"/>
              </a:rPr>
              <a:t>literals</a:t>
            </a:r>
            <a:r>
              <a:rPr lang="en-US" b="1" dirty="0" smtClean="0">
                <a:latin typeface="Graphite Light ATT" panose="03020402050402020203" pitchFamily="66" charset="0"/>
              </a:rPr>
              <a:t>, but best to think of what they represent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b="1" dirty="0" smtClean="0">
                <a:latin typeface="Graphite Light ATT" panose="03020402050402020203" pitchFamily="66" charset="0"/>
              </a:rPr>
              <a:t>Identifiers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b="1" dirty="0" smtClean="0">
                <a:latin typeface="Graphite Light ATT" panose="03020402050402020203" pitchFamily="66" charset="0"/>
              </a:rPr>
              <a:t>Labels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b="1" dirty="0" smtClean="0">
                <a:latin typeface="Graphite Light ATT" panose="03020402050402020203" pitchFamily="66" charset="0"/>
              </a:rPr>
              <a:t>Names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b="1" dirty="0" smtClean="0">
                <a:latin typeface="Graphite Light ATT" panose="03020402050402020203" pitchFamily="66" charset="0"/>
              </a:rPr>
              <a:t>Categories</a:t>
            </a:r>
            <a:endParaRPr lang="en-US" sz="2400" b="1" dirty="0">
              <a:latin typeface="Graphite Light ATT" panose="03020402050402020203" pitchFamily="66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48149" y="1576389"/>
            <a:ext cx="1213658" cy="415636"/>
          </a:xfrm>
          <a:prstGeom prst="rect">
            <a:avLst/>
          </a:prstGeom>
          <a:solidFill>
            <a:srgbClr val="5418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Instance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5433009" y="1576389"/>
            <a:ext cx="1213658" cy="415636"/>
          </a:xfrm>
          <a:prstGeom prst="rect">
            <a:avLst/>
          </a:prstGeom>
          <a:solidFill>
            <a:srgbClr val="CC9F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Class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325543" y="1576389"/>
            <a:ext cx="1213658" cy="41563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Value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7010404" y="1576389"/>
            <a:ext cx="1213658" cy="415636"/>
          </a:xfrm>
          <a:prstGeom prst="rect">
            <a:avLst/>
          </a:prstGeom>
          <a:solidFill>
            <a:srgbClr val="CB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Taxonomy</a:t>
            </a:r>
            <a:endParaRPr lang="en-US" dirty="0"/>
          </a:p>
        </p:txBody>
      </p:sp>
      <p:grpSp>
        <p:nvGrpSpPr>
          <p:cNvPr id="18" name="Group 17"/>
          <p:cNvGrpSpPr/>
          <p:nvPr/>
        </p:nvGrpSpPr>
        <p:grpSpPr>
          <a:xfrm>
            <a:off x="3902937" y="1576389"/>
            <a:ext cx="1166336" cy="415636"/>
            <a:chOff x="2313713" y="1524866"/>
            <a:chExt cx="1166336" cy="415636"/>
          </a:xfrm>
        </p:grpSpPr>
        <p:grpSp>
          <p:nvGrpSpPr>
            <p:cNvPr id="19" name="Group 18"/>
            <p:cNvGrpSpPr/>
            <p:nvPr/>
          </p:nvGrpSpPr>
          <p:grpSpPr>
            <a:xfrm>
              <a:off x="2313713" y="1524866"/>
              <a:ext cx="1166336" cy="415636"/>
              <a:chOff x="2313713" y="1524866"/>
              <a:chExt cx="1166336" cy="415636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2313713" y="1524866"/>
                <a:ext cx="583168" cy="415636"/>
              </a:xfrm>
              <a:prstGeom prst="rect">
                <a:avLst/>
              </a:prstGeom>
              <a:solidFill>
                <a:srgbClr val="306FA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2896881" y="1524866"/>
                <a:ext cx="583168" cy="415636"/>
              </a:xfrm>
              <a:prstGeom prst="rect">
                <a:avLst/>
              </a:prstGeom>
              <a:solidFill>
                <a:srgbClr val="6B8E23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0" name="Rectangle 19"/>
            <p:cNvSpPr/>
            <p:nvPr/>
          </p:nvSpPr>
          <p:spPr>
            <a:xfrm>
              <a:off x="2418897" y="1543029"/>
              <a:ext cx="95596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FFFFFF"/>
                  </a:solidFill>
                </a:rPr>
                <a:t>Relation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6831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1" grpId="0" animBg="1"/>
      <p:bldP spid="1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Relation (Relationship / Property)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781050" y="2858389"/>
            <a:ext cx="7886700" cy="29480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Graphite MM" charset="0"/>
                <a:ea typeface="Graphite MM" charset="0"/>
                <a:cs typeface="Graphite MM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>
                <a:latin typeface="Graphite Light ATT" panose="03020402050402020203" pitchFamily="66" charset="0"/>
              </a:rPr>
              <a:t>Connects two instances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b="1" smtClean="0">
                <a:solidFill>
                  <a:srgbClr val="541852"/>
                </a:solidFill>
                <a:latin typeface="Graphite Light ATT" panose="03020402050402020203" pitchFamily="66" charset="0"/>
              </a:rPr>
              <a:t>“BP” </a:t>
            </a:r>
            <a:r>
              <a:rPr lang="en-US" b="1" smtClean="0">
                <a:solidFill>
                  <a:srgbClr val="306FA2"/>
                </a:solidFill>
                <a:latin typeface="Graphite Light ATT" panose="03020402050402020203" pitchFamily="66" charset="0"/>
              </a:rPr>
              <a:t>“owns”</a:t>
            </a:r>
            <a:r>
              <a:rPr lang="en-US" b="1" smtClean="0">
                <a:solidFill>
                  <a:srgbClr val="6B8E23"/>
                </a:solidFill>
                <a:latin typeface="Graphite Light ATT" panose="03020402050402020203" pitchFamily="66" charset="0"/>
              </a:rPr>
              <a:t> </a:t>
            </a:r>
            <a:r>
              <a:rPr lang="en-US" b="1" smtClean="0">
                <a:solidFill>
                  <a:srgbClr val="541852"/>
                </a:solidFill>
                <a:latin typeface="Graphite Light ATT" panose="03020402050402020203" pitchFamily="66" charset="0"/>
              </a:rPr>
              <a:t>“Cherry </a:t>
            </a:r>
            <a:r>
              <a:rPr lang="en-US" b="1" dirty="0">
                <a:solidFill>
                  <a:srgbClr val="541852"/>
                </a:solidFill>
                <a:latin typeface="Graphite Light ATT" panose="03020402050402020203" pitchFamily="66" charset="0"/>
              </a:rPr>
              <a:t>Point, </a:t>
            </a:r>
            <a:r>
              <a:rPr lang="en-US" b="1">
                <a:solidFill>
                  <a:srgbClr val="541852"/>
                </a:solidFill>
                <a:latin typeface="Graphite Light ATT" panose="03020402050402020203" pitchFamily="66" charset="0"/>
              </a:rPr>
              <a:t>WA </a:t>
            </a:r>
            <a:r>
              <a:rPr lang="en-US" b="1" smtClean="0">
                <a:solidFill>
                  <a:srgbClr val="541852"/>
                </a:solidFill>
                <a:latin typeface="Graphite Light ATT" panose="03020402050402020203" pitchFamily="66" charset="0"/>
              </a:rPr>
              <a:t>refinery”</a:t>
            </a:r>
            <a:endParaRPr lang="en-US" b="1" dirty="0" smtClean="0">
              <a:solidFill>
                <a:srgbClr val="541852"/>
              </a:solidFill>
              <a:latin typeface="Graphite Light ATT" panose="03020402050402020203" pitchFamily="66" charset="0"/>
            </a:endParaRPr>
          </a:p>
          <a:p>
            <a:r>
              <a:rPr lang="en-US" b="1" dirty="0" smtClean="0">
                <a:latin typeface="Graphite Light ATT" panose="03020402050402020203" pitchFamily="66" charset="0"/>
              </a:rPr>
              <a:t>Or associates </a:t>
            </a:r>
            <a:r>
              <a:rPr lang="en-US" b="1" dirty="0">
                <a:latin typeface="Graphite Light ATT" panose="03020402050402020203" pitchFamily="66" charset="0"/>
              </a:rPr>
              <a:t>an instance </a:t>
            </a:r>
            <a:r>
              <a:rPr lang="en-US" b="1" dirty="0" smtClean="0">
                <a:latin typeface="Graphite Light ATT" panose="03020402050402020203" pitchFamily="66" charset="0"/>
              </a:rPr>
              <a:t>with a value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b="1" smtClean="0">
                <a:solidFill>
                  <a:srgbClr val="541852"/>
                </a:solidFill>
                <a:latin typeface="Graphite Light ATT" panose="03020402050402020203" pitchFamily="66" charset="0"/>
              </a:rPr>
              <a:t>“Shardin Oil Field”</a:t>
            </a:r>
            <a:r>
              <a:rPr lang="en-US" b="1" smtClean="0">
                <a:latin typeface="Graphite Light ATT" panose="03020402050402020203" pitchFamily="66" charset="0"/>
              </a:rPr>
              <a:t> </a:t>
            </a:r>
            <a:r>
              <a:rPr lang="en-US" b="1" smtClean="0">
                <a:solidFill>
                  <a:srgbClr val="6B8E23"/>
                </a:solidFill>
                <a:latin typeface="Graphite Light ATT" panose="03020402050402020203" pitchFamily="66" charset="0"/>
              </a:rPr>
              <a:t>“firstProductionDate” </a:t>
            </a:r>
            <a:r>
              <a:rPr lang="en-US" b="1" smtClean="0">
                <a:latin typeface="Graphite Light ATT" panose="03020402050402020203" pitchFamily="66" charset="0"/>
              </a:rPr>
              <a:t>“5/26/1908”</a:t>
            </a:r>
            <a:endParaRPr lang="en-US" b="1" dirty="0">
              <a:latin typeface="Graphite Light ATT" panose="03020402050402020203" pitchFamily="66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6</a:t>
            </a:fld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3187656" y="2064892"/>
            <a:ext cx="2596896" cy="548640"/>
            <a:chOff x="5844068" y="2248078"/>
            <a:chExt cx="2596896" cy="548640"/>
          </a:xfrm>
        </p:grpSpPr>
        <p:grpSp>
          <p:nvGrpSpPr>
            <p:cNvPr id="18" name="Group 17"/>
            <p:cNvGrpSpPr/>
            <p:nvPr/>
          </p:nvGrpSpPr>
          <p:grpSpPr>
            <a:xfrm>
              <a:off x="5844068" y="2248078"/>
              <a:ext cx="2596896" cy="548640"/>
              <a:chOff x="2313713" y="1524866"/>
              <a:chExt cx="1166336" cy="415636"/>
            </a:xfrm>
          </p:grpSpPr>
          <p:sp>
            <p:nvSpPr>
              <p:cNvPr id="20" name="Rectangle 19"/>
              <p:cNvSpPr/>
              <p:nvPr/>
            </p:nvSpPr>
            <p:spPr>
              <a:xfrm>
                <a:off x="2313713" y="1524866"/>
                <a:ext cx="583168" cy="415636"/>
              </a:xfrm>
              <a:prstGeom prst="rect">
                <a:avLst/>
              </a:prstGeom>
              <a:solidFill>
                <a:srgbClr val="306FA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2896881" y="1524866"/>
                <a:ext cx="583168" cy="415636"/>
              </a:xfrm>
              <a:prstGeom prst="rect">
                <a:avLst/>
              </a:prstGeom>
              <a:solidFill>
                <a:srgbClr val="6B8E23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" name="Rectangle 2"/>
            <p:cNvSpPr/>
            <p:nvPr/>
          </p:nvSpPr>
          <p:spPr>
            <a:xfrm>
              <a:off x="6519269" y="2291566"/>
              <a:ext cx="124649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lt1"/>
                  </a:solidFill>
                </a:rPr>
                <a:t>Relation</a:t>
              </a:r>
            </a:p>
          </p:txBody>
        </p:sp>
      </p:grpSp>
      <p:sp>
        <p:nvSpPr>
          <p:cNvPr id="27" name="Rectangle 26"/>
          <p:cNvSpPr/>
          <p:nvPr/>
        </p:nvSpPr>
        <p:spPr>
          <a:xfrm>
            <a:off x="748149" y="1576389"/>
            <a:ext cx="1213658" cy="415636"/>
          </a:xfrm>
          <a:prstGeom prst="rect">
            <a:avLst/>
          </a:prstGeom>
          <a:solidFill>
            <a:srgbClr val="5418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Instance</a:t>
            </a:r>
            <a:endParaRPr lang="en-US" dirty="0"/>
          </a:p>
        </p:txBody>
      </p:sp>
      <p:sp>
        <p:nvSpPr>
          <p:cNvPr id="28" name="Rectangle 27"/>
          <p:cNvSpPr/>
          <p:nvPr/>
        </p:nvSpPr>
        <p:spPr>
          <a:xfrm>
            <a:off x="5433009" y="1576389"/>
            <a:ext cx="1213658" cy="415636"/>
          </a:xfrm>
          <a:prstGeom prst="rect">
            <a:avLst/>
          </a:prstGeom>
          <a:solidFill>
            <a:srgbClr val="CC9F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Class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2325543" y="1576389"/>
            <a:ext cx="1213658" cy="41563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Value</a:t>
            </a:r>
            <a:endParaRPr lang="en-US" dirty="0"/>
          </a:p>
        </p:txBody>
      </p:sp>
      <p:sp>
        <p:nvSpPr>
          <p:cNvPr id="30" name="Rectangle 29"/>
          <p:cNvSpPr/>
          <p:nvPr/>
        </p:nvSpPr>
        <p:spPr>
          <a:xfrm>
            <a:off x="7010404" y="1576389"/>
            <a:ext cx="1213658" cy="415636"/>
          </a:xfrm>
          <a:prstGeom prst="rect">
            <a:avLst/>
          </a:prstGeom>
          <a:solidFill>
            <a:srgbClr val="CB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Taxonomy</a:t>
            </a:r>
            <a:endParaRPr lang="en-US" dirty="0"/>
          </a:p>
        </p:txBody>
      </p:sp>
      <p:grpSp>
        <p:nvGrpSpPr>
          <p:cNvPr id="31" name="Group 30"/>
          <p:cNvGrpSpPr/>
          <p:nvPr/>
        </p:nvGrpSpPr>
        <p:grpSpPr>
          <a:xfrm>
            <a:off x="3902937" y="1576389"/>
            <a:ext cx="1166336" cy="415636"/>
            <a:chOff x="2313713" y="1524866"/>
            <a:chExt cx="1166336" cy="415636"/>
          </a:xfrm>
        </p:grpSpPr>
        <p:grpSp>
          <p:nvGrpSpPr>
            <p:cNvPr id="32" name="Group 31"/>
            <p:cNvGrpSpPr/>
            <p:nvPr/>
          </p:nvGrpSpPr>
          <p:grpSpPr>
            <a:xfrm>
              <a:off x="2313713" y="1524866"/>
              <a:ext cx="1166336" cy="415636"/>
              <a:chOff x="2313713" y="1524866"/>
              <a:chExt cx="1166336" cy="415636"/>
            </a:xfrm>
          </p:grpSpPr>
          <p:sp>
            <p:nvSpPr>
              <p:cNvPr id="34" name="Rectangle 33"/>
              <p:cNvSpPr/>
              <p:nvPr/>
            </p:nvSpPr>
            <p:spPr>
              <a:xfrm>
                <a:off x="2313713" y="1524866"/>
                <a:ext cx="583168" cy="415636"/>
              </a:xfrm>
              <a:prstGeom prst="rect">
                <a:avLst/>
              </a:prstGeom>
              <a:solidFill>
                <a:srgbClr val="306FA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" name="Rectangle 34"/>
              <p:cNvSpPr/>
              <p:nvPr/>
            </p:nvSpPr>
            <p:spPr>
              <a:xfrm>
                <a:off x="2896881" y="1524866"/>
                <a:ext cx="583168" cy="415636"/>
              </a:xfrm>
              <a:prstGeom prst="rect">
                <a:avLst/>
              </a:prstGeom>
              <a:solidFill>
                <a:srgbClr val="6B8E23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3" name="Rectangle 32"/>
            <p:cNvSpPr/>
            <p:nvPr/>
          </p:nvSpPr>
          <p:spPr>
            <a:xfrm>
              <a:off x="2418897" y="1543029"/>
              <a:ext cx="95596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FFFFFF"/>
                  </a:solidFill>
                </a:rPr>
                <a:t>Relation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741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</a:t>
            </a:r>
            <a:endParaRPr lang="en-US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78577" y="2734286"/>
            <a:ext cx="8198058" cy="3575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Graphite MM" charset="0"/>
                <a:ea typeface="Graphite MM" charset="0"/>
                <a:cs typeface="Graphite MM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smtClean="0">
                <a:latin typeface="Graphite Light ATT" panose="03020402050402020203" pitchFamily="66" charset="0"/>
              </a:rPr>
              <a:t>Sets of things with similar properties </a:t>
            </a:r>
            <a:br>
              <a:rPr lang="en-US" sz="2800" b="1" dirty="0" smtClean="0">
                <a:latin typeface="Graphite Light ATT" panose="03020402050402020203" pitchFamily="66" charset="0"/>
              </a:rPr>
            </a:br>
            <a:r>
              <a:rPr lang="en-US" sz="2800" b="1" dirty="0" smtClean="0">
                <a:latin typeface="Graphite Light ATT" panose="03020402050402020203" pitchFamily="66" charset="0"/>
              </a:rPr>
              <a:t>(</a:t>
            </a:r>
            <a:r>
              <a:rPr lang="en-US" sz="2800" b="1" dirty="0" err="1" smtClean="0">
                <a:latin typeface="Graphite Light ATT" panose="03020402050402020203" pitchFamily="66" charset="0"/>
              </a:rPr>
              <a:t>ie</a:t>
            </a:r>
            <a:r>
              <a:rPr lang="en-US" sz="2800" b="1" dirty="0" smtClean="0">
                <a:latin typeface="Graphite Light ATT" panose="03020402050402020203" pitchFamily="66" charset="0"/>
              </a:rPr>
              <a:t>. a kind of thing)</a:t>
            </a:r>
          </a:p>
          <a:p>
            <a:pPr marL="457200" indent="-4572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800" b="1" smtClean="0">
                <a:solidFill>
                  <a:srgbClr val="CC9F2A"/>
                </a:solidFill>
                <a:latin typeface="Graphite Light ATT" panose="03020402050402020203" pitchFamily="66" charset="0"/>
              </a:rPr>
              <a:t>“Pipeline” </a:t>
            </a:r>
            <a:endParaRPr lang="en-US" sz="2800" b="1" dirty="0" smtClean="0">
              <a:solidFill>
                <a:srgbClr val="CC9F2A"/>
              </a:solidFill>
              <a:latin typeface="Graphite Light ATT" panose="03020402050402020203" pitchFamily="66" charset="0"/>
            </a:endParaRPr>
          </a:p>
          <a:p>
            <a:pPr marL="457200" indent="-4572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800" b="1" smtClean="0">
                <a:solidFill>
                  <a:srgbClr val="CC9F2A"/>
                </a:solidFill>
                <a:latin typeface="Graphite Light ATT" panose="03020402050402020203" pitchFamily="66" charset="0"/>
              </a:rPr>
              <a:t>“Organization”</a:t>
            </a:r>
            <a:endParaRPr lang="en-US" sz="2800" b="1" dirty="0" smtClean="0">
              <a:solidFill>
                <a:srgbClr val="CC9F2A"/>
              </a:solidFill>
              <a:latin typeface="Graphite Light ATT" panose="03020402050402020203" pitchFamily="66" charset="0"/>
            </a:endParaRPr>
          </a:p>
          <a:p>
            <a:r>
              <a:rPr lang="en-US" sz="2800" b="1" dirty="0" smtClean="0">
                <a:latin typeface="Graphite Light ATT" panose="03020402050402020203" pitchFamily="66" charset="0"/>
              </a:rPr>
              <a:t>Typically all instances of a given class have the same properties (relationships), but different values</a:t>
            </a:r>
          </a:p>
          <a:p>
            <a:r>
              <a:rPr lang="en-US" sz="2800" b="1" dirty="0" smtClean="0">
                <a:latin typeface="Graphite Light ATT" panose="03020402050402020203" pitchFamily="66" charset="0"/>
              </a:rPr>
              <a:t>Subclass (e.g</a:t>
            </a:r>
            <a:r>
              <a:rPr lang="en-US" sz="2800" b="1" smtClean="0">
                <a:latin typeface="Graphite Light ATT" panose="03020402050402020203" pitchFamily="66" charset="0"/>
              </a:rPr>
              <a:t>., </a:t>
            </a:r>
            <a:r>
              <a:rPr lang="en-US" sz="2800" b="1" smtClean="0">
                <a:solidFill>
                  <a:srgbClr val="CC9F2A"/>
                </a:solidFill>
                <a:latin typeface="Graphite Light ATT" panose="03020402050402020203" pitchFamily="66" charset="0"/>
              </a:rPr>
              <a:t>“Oil Company” </a:t>
            </a:r>
            <a:r>
              <a:rPr lang="en-US" sz="2800" b="1" dirty="0" smtClean="0">
                <a:latin typeface="Graphite Light ATT" panose="03020402050402020203" pitchFamily="66" charset="0"/>
              </a:rPr>
              <a:t>is a subclass </a:t>
            </a:r>
            <a:r>
              <a:rPr lang="en-US" sz="2800" b="1" smtClean="0">
                <a:latin typeface="Graphite Light ATT" panose="03020402050402020203" pitchFamily="66" charset="0"/>
              </a:rPr>
              <a:t>of </a:t>
            </a:r>
            <a:r>
              <a:rPr lang="en-US" sz="2800" b="1" smtClean="0">
                <a:solidFill>
                  <a:srgbClr val="CC9F2A"/>
                </a:solidFill>
                <a:latin typeface="Graphite Light ATT" panose="03020402050402020203" pitchFamily="66" charset="0"/>
              </a:rPr>
              <a:t>“Organization”</a:t>
            </a:r>
            <a:r>
              <a:rPr lang="en-US" sz="2800" b="1" smtClean="0">
                <a:latin typeface="Graphite Light ATT" panose="03020402050402020203" pitchFamily="66" charset="0"/>
              </a:rPr>
              <a:t>) </a:t>
            </a:r>
            <a:r>
              <a:rPr lang="en-US" sz="2800" b="1" dirty="0" smtClean="0">
                <a:latin typeface="Graphite Light ATT" panose="03020402050402020203" pitchFamily="66" charset="0"/>
              </a:rPr>
              <a:t>is a subset with different properties</a:t>
            </a:r>
            <a:endParaRPr lang="en-US" sz="2800" b="1" dirty="0">
              <a:latin typeface="Graphite Light ATT" panose="03020402050402020203" pitchFamily="66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46621" y="2070327"/>
            <a:ext cx="2596896" cy="548640"/>
          </a:xfrm>
          <a:prstGeom prst="rect">
            <a:avLst/>
          </a:prstGeom>
          <a:solidFill>
            <a:srgbClr val="CC9F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Class</a:t>
            </a:r>
            <a:endParaRPr lang="en-US" b="1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748149" y="1576389"/>
            <a:ext cx="1213658" cy="415636"/>
          </a:xfrm>
          <a:prstGeom prst="rect">
            <a:avLst/>
          </a:prstGeom>
          <a:solidFill>
            <a:srgbClr val="5418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Instance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5433009" y="1576389"/>
            <a:ext cx="1213658" cy="415636"/>
          </a:xfrm>
          <a:prstGeom prst="rect">
            <a:avLst/>
          </a:prstGeom>
          <a:solidFill>
            <a:srgbClr val="CC9F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Class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2325543" y="1576389"/>
            <a:ext cx="1213658" cy="41563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Value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7010404" y="1576389"/>
            <a:ext cx="1213658" cy="415636"/>
          </a:xfrm>
          <a:prstGeom prst="rect">
            <a:avLst/>
          </a:prstGeom>
          <a:solidFill>
            <a:srgbClr val="CB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Taxonomy</a:t>
            </a:r>
            <a:endParaRPr lang="en-US" dirty="0"/>
          </a:p>
        </p:txBody>
      </p:sp>
      <p:grpSp>
        <p:nvGrpSpPr>
          <p:cNvPr id="26" name="Group 25"/>
          <p:cNvGrpSpPr/>
          <p:nvPr/>
        </p:nvGrpSpPr>
        <p:grpSpPr>
          <a:xfrm>
            <a:off x="3902937" y="1576389"/>
            <a:ext cx="1166336" cy="415636"/>
            <a:chOff x="2313713" y="1524866"/>
            <a:chExt cx="1166336" cy="415636"/>
          </a:xfrm>
        </p:grpSpPr>
        <p:grpSp>
          <p:nvGrpSpPr>
            <p:cNvPr id="27" name="Group 26"/>
            <p:cNvGrpSpPr/>
            <p:nvPr/>
          </p:nvGrpSpPr>
          <p:grpSpPr>
            <a:xfrm>
              <a:off x="2313713" y="1524866"/>
              <a:ext cx="1166336" cy="415636"/>
              <a:chOff x="2313713" y="1524866"/>
              <a:chExt cx="1166336" cy="415636"/>
            </a:xfrm>
          </p:grpSpPr>
          <p:sp>
            <p:nvSpPr>
              <p:cNvPr id="29" name="Rectangle 28"/>
              <p:cNvSpPr/>
              <p:nvPr/>
            </p:nvSpPr>
            <p:spPr>
              <a:xfrm>
                <a:off x="2313713" y="1524866"/>
                <a:ext cx="583168" cy="415636"/>
              </a:xfrm>
              <a:prstGeom prst="rect">
                <a:avLst/>
              </a:prstGeom>
              <a:solidFill>
                <a:srgbClr val="306FA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2896881" y="1524866"/>
                <a:ext cx="583168" cy="415636"/>
              </a:xfrm>
              <a:prstGeom prst="rect">
                <a:avLst/>
              </a:prstGeom>
              <a:solidFill>
                <a:srgbClr val="6B8E23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8" name="Rectangle 27"/>
            <p:cNvSpPr/>
            <p:nvPr/>
          </p:nvSpPr>
          <p:spPr>
            <a:xfrm>
              <a:off x="2418897" y="1543029"/>
              <a:ext cx="95596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FFFFFF"/>
                  </a:solidFill>
                </a:rPr>
                <a:t>Relation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906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Taxonomy (Term, Category)</a:t>
            </a:r>
            <a:endParaRPr lang="en-US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735977" y="3135178"/>
            <a:ext cx="7734300" cy="3220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Graphite MM" charset="0"/>
                <a:ea typeface="Graphite MM" charset="0"/>
                <a:cs typeface="Graphite MM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smtClean="0">
                <a:latin typeface="Graphite Light ATT" panose="03020402050402020203" pitchFamily="66" charset="0"/>
              </a:rPr>
              <a:t>Label, used to categorize other things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800" b="1" smtClean="0">
                <a:solidFill>
                  <a:srgbClr val="CB0000"/>
                </a:solidFill>
                <a:latin typeface="Graphite Light ATT" panose="03020402050402020203" pitchFamily="66" charset="0"/>
              </a:rPr>
              <a:t>“Delivered”</a:t>
            </a:r>
            <a:endParaRPr lang="en-US" sz="2800" b="1" dirty="0" smtClean="0">
              <a:solidFill>
                <a:srgbClr val="CB0000"/>
              </a:solidFill>
              <a:latin typeface="Graphite Light ATT" panose="03020402050402020203" pitchFamily="66" charset="0"/>
            </a:endParaRP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800" b="1" smtClean="0">
                <a:solidFill>
                  <a:srgbClr val="CB0000"/>
                </a:solidFill>
                <a:latin typeface="Graphite Light ATT" panose="03020402050402020203" pitchFamily="66" charset="0"/>
              </a:rPr>
              <a:t>“Bankrupt”</a:t>
            </a:r>
            <a:endParaRPr lang="en-US" sz="2800" b="1" dirty="0" smtClean="0">
              <a:solidFill>
                <a:srgbClr val="CB0000"/>
              </a:solidFill>
              <a:latin typeface="Graphite Light ATT" panose="03020402050402020203" pitchFamily="66" charset="0"/>
            </a:endParaRP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800" b="1" smtClean="0">
                <a:solidFill>
                  <a:srgbClr val="CB0000"/>
                </a:solidFill>
                <a:latin typeface="Graphite Light ATT" panose="03020402050402020203" pitchFamily="66" charset="0"/>
              </a:rPr>
              <a:t>“FOB”</a:t>
            </a:r>
            <a:endParaRPr lang="en-US" sz="2800" b="1" dirty="0" smtClean="0">
              <a:solidFill>
                <a:srgbClr val="CB0000"/>
              </a:solidFill>
              <a:latin typeface="Graphite Light ATT" panose="03020402050402020203" pitchFamily="66" charset="0"/>
            </a:endParaRPr>
          </a:p>
          <a:p>
            <a:r>
              <a:rPr lang="en-US" sz="2800" b="1" dirty="0" smtClean="0">
                <a:latin typeface="Graphite Light ATT" panose="03020402050402020203" pitchFamily="66" charset="0"/>
              </a:rPr>
              <a:t>May be hierarchical, but this aspect overrated</a:t>
            </a:r>
          </a:p>
          <a:p>
            <a:r>
              <a:rPr lang="en-US" sz="2800" b="1" dirty="0" smtClean="0">
                <a:latin typeface="Graphite Light ATT" panose="03020402050402020203" pitchFamily="66" charset="0"/>
              </a:rPr>
              <a:t>Does not have complex relationships on its own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0447" y="2081464"/>
            <a:ext cx="2593571" cy="548640"/>
          </a:xfrm>
          <a:prstGeom prst="rect">
            <a:avLst/>
          </a:prstGeom>
          <a:solidFill>
            <a:srgbClr val="CB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Taxonomy</a:t>
            </a:r>
            <a:endParaRPr lang="en-US" b="1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748149" y="1576389"/>
            <a:ext cx="1213658" cy="415636"/>
          </a:xfrm>
          <a:prstGeom prst="rect">
            <a:avLst/>
          </a:prstGeom>
          <a:solidFill>
            <a:srgbClr val="5418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Instance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5433009" y="1576389"/>
            <a:ext cx="1213658" cy="415636"/>
          </a:xfrm>
          <a:prstGeom prst="rect">
            <a:avLst/>
          </a:prstGeom>
          <a:solidFill>
            <a:srgbClr val="CC9F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Class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2325543" y="1576389"/>
            <a:ext cx="1213658" cy="41563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Value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7010404" y="1576389"/>
            <a:ext cx="1213658" cy="415636"/>
          </a:xfrm>
          <a:prstGeom prst="rect">
            <a:avLst/>
          </a:prstGeom>
          <a:solidFill>
            <a:srgbClr val="CB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Taxonomy</a:t>
            </a:r>
            <a:endParaRPr lang="en-US" dirty="0"/>
          </a:p>
        </p:txBody>
      </p:sp>
      <p:grpSp>
        <p:nvGrpSpPr>
          <p:cNvPr id="17" name="Group 16"/>
          <p:cNvGrpSpPr/>
          <p:nvPr/>
        </p:nvGrpSpPr>
        <p:grpSpPr>
          <a:xfrm>
            <a:off x="3902937" y="1576389"/>
            <a:ext cx="1166336" cy="415636"/>
            <a:chOff x="2313713" y="1524866"/>
            <a:chExt cx="1166336" cy="415636"/>
          </a:xfrm>
        </p:grpSpPr>
        <p:grpSp>
          <p:nvGrpSpPr>
            <p:cNvPr id="18" name="Group 17"/>
            <p:cNvGrpSpPr/>
            <p:nvPr/>
          </p:nvGrpSpPr>
          <p:grpSpPr>
            <a:xfrm>
              <a:off x="2313713" y="1524866"/>
              <a:ext cx="1166336" cy="415636"/>
              <a:chOff x="2313713" y="1524866"/>
              <a:chExt cx="1166336" cy="415636"/>
            </a:xfrm>
          </p:grpSpPr>
          <p:sp>
            <p:nvSpPr>
              <p:cNvPr id="20" name="Rectangle 19"/>
              <p:cNvSpPr/>
              <p:nvPr/>
            </p:nvSpPr>
            <p:spPr>
              <a:xfrm>
                <a:off x="2313713" y="1524866"/>
                <a:ext cx="583168" cy="415636"/>
              </a:xfrm>
              <a:prstGeom prst="rect">
                <a:avLst/>
              </a:prstGeom>
              <a:solidFill>
                <a:srgbClr val="306FA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2896881" y="1524866"/>
                <a:ext cx="583168" cy="415636"/>
              </a:xfrm>
              <a:prstGeom prst="rect">
                <a:avLst/>
              </a:prstGeom>
              <a:solidFill>
                <a:srgbClr val="6B8E23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9" name="Rectangle 18"/>
            <p:cNvSpPr/>
            <p:nvPr/>
          </p:nvSpPr>
          <p:spPr>
            <a:xfrm>
              <a:off x="2418897" y="1543029"/>
              <a:ext cx="95596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FFFFFF"/>
                  </a:solidFill>
                </a:rPr>
                <a:t>Relation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2040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Remove the PRS slides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Too specific to </a:t>
            </a:r>
            <a:r>
              <a:rPr lang="en-US" dirty="0" err="1" smtClean="0"/>
              <a:t>Platts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172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25" y="1690689"/>
            <a:ext cx="9134475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28431" y="3539038"/>
            <a:ext cx="7362953" cy="1435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95375" y="4974754"/>
            <a:ext cx="6953250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51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PRS *** be nice to put the blue and purple on here too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25" y="1690689"/>
            <a:ext cx="9134475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28431" y="3539038"/>
            <a:ext cx="7362953" cy="1435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95375" y="4974754"/>
            <a:ext cx="6953250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51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Protégé is…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b="1" dirty="0">
                <a:solidFill>
                  <a:prstClr val="black"/>
                </a:solidFill>
                <a:latin typeface="Graphite Light ATT" panose="03020402050402020203" pitchFamily="66" charset="0"/>
              </a:rPr>
              <a:t>Free, open source </a:t>
            </a:r>
          </a:p>
          <a:p>
            <a:pPr lvl="0"/>
            <a:r>
              <a:rPr lang="en-US" sz="2400" b="1" dirty="0">
                <a:solidFill>
                  <a:prstClr val="black"/>
                </a:solidFill>
                <a:latin typeface="Graphite Light ATT" panose="03020402050402020203" pitchFamily="66" charset="0"/>
              </a:rPr>
              <a:t>Ontology editor </a:t>
            </a:r>
          </a:p>
          <a:p>
            <a:pPr lvl="0"/>
            <a:r>
              <a:rPr lang="en-US" sz="2400" b="1" dirty="0">
                <a:solidFill>
                  <a:prstClr val="black"/>
                </a:solidFill>
                <a:latin typeface="Graphite Light ATT" panose="03020402050402020203" pitchFamily="66" charset="0"/>
              </a:rPr>
              <a:t>Knowledge acquisition system. </a:t>
            </a:r>
          </a:p>
          <a:p>
            <a:pPr lvl="0"/>
            <a:r>
              <a:rPr lang="en-US" sz="2400" b="1" dirty="0">
                <a:solidFill>
                  <a:prstClr val="black"/>
                </a:solidFill>
                <a:latin typeface="Graphite Light ATT" panose="03020402050402020203" pitchFamily="66" charset="0"/>
              </a:rPr>
              <a:t>Protégé provides a graphic user interface to define ontologies. </a:t>
            </a:r>
          </a:p>
          <a:p>
            <a:pPr lvl="0"/>
            <a:r>
              <a:rPr lang="en-US" sz="2400" b="1" dirty="0">
                <a:solidFill>
                  <a:prstClr val="black"/>
                </a:solidFill>
                <a:latin typeface="Graphite Light ATT" panose="03020402050402020203" pitchFamily="66" charset="0"/>
              </a:rPr>
              <a:t>Includes deductive classifiers to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prstClr val="black"/>
                </a:solidFill>
                <a:latin typeface="Graphite Light ATT" panose="03020402050402020203" pitchFamily="66" charset="0"/>
              </a:rPr>
              <a:t>Validate that models are consistent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prstClr val="black"/>
                </a:solidFill>
                <a:latin typeface="Graphite Light ATT" panose="03020402050402020203" pitchFamily="66" charset="0"/>
              </a:rPr>
              <a:t>To infer new information based on the analysis of an </a:t>
            </a:r>
            <a:r>
              <a:rPr lang="en-US" sz="2000" b="1" dirty="0" smtClean="0">
                <a:solidFill>
                  <a:prstClr val="black"/>
                </a:solidFill>
                <a:latin typeface="Graphite Light ATT" panose="03020402050402020203" pitchFamily="66" charset="0"/>
              </a:rPr>
              <a:t>ontology</a:t>
            </a:r>
            <a:endParaRPr lang="en-US" sz="2000" b="1" dirty="0">
              <a:solidFill>
                <a:prstClr val="black"/>
              </a:solidFill>
              <a:latin typeface="Graphite Light ATT" panose="03020402050402020203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058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Protégé Check 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501531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Everyone have Protégé installed, working?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167" y="2393399"/>
            <a:ext cx="7901666" cy="399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219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Elsewhere on your desktop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447799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>
                <a:latin typeface="Graphite Light ATT" panose="03020402050402020203" pitchFamily="66" charset="0"/>
              </a:rPr>
              <a:t>If you ever need to kill a running instance of Protégé, closing this window will do it. </a:t>
            </a:r>
          </a:p>
          <a:p>
            <a:r>
              <a:rPr lang="en-US" b="1" dirty="0" smtClean="0">
                <a:latin typeface="Graphite Light ATT" panose="03020402050402020203" pitchFamily="66" charset="0"/>
              </a:rPr>
              <a:t>Occasionally there are useful clues in here if something is going wrong.</a:t>
            </a:r>
            <a:endParaRPr lang="en-US" b="1" dirty="0">
              <a:latin typeface="Graphite Light ATT" panose="03020402050402020203" pitchFamily="66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2971800"/>
            <a:ext cx="6389687" cy="321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277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Protégé Quick Tour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5705"/>
            <a:ext cx="8229600" cy="2011672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Graphite Light ATT" panose="03020402050402020203" pitchFamily="66" charset="0"/>
              </a:rPr>
              <a:t>Protégé is a view-based Interactive Editor.</a:t>
            </a:r>
          </a:p>
          <a:p>
            <a:r>
              <a:rPr lang="en-US" sz="2400" b="1" dirty="0" smtClean="0">
                <a:latin typeface="Graphite Light ATT" panose="03020402050402020203" pitchFamily="66" charset="0"/>
              </a:rPr>
              <a:t>There are about 50 different views (panes) of an ontology.</a:t>
            </a:r>
          </a:p>
          <a:p>
            <a:r>
              <a:rPr lang="en-US" sz="2400" b="1" dirty="0" smtClean="0">
                <a:latin typeface="Graphite Light ATT" panose="03020402050402020203" pitchFamily="66" charset="0"/>
              </a:rPr>
              <a:t>The tabs have some useful preconfigured views.</a:t>
            </a:r>
          </a:p>
          <a:p>
            <a:r>
              <a:rPr lang="en-US" sz="2400" b="1" dirty="0" smtClean="0">
                <a:latin typeface="Graphite Light ATT" panose="03020402050402020203" pitchFamily="66" charset="0"/>
              </a:rPr>
              <a:t>But you can always add any of the views under Windows/Views to any window as we’ll demonstrate now.</a:t>
            </a:r>
          </a:p>
          <a:p>
            <a:endParaRPr lang="en-US" sz="2400" b="1" dirty="0">
              <a:latin typeface="Graphite Light ATT" panose="03020402050402020203" pitchFamily="66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3579222"/>
            <a:ext cx="6629400" cy="2892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481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Longer quick tour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Teeny-tiny font?</a:t>
            </a:r>
          </a:p>
          <a:p>
            <a:r>
              <a:rPr lang="en-US" dirty="0" smtClean="0"/>
              <a:t>Window -&gt; Tabs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Check these: Active Ontology, Classes, Object Properties, Data Properties, Individuals by class, SPARQL Query.  (Others may be unchecked)</a:t>
            </a:r>
          </a:p>
          <a:p>
            <a:r>
              <a:rPr lang="en-US" dirty="0"/>
              <a:t>The Annotations frame</a:t>
            </a:r>
          </a:p>
          <a:p>
            <a:r>
              <a:rPr lang="en-US" dirty="0" smtClean="0"/>
              <a:t>The Usage frame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 to the ontology…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276599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Graphite Light ATT" panose="03020402050402020203" pitchFamily="66" charset="0"/>
              </a:rPr>
              <a:t>We are going to name our ontology</a:t>
            </a:r>
          </a:p>
          <a:p>
            <a:r>
              <a:rPr lang="en-US" sz="2400" b="1" dirty="0" smtClean="0">
                <a:latin typeface="Graphite Light ATT" panose="03020402050402020203" pitchFamily="66" charset="0"/>
              </a:rPr>
              <a:t>Since this ontology we are creating has never before existed  (many similar ones have but not this one), we get naming rights</a:t>
            </a:r>
          </a:p>
          <a:p>
            <a:r>
              <a:rPr lang="en-US" sz="2400" b="1" dirty="0" smtClean="0">
                <a:latin typeface="Graphite Light ATT" panose="03020402050402020203" pitchFamily="66" charset="0"/>
              </a:rPr>
              <a:t>I will let you borrow our namespace for the purpose, so you won’t </a:t>
            </a:r>
            <a:r>
              <a:rPr lang="en-US" sz="2400" b="1" smtClean="0">
                <a:latin typeface="Graphite Light ATT" panose="03020402050402020203" pitchFamily="66" charset="0"/>
              </a:rPr>
              <a:t>be “URI squatting”</a:t>
            </a:r>
            <a:endParaRPr lang="en-US" sz="2400" b="1" dirty="0">
              <a:latin typeface="Graphite Light ATT" panose="03020402050402020203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746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Rethink how we name the ontology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And its relationship to the namespace</a:t>
            </a:r>
          </a:p>
          <a:p>
            <a:r>
              <a:rPr lang="en-US" dirty="0" smtClean="0"/>
              <a:t>Still causing confusion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194" y="2405942"/>
            <a:ext cx="6381229" cy="40018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Naming your ontology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639" y="1600200"/>
            <a:ext cx="2362200" cy="3124200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Graphite Light ATT" panose="03020402050402020203" pitchFamily="66" charset="0"/>
              </a:rPr>
              <a:t>The default name appears here.</a:t>
            </a:r>
          </a:p>
          <a:p>
            <a:r>
              <a:rPr lang="en-US" b="1" dirty="0" smtClean="0">
                <a:latin typeface="Graphite Light ATT" panose="03020402050402020203" pitchFamily="66" charset="0"/>
              </a:rPr>
              <a:t>We will change it to: </a:t>
            </a:r>
            <a:endParaRPr lang="en-US" b="1" dirty="0">
              <a:latin typeface="Graphite Light ATT" panose="03020402050402020203" pitchFamily="66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47999" y="3287490"/>
            <a:ext cx="3620589" cy="381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18845" y="4153890"/>
            <a:ext cx="6517682" cy="461665"/>
          </a:xfrm>
          <a:prstGeom prst="rect">
            <a:avLst/>
          </a:prstGeom>
          <a:solidFill>
            <a:schemeClr val="bg1"/>
          </a:solidFill>
          <a:ln w="15875">
            <a:solidFill>
              <a:srgbClr val="002060"/>
            </a:solidFill>
          </a:ln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ekton Pro" pitchFamily="34" charset="0"/>
              </a:rPr>
              <a:t>http://ontologies.semanticarts.com/DBBO/onto1</a:t>
            </a:r>
            <a:endParaRPr lang="en-US" sz="2400" dirty="0">
              <a:solidFill>
                <a:srgbClr val="FF0000"/>
              </a:solidFill>
              <a:latin typeface="Tekton Pro" pitchFamily="34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554480" y="2795451"/>
            <a:ext cx="1447803" cy="644439"/>
          </a:xfrm>
          <a:prstGeom prst="straightConnector1">
            <a:avLst/>
          </a:prstGeom>
          <a:ln w="412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ular Callout 10"/>
          <p:cNvSpPr/>
          <p:nvPr/>
        </p:nvSpPr>
        <p:spPr>
          <a:xfrm>
            <a:off x="5562599" y="1828800"/>
            <a:ext cx="2418807" cy="381000"/>
          </a:xfrm>
          <a:prstGeom prst="wedgeRoundRectCallout">
            <a:avLst>
              <a:gd name="adj1" fmla="val -33405"/>
              <a:gd name="adj2" fmla="val 345417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  <a:latin typeface="Graphite Light ATT" panose="03020402050402020203" pitchFamily="66" charset="0"/>
              </a:rPr>
              <a:t>Type the new URI here.</a:t>
            </a:r>
            <a:endParaRPr lang="en-US" sz="1600" b="1" dirty="0">
              <a:solidFill>
                <a:schemeClr val="tx1"/>
              </a:solidFill>
              <a:latin typeface="Graphite Light ATT" panose="03020402050402020203" pitchFamily="66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642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Looking at the text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Let’s wait </a:t>
            </a:r>
            <a:r>
              <a:rPr lang="en-US" dirty="0" err="1" smtClean="0"/>
              <a:t>til</a:t>
            </a:r>
            <a:r>
              <a:rPr lang="en-US" dirty="0" smtClean="0"/>
              <a:t> they’ve added some stuff</a:t>
            </a:r>
          </a:p>
          <a:p>
            <a:r>
              <a:rPr lang="en-US" dirty="0" smtClean="0"/>
              <a:t>It makes the difference between XML and TTL more obvious </a:t>
            </a:r>
          </a:p>
          <a:p>
            <a:endParaRPr lang="en-US" dirty="0"/>
          </a:p>
          <a:p>
            <a:r>
              <a:rPr lang="en-US" dirty="0" smtClean="0">
                <a:solidFill>
                  <a:srgbClr val="FF0000"/>
                </a:solidFill>
              </a:rPr>
              <a:t>Done. Slides moved. </a:t>
            </a:r>
            <a:r>
              <a:rPr lang="en-US" dirty="0" smtClean="0">
                <a:solidFill>
                  <a:srgbClr val="FF0000"/>
                </a:solidFill>
              </a:rPr>
              <a:t>[dc]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32183" y="1576389"/>
            <a:ext cx="4697017" cy="47784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Create a </a:t>
            </a:r>
            <a:r>
              <a:rPr lang="en-US" dirty="0" err="1" smtClean="0"/>
              <a:t>Qname</a:t>
            </a:r>
            <a:r>
              <a:rPr lang="en-US" dirty="0" smtClean="0"/>
              <a:t> for your Namespace</a:t>
            </a:r>
            <a:endParaRPr lang="en-US" dirty="0"/>
          </a:p>
        </p:txBody>
      </p:sp>
      <p:sp>
        <p:nvSpPr>
          <p:cNvPr id="5" name="Down Arrow 4"/>
          <p:cNvSpPr/>
          <p:nvPr/>
        </p:nvSpPr>
        <p:spPr>
          <a:xfrm>
            <a:off x="1750418" y="3912326"/>
            <a:ext cx="609600" cy="53340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/>
          <p:cNvSpPr/>
          <p:nvPr/>
        </p:nvSpPr>
        <p:spPr>
          <a:xfrm>
            <a:off x="211720" y="4297138"/>
            <a:ext cx="609600" cy="53340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558247" y="2716118"/>
            <a:ext cx="2495003" cy="97930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marR="0" lvl="0" fontAlgn="auto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b="1" dirty="0">
                <a:latin typeface="Graphite Light ATT" panose="03020402050402020203" pitchFamily="66" charset="0"/>
              </a:rPr>
              <a:t>Click on the Ontology Prefixes tab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5558247" y="3828661"/>
            <a:ext cx="2495003" cy="156966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b="1" dirty="0">
                <a:latin typeface="Graphite Light ATT" panose="03020402050402020203" pitchFamily="66" charset="0"/>
              </a:rPr>
              <a:t>And then the first icon, which if you hovered over it would </a:t>
            </a:r>
            <a:r>
              <a:rPr lang="en-US" sz="2400" b="1">
                <a:latin typeface="Graphite Light ATT" panose="03020402050402020203" pitchFamily="66" charset="0"/>
              </a:rPr>
              <a:t>say </a:t>
            </a:r>
            <a:r>
              <a:rPr lang="en-US" sz="2400" b="1" smtClean="0">
                <a:latin typeface="Graphite Light ATT" panose="03020402050402020203" pitchFamily="66" charset="0"/>
              </a:rPr>
              <a:t>“add </a:t>
            </a:r>
            <a:r>
              <a:rPr lang="en-US" sz="2400" b="1">
                <a:latin typeface="Graphite Light ATT" panose="03020402050402020203" pitchFamily="66" charset="0"/>
              </a:rPr>
              <a:t>prefix </a:t>
            </a:r>
            <a:r>
              <a:rPr lang="en-US" sz="2400" b="1" smtClean="0">
                <a:latin typeface="Graphite Light ATT" panose="03020402050402020203" pitchFamily="66" charset="0"/>
              </a:rPr>
              <a:t>mapping”</a:t>
            </a:r>
            <a:endParaRPr lang="en-US" sz="2400" b="1" dirty="0">
              <a:latin typeface="Graphite Light ATT" panose="03020402050402020203" pitchFamily="66" charset="0"/>
            </a:endParaRPr>
          </a:p>
        </p:txBody>
      </p:sp>
      <p:pic>
        <p:nvPicPr>
          <p:cNvPr id="11571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58298" y="5464087"/>
            <a:ext cx="878869" cy="757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21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build="p"/>
      <p:bldP spid="8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32182" y="1576389"/>
            <a:ext cx="5526966" cy="42515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Create a </a:t>
            </a:r>
            <a:r>
              <a:rPr lang="en-US" dirty="0" err="1" smtClean="0"/>
              <a:t>Qname</a:t>
            </a:r>
            <a:r>
              <a:rPr lang="en-US" dirty="0" smtClean="0"/>
              <a:t> for your Namespace</a:t>
            </a:r>
            <a:endParaRPr lang="en-US" b="0" dirty="0"/>
          </a:p>
        </p:txBody>
      </p:sp>
      <p:sp>
        <p:nvSpPr>
          <p:cNvPr id="5" name="Down Arrow 4"/>
          <p:cNvSpPr/>
          <p:nvPr/>
        </p:nvSpPr>
        <p:spPr>
          <a:xfrm>
            <a:off x="923499" y="4607640"/>
            <a:ext cx="609600" cy="53340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/>
          <p:cNvSpPr/>
          <p:nvPr/>
        </p:nvSpPr>
        <p:spPr>
          <a:xfrm>
            <a:off x="2790865" y="4575650"/>
            <a:ext cx="609600" cy="53340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100354" y="2414449"/>
            <a:ext cx="2891246" cy="64633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000" b="1" dirty="0">
                <a:latin typeface="Graphite Light ATT" panose="03020402050402020203" pitchFamily="66" charset="0"/>
              </a:rPr>
              <a:t>Double click a field so you can enter data.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6100354" y="4356462"/>
            <a:ext cx="2891246" cy="14863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2000" b="1" dirty="0">
                <a:latin typeface="Graphite Light ATT" panose="03020402050402020203" pitchFamily="66" charset="0"/>
              </a:rPr>
              <a:t>In the second field, t</a:t>
            </a:r>
            <a:r>
              <a:rPr lang="en-US" sz="2000" b="1" dirty="0" err="1">
                <a:latin typeface="Graphite Light ATT" panose="03020402050402020203" pitchFamily="66" charset="0"/>
              </a:rPr>
              <a:t>ype</a:t>
            </a:r>
            <a:r>
              <a:rPr lang="en-US" sz="2000" b="1" dirty="0">
                <a:latin typeface="Graphite Light ATT" panose="03020402050402020203" pitchFamily="66" charset="0"/>
              </a:rPr>
              <a:t> the  namespace (which is not the same as the name of our ontology)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8828" y="5791200"/>
            <a:ext cx="8400056" cy="430887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2200" dirty="0" smtClean="0">
                <a:solidFill>
                  <a:srgbClr val="FF0000"/>
                </a:solidFill>
                <a:latin typeface="Tekton Pro Cond" pitchFamily="34" charset="0"/>
              </a:rPr>
              <a:t>(</a:t>
            </a:r>
            <a:r>
              <a:rPr lang="en-US" sz="2200" b="1" dirty="0" smtClean="0">
                <a:solidFill>
                  <a:srgbClr val="FF0000"/>
                </a:solidFill>
                <a:latin typeface="Tekton Pro Cond" pitchFamily="34" charset="0"/>
              </a:rPr>
              <a:t>Note</a:t>
            </a:r>
            <a:r>
              <a:rPr lang="en-US" sz="2200" dirty="0" smtClean="0">
                <a:solidFill>
                  <a:srgbClr val="FF0000"/>
                </a:solidFill>
                <a:latin typeface="Tekton Pro Cond" pitchFamily="34" charset="0"/>
              </a:rPr>
              <a:t>: you have to hit a carriage return after entering these fields) </a:t>
            </a:r>
            <a:endParaRPr lang="en-US" sz="2200" dirty="0">
              <a:solidFill>
                <a:srgbClr val="FF0000"/>
              </a:solidFill>
              <a:latin typeface="Tekton Pro Cond" pitchFamily="34" charset="0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6100354" y="3360694"/>
            <a:ext cx="2891246" cy="708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000" b="1" dirty="0">
                <a:latin typeface="Graphite Light ATT" panose="03020402050402020203" pitchFamily="66" charset="0"/>
              </a:rPr>
              <a:t>In the first field, </a:t>
            </a:r>
            <a:r>
              <a:rPr lang="en-US" sz="2000" b="1">
                <a:latin typeface="Graphite Light ATT" panose="03020402050402020203" pitchFamily="66" charset="0"/>
              </a:rPr>
              <a:t>type </a:t>
            </a:r>
            <a:r>
              <a:rPr lang="en-US" sz="2000" b="1" smtClean="0">
                <a:latin typeface="Graphite Light ATT" panose="03020402050402020203" pitchFamily="66" charset="0"/>
              </a:rPr>
              <a:t>“dbbo”</a:t>
            </a:r>
            <a:endParaRPr lang="en-US" sz="2000" b="1" dirty="0">
              <a:latin typeface="Graphite Light ATT" panose="03020402050402020203" pitchFamily="66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28600" y="5304668"/>
            <a:ext cx="4589060" cy="2909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22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/>
      <p:bldP spid="10" grpId="0" animBg="1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75386" y="1420215"/>
            <a:ext cx="3645593" cy="326731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Save this (empty) ontology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783180" y="1793972"/>
            <a:ext cx="3230883" cy="101566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2000" b="1" dirty="0" smtClean="0">
                <a:latin typeface="Graphite Light ATT" panose="03020402050402020203" pitchFamily="66" charset="0"/>
              </a:rPr>
              <a:t>RDF/XML is the format within which the ontology will be serialized and saved.</a:t>
            </a:r>
            <a:endParaRPr lang="en-US" sz="2000" b="1" dirty="0">
              <a:latin typeface="Graphite Light ATT" panose="03020402050402020203" pitchFamily="66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691095" y="4687526"/>
            <a:ext cx="3352800" cy="18569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2000" b="1" dirty="0" smtClean="0">
                <a:latin typeface="Graphite Light ATT" panose="03020402050402020203" pitchFamily="66" charset="0"/>
              </a:rPr>
              <a:t>Put it in a directory you can find again, and give it a name you will recognize.</a:t>
            </a:r>
          </a:p>
          <a:p>
            <a:r>
              <a:rPr lang="en-US" sz="2000" b="1" dirty="0" smtClean="0">
                <a:latin typeface="Graphite Light ATT" panose="03020402050402020203" pitchFamily="66" charset="0"/>
              </a:rPr>
              <a:t>NOTE: the filename need not be the same as the ontology name</a:t>
            </a:r>
            <a:endParaRPr lang="en-US" sz="2000" b="1" dirty="0">
              <a:latin typeface="Graphite Light ATT" panose="03020402050402020203" pitchFamily="66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211" y="2809635"/>
            <a:ext cx="2995634" cy="107633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8211" y="4042881"/>
            <a:ext cx="3852320" cy="2129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502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Note: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So far all we have is an empty ontology</a:t>
            </a:r>
          </a:p>
          <a:p>
            <a:r>
              <a:rPr lang="en-US" sz="3200" dirty="0"/>
              <a:t>Let’s put something in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24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Recall, In Semantics, All Data is Expressed as Triples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38199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Graphite Light ATT" panose="03020402050402020203" pitchFamily="66" charset="0"/>
              </a:rPr>
              <a:t>These are also </a:t>
            </a:r>
            <a:r>
              <a:rPr lang="en-US" sz="2400" b="1" smtClean="0">
                <a:latin typeface="Graphite Light ATT" panose="03020402050402020203" pitchFamily="66" charset="0"/>
              </a:rPr>
              <a:t>called “assertions,”</a:t>
            </a:r>
            <a:endParaRPr lang="en-US" sz="2400" b="1" dirty="0" smtClean="0">
              <a:latin typeface="Graphite Light ATT" panose="03020402050402020203" pitchFamily="66" charset="0"/>
            </a:endParaRPr>
          </a:p>
          <a:p>
            <a:r>
              <a:rPr lang="en-US" sz="2400" b="1" smtClean="0">
                <a:latin typeface="Graphite Light ATT" panose="03020402050402020203" pitchFamily="66" charset="0"/>
              </a:rPr>
              <a:t>To “assert” </a:t>
            </a:r>
            <a:r>
              <a:rPr lang="en-US" sz="2400" b="1" dirty="0" smtClean="0">
                <a:latin typeface="Graphite Light ATT" panose="03020402050402020203" pitchFamily="66" charset="0"/>
              </a:rPr>
              <a:t>that Vela owns a particular tanker ship, we could make this assertion:</a:t>
            </a:r>
            <a:endParaRPr lang="en-US" sz="2400" b="1" dirty="0">
              <a:latin typeface="Graphite Light ATT" panose="03020402050402020203" pitchFamily="66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1149534" y="3060782"/>
            <a:ext cx="6825340" cy="762000"/>
            <a:chOff x="1104900" y="2856411"/>
            <a:chExt cx="6825340" cy="762000"/>
          </a:xfrm>
        </p:grpSpPr>
        <p:sp>
          <p:nvSpPr>
            <p:cNvPr id="4" name="Oval 3"/>
            <p:cNvSpPr/>
            <p:nvPr/>
          </p:nvSpPr>
          <p:spPr>
            <a:xfrm>
              <a:off x="1104900" y="2932611"/>
              <a:ext cx="2005149" cy="6858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dbbo</a:t>
              </a:r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:_vela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  <p:cxnSp>
          <p:nvCxnSpPr>
            <p:cNvPr id="5" name="Straight Arrow Connector 4"/>
            <p:cNvCxnSpPr>
              <a:stCxn id="4" idx="6"/>
              <a:endCxn id="6" idx="2"/>
            </p:cNvCxnSpPr>
            <p:nvPr/>
          </p:nvCxnSpPr>
          <p:spPr>
            <a:xfrm>
              <a:off x="3110049" y="3275511"/>
              <a:ext cx="1842951" cy="0"/>
            </a:xfrm>
            <a:prstGeom prst="straightConnector1">
              <a:avLst/>
            </a:prstGeom>
            <a:ln w="317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4953000" y="2932611"/>
              <a:ext cx="2977240" cy="6858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dbbo</a:t>
              </a:r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:_</a:t>
              </a:r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SiriusStar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3429000" y="2856411"/>
              <a:ext cx="11735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dbbo:owns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</p:grpSp>
      <p:sp>
        <p:nvSpPr>
          <p:cNvPr id="8" name="Rectangle 7"/>
          <p:cNvSpPr/>
          <p:nvPr/>
        </p:nvSpPr>
        <p:spPr>
          <a:xfrm>
            <a:off x="1696378" y="4009229"/>
            <a:ext cx="8952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ekton Pro" pitchFamily="34" charset="0"/>
              </a:rPr>
              <a:t>subject</a:t>
            </a:r>
            <a:endParaRPr lang="en-US" dirty="0">
              <a:solidFill>
                <a:srgbClr val="FF0000"/>
              </a:solidFill>
              <a:latin typeface="Tekton Pro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537058" y="4009229"/>
            <a:ext cx="1092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ekton Pro" pitchFamily="34" charset="0"/>
              </a:rPr>
              <a:t>predicate</a:t>
            </a:r>
            <a:endParaRPr lang="en-US" dirty="0">
              <a:solidFill>
                <a:srgbClr val="FF0000"/>
              </a:solidFill>
              <a:latin typeface="Tekton Pro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989433" y="4009229"/>
            <a:ext cx="784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ekton Pro" pitchFamily="34" charset="0"/>
              </a:rPr>
              <a:t>object</a:t>
            </a:r>
            <a:endParaRPr lang="en-US" dirty="0">
              <a:solidFill>
                <a:srgbClr val="FF0000"/>
              </a:solidFill>
              <a:latin typeface="Tekton Pro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371600" y="4574166"/>
            <a:ext cx="6324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solidFill>
                  <a:srgbClr val="FF0000"/>
                </a:solidFill>
                <a:latin typeface="Tekton Pro" pitchFamily="34" charset="0"/>
              </a:rPr>
              <a:t>We call these three parts of the assertion.</a:t>
            </a:r>
            <a:endParaRPr lang="en-US" sz="2000" dirty="0">
              <a:solidFill>
                <a:srgbClr val="FF0000"/>
              </a:solidFill>
              <a:latin typeface="Tekton Pro" pitchFamily="34" charset="0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844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Individuals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371600"/>
            <a:ext cx="8366761" cy="48768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latin typeface="Graphite Light ATT" panose="03020402050402020203" pitchFamily="66" charset="0"/>
              </a:rPr>
              <a:t>Individuals (like Vela and the Sirius Star) are </a:t>
            </a:r>
            <a:r>
              <a:rPr lang="en-US" b="1" smtClean="0">
                <a:latin typeface="Graphite Light ATT" panose="03020402050402020203" pitchFamily="66" charset="0"/>
              </a:rPr>
              <a:t>actual “in the world” </a:t>
            </a:r>
            <a:r>
              <a:rPr lang="en-US" b="1" dirty="0" smtClean="0">
                <a:latin typeface="Graphite Light ATT" panose="03020402050402020203" pitchFamily="66" charset="0"/>
              </a:rPr>
              <a:t>instances; they are not types or classes. </a:t>
            </a:r>
            <a:endParaRPr lang="en-US" b="1" dirty="0">
              <a:latin typeface="Graphite Light ATT" panose="03020402050402020203" pitchFamily="66" charset="0"/>
            </a:endParaRPr>
          </a:p>
        </p:txBody>
      </p:sp>
      <p:sp>
        <p:nvSpPr>
          <p:cNvPr id="8" name="Down Arrow 7"/>
          <p:cNvSpPr/>
          <p:nvPr/>
        </p:nvSpPr>
        <p:spPr>
          <a:xfrm rot="10800000">
            <a:off x="1905000" y="3916682"/>
            <a:ext cx="609600" cy="53340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own Arrow 8"/>
          <p:cNvSpPr/>
          <p:nvPr/>
        </p:nvSpPr>
        <p:spPr>
          <a:xfrm rot="10800000">
            <a:off x="6119942" y="3916682"/>
            <a:ext cx="609600" cy="53340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673831" y="4526282"/>
            <a:ext cx="10527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ekton Pro" pitchFamily="34" charset="0"/>
              </a:rPr>
              <a:t>individual</a:t>
            </a:r>
            <a:endParaRPr lang="en-US" dirty="0">
              <a:solidFill>
                <a:srgbClr val="FF0000"/>
              </a:solidFill>
              <a:latin typeface="Tekton Pro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891342" y="4526282"/>
            <a:ext cx="10527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ekton Pro" pitchFamily="34" charset="0"/>
              </a:rPr>
              <a:t>individual</a:t>
            </a:r>
            <a:endParaRPr lang="en-US" dirty="0">
              <a:solidFill>
                <a:srgbClr val="FF0000"/>
              </a:solidFill>
              <a:latin typeface="Tekton Pro" pitchFamily="34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26</a:t>
            </a:fld>
            <a:endParaRPr lang="en-US" dirty="0"/>
          </a:p>
        </p:txBody>
      </p:sp>
      <p:grpSp>
        <p:nvGrpSpPr>
          <p:cNvPr id="18" name="Group 17"/>
          <p:cNvGrpSpPr/>
          <p:nvPr/>
        </p:nvGrpSpPr>
        <p:grpSpPr>
          <a:xfrm>
            <a:off x="1149534" y="3060782"/>
            <a:ext cx="6897186" cy="762000"/>
            <a:chOff x="1104900" y="2856411"/>
            <a:chExt cx="6897186" cy="762000"/>
          </a:xfrm>
        </p:grpSpPr>
        <p:sp>
          <p:nvSpPr>
            <p:cNvPr id="19" name="Oval 18"/>
            <p:cNvSpPr/>
            <p:nvPr/>
          </p:nvSpPr>
          <p:spPr>
            <a:xfrm>
              <a:off x="1104900" y="2932611"/>
              <a:ext cx="2005149" cy="6858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dbbo</a:t>
              </a:r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:_vela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  <p:cxnSp>
          <p:nvCxnSpPr>
            <p:cNvPr id="20" name="Straight Arrow Connector 19"/>
            <p:cNvCxnSpPr>
              <a:stCxn id="19" idx="6"/>
              <a:endCxn id="21" idx="2"/>
            </p:cNvCxnSpPr>
            <p:nvPr/>
          </p:nvCxnSpPr>
          <p:spPr>
            <a:xfrm>
              <a:off x="3110049" y="3275511"/>
              <a:ext cx="1842951" cy="0"/>
            </a:xfrm>
            <a:prstGeom prst="straightConnector1">
              <a:avLst/>
            </a:prstGeom>
            <a:ln w="317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/>
            <p:cNvSpPr/>
            <p:nvPr/>
          </p:nvSpPr>
          <p:spPr>
            <a:xfrm>
              <a:off x="4953000" y="2932611"/>
              <a:ext cx="3049086" cy="6858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dbbo</a:t>
              </a:r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:_</a:t>
              </a:r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SiriusStar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429000" y="2856411"/>
              <a:ext cx="11735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dbbo:owns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3588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 didn’t mention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564" y="4813663"/>
            <a:ext cx="3109880" cy="12017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 smtClean="0">
                <a:latin typeface="Graphite Light ATT" panose="03020402050402020203" pitchFamily="66" charset="0"/>
              </a:rPr>
              <a:t>Each part of the triple has an identifier</a:t>
            </a:r>
            <a:endParaRPr lang="en-US" b="1" dirty="0">
              <a:latin typeface="Graphite Light ATT" panose="03020402050402020203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5" name="Picture 4" descr="semantic-web-layer-cak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97225" y="1371600"/>
            <a:ext cx="4527550" cy="4757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3921025" y="5486400"/>
            <a:ext cx="3886200" cy="6096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Redo example with 007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28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Useful Global Identifiers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6"/>
            <a:ext cx="7886700" cy="1867486"/>
          </a:xfrm>
        </p:spPr>
        <p:txBody>
          <a:bodyPr>
            <a:normAutofit/>
          </a:bodyPr>
          <a:lstStyle/>
          <a:p>
            <a:r>
              <a:rPr lang="en-US" dirty="0" smtClean="0"/>
              <a:t>All systems create identifiers for the many things they need to identify</a:t>
            </a:r>
          </a:p>
          <a:p>
            <a:r>
              <a:rPr lang="en-US" dirty="0" smtClean="0"/>
              <a:t>The traditional approach is to create a primary key on a table</a:t>
            </a:r>
          </a:p>
          <a:p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590800" y="4191000"/>
          <a:ext cx="4225925" cy="202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815" name="Visio" r:id="rId4" imgW="1974881" imgH="946047" progId="Visio.Drawing.11">
                  <p:embed/>
                </p:oleObj>
              </mc:Choice>
              <mc:Fallback>
                <p:oleObj name="Visio" r:id="rId4" imgW="1974881" imgH="946047" progId="Visio.Drawing.11">
                  <p:embed/>
                  <p:pic>
                    <p:nvPicPr>
                      <p:cNvPr id="0" name="Picture 2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191000"/>
                        <a:ext cx="4225925" cy="202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Down Arrow 5"/>
          <p:cNvSpPr/>
          <p:nvPr/>
        </p:nvSpPr>
        <p:spPr>
          <a:xfrm>
            <a:off x="3275860" y="3693112"/>
            <a:ext cx="798990" cy="9942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048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There are problems with this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6"/>
            <a:ext cx="7886700" cy="1867486"/>
          </a:xfrm>
        </p:spPr>
        <p:txBody>
          <a:bodyPr>
            <a:normAutofit/>
          </a:bodyPr>
          <a:lstStyle/>
          <a:p>
            <a:r>
              <a:rPr lang="en-US" dirty="0" smtClean="0"/>
              <a:t>These numbers only mean anything in the context of: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b="1" dirty="0" smtClean="0">
                <a:latin typeface="Graphite Light ATT" panose="03020402050402020203" pitchFamily="66" charset="0"/>
              </a:rPr>
              <a:t>This database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b="1" dirty="0" smtClean="0">
                <a:latin typeface="Graphite Light ATT" panose="03020402050402020203" pitchFamily="66" charset="0"/>
              </a:rPr>
              <a:t>This table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b="1" dirty="0" smtClean="0">
                <a:latin typeface="Graphite Light ATT" panose="03020402050402020203" pitchFamily="66" charset="0"/>
              </a:rPr>
              <a:t>This column</a:t>
            </a:r>
          </a:p>
          <a:p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590800" y="4191000"/>
          <a:ext cx="4225925" cy="202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39" name="Visio" r:id="rId4" imgW="1974881" imgH="946047" progId="Visio.Drawing.11">
                  <p:embed/>
                </p:oleObj>
              </mc:Choice>
              <mc:Fallback>
                <p:oleObj name="Visio" r:id="rId4" imgW="1974881" imgH="946047" progId="Visio.Drawing.11">
                  <p:embed/>
                  <p:pic>
                    <p:nvPicPr>
                      <p:cNvPr id="0" name="Picture 2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191000"/>
                        <a:ext cx="4225925" cy="202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Down Arrow 5"/>
          <p:cNvSpPr/>
          <p:nvPr/>
        </p:nvSpPr>
        <p:spPr>
          <a:xfrm>
            <a:off x="3275860" y="3693112"/>
            <a:ext cx="798990" cy="9942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477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This is one reason existing systems are complex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575" y="1781236"/>
            <a:ext cx="5618842" cy="2639843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sz="2400" b="1" dirty="0" smtClean="0">
                <a:latin typeface="Graphite Light ATT" panose="03020402050402020203" pitchFamily="66" charset="0"/>
              </a:rPr>
              <a:t>If you want to get information from multiple different tables</a:t>
            </a:r>
          </a:p>
          <a:p>
            <a:pPr>
              <a:spcBef>
                <a:spcPts val="1200"/>
              </a:spcBef>
            </a:pPr>
            <a:r>
              <a:rPr lang="en-US" sz="2400" b="1" dirty="0" smtClean="0">
                <a:latin typeface="Graphite Light ATT" panose="03020402050402020203" pitchFamily="66" charset="0"/>
              </a:rPr>
              <a:t> You have to write a query </a:t>
            </a:r>
            <a:r>
              <a:rPr lang="en-US" sz="2400" b="1" smtClean="0">
                <a:latin typeface="Graphite Light ATT" panose="03020402050402020203" pitchFamily="66" charset="0"/>
              </a:rPr>
              <a:t>that “joins” </a:t>
            </a:r>
            <a:r>
              <a:rPr lang="en-US" sz="2400" b="1" dirty="0" smtClean="0">
                <a:latin typeface="Graphite Light ATT" panose="03020402050402020203" pitchFamily="66" charset="0"/>
              </a:rPr>
              <a:t>the tables</a:t>
            </a:r>
          </a:p>
          <a:p>
            <a:pPr>
              <a:spcBef>
                <a:spcPts val="1200"/>
              </a:spcBef>
            </a:pPr>
            <a:r>
              <a:rPr lang="en-US" sz="2400" b="1" dirty="0" smtClean="0">
                <a:latin typeface="Graphite Light ATT" panose="03020402050402020203" pitchFamily="66" charset="0"/>
              </a:rPr>
              <a:t>… WHERE </a:t>
            </a:r>
            <a:r>
              <a:rPr lang="en-US" sz="2400" b="1" dirty="0" err="1" smtClean="0">
                <a:latin typeface="Graphite Light ATT" panose="03020402050402020203" pitchFamily="66" charset="0"/>
              </a:rPr>
              <a:t>Cust.CID</a:t>
            </a:r>
            <a:r>
              <a:rPr lang="en-US" sz="2400" b="1" dirty="0" smtClean="0">
                <a:latin typeface="Graphite Light ATT" panose="03020402050402020203" pitchFamily="66" charset="0"/>
              </a:rPr>
              <a:t> = </a:t>
            </a:r>
            <a:r>
              <a:rPr lang="en-US" sz="2400" b="1" dirty="0" err="1" smtClean="0">
                <a:latin typeface="Graphite Light ATT" panose="03020402050402020203" pitchFamily="66" charset="0"/>
              </a:rPr>
              <a:t>Companies.Comp</a:t>
            </a:r>
            <a:r>
              <a:rPr lang="en-US" sz="2400" b="1" dirty="0" smtClean="0">
                <a:latin typeface="Graphite Light ATT" panose="03020402050402020203" pitchFamily="66" charset="0"/>
              </a:rPr>
              <a:t> AND </a:t>
            </a:r>
            <a:r>
              <a:rPr lang="en-US" sz="2400" b="1" dirty="0" err="1" smtClean="0">
                <a:latin typeface="Graphite Light ATT" panose="03020402050402020203" pitchFamily="66" charset="0"/>
              </a:rPr>
              <a:t>Cust.CID</a:t>
            </a:r>
            <a:r>
              <a:rPr lang="en-US" sz="2400" b="1" dirty="0" smtClean="0">
                <a:latin typeface="Graphite Light ATT" panose="03020402050402020203" pitchFamily="66" charset="0"/>
              </a:rPr>
              <a:t> = </a:t>
            </a:r>
            <a:r>
              <a:rPr lang="en-US" sz="2400" b="1" dirty="0" err="1" smtClean="0">
                <a:latin typeface="Graphite Light ATT" panose="03020402050402020203" pitchFamily="66" charset="0"/>
              </a:rPr>
              <a:t>Stocks.Key</a:t>
            </a:r>
            <a:r>
              <a:rPr lang="en-US" sz="2400" b="1" dirty="0" smtClean="0">
                <a:latin typeface="Graphite Light ATT" panose="03020402050402020203" pitchFamily="66" charset="0"/>
              </a:rPr>
              <a:t> and </a:t>
            </a:r>
            <a:r>
              <a:rPr lang="en-US" sz="2400" b="1" dirty="0" err="1" smtClean="0">
                <a:latin typeface="Graphite Light ATT" panose="03020402050402020203" pitchFamily="66" charset="0"/>
              </a:rPr>
              <a:t>Cust.CID</a:t>
            </a:r>
            <a:r>
              <a:rPr lang="en-US" sz="2400" b="1" dirty="0" smtClean="0">
                <a:latin typeface="Graphite Light ATT" panose="03020402050402020203" pitchFamily="66" charset="0"/>
              </a:rPr>
              <a:t> = Securities.ID….</a:t>
            </a:r>
            <a:endParaRPr lang="en-US" sz="2400" b="1" dirty="0">
              <a:latin typeface="Graphite Light ATT" panose="03020402050402020203" pitchFamily="66" charset="0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0531104"/>
              </p:ext>
            </p:extLst>
          </p:nvPr>
        </p:nvGraphicFramePr>
        <p:xfrm>
          <a:off x="6156417" y="1781237"/>
          <a:ext cx="2355850" cy="1128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739" name="Visio" r:id="rId4" imgW="1974881" imgH="946047" progId="Visio.Drawing.11">
                  <p:embed/>
                </p:oleObj>
              </mc:Choice>
              <mc:Fallback>
                <p:oleObj name="Visio" r:id="rId4" imgW="1974881" imgH="946047" progId="Visio.Drawing.11">
                  <p:embed/>
                  <p:pic>
                    <p:nvPicPr>
                      <p:cNvPr id="0" name="Picture 9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417" y="1781237"/>
                        <a:ext cx="2355850" cy="1128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3633405"/>
              </p:ext>
            </p:extLst>
          </p:nvPr>
        </p:nvGraphicFramePr>
        <p:xfrm>
          <a:off x="6115050" y="3610037"/>
          <a:ext cx="2508250" cy="1201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740" name="Visio" r:id="rId6" imgW="1974881" imgH="946047" progId="Visio.Drawing.11">
                  <p:embed/>
                </p:oleObj>
              </mc:Choice>
              <mc:Fallback>
                <p:oleObj name="Visio" r:id="rId6" imgW="1974881" imgH="946047" progId="Visio.Drawing.11">
                  <p:embed/>
                  <p:pic>
                    <p:nvPicPr>
                      <p:cNvPr id="0" name="Picture 9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050" y="3610037"/>
                        <a:ext cx="2508250" cy="1201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6970109"/>
              </p:ext>
            </p:extLst>
          </p:nvPr>
        </p:nvGraphicFramePr>
        <p:xfrm>
          <a:off x="4466952" y="5149283"/>
          <a:ext cx="2432050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741" name="Visio" r:id="rId8" imgW="1974881" imgH="946047" progId="Visio.Drawing.11">
                  <p:embed/>
                </p:oleObj>
              </mc:Choice>
              <mc:Fallback>
                <p:oleObj name="Visio" r:id="rId8" imgW="1974881" imgH="946047" progId="Visio.Drawing.11">
                  <p:embed/>
                  <p:pic>
                    <p:nvPicPr>
                      <p:cNvPr id="0" name="Picture 9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6952" y="5149283"/>
                        <a:ext cx="2432050" cy="116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0933702"/>
              </p:ext>
            </p:extLst>
          </p:nvPr>
        </p:nvGraphicFramePr>
        <p:xfrm>
          <a:off x="1451606" y="4855362"/>
          <a:ext cx="2514600" cy="120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742" name="Visio" r:id="rId10" imgW="1974881" imgH="946047" progId="Visio.Drawing.11">
                  <p:embed/>
                </p:oleObj>
              </mc:Choice>
              <mc:Fallback>
                <p:oleObj name="Visio" r:id="rId10" imgW="1974881" imgH="946047" progId="Visio.Drawing.11">
                  <p:embed/>
                  <p:pic>
                    <p:nvPicPr>
                      <p:cNvPr id="0" name="Picture 9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1606" y="4855362"/>
                        <a:ext cx="2514600" cy="1204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31</a:t>
            </a:fld>
            <a:endParaRPr lang="en-US" dirty="0"/>
          </a:p>
        </p:txBody>
      </p:sp>
      <p:grpSp>
        <p:nvGrpSpPr>
          <p:cNvPr id="35" name="Group 34"/>
          <p:cNvGrpSpPr/>
          <p:nvPr/>
        </p:nvGrpSpPr>
        <p:grpSpPr>
          <a:xfrm>
            <a:off x="2279468" y="2188028"/>
            <a:ext cx="4349937" cy="3389812"/>
            <a:chOff x="2279468" y="2188028"/>
            <a:chExt cx="4349937" cy="3389812"/>
          </a:xfrm>
        </p:grpSpPr>
        <p:cxnSp>
          <p:nvCxnSpPr>
            <p:cNvPr id="12" name="Curved Connector 11"/>
            <p:cNvCxnSpPr/>
            <p:nvPr/>
          </p:nvCxnSpPr>
          <p:spPr>
            <a:xfrm rot="10800000" flipV="1">
              <a:off x="2279471" y="2188028"/>
              <a:ext cx="4349934" cy="3102427"/>
            </a:xfrm>
            <a:prstGeom prst="curvedConnector3">
              <a:avLst>
                <a:gd name="adj1" fmla="val 18318"/>
              </a:avLst>
            </a:prstGeom>
            <a:ln w="381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urved Connector 15"/>
            <p:cNvCxnSpPr/>
            <p:nvPr/>
          </p:nvCxnSpPr>
          <p:spPr>
            <a:xfrm rot="10800000" flipV="1">
              <a:off x="2279470" y="4096581"/>
              <a:ext cx="4349935" cy="1193875"/>
            </a:xfrm>
            <a:prstGeom prst="curvedConnector3">
              <a:avLst>
                <a:gd name="adj1" fmla="val 28829"/>
              </a:avLst>
            </a:prstGeom>
            <a:ln w="381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urved Connector 32"/>
            <p:cNvCxnSpPr/>
            <p:nvPr/>
          </p:nvCxnSpPr>
          <p:spPr>
            <a:xfrm rot="10800000">
              <a:off x="2279468" y="5290456"/>
              <a:ext cx="2547258" cy="287384"/>
            </a:xfrm>
            <a:prstGeom prst="curvedConnector3">
              <a:avLst/>
            </a:prstGeom>
            <a:ln w="381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83971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This is one reason existing systems are complex</a:t>
            </a:r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/>
          </p:nvPr>
        </p:nvGraphicFramePr>
        <p:xfrm>
          <a:off x="6156417" y="1781237"/>
          <a:ext cx="2355850" cy="1128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579" name="Visio" r:id="rId4" imgW="1974881" imgH="946047" progId="Visio.Drawing.11">
                  <p:embed/>
                </p:oleObj>
              </mc:Choice>
              <mc:Fallback>
                <p:oleObj name="Visio" r:id="rId4" imgW="1974881" imgH="946047" progId="Visio.Drawing.11">
                  <p:embed/>
                  <p:pic>
                    <p:nvPicPr>
                      <p:cNvPr id="0" name="Picture 7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417" y="1781237"/>
                        <a:ext cx="2355850" cy="1128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/>
          <p:cNvGraphicFramePr>
            <a:graphicFrameLocks noChangeAspect="1"/>
          </p:cNvGraphicFramePr>
          <p:nvPr>
            <p:extLst/>
          </p:nvPr>
        </p:nvGraphicFramePr>
        <p:xfrm>
          <a:off x="6115050" y="3610037"/>
          <a:ext cx="2508250" cy="1201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580" name="Visio" r:id="rId6" imgW="1974881" imgH="946047" progId="Visio.Drawing.11">
                  <p:embed/>
                </p:oleObj>
              </mc:Choice>
              <mc:Fallback>
                <p:oleObj name="Visio" r:id="rId6" imgW="1974881" imgH="946047" progId="Visio.Drawing.11">
                  <p:embed/>
                  <p:pic>
                    <p:nvPicPr>
                      <p:cNvPr id="0" name="Picture 7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050" y="3610037"/>
                        <a:ext cx="2508250" cy="1201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"/>
          <p:cNvGraphicFramePr>
            <a:graphicFrameLocks noChangeAspect="1"/>
          </p:cNvGraphicFramePr>
          <p:nvPr>
            <p:extLst/>
          </p:nvPr>
        </p:nvGraphicFramePr>
        <p:xfrm>
          <a:off x="4466952" y="5149283"/>
          <a:ext cx="2432050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581" name="Visio" r:id="rId8" imgW="1974881" imgH="946047" progId="Visio.Drawing.11">
                  <p:embed/>
                </p:oleObj>
              </mc:Choice>
              <mc:Fallback>
                <p:oleObj name="Visio" r:id="rId8" imgW="1974881" imgH="946047" progId="Visio.Drawing.11">
                  <p:embed/>
                  <p:pic>
                    <p:nvPicPr>
                      <p:cNvPr id="0" name="Picture 7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6952" y="5149283"/>
                        <a:ext cx="2432050" cy="116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1"/>
          <p:cNvGraphicFramePr>
            <a:graphicFrameLocks noChangeAspect="1"/>
          </p:cNvGraphicFramePr>
          <p:nvPr>
            <p:extLst/>
          </p:nvPr>
        </p:nvGraphicFramePr>
        <p:xfrm>
          <a:off x="1451606" y="4855362"/>
          <a:ext cx="2514600" cy="120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582" name="Visio" r:id="rId10" imgW="1974881" imgH="946047" progId="Visio.Drawing.11">
                  <p:embed/>
                </p:oleObj>
              </mc:Choice>
              <mc:Fallback>
                <p:oleObj name="Visio" r:id="rId10" imgW="1974881" imgH="946047" progId="Visio.Drawing.11">
                  <p:embed/>
                  <p:pic>
                    <p:nvPicPr>
                      <p:cNvPr id="0" name="Picture 7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1606" y="4855362"/>
                        <a:ext cx="2514600" cy="1204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1781236"/>
            <a:ext cx="4804484" cy="2639843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Graphite Light ATT" panose="03020402050402020203" pitchFamily="66" charset="0"/>
              </a:rPr>
              <a:t>A human has to know all the metadata in order to construct this join for each use</a:t>
            </a:r>
          </a:p>
          <a:p>
            <a:r>
              <a:rPr lang="en-US" sz="2400" b="1" dirty="0" smtClean="0">
                <a:latin typeface="Graphite Light ATT" panose="03020402050402020203" pitchFamily="66" charset="0"/>
              </a:rPr>
              <a:t>This join only works between tables in the same database</a:t>
            </a:r>
            <a:endParaRPr lang="en-US" sz="2400" b="1" dirty="0">
              <a:latin typeface="Graphite Light ATT" panose="03020402050402020203" pitchFamily="66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2279468" y="2188028"/>
            <a:ext cx="4349937" cy="3389812"/>
            <a:chOff x="2279468" y="2188028"/>
            <a:chExt cx="4349937" cy="3389812"/>
          </a:xfrm>
        </p:grpSpPr>
        <p:cxnSp>
          <p:nvCxnSpPr>
            <p:cNvPr id="13" name="Curved Connector 12"/>
            <p:cNvCxnSpPr/>
            <p:nvPr/>
          </p:nvCxnSpPr>
          <p:spPr>
            <a:xfrm rot="10800000" flipV="1">
              <a:off x="2279471" y="2188028"/>
              <a:ext cx="4349934" cy="3102427"/>
            </a:xfrm>
            <a:prstGeom prst="curvedConnector3">
              <a:avLst>
                <a:gd name="adj1" fmla="val 18318"/>
              </a:avLst>
            </a:prstGeom>
            <a:ln w="381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urved Connector 13"/>
            <p:cNvCxnSpPr/>
            <p:nvPr/>
          </p:nvCxnSpPr>
          <p:spPr>
            <a:xfrm rot="10800000" flipV="1">
              <a:off x="2279470" y="4096581"/>
              <a:ext cx="4349935" cy="1193875"/>
            </a:xfrm>
            <a:prstGeom prst="curvedConnector3">
              <a:avLst>
                <a:gd name="adj1" fmla="val 28829"/>
              </a:avLst>
            </a:prstGeom>
            <a:ln w="381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urved Connector 14"/>
            <p:cNvCxnSpPr/>
            <p:nvPr/>
          </p:nvCxnSpPr>
          <p:spPr>
            <a:xfrm rot="10800000">
              <a:off x="2279468" y="5290456"/>
              <a:ext cx="2547258" cy="287384"/>
            </a:xfrm>
            <a:prstGeom prst="curvedConnector3">
              <a:avLst/>
            </a:prstGeom>
            <a:ln w="381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9753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 need global identifiers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7620000" cy="3200399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Graphite Light ATT" panose="03020402050402020203" pitchFamily="66" charset="0"/>
              </a:rPr>
              <a:t>GUIDs</a:t>
            </a:r>
          </a:p>
          <a:p>
            <a:r>
              <a:rPr lang="en-US" sz="2400" b="1" dirty="0" smtClean="0">
                <a:latin typeface="Graphite Light ATT" panose="03020402050402020203" pitchFamily="66" charset="0"/>
              </a:rPr>
              <a:t>May be globally unique, but not globally resolvable</a:t>
            </a:r>
          </a:p>
          <a:p>
            <a:r>
              <a:rPr lang="en-US" sz="2400" b="1" dirty="0" smtClean="0">
                <a:latin typeface="Graphite Light ATT" panose="03020402050402020203" pitchFamily="66" charset="0"/>
              </a:rPr>
              <a:t>What will you do when someone sends you a message with this in it?</a:t>
            </a:r>
          </a:p>
          <a:p>
            <a:pPr lvl="1"/>
            <a:r>
              <a:rPr lang="en-US" sz="2000" b="1" dirty="0" smtClean="0">
                <a:latin typeface="Graphite Light ATT" panose="03020402050402020203" pitchFamily="66" charset="0"/>
              </a:rPr>
              <a:t>{21EC2020-3AEA-1069-A2DD-08002B30309D}</a:t>
            </a:r>
            <a:endParaRPr lang="en-US" sz="2000" b="1" dirty="0">
              <a:latin typeface="Graphite Light ATT" panose="03020402050402020203" pitchFamily="66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56D00-7E3A-474F-A645-5B00B94AB3EE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57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Semantic Technology Finesses this with </a:t>
            </a:r>
            <a:r>
              <a:rPr lang="en-US" smtClean="0"/>
              <a:t>the “URI”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1610033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Graphite Light ATT" panose="03020402050402020203" pitchFamily="66" charset="0"/>
              </a:rPr>
              <a:t>This identifier is truly global</a:t>
            </a:r>
          </a:p>
          <a:p>
            <a:r>
              <a:rPr lang="en-US" b="1" dirty="0" smtClean="0">
                <a:latin typeface="Graphite Light ATT" panose="03020402050402020203" pitchFamily="66" charset="0"/>
              </a:rPr>
              <a:t>It means the same thing, regardless of the database or document it is part of</a:t>
            </a:r>
            <a:endParaRPr lang="en-US" b="1" dirty="0">
              <a:latin typeface="Graphite Light ATT" panose="03020402050402020203" pitchFamily="66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181044" y="3754426"/>
            <a:ext cx="3369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http://cusip.com/reg#02209S103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865760" y="3754426"/>
            <a:ext cx="38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727784" y="4626361"/>
            <a:ext cx="7886700" cy="10418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>
                <a:latin typeface="Graphite Light ATT" panose="03020402050402020203" pitchFamily="66" charset="0"/>
              </a:rPr>
              <a:t>In turn, this yields information that can be “joined” without relying on humans or metadata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7" name="Oval 7"/>
          <p:cNvSpPr>
            <a:spLocks noChangeArrowheads="1"/>
          </p:cNvSpPr>
          <p:nvPr/>
        </p:nvSpPr>
        <p:spPr bwMode="auto">
          <a:xfrm>
            <a:off x="1290290" y="3557121"/>
            <a:ext cx="2575470" cy="762278"/>
          </a:xfrm>
          <a:prstGeom prst="ellipse">
            <a:avLst/>
          </a:prstGeom>
          <a:solidFill>
            <a:srgbClr val="5B9BD5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</a:t>
            </a:r>
            <a:r>
              <a:rPr lang="en-US" b="1" dirty="0" smtClean="0">
                <a:solidFill>
                  <a:schemeClr val="bg1"/>
                </a:solidFill>
              </a:rPr>
              <a:t>usip:02209S103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310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9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Using URIs (similar to URLs) as identifiers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69245"/>
            <a:ext cx="8229600" cy="2362200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Graphite Light ATT" panose="03020402050402020203" pitchFamily="66" charset="0"/>
              </a:rPr>
              <a:t>Gives us truly global unique IDs</a:t>
            </a:r>
          </a:p>
          <a:p>
            <a:r>
              <a:rPr lang="en-US" b="1" dirty="0" smtClean="0">
                <a:latin typeface="Graphite Light ATT" panose="03020402050402020203" pitchFamily="66" charset="0"/>
              </a:rPr>
              <a:t>That can be looked up, if needed</a:t>
            </a:r>
          </a:p>
          <a:p>
            <a:endParaRPr lang="en-US" b="1" dirty="0" smtClean="0">
              <a:latin typeface="Graphite Light ATT" panose="03020402050402020203" pitchFamily="66" charset="0"/>
            </a:endParaRPr>
          </a:p>
          <a:p>
            <a:pPr lvl="1">
              <a:buNone/>
            </a:pP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Graphite MM" panose="02000000000000000000" pitchFamily="2" charset="0"/>
              </a:rPr>
              <a:t>http://isbn10.isbn.org/books#1558609172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latin typeface="Graphite MM" panose="02000000000000000000" pitchFamily="2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77594" y="2436663"/>
            <a:ext cx="2104862" cy="2104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Right Brace 18"/>
          <p:cNvSpPr/>
          <p:nvPr/>
        </p:nvSpPr>
        <p:spPr>
          <a:xfrm rot="5400000">
            <a:off x="2506980" y="2025364"/>
            <a:ext cx="381000" cy="3352800"/>
          </a:xfrm>
          <a:prstGeom prst="rightBrace">
            <a:avLst>
              <a:gd name="adj1" fmla="val 21794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1822263" y="3941250"/>
            <a:ext cx="1748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Graphite Light ATT" panose="03020402050402020203" pitchFamily="66" charset="0"/>
              </a:rPr>
              <a:t>Namespace</a:t>
            </a:r>
            <a:endParaRPr lang="en-US" b="1" dirty="0">
              <a:latin typeface="Graphite Light ATT" panose="03020402050402020203" pitchFamily="66" charset="0"/>
            </a:endParaRPr>
          </a:p>
        </p:txBody>
      </p:sp>
      <p:sp>
        <p:nvSpPr>
          <p:cNvPr id="21" name="Right Brace 20"/>
          <p:cNvSpPr/>
          <p:nvPr/>
        </p:nvSpPr>
        <p:spPr>
          <a:xfrm rot="5400000">
            <a:off x="5076975" y="2855822"/>
            <a:ext cx="382338" cy="1690547"/>
          </a:xfrm>
          <a:prstGeom prst="rightBrace">
            <a:avLst>
              <a:gd name="adj1" fmla="val 8333"/>
              <a:gd name="adj2" fmla="val 4962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4585060" y="3941249"/>
            <a:ext cx="1426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Graphite Light ATT" panose="03020402050402020203" pitchFamily="66" charset="0"/>
              </a:rPr>
              <a:t>Fragment</a:t>
            </a:r>
            <a:endParaRPr lang="en-US" b="1" dirty="0">
              <a:latin typeface="Graphite Light ATT" panose="03020402050402020203" pitchFamily="66" charset="0"/>
            </a:endParaRPr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845817" y="5290271"/>
            <a:ext cx="7478486" cy="53553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 smtClean="0">
                <a:latin typeface="Graphite MM" panose="02000206020000020004" pitchFamily="2" charset="0"/>
              </a:rPr>
              <a:t>This is the key </a:t>
            </a:r>
            <a:r>
              <a:rPr lang="en-US" sz="3200" smtClean="0">
                <a:latin typeface="Graphite MM" panose="02000206020000020004" pitchFamily="2" charset="0"/>
              </a:rPr>
              <a:t>to “self-assembling structures”</a:t>
            </a:r>
            <a:endParaRPr lang="en-US" sz="3200" dirty="0" smtClean="0">
              <a:latin typeface="Graphite MM" panose="02000206020000020004" pitchFamily="2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632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1" grpId="0" animBg="1"/>
      <p:bldP spid="22" grpId="0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Semantic Identifiers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32183" y="1825625"/>
            <a:ext cx="8443913" cy="2393678"/>
          </a:xfrm>
        </p:spPr>
        <p:txBody>
          <a:bodyPr/>
          <a:lstStyle/>
          <a:p>
            <a:r>
              <a:rPr lang="en-US" dirty="0"/>
              <a:t>This buys you three things: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b="1" dirty="0" smtClean="0">
                <a:latin typeface="Graphite Light ATT" panose="03020402050402020203" pitchFamily="66" charset="0"/>
              </a:rPr>
              <a:t>Human- </a:t>
            </a:r>
            <a:r>
              <a:rPr lang="en-US" sz="2400" b="1" dirty="0">
                <a:latin typeface="Graphite Light ATT" panose="03020402050402020203" pitchFamily="66" charset="0"/>
              </a:rPr>
              <a:t>and machine-readable and </a:t>
            </a:r>
            <a:r>
              <a:rPr lang="en-US" sz="2400" b="1" dirty="0" smtClean="0">
                <a:latin typeface="Graphite Light ATT" panose="03020402050402020203" pitchFamily="66" charset="0"/>
              </a:rPr>
              <a:t>-understandable information</a:t>
            </a:r>
            <a:endParaRPr lang="en-US" sz="2400" b="1" dirty="0">
              <a:latin typeface="Graphite Light ATT" panose="03020402050402020203" pitchFamily="66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b="1" dirty="0" smtClean="0">
                <a:latin typeface="Graphite Light ATT" panose="03020402050402020203" pitchFamily="66" charset="0"/>
              </a:rPr>
              <a:t>Humans </a:t>
            </a:r>
            <a:r>
              <a:rPr lang="en-US" sz="2400" b="1" dirty="0">
                <a:latin typeface="Graphite Light ATT" panose="03020402050402020203" pitchFamily="66" charset="0"/>
              </a:rPr>
              <a:t>can </a:t>
            </a:r>
            <a:r>
              <a:rPr lang="en-US" sz="2400" b="1" dirty="0" smtClean="0">
                <a:latin typeface="Graphite Light ATT" panose="03020402050402020203" pitchFamily="66" charset="0"/>
              </a:rPr>
              <a:t>look up </a:t>
            </a:r>
            <a:r>
              <a:rPr lang="en-US" sz="2400" b="1" dirty="0">
                <a:latin typeface="Graphite Light ATT" panose="03020402050402020203" pitchFamily="66" charset="0"/>
              </a:rPr>
              <a:t>to resolve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b="1" dirty="0">
                <a:latin typeface="Graphite Light ATT" panose="03020402050402020203" pitchFamily="66" charset="0"/>
              </a:rPr>
              <a:t>Self-assembly (we’ll see later</a:t>
            </a:r>
            <a:r>
              <a:rPr lang="en-US" sz="2400" b="1" dirty="0" smtClean="0">
                <a:latin typeface="Graphite Light ATT" panose="03020402050402020203" pitchFamily="66" charset="0"/>
              </a:rPr>
              <a:t>)</a:t>
            </a:r>
            <a:endParaRPr lang="en-US" sz="2400" b="1" dirty="0">
              <a:latin typeface="Graphite Light ATT" panose="03020402050402020203" pitchFamily="66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856D00-7E3A-474F-A645-5B00B94AB3EE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026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8079" y="1257836"/>
            <a:ext cx="6443699" cy="46095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Let’s create an individual</a:t>
            </a:r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564086" y="1219200"/>
            <a:ext cx="2351314" cy="60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te Light ATT" panose="03020402050402020203" pitchFamily="66" charset="0"/>
              </a:rPr>
              <a:t>Click the Individual</a:t>
            </a:r>
            <a:r>
              <a:rPr lang="en-US" sz="2000" b="1" dirty="0" smtClean="0">
                <a:latin typeface="Graphite Light ATT" panose="03020402050402020203" pitchFamily="66" charset="0"/>
              </a:rPr>
              <a:t>s tab.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te Light ATT" panose="03020402050402020203" pitchFamily="66" charset="0"/>
            </a:endParaRPr>
          </a:p>
        </p:txBody>
      </p:sp>
      <p:sp>
        <p:nvSpPr>
          <p:cNvPr id="9" name="Down Arrow 8"/>
          <p:cNvSpPr/>
          <p:nvPr/>
        </p:nvSpPr>
        <p:spPr>
          <a:xfrm rot="10800000">
            <a:off x="2590800" y="4191000"/>
            <a:ext cx="609600" cy="53340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own Arrow 9"/>
          <p:cNvSpPr/>
          <p:nvPr/>
        </p:nvSpPr>
        <p:spPr>
          <a:xfrm rot="16200000">
            <a:off x="1638300" y="2552700"/>
            <a:ext cx="609600" cy="53340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6556020" y="2171700"/>
            <a:ext cx="2438400" cy="990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2000" b="1" dirty="0">
                <a:latin typeface="Graphite Light ATT" panose="03020402050402020203" pitchFamily="66" charset="0"/>
              </a:rPr>
              <a:t>Select the Magenta diamond to create an individual.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6553200" y="3505200"/>
            <a:ext cx="2438400" cy="320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lvl="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b="1" dirty="0">
                <a:latin typeface="Graphite Light ATT" panose="03020402050402020203" pitchFamily="66" charset="0"/>
              </a:rPr>
              <a:t>There is not a uniform practice for naming individuals. </a:t>
            </a:r>
            <a:endParaRPr lang="en-US" b="1" dirty="0" smtClean="0">
              <a:latin typeface="Graphite Light ATT" panose="03020402050402020203" pitchFamily="66" charset="0"/>
            </a:endParaRPr>
          </a:p>
          <a:p>
            <a:pPr marR="0" lvl="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b="1" dirty="0" smtClean="0">
                <a:latin typeface="Graphite Light ATT" panose="03020402050402020203" pitchFamily="66" charset="0"/>
              </a:rPr>
              <a:t>If </a:t>
            </a:r>
            <a:r>
              <a:rPr lang="en-US" b="1" dirty="0">
                <a:latin typeface="Graphite Light ATT" panose="03020402050402020203" pitchFamily="66" charset="0"/>
              </a:rPr>
              <a:t>you have individuals, classes and properties in the same namespace, </a:t>
            </a:r>
            <a:r>
              <a:rPr lang="en-US" b="1" dirty="0" smtClean="0">
                <a:latin typeface="Graphite Light ATT" panose="03020402050402020203" pitchFamily="66" charset="0"/>
              </a:rPr>
              <a:t>a leading </a:t>
            </a:r>
            <a:r>
              <a:rPr lang="en-US" b="1" dirty="0">
                <a:latin typeface="Graphite Light ATT" panose="03020402050402020203" pitchFamily="66" charset="0"/>
              </a:rPr>
              <a:t>underscore is a good way to ensure you don’t create an accidental synonym.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419600" y="1752600"/>
            <a:ext cx="609600" cy="53340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362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  <p:bldP spid="10" grpId="0" animBg="1"/>
      <p:bldP spid="11" grpId="0"/>
      <p:bldP spid="13" grpId="0"/>
      <p:bldP spid="1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some more individuals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7426" y="1447800"/>
            <a:ext cx="2895600" cy="3333206"/>
          </a:xfrm>
        </p:spPr>
        <p:txBody>
          <a:bodyPr>
            <a:normAutofit/>
          </a:bodyPr>
          <a:lstStyle/>
          <a:p>
            <a:r>
              <a:rPr lang="en-US" dirty="0" smtClean="0"/>
              <a:t>Let’s create:</a:t>
            </a:r>
          </a:p>
          <a:p>
            <a:endParaRPr lang="en-US" sz="2400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rgbClr val="541852"/>
                </a:solidFill>
              </a:rPr>
              <a:t>_vela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rgbClr val="541852"/>
                </a:solidFill>
              </a:rPr>
              <a:t>_</a:t>
            </a:r>
            <a:r>
              <a:rPr lang="en-US" dirty="0" err="1" smtClean="0">
                <a:solidFill>
                  <a:srgbClr val="541852"/>
                </a:solidFill>
              </a:rPr>
              <a:t>osg</a:t>
            </a:r>
            <a:endParaRPr lang="en-US" dirty="0" smtClean="0">
              <a:solidFill>
                <a:srgbClr val="541852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rgbClr val="541852"/>
                </a:solidFill>
              </a:rPr>
              <a:t>_</a:t>
            </a:r>
            <a:r>
              <a:rPr lang="en-US" dirty="0" err="1" smtClean="0">
                <a:solidFill>
                  <a:srgbClr val="541852"/>
                </a:solidFill>
              </a:rPr>
              <a:t>SiriusStar</a:t>
            </a:r>
            <a:endParaRPr lang="en-US" dirty="0" smtClean="0">
              <a:solidFill>
                <a:srgbClr val="541852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rgbClr val="541852"/>
                </a:solidFill>
              </a:rPr>
              <a:t>_</a:t>
            </a:r>
            <a:r>
              <a:rPr lang="en-US" dirty="0" err="1" smtClean="0">
                <a:solidFill>
                  <a:srgbClr val="541852"/>
                </a:solidFill>
              </a:rPr>
              <a:t>AriesStar</a:t>
            </a:r>
            <a:endParaRPr lang="en-US" dirty="0" smtClean="0">
              <a:solidFill>
                <a:srgbClr val="541852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rgbClr val="541852"/>
                </a:solidFill>
              </a:rPr>
              <a:t>_</a:t>
            </a:r>
            <a:r>
              <a:rPr lang="en-US" dirty="0" err="1" smtClean="0">
                <a:solidFill>
                  <a:srgbClr val="541852"/>
                </a:solidFill>
              </a:rPr>
              <a:t>Aframax</a:t>
            </a:r>
            <a:endParaRPr lang="en-US" dirty="0" smtClean="0">
              <a:solidFill>
                <a:srgbClr val="541852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rgbClr val="541852"/>
                </a:solidFill>
              </a:rPr>
              <a:t>_</a:t>
            </a:r>
            <a:r>
              <a:rPr lang="en-US" dirty="0" err="1" smtClean="0">
                <a:solidFill>
                  <a:srgbClr val="541852"/>
                </a:solidFill>
              </a:rPr>
              <a:t>velaFleet</a:t>
            </a:r>
            <a:endParaRPr lang="en-US" dirty="0" smtClean="0">
              <a:solidFill>
                <a:srgbClr val="541852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rgbClr val="541852"/>
                </a:solidFill>
              </a:rPr>
              <a:t>_</a:t>
            </a:r>
            <a:r>
              <a:rPr lang="en-US" dirty="0" err="1" smtClean="0">
                <a:solidFill>
                  <a:srgbClr val="541852"/>
                </a:solidFill>
              </a:rPr>
              <a:t>osgFleet</a:t>
            </a:r>
            <a:endParaRPr lang="en-US" dirty="0" smtClean="0">
              <a:solidFill>
                <a:srgbClr val="541852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541852"/>
                </a:solidFill>
              </a:rPr>
              <a:t>_</a:t>
            </a:r>
            <a:r>
              <a:rPr lang="en-US" dirty="0" err="1" smtClean="0">
                <a:solidFill>
                  <a:srgbClr val="541852"/>
                </a:solidFill>
              </a:rPr>
              <a:t>houston</a:t>
            </a:r>
            <a:endParaRPr lang="en-US" dirty="0">
              <a:solidFill>
                <a:srgbClr val="541852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114800" y="2329543"/>
            <a:ext cx="2664823" cy="2451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b="1" kern="1200">
                <a:solidFill>
                  <a:schemeClr val="tx1"/>
                </a:solidFill>
                <a:latin typeface="Graphite Light ATT" panose="03020402050402020203" pitchFamily="66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1" kern="1200">
                <a:solidFill>
                  <a:schemeClr val="tx1"/>
                </a:solidFill>
                <a:latin typeface="Graphite Light ATT" panose="03020402050402020203" pitchFamily="66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b="1" kern="1200">
                <a:solidFill>
                  <a:schemeClr val="tx1"/>
                </a:solidFill>
                <a:latin typeface="Graphite Light ATT" panose="03020402050402020203" pitchFamily="66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b="1" kern="1200">
                <a:solidFill>
                  <a:schemeClr val="tx1"/>
                </a:solidFill>
                <a:latin typeface="Graphite Light ATT" panose="03020402050402020203" pitchFamily="66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b="1" kern="1200">
                <a:solidFill>
                  <a:schemeClr val="tx1"/>
                </a:solidFill>
                <a:latin typeface="Graphite Light ATT" panose="03020402050402020203" pitchFamily="66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lvl="1" indent="-171450" defTabSz="685800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541852"/>
                </a:solidFill>
                <a:latin typeface="Graphite MM" panose="020B0604020202020204"/>
              </a:rPr>
              <a:t>_</a:t>
            </a:r>
            <a:r>
              <a:rPr lang="en-US" sz="1800" dirty="0" err="1">
                <a:solidFill>
                  <a:srgbClr val="541852"/>
                </a:solidFill>
                <a:latin typeface="Graphite MM" panose="020B0604020202020204"/>
              </a:rPr>
              <a:t>brentCrudeOil</a:t>
            </a:r>
            <a:endParaRPr lang="en-US" sz="1800" dirty="0">
              <a:solidFill>
                <a:srgbClr val="541852"/>
              </a:solidFill>
              <a:latin typeface="Graphite MM" panose="020B0604020202020204"/>
            </a:endParaRPr>
          </a:p>
          <a:p>
            <a:pPr marL="514350" lvl="1" indent="-171450" defTabSz="685800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541852"/>
                </a:solidFill>
                <a:latin typeface="Graphite MM" panose="020B0604020202020204"/>
              </a:rPr>
              <a:t>_</a:t>
            </a:r>
            <a:r>
              <a:rPr lang="en-US" sz="1800" dirty="0" err="1">
                <a:solidFill>
                  <a:srgbClr val="541852"/>
                </a:solidFill>
                <a:latin typeface="Graphite MM" panose="020B0604020202020204"/>
              </a:rPr>
              <a:t>harrisCounty</a:t>
            </a:r>
            <a:endParaRPr lang="en-US" sz="1800" dirty="0">
              <a:solidFill>
                <a:srgbClr val="541852"/>
              </a:solidFill>
              <a:latin typeface="Graphite MM" panose="020B0604020202020204"/>
            </a:endParaRPr>
          </a:p>
          <a:p>
            <a:pPr marL="514350" lvl="1" indent="-171450" defTabSz="685800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541852"/>
                </a:solidFill>
                <a:latin typeface="Graphite MM" panose="020B0604020202020204"/>
              </a:rPr>
              <a:t>_</a:t>
            </a:r>
            <a:r>
              <a:rPr lang="en-US" sz="1800" dirty="0" err="1">
                <a:solidFill>
                  <a:srgbClr val="541852"/>
                </a:solidFill>
                <a:latin typeface="Graphite MM" panose="020B0604020202020204"/>
              </a:rPr>
              <a:t>texas</a:t>
            </a:r>
            <a:endParaRPr lang="en-US" sz="1800" dirty="0">
              <a:solidFill>
                <a:srgbClr val="541852"/>
              </a:solidFill>
              <a:latin typeface="Graphite MM" panose="020B0604020202020204"/>
            </a:endParaRPr>
          </a:p>
          <a:p>
            <a:pPr marL="514350" lvl="1" indent="-171450" defTabSz="685800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541852"/>
                </a:solidFill>
                <a:latin typeface="Graphite MM" panose="020B0604020202020204"/>
              </a:rPr>
              <a:t>_</a:t>
            </a:r>
            <a:r>
              <a:rPr lang="en-US" sz="1800" dirty="0" err="1">
                <a:solidFill>
                  <a:srgbClr val="541852"/>
                </a:solidFill>
                <a:latin typeface="Graphite MM" panose="020B0604020202020204"/>
              </a:rPr>
              <a:t>usa</a:t>
            </a:r>
            <a:endParaRPr lang="en-US" sz="1800" dirty="0">
              <a:solidFill>
                <a:srgbClr val="541852"/>
              </a:solidFill>
              <a:latin typeface="Graphite MM" panose="020B0604020202020204"/>
            </a:endParaRPr>
          </a:p>
          <a:p>
            <a:pPr marL="514350" lvl="1" indent="-171450" defTabSz="685800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541852"/>
                </a:solidFill>
                <a:latin typeface="Graphite MM" panose="020B0604020202020204"/>
              </a:rPr>
              <a:t>_padd3</a:t>
            </a:r>
          </a:p>
          <a:p>
            <a:pPr marL="514350" lvl="1" indent="-171450" defTabSz="685800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541852"/>
                </a:solidFill>
                <a:latin typeface="Graphite MM" panose="020B0604020202020204"/>
              </a:rPr>
              <a:t>_</a:t>
            </a:r>
            <a:r>
              <a:rPr lang="en-US" sz="1800" dirty="0" err="1">
                <a:solidFill>
                  <a:srgbClr val="541852"/>
                </a:solidFill>
                <a:latin typeface="Graphite MM" panose="020B0604020202020204"/>
              </a:rPr>
              <a:t>portArthur</a:t>
            </a:r>
            <a:endParaRPr lang="en-US" sz="1800" dirty="0">
              <a:solidFill>
                <a:srgbClr val="541852"/>
              </a:solidFill>
              <a:latin typeface="Graphite MM" panose="020B0604020202020204"/>
            </a:endParaRPr>
          </a:p>
          <a:p>
            <a:pPr marL="514350" lvl="1" indent="-171450" defTabSz="685800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541852"/>
                </a:solidFill>
                <a:latin typeface="Graphite MM" panose="020B0604020202020204"/>
              </a:rPr>
              <a:t>_</a:t>
            </a:r>
            <a:r>
              <a:rPr lang="en-US" sz="1800" dirty="0" err="1">
                <a:solidFill>
                  <a:srgbClr val="541852"/>
                </a:solidFill>
                <a:latin typeface="Graphite MM" panose="020B0604020202020204"/>
              </a:rPr>
              <a:t>jeffersonCounty</a:t>
            </a:r>
            <a:endParaRPr lang="en-US" sz="1800" dirty="0">
              <a:solidFill>
                <a:srgbClr val="541852"/>
              </a:solidFill>
              <a:latin typeface="Graphite MM" panose="020B0604020202020204"/>
            </a:endParaRPr>
          </a:p>
          <a:p>
            <a:pPr marL="514350" lvl="1" indent="-171450" defTabSz="685800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541852"/>
                </a:solidFill>
                <a:latin typeface="Graphite MM" panose="020B0604020202020204"/>
              </a:rPr>
              <a:t>_</a:t>
            </a:r>
            <a:r>
              <a:rPr lang="en-US" sz="1800" dirty="0" err="1">
                <a:solidFill>
                  <a:srgbClr val="541852"/>
                </a:solidFill>
                <a:latin typeface="Graphite MM" panose="020B0604020202020204"/>
              </a:rPr>
              <a:t>northAmerica</a:t>
            </a:r>
            <a:endParaRPr lang="en-US" sz="1800" dirty="0">
              <a:solidFill>
                <a:srgbClr val="541852"/>
              </a:solidFill>
              <a:latin typeface="Graphite MM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88752" y="5410200"/>
            <a:ext cx="75664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Graphite Light ATT" panose="03020402050402020203" pitchFamily="66" charset="0"/>
              </a:rPr>
              <a:t>You may make as many additional individuals as you want.</a:t>
            </a:r>
          </a:p>
        </p:txBody>
      </p:sp>
    </p:spTree>
    <p:extLst>
      <p:ext uri="{BB962C8B-B14F-4D97-AF65-F5344CB8AC3E}">
        <p14:creationId xmlns:p14="http://schemas.microsoft.com/office/powerpoint/2010/main" val="2320668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9906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To make corrections, open the very non-intuitively </a:t>
            </a:r>
            <a:r>
              <a:rPr lang="en-US" sz="2400" smtClean="0"/>
              <a:t>named “Refactor” </a:t>
            </a:r>
            <a:r>
              <a:rPr lang="en-US" sz="2400" dirty="0" smtClean="0"/>
              <a:t>menu</a:t>
            </a:r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Just in case… (correcting errors)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19200" y="2209800"/>
            <a:ext cx="6553200" cy="410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239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Let’s look at this ontology in a text editor</a:t>
            </a:r>
            <a:endParaRPr lang="en-US" dirty="0"/>
          </a:p>
        </p:txBody>
      </p:sp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1524000"/>
            <a:ext cx="6770687" cy="440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475" y="3490231"/>
            <a:ext cx="2249084" cy="1369151"/>
          </a:xfrm>
        </p:spPr>
        <p:txBody>
          <a:bodyPr>
            <a:noAutofit/>
          </a:bodyPr>
          <a:lstStyle/>
          <a:p>
            <a:pPr marL="0" indent="0">
              <a:lnSpc>
                <a:spcPct val="70000"/>
              </a:lnSpc>
              <a:buNone/>
              <a:defRPr/>
            </a:pPr>
            <a:r>
              <a:rPr lang="en-US" sz="2000" b="1" dirty="0">
                <a:latin typeface="Graphite Light ATT" panose="03020402050402020203" pitchFamily="66" charset="0"/>
              </a:rPr>
              <a:t>These are the standard short prefixes (</a:t>
            </a:r>
            <a:r>
              <a:rPr lang="en-US" sz="2000" b="1" dirty="0" err="1" smtClean="0">
                <a:latin typeface="Graphite Light ATT" panose="03020402050402020203" pitchFamily="66" charset="0"/>
              </a:rPr>
              <a:t>qnames</a:t>
            </a:r>
            <a:r>
              <a:rPr lang="en-US" sz="2000" b="1" dirty="0" smtClean="0">
                <a:latin typeface="Graphite Light ATT" panose="03020402050402020203" pitchFamily="66" charset="0"/>
              </a:rPr>
              <a:t>) </a:t>
            </a:r>
            <a:r>
              <a:rPr lang="en-US" sz="2000" b="1" dirty="0">
                <a:latin typeface="Graphite Light ATT" panose="03020402050402020203" pitchFamily="66" charset="0"/>
              </a:rPr>
              <a:t>for namespaces that get used a 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" y="3733800"/>
            <a:ext cx="5867400" cy="6858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400" y="1447800"/>
            <a:ext cx="5867400" cy="17526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731519" y="5715000"/>
            <a:ext cx="5571309" cy="5486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137160" rIns="91440" bIns="45720" rtlCol="0">
            <a:no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te MM" panose="02000000000000000000" pitchFamily="2" charset="0"/>
              </a:rPr>
              <a:t>This is mostly boiler plate, with one line we added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te MM" panose="02000000000000000000" pitchFamily="2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6807733" y="1524000"/>
            <a:ext cx="2244826" cy="1143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lvl="0" defTabSz="685800" fontAlgn="auto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000" b="1" dirty="0" smtClean="0">
                <a:latin typeface="Graphite Light ATT" panose="03020402050402020203" pitchFamily="66" charset="0"/>
              </a:rPr>
              <a:t>Formatted this way because </a:t>
            </a:r>
            <a:r>
              <a:rPr lang="en-US" sz="2000" b="1" dirty="0">
                <a:latin typeface="Graphite Light ATT" panose="03020402050402020203" pitchFamily="66" charset="0"/>
              </a:rPr>
              <a:t>we chose XML as our serializing language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483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8" grpId="0" animBg="1"/>
      <p:bldP spid="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Let’s look at this ontology in a text editor</a:t>
            </a:r>
            <a:endParaRPr lang="en-US" dirty="0"/>
          </a:p>
        </p:txBody>
      </p:sp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1524000"/>
            <a:ext cx="6770687" cy="440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152400" y="3352800"/>
            <a:ext cx="6477000" cy="4572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999510" y="2405743"/>
            <a:ext cx="1905000" cy="11865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lvl="0" fontAlgn="auto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b="1" dirty="0" smtClean="0">
                <a:latin typeface="Graphite Light ATT" panose="03020402050402020203" pitchFamily="66" charset="0"/>
              </a:rPr>
              <a:t>Plus, </a:t>
            </a:r>
            <a:r>
              <a:rPr lang="en-US" sz="2400" b="1" dirty="0">
                <a:latin typeface="Graphite Light ATT" panose="03020402050402020203" pitchFamily="66" charset="0"/>
              </a:rPr>
              <a:t>it gets repeated twice as the base and the default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6999510" y="4232373"/>
            <a:ext cx="1905000" cy="16459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b="1" dirty="0" smtClean="0">
                <a:latin typeface="Graphite Light ATT" panose="03020402050402020203" pitchFamily="66" charset="0"/>
              </a:rPr>
              <a:t>Here is where the actual name of the ontology 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2400" y="4419600"/>
            <a:ext cx="6477000" cy="2286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151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build="p"/>
      <p:bldP spid="9" grpId="0"/>
      <p:bldP spid="1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05676" y="1759257"/>
            <a:ext cx="5367377" cy="41957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Go back and re-save it but this time pick a different format (Turtle)</a:t>
            </a:r>
            <a:endParaRPr lang="en-US" dirty="0"/>
          </a:p>
        </p:txBody>
      </p:sp>
      <p:sp>
        <p:nvSpPr>
          <p:cNvPr id="7" name="Rounded Rectangular Callout 6"/>
          <p:cNvSpPr/>
          <p:nvPr/>
        </p:nvSpPr>
        <p:spPr>
          <a:xfrm>
            <a:off x="4953000" y="1600200"/>
            <a:ext cx="3886200" cy="457200"/>
          </a:xfrm>
          <a:prstGeom prst="wedgeRoundRectCallout">
            <a:avLst>
              <a:gd name="adj1" fmla="val -64624"/>
              <a:gd name="adj2" fmla="val -2826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ysClr val="windowText" lastClr="000000"/>
                </a:solidFill>
                <a:latin typeface="Graphite Light ATT" panose="03020402050402020203" pitchFamily="66" charset="0"/>
                <a:cs typeface="Arial" pitchFamily="34" charset="0"/>
              </a:rPr>
              <a:t>Ontology name and file path </a:t>
            </a:r>
            <a:endParaRPr lang="en-US" sz="2000" b="1" dirty="0">
              <a:solidFill>
                <a:sysClr val="windowText" lastClr="000000"/>
              </a:solidFill>
              <a:latin typeface="Graphite Light ATT" panose="03020402050402020203" pitchFamily="66" charset="0"/>
              <a:cs typeface="Arial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>
          <a:xfrm>
            <a:off x="6464481" y="6356351"/>
            <a:ext cx="2057400" cy="365125"/>
          </a:xfrm>
        </p:spPr>
        <p:txBody>
          <a:bodyPr/>
          <a:lstStyle/>
          <a:p>
            <a:fld id="{2C2D308B-B31D-4C87-80A7-0C493512D792}" type="slidenum">
              <a:rPr lang="en-US" smtClean="0"/>
              <a:pPr/>
              <a:t>42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600890" y="3017241"/>
            <a:ext cx="4080182" cy="288349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652391" y="5587415"/>
            <a:ext cx="615671" cy="27717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14961" y="4677323"/>
            <a:ext cx="1998618" cy="1200329"/>
          </a:xfrm>
          <a:prstGeom prst="rect">
            <a:avLst/>
          </a:prstGeom>
          <a:solidFill>
            <a:schemeClr val="bg1"/>
          </a:solidFill>
          <a:ln w="412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Graphite Light ATT" panose="03020402050402020203" pitchFamily="66" charset="0"/>
              </a:rPr>
              <a:t>Use the </a:t>
            </a:r>
            <a:r>
              <a:rPr lang="en-US" sz="2400" b="1" smtClean="0">
                <a:latin typeface="Graphite Light ATT" panose="03020402050402020203" pitchFamily="66" charset="0"/>
              </a:rPr>
              <a:t>suffix “.ttl” </a:t>
            </a:r>
            <a:r>
              <a:rPr lang="en-US" sz="2400" b="1" dirty="0" smtClean="0">
                <a:latin typeface="Graphite Light ATT" panose="03020402050402020203" pitchFamily="66" charset="0"/>
              </a:rPr>
              <a:t>for the new saved file</a:t>
            </a:r>
            <a:endParaRPr lang="en-US" sz="2400" b="1" dirty="0">
              <a:latin typeface="Graphite Light ATT" panose="03020402050402020203" pitchFamily="66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14961" y="5899834"/>
            <a:ext cx="3369833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latin typeface="Graphite Light ATT" panose="03020402050402020203" pitchFamily="66" charset="0"/>
              </a:rPr>
              <a:t>e.g</a:t>
            </a:r>
            <a:r>
              <a:rPr lang="en-US" sz="2400" b="1" smtClean="0">
                <a:latin typeface="Graphite Light ATT" panose="03020402050402020203" pitchFamily="66" charset="0"/>
              </a:rPr>
              <a:t>., “Empty Ontology.ttl”</a:t>
            </a:r>
            <a:endParaRPr lang="en-US" sz="2400" b="1" dirty="0">
              <a:latin typeface="Graphite Light ATT" panose="03020402050402020203" pitchFamily="66" charset="0"/>
            </a:endParaRPr>
          </a:p>
        </p:txBody>
      </p:sp>
      <p:sp>
        <p:nvSpPr>
          <p:cNvPr id="6" name="AutoShape 12"/>
          <p:cNvSpPr>
            <a:spLocks noChangeArrowheads="1"/>
          </p:cNvSpPr>
          <p:nvPr/>
        </p:nvSpPr>
        <p:spPr bwMode="auto">
          <a:xfrm rot="5400000">
            <a:off x="5603502" y="5215860"/>
            <a:ext cx="646742" cy="1020284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4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  <p:bldP spid="4" grpId="0" animBg="1"/>
      <p:bldP spid="13" grpId="0" animBg="1"/>
      <p:bldP spid="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1828800"/>
            <a:ext cx="6475413" cy="220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7010399" y="1904999"/>
            <a:ext cx="2074817" cy="2124075"/>
          </a:xfrm>
        </p:spPr>
        <p:txBody>
          <a:bodyPr>
            <a:noAutofit/>
          </a:bodyPr>
          <a:lstStyle/>
          <a:p>
            <a:pPr marL="0" indent="0" defTabSz="914400">
              <a:lnSpc>
                <a:spcPct val="80000"/>
              </a:lnSpc>
              <a:spcBef>
                <a:spcPct val="20000"/>
              </a:spcBef>
              <a:buNone/>
              <a:defRPr/>
            </a:pPr>
            <a:r>
              <a:rPr lang="en-US" sz="2400" b="1" dirty="0">
                <a:latin typeface="Graphite Light ATT" panose="03020402050402020203" pitchFamily="66" charset="0"/>
              </a:rPr>
              <a:t>These are the standard short </a:t>
            </a:r>
            <a:r>
              <a:rPr lang="en-US" sz="2400" b="1" dirty="0" smtClean="0">
                <a:latin typeface="Graphite Light ATT" panose="03020402050402020203" pitchFamily="66" charset="0"/>
              </a:rPr>
              <a:t>prefixes (</a:t>
            </a:r>
            <a:r>
              <a:rPr lang="en-US" sz="2400" b="1" dirty="0" err="1" smtClean="0">
                <a:latin typeface="Graphite Light ATT" panose="03020402050402020203" pitchFamily="66" charset="0"/>
              </a:rPr>
              <a:t>qnames</a:t>
            </a:r>
            <a:r>
              <a:rPr lang="en-US" sz="2400" b="1" dirty="0" smtClean="0">
                <a:latin typeface="Graphite Light ATT" panose="03020402050402020203" pitchFamily="66" charset="0"/>
              </a:rPr>
              <a:t>) for </a:t>
            </a:r>
            <a:r>
              <a:rPr lang="en-US" sz="2400" b="1" dirty="0">
                <a:latin typeface="Graphite Light ATT" panose="03020402050402020203" pitchFamily="66" charset="0"/>
              </a:rPr>
              <a:t>namespaces that get used a 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057400"/>
            <a:ext cx="5867400" cy="8382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820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Turtle gives us a simpler to read file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189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1828800"/>
            <a:ext cx="6475413" cy="220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7086600" y="2926078"/>
            <a:ext cx="1905000" cy="15239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lvl="0" fontAlgn="auto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000" b="1" dirty="0">
                <a:latin typeface="Graphite Light ATT" panose="03020402050402020203" pitchFamily="66" charset="0"/>
              </a:rPr>
              <a:t>Here is where the actual name of the ontology 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000" y="3200400"/>
            <a:ext cx="6477000" cy="2286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81000" y="1802676"/>
            <a:ext cx="6477000" cy="3048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7086600" y="1447800"/>
            <a:ext cx="1905000" cy="11647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b="1" dirty="0">
                <a:latin typeface="Graphite Light ATT" panose="03020402050402020203" pitchFamily="66" charset="0"/>
              </a:rPr>
              <a:t>Plus it gets repeated twice as the base and the default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1000" y="2819400"/>
            <a:ext cx="6477000" cy="3048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82000" cy="1143000"/>
          </a:xfrm>
        </p:spPr>
        <p:txBody>
          <a:bodyPr>
            <a:normAutofit/>
          </a:bodyPr>
          <a:lstStyle/>
          <a:p>
            <a:r>
              <a:rPr lang="en-US" dirty="0"/>
              <a:t>Turtle gives us a simpler to read file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844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0" grpId="0" animBg="1"/>
      <p:bldP spid="11" grpId="0" animBg="1"/>
      <p:bldP spid="12" grpId="0" build="p"/>
      <p:bldP spid="1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This is the RDF level of the cake</a:t>
            </a:r>
            <a:endParaRPr lang="en-US" dirty="0"/>
          </a:p>
        </p:txBody>
      </p:sp>
      <p:pic>
        <p:nvPicPr>
          <p:cNvPr id="5" name="Picture 4" descr="semantic-web-layer-cak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0" y="1524000"/>
            <a:ext cx="4527550" cy="4757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2133600" y="4648200"/>
            <a:ext cx="2286000" cy="1230086"/>
          </a:xfrm>
          <a:prstGeom prst="rect">
            <a:avLst/>
          </a:prstGeom>
          <a:noFill/>
          <a:ln w="76200">
            <a:solidFill>
              <a:srgbClr val="CB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228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Any fact can be expressed as a triple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3352800"/>
          </a:xfrm>
        </p:spPr>
        <p:txBody>
          <a:bodyPr/>
          <a:lstStyle/>
          <a:p>
            <a:r>
              <a:rPr lang="en-US" b="1" dirty="0" smtClean="0">
                <a:latin typeface="Graphite Light ATT" panose="03020402050402020203" pitchFamily="66" charset="0"/>
              </a:rPr>
              <a:t>Or a bunch of triples</a:t>
            </a:r>
          </a:p>
          <a:p>
            <a:r>
              <a:rPr lang="en-US" b="1" dirty="0" smtClean="0">
                <a:latin typeface="Graphite Light ATT" panose="03020402050402020203" pitchFamily="66" charset="0"/>
              </a:rPr>
              <a:t>As we’ll see later.</a:t>
            </a:r>
            <a:endParaRPr lang="en-US" b="1" dirty="0">
              <a:latin typeface="Graphite Light ATT" panose="03020402050402020203" pitchFamily="66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238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Individuals without Class </a:t>
            </a:r>
            <a:br>
              <a:rPr lang="en-US" dirty="0" smtClean="0"/>
            </a:br>
            <a:r>
              <a:rPr lang="en-US" sz="2400" dirty="0" smtClean="0"/>
              <a:t>(no disrespect intended)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2183" y="1825625"/>
            <a:ext cx="4697017" cy="1642564"/>
          </a:xfrm>
        </p:spPr>
        <p:txBody>
          <a:bodyPr/>
          <a:lstStyle/>
          <a:p>
            <a:r>
              <a:rPr lang="en-US" sz="2400" b="1" dirty="0">
                <a:latin typeface="Graphite Light ATT" panose="03020402050402020203" pitchFamily="66" charset="0"/>
              </a:rPr>
              <a:t>In traditional systems, the schema (table or class) </a:t>
            </a:r>
            <a:r>
              <a:rPr lang="en-US" sz="2400" b="1" u="sng" dirty="0">
                <a:latin typeface="Graphite Light ATT" panose="03020402050402020203" pitchFamily="66" charset="0"/>
              </a:rPr>
              <a:t>must</a:t>
            </a:r>
            <a:r>
              <a:rPr lang="en-US" sz="2400" b="1" dirty="0">
                <a:latin typeface="Graphite Light ATT" panose="03020402050402020203" pitchFamily="66" charset="0"/>
              </a:rPr>
              <a:t> exist before a row or instance can be created.</a:t>
            </a:r>
          </a:p>
          <a:p>
            <a:pPr marL="0" indent="0">
              <a:buNone/>
            </a:pPr>
            <a:endParaRPr lang="en-US" sz="2400" b="1" dirty="0" smtClean="0">
              <a:latin typeface="Graphite Light ATT" panose="03020402050402020203" pitchFamily="66" charset="0"/>
            </a:endParaRPr>
          </a:p>
          <a:p>
            <a:endParaRPr lang="en-US" b="1" dirty="0">
              <a:latin typeface="Graphite Light ATT" panose="03020402050402020203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47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167492" y="1933714"/>
            <a:ext cx="3046189" cy="1423440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462555" y="4153989"/>
            <a:ext cx="8183167" cy="18222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gency FB" panose="020B0503020202020204" pitchFamily="34" charset="0"/>
              <a:buChar char="•"/>
              <a:defRPr sz="2800" kern="1200">
                <a:solidFill>
                  <a:schemeClr val="tx1"/>
                </a:solidFill>
                <a:latin typeface="Graphite MM" panose="020B0604020202020204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Graphite MM" panose="020B0604020202020204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Calibri" panose="020F0502020204030204" pitchFamily="34" charset="0"/>
              <a:buChar char="‒"/>
              <a:defRPr sz="1500" kern="1200">
                <a:solidFill>
                  <a:schemeClr val="tx1"/>
                </a:solidFill>
                <a:latin typeface="Graphite MM" panose="020B0604020202020204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 smtClean="0">
                <a:latin typeface="Graphite Light ATT" panose="03020402050402020203" pitchFamily="66" charset="0"/>
              </a:rPr>
              <a:t>But we have just created a bunch of individuals without concern about what they </a:t>
            </a:r>
            <a:r>
              <a:rPr lang="en-US" sz="2400" b="1" u="sng" dirty="0" smtClean="0">
                <a:latin typeface="Graphite Light ATT" panose="03020402050402020203" pitchFamily="66" charset="0"/>
              </a:rPr>
              <a:t>are</a:t>
            </a:r>
            <a:r>
              <a:rPr lang="en-US" sz="2400" b="1" dirty="0" smtClean="0">
                <a:latin typeface="Graphite Light ATT" panose="03020402050402020203" pitchFamily="66" charset="0"/>
              </a:rPr>
              <a:t> in the real world </a:t>
            </a:r>
          </a:p>
          <a:p>
            <a:r>
              <a:rPr lang="en-US" sz="2400" b="1" dirty="0" smtClean="0">
                <a:latin typeface="Graphite Light ATT" panose="03020402050402020203" pitchFamily="66" charset="0"/>
              </a:rPr>
              <a:t>Later in the </a:t>
            </a:r>
            <a:r>
              <a:rPr lang="en-US" sz="2400" b="1" dirty="0" smtClean="0">
                <a:latin typeface="Graphite Light ATT" panose="03020402050402020203" pitchFamily="66" charset="0"/>
              </a:rPr>
              <a:t>seminar, </a:t>
            </a:r>
            <a:r>
              <a:rPr lang="en-US" sz="2400" b="1" dirty="0" smtClean="0">
                <a:latin typeface="Graphite Light ATT" panose="03020402050402020203" pitchFamily="66" charset="0"/>
              </a:rPr>
              <a:t>we will create classes into which </a:t>
            </a:r>
            <a:r>
              <a:rPr lang="en-US" sz="2400" b="1" dirty="0" smtClean="0">
                <a:latin typeface="Graphite Light ATT" panose="03020402050402020203" pitchFamily="66" charset="0"/>
              </a:rPr>
              <a:t>these individuals </a:t>
            </a:r>
            <a:r>
              <a:rPr lang="en-US" sz="2400" b="1" u="sng" dirty="0" smtClean="0">
                <a:latin typeface="Graphite Light ATT" panose="03020402050402020203" pitchFamily="66" charset="0"/>
              </a:rPr>
              <a:t>may</a:t>
            </a:r>
            <a:r>
              <a:rPr lang="en-US" sz="2400" b="1" dirty="0" smtClean="0">
                <a:latin typeface="Graphite Light ATT" panose="03020402050402020203" pitchFamily="66" charset="0"/>
              </a:rPr>
              <a:t> (but do not have to be) included</a:t>
            </a:r>
          </a:p>
          <a:p>
            <a:pPr marL="0" indent="0">
              <a:buFont typeface="Agency FB" panose="020B0503020202020204" pitchFamily="34" charset="0"/>
              <a:buNone/>
            </a:pPr>
            <a:endParaRPr lang="en-US" sz="2400" b="1" dirty="0" smtClean="0">
              <a:latin typeface="Graphite Light ATT" panose="03020402050402020203" pitchFamily="66" charset="0"/>
            </a:endParaRPr>
          </a:p>
          <a:p>
            <a:endParaRPr lang="en-US" b="1" dirty="0">
              <a:latin typeface="Graphite Light ATT" panose="0302040205040202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153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Save Classes for RDFS day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Done.  Moved the two class creation slides to Day 2 p.m.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48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 in OWL</a:t>
            </a:r>
            <a:endParaRPr lang="en-US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457200" y="1471755"/>
            <a:ext cx="8229600" cy="15879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685800">
              <a:lnSpc>
                <a:spcPct val="80000"/>
              </a:lnSpc>
              <a:spcBef>
                <a:spcPts val="600"/>
              </a:spcBef>
              <a:defRPr/>
            </a:pPr>
            <a:r>
              <a:rPr lang="en-US" sz="2800" b="1" dirty="0" smtClean="0">
                <a:latin typeface="Graphite Light ATT" panose="03020402050402020203" pitchFamily="66" charset="0"/>
              </a:rPr>
              <a:t>Properties are </a:t>
            </a:r>
            <a:r>
              <a:rPr lang="en-US" sz="2800" b="1" dirty="0">
                <a:latin typeface="Graphite Light ATT" panose="03020402050402020203" pitchFamily="66" charset="0"/>
              </a:rPr>
              <a:t>defined in order to be the </a:t>
            </a:r>
            <a:r>
              <a:rPr lang="en-US" sz="2800" b="1" u="sng" dirty="0">
                <a:latin typeface="Graphite Light ATT" panose="03020402050402020203" pitchFamily="66" charset="0"/>
              </a:rPr>
              <a:t>predicate</a:t>
            </a:r>
            <a:r>
              <a:rPr lang="en-US" sz="2800" b="1" dirty="0">
                <a:latin typeface="Graphite Light ATT" panose="03020402050402020203" pitchFamily="66" charset="0"/>
              </a:rPr>
              <a:t> in an </a:t>
            </a:r>
            <a:r>
              <a:rPr lang="en-US" sz="2800" b="1" dirty="0" smtClean="0">
                <a:latin typeface="Graphite Light ATT" panose="03020402050402020203" pitchFamily="66" charset="0"/>
              </a:rPr>
              <a:t>assertion</a:t>
            </a:r>
          </a:p>
          <a:p>
            <a:pPr marL="171450" indent="-171450" defTabSz="685800">
              <a:lnSpc>
                <a:spcPct val="80000"/>
              </a:lnSpc>
              <a:spcBef>
                <a:spcPts val="600"/>
              </a:spcBef>
              <a:buFont typeface="Agency FB" panose="020B0503020202020204" pitchFamily="34" charset="0"/>
              <a:buChar char="•"/>
              <a:defRPr/>
            </a:pPr>
            <a:r>
              <a:rPr lang="en-US" sz="2400" b="1" dirty="0" smtClean="0">
                <a:latin typeface="Graphite Light ATT" panose="03020402050402020203" pitchFamily="66" charset="0"/>
              </a:rPr>
              <a:t>Assertions come in two types:</a:t>
            </a:r>
          </a:p>
          <a:p>
            <a:pPr marL="171450" marR="0" lvl="0" indent="-171450" defTabSz="685800" fontAlgn="auto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gency FB" panose="020B0503020202020204" pitchFamily="34" charset="0"/>
              <a:buChar char="•"/>
              <a:tabLst/>
              <a:defRPr/>
            </a:pPr>
            <a:r>
              <a:rPr lang="en-US" sz="2400" b="1" dirty="0" smtClean="0">
                <a:latin typeface="Graphite Light ATT" panose="03020402050402020203" pitchFamily="66" charset="0"/>
              </a:rPr>
              <a:t>Those </a:t>
            </a:r>
            <a:r>
              <a:rPr lang="en-US" sz="2400" b="1" dirty="0">
                <a:latin typeface="Graphite Light ATT" panose="03020402050402020203" pitchFamily="66" charset="0"/>
              </a:rPr>
              <a:t>that connect </a:t>
            </a:r>
            <a:r>
              <a:rPr lang="en-US" sz="2400" b="1">
                <a:latin typeface="Graphite Light ATT" panose="03020402050402020203" pitchFamily="66" charset="0"/>
              </a:rPr>
              <a:t>two </a:t>
            </a:r>
            <a:r>
              <a:rPr lang="en-US" sz="2400" b="1" smtClean="0">
                <a:latin typeface="Graphite Light ATT" panose="03020402050402020203" pitchFamily="66" charset="0"/>
              </a:rPr>
              <a:t>“Individuals” </a:t>
            </a:r>
            <a:r>
              <a:rPr lang="en-US" sz="2400" b="1" dirty="0">
                <a:latin typeface="Graphite Light ATT" panose="03020402050402020203" pitchFamily="66" charset="0"/>
              </a:rPr>
              <a:t>(URI to URI</a:t>
            </a:r>
            <a:r>
              <a:rPr lang="en-US" sz="2400" b="1" dirty="0" smtClean="0">
                <a:latin typeface="Graphite Light ATT" panose="03020402050402020203" pitchFamily="66" charset="0"/>
              </a:rPr>
              <a:t>)</a:t>
            </a:r>
            <a:endParaRPr lang="en-US" sz="2400" b="1" dirty="0">
              <a:latin typeface="Graphite Light ATT" panose="03020402050402020203" pitchFamily="66" charset="0"/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457200" y="4379795"/>
            <a:ext cx="8438606" cy="532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71450" marR="0" lvl="0" indent="-171450" defTabSz="685800" fontAlgn="auto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gency FB" panose="020B0503020202020204" pitchFamily="34" charset="0"/>
              <a:buChar char="•"/>
              <a:tabLst/>
              <a:defRPr/>
            </a:pPr>
            <a:r>
              <a:rPr lang="en-US" sz="2400" b="1" dirty="0" smtClean="0">
                <a:latin typeface="Graphite Light ATT" panose="03020402050402020203" pitchFamily="66" charset="0"/>
              </a:rPr>
              <a:t>Those </a:t>
            </a:r>
            <a:r>
              <a:rPr lang="en-US" sz="2400" b="1" dirty="0">
                <a:latin typeface="Graphite Light ATT" panose="03020402050402020203" pitchFamily="66" charset="0"/>
              </a:rPr>
              <a:t>that supply literal information about </a:t>
            </a:r>
            <a:r>
              <a:rPr lang="en-US" sz="2400" b="1">
                <a:latin typeface="Graphite Light ATT" panose="03020402050402020203" pitchFamily="66" charset="0"/>
              </a:rPr>
              <a:t>an </a:t>
            </a:r>
            <a:r>
              <a:rPr lang="en-US" sz="2400" b="1" smtClean="0">
                <a:latin typeface="Graphite Light ATT" panose="03020402050402020203" pitchFamily="66" charset="0"/>
              </a:rPr>
              <a:t>“Individual”</a:t>
            </a:r>
            <a:endParaRPr lang="en-US" sz="2400" b="1" dirty="0">
              <a:latin typeface="Graphite Light ATT" panose="03020402050402020203" pitchFamily="66" charset="0"/>
            </a:endParaRP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49</a:t>
            </a:fld>
            <a:endParaRPr lang="en-US" dirty="0"/>
          </a:p>
        </p:txBody>
      </p:sp>
      <p:grpSp>
        <p:nvGrpSpPr>
          <p:cNvPr id="23" name="Group 22"/>
          <p:cNvGrpSpPr/>
          <p:nvPr/>
        </p:nvGrpSpPr>
        <p:grpSpPr>
          <a:xfrm>
            <a:off x="1171188" y="3060782"/>
            <a:ext cx="6862469" cy="762000"/>
            <a:chOff x="1104900" y="2856411"/>
            <a:chExt cx="6862469" cy="762000"/>
          </a:xfrm>
        </p:grpSpPr>
        <p:sp>
          <p:nvSpPr>
            <p:cNvPr id="24" name="Oval 23"/>
            <p:cNvSpPr/>
            <p:nvPr/>
          </p:nvSpPr>
          <p:spPr>
            <a:xfrm>
              <a:off x="1104900" y="2932611"/>
              <a:ext cx="2005149" cy="6858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dbbo</a:t>
              </a:r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:_vela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  <p:cxnSp>
          <p:nvCxnSpPr>
            <p:cNvPr id="25" name="Straight Arrow Connector 24"/>
            <p:cNvCxnSpPr>
              <a:stCxn id="24" idx="6"/>
              <a:endCxn id="26" idx="2"/>
            </p:cNvCxnSpPr>
            <p:nvPr/>
          </p:nvCxnSpPr>
          <p:spPr>
            <a:xfrm>
              <a:off x="3110049" y="3275511"/>
              <a:ext cx="1842951" cy="0"/>
            </a:xfrm>
            <a:prstGeom prst="straightConnector1">
              <a:avLst/>
            </a:prstGeom>
            <a:ln w="31750">
              <a:solidFill>
                <a:srgbClr val="306FA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/>
            <p:cNvSpPr/>
            <p:nvPr/>
          </p:nvSpPr>
          <p:spPr>
            <a:xfrm>
              <a:off x="4953000" y="2932611"/>
              <a:ext cx="3014369" cy="6858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dbbo</a:t>
              </a:r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:_</a:t>
              </a:r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SiriusStar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429000" y="2856411"/>
              <a:ext cx="11735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dbbo:owns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1150624" y="4904810"/>
            <a:ext cx="6657465" cy="762000"/>
            <a:chOff x="1151713" y="4904810"/>
            <a:chExt cx="6657465" cy="762000"/>
          </a:xfrm>
        </p:grpSpPr>
        <p:sp>
          <p:nvSpPr>
            <p:cNvPr id="22" name="Rectangle 21"/>
            <p:cNvSpPr/>
            <p:nvPr/>
          </p:nvSpPr>
          <p:spPr>
            <a:xfrm>
              <a:off x="4918578" y="5131524"/>
              <a:ext cx="289060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“Vela International Marine”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1151713" y="4981010"/>
              <a:ext cx="2005149" cy="6858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dbbo</a:t>
              </a:r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:_vela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  <p:cxnSp>
          <p:nvCxnSpPr>
            <p:cNvPr id="29" name="Straight Arrow Connector 28"/>
            <p:cNvCxnSpPr>
              <a:stCxn id="28" idx="6"/>
            </p:cNvCxnSpPr>
            <p:nvPr/>
          </p:nvCxnSpPr>
          <p:spPr>
            <a:xfrm>
              <a:off x="3171013" y="5323910"/>
              <a:ext cx="1828800" cy="0"/>
            </a:xfrm>
            <a:prstGeom prst="straightConnector1">
              <a:avLst/>
            </a:prstGeom>
            <a:ln w="31750">
              <a:solidFill>
                <a:srgbClr val="6B8E2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/>
            <p:cNvSpPr/>
            <p:nvPr/>
          </p:nvSpPr>
          <p:spPr>
            <a:xfrm>
              <a:off x="3393164" y="4904810"/>
              <a:ext cx="133882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dbbo:name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7657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URIs/IRIs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Graphite Light ATT" panose="03020402050402020203" pitchFamily="66" charset="0"/>
              </a:rPr>
              <a:t>But URIs do far more than provide a better identifier</a:t>
            </a:r>
          </a:p>
          <a:p>
            <a:r>
              <a:rPr lang="en-US" b="1" dirty="0" smtClean="0">
                <a:latin typeface="Graphite Light ATT" panose="03020402050402020203" pitchFamily="66" charset="0"/>
              </a:rPr>
              <a:t>They make </a:t>
            </a:r>
            <a:r>
              <a:rPr lang="en-US" b="1" smtClean="0">
                <a:latin typeface="Graphite Light ATT" panose="03020402050402020203" pitchFamily="66" charset="0"/>
              </a:rPr>
              <a:t>possible “self-assembling data structures”</a:t>
            </a:r>
            <a:endParaRPr lang="en-US" b="1" dirty="0">
              <a:latin typeface="Graphite Light ATT" panose="03020402050402020203" pitchFamily="66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034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Triples, built on URIs, allow self-assembling data structures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1"/>
            <a:ext cx="3511296" cy="9905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>
                <a:latin typeface="Graphite Light ATT" panose="03020402050402020203" pitchFamily="66" charset="0"/>
              </a:rPr>
              <a:t>These triples …</a:t>
            </a:r>
            <a:endParaRPr lang="en-US" b="1" dirty="0">
              <a:latin typeface="Graphite Light ATT" panose="03020402050402020203" pitchFamily="66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320039" y="2895600"/>
            <a:ext cx="1360660" cy="5334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dbbo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:_vela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cxnSp>
        <p:nvCxnSpPr>
          <p:cNvPr id="5" name="Straight Arrow Connector 4"/>
          <p:cNvCxnSpPr>
            <a:stCxn id="4" idx="6"/>
            <a:endCxn id="6" idx="2"/>
          </p:cNvCxnSpPr>
          <p:nvPr/>
        </p:nvCxnSpPr>
        <p:spPr>
          <a:xfrm>
            <a:off x="1680699" y="3162300"/>
            <a:ext cx="1077739" cy="0"/>
          </a:xfrm>
          <a:prstGeom prst="straightConnector1">
            <a:avLst/>
          </a:prstGeom>
          <a:ln w="31750">
            <a:solidFill>
              <a:srgbClr val="306FA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2758438" y="2895600"/>
            <a:ext cx="1859281" cy="5334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dbbo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:_</a:t>
            </a:r>
            <a:r>
              <a:rPr lang="en-US" sz="1200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SiriusStar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80699" y="2819400"/>
            <a:ext cx="100154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dbbo:owns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320039" y="3810000"/>
            <a:ext cx="1360660" cy="5334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dbbo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:_vela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cxnSp>
        <p:nvCxnSpPr>
          <p:cNvPr id="10" name="Straight Arrow Connector 9"/>
          <p:cNvCxnSpPr>
            <a:stCxn id="9" idx="6"/>
            <a:endCxn id="11" idx="2"/>
          </p:cNvCxnSpPr>
          <p:nvPr/>
        </p:nvCxnSpPr>
        <p:spPr>
          <a:xfrm>
            <a:off x="1680699" y="4076700"/>
            <a:ext cx="1077739" cy="0"/>
          </a:xfrm>
          <a:prstGeom prst="straightConnector1">
            <a:avLst/>
          </a:prstGeom>
          <a:ln w="31750">
            <a:solidFill>
              <a:srgbClr val="306FA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758438" y="3810000"/>
            <a:ext cx="1859281" cy="5334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dbbo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:_</a:t>
            </a:r>
            <a:r>
              <a:rPr lang="en-US" sz="1200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AriesStar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680699" y="3733800"/>
            <a:ext cx="100154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dbbo:owns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320039" y="4648200"/>
            <a:ext cx="1360660" cy="5334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dbbo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:_vela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cxnSp>
        <p:nvCxnSpPr>
          <p:cNvPr id="14" name="Straight Arrow Connector 13"/>
          <p:cNvCxnSpPr>
            <a:stCxn id="13" idx="6"/>
            <a:endCxn id="17" idx="1"/>
          </p:cNvCxnSpPr>
          <p:nvPr/>
        </p:nvCxnSpPr>
        <p:spPr>
          <a:xfrm flipV="1">
            <a:off x="1680699" y="4912976"/>
            <a:ext cx="1153939" cy="1924"/>
          </a:xfrm>
          <a:prstGeom prst="straightConnector1">
            <a:avLst/>
          </a:prstGeom>
          <a:ln w="31750">
            <a:solidFill>
              <a:srgbClr val="6B8E2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742050" y="4572000"/>
            <a:ext cx="10925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dbbo:name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834638" y="4774476"/>
            <a:ext cx="207916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"Vela International Marine"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202474" y="5486400"/>
            <a:ext cx="1478225" cy="5334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dbbo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:_</a:t>
            </a:r>
            <a:r>
              <a:rPr lang="en-US" sz="1200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SiriusStar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cxnSp>
        <p:nvCxnSpPr>
          <p:cNvPr id="19" name="Straight Arrow Connector 18"/>
          <p:cNvCxnSpPr>
            <a:stCxn id="18" idx="6"/>
            <a:endCxn id="20" idx="2"/>
          </p:cNvCxnSpPr>
          <p:nvPr/>
        </p:nvCxnSpPr>
        <p:spPr>
          <a:xfrm>
            <a:off x="1680699" y="5753100"/>
            <a:ext cx="1077739" cy="0"/>
          </a:xfrm>
          <a:prstGeom prst="straightConnector1">
            <a:avLst/>
          </a:prstGeom>
          <a:ln w="31750">
            <a:solidFill>
              <a:srgbClr val="306FA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2758438" y="5486400"/>
            <a:ext cx="1539241" cy="5334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dbbo:_Fleet2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680699" y="5410200"/>
            <a:ext cx="100154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dbbo:in</a:t>
            </a:r>
            <a:endParaRPr lang="en-US" sz="120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939928" y="4056888"/>
            <a:ext cx="1360660" cy="5334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dbbo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:_vela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cxnSp>
        <p:nvCxnSpPr>
          <p:cNvPr id="25" name="Straight Arrow Connector 24"/>
          <p:cNvCxnSpPr>
            <a:stCxn id="24" idx="6"/>
            <a:endCxn id="26" idx="2"/>
          </p:cNvCxnSpPr>
          <p:nvPr/>
        </p:nvCxnSpPr>
        <p:spPr>
          <a:xfrm>
            <a:off x="6300588" y="4323588"/>
            <a:ext cx="1064418" cy="0"/>
          </a:xfrm>
          <a:prstGeom prst="straightConnector1">
            <a:avLst/>
          </a:prstGeom>
          <a:ln w="31750">
            <a:solidFill>
              <a:srgbClr val="306FA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379015" y="4111316"/>
            <a:ext cx="990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dbbo:owns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7365006" y="4056888"/>
            <a:ext cx="1467363" cy="5334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dbbo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:_</a:t>
            </a:r>
            <a:r>
              <a:rPr lang="en-US" sz="1200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SiriusStar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7396572" y="4818888"/>
            <a:ext cx="1404230" cy="5334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dbbo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:_</a:t>
            </a:r>
            <a:r>
              <a:rPr lang="en-US" sz="1200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AriesStar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cxnSp>
        <p:nvCxnSpPr>
          <p:cNvPr id="29" name="Straight Arrow Connector 28"/>
          <p:cNvCxnSpPr>
            <a:stCxn id="24" idx="6"/>
            <a:endCxn id="28" idx="2"/>
          </p:cNvCxnSpPr>
          <p:nvPr/>
        </p:nvCxnSpPr>
        <p:spPr>
          <a:xfrm>
            <a:off x="6300588" y="4323588"/>
            <a:ext cx="1095984" cy="762000"/>
          </a:xfrm>
          <a:prstGeom prst="straightConnector1">
            <a:avLst/>
          </a:prstGeom>
          <a:ln w="31750">
            <a:solidFill>
              <a:srgbClr val="306FA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409505" y="4607704"/>
            <a:ext cx="990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dbbo:owns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264028" y="3440757"/>
            <a:ext cx="1447800" cy="461665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en-US" sz="120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"Vela International Marine"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cxnSp>
        <p:nvCxnSpPr>
          <p:cNvPr id="36" name="Straight Arrow Connector 35"/>
          <p:cNvCxnSpPr>
            <a:stCxn id="24" idx="6"/>
            <a:endCxn id="35" idx="1"/>
          </p:cNvCxnSpPr>
          <p:nvPr/>
        </p:nvCxnSpPr>
        <p:spPr>
          <a:xfrm flipV="1">
            <a:off x="6300588" y="3671590"/>
            <a:ext cx="963440" cy="651998"/>
          </a:xfrm>
          <a:prstGeom prst="straightConnector1">
            <a:avLst/>
          </a:prstGeom>
          <a:ln w="3175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8" idx="4"/>
            <a:endCxn id="44" idx="0"/>
          </p:cNvCxnSpPr>
          <p:nvPr/>
        </p:nvCxnSpPr>
        <p:spPr>
          <a:xfrm>
            <a:off x="8098687" y="5352288"/>
            <a:ext cx="1" cy="381000"/>
          </a:xfrm>
          <a:prstGeom prst="straightConnector1">
            <a:avLst/>
          </a:prstGeom>
          <a:ln w="31750">
            <a:solidFill>
              <a:srgbClr val="306FA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7942212" y="5391474"/>
            <a:ext cx="8382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dbbo:in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7309744" y="5733288"/>
            <a:ext cx="1577887" cy="5334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dbbo:_Fleet2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32" name="Content Placeholder 2"/>
          <p:cNvSpPr txBox="1">
            <a:spLocks/>
          </p:cNvSpPr>
          <p:nvPr/>
        </p:nvSpPr>
        <p:spPr>
          <a:xfrm>
            <a:off x="5050965" y="1676400"/>
            <a:ext cx="3790950" cy="122319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>
                <a:latin typeface="Graphite Light ATT" panose="03020402050402020203" pitchFamily="66" charset="0"/>
              </a:rPr>
              <a:t>…self-assemble into a graph structure without the need for metadata or “joins”</a:t>
            </a:r>
            <a:endParaRPr lang="en-US" b="1" dirty="0">
              <a:latin typeface="Graphite Light ATT" panose="03020402050402020203" pitchFamily="66" charset="0"/>
            </a:endParaRPr>
          </a:p>
        </p:txBody>
      </p:sp>
      <p:sp>
        <p:nvSpPr>
          <p:cNvPr id="37" name="Slide Number Placeholder 3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6277026" y="3740703"/>
            <a:ext cx="10925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dbbo:name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924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/>
      <p:bldP spid="9" grpId="0" animBg="1"/>
      <p:bldP spid="11" grpId="0" animBg="1"/>
      <p:bldP spid="12" grpId="0"/>
      <p:bldP spid="13" grpId="0" animBg="1"/>
      <p:bldP spid="16" grpId="0"/>
      <p:bldP spid="17" grpId="0"/>
      <p:bldP spid="18" grpId="0" animBg="1"/>
      <p:bldP spid="20" grpId="0" animBg="1"/>
      <p:bldP spid="21" grpId="0"/>
      <p:bldP spid="24" grpId="0" animBg="1"/>
      <p:bldP spid="27" grpId="0"/>
      <p:bldP spid="26" grpId="0" animBg="1"/>
      <p:bldP spid="28" grpId="0" animBg="1"/>
      <p:bldP spid="34" grpId="0"/>
      <p:bldP spid="35" grpId="0"/>
      <p:bldP spid="43" grpId="0"/>
      <p:bldP spid="44" grpId="0" animBg="1"/>
      <p:bldP spid="3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Let’s Visualize this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7886700" cy="10668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>
                <a:latin typeface="Graphite Light ATT" panose="03020402050402020203" pitchFamily="66" charset="0"/>
              </a:rPr>
              <a:t>Lets say we the following triples were harvested from completely different sources</a:t>
            </a:r>
          </a:p>
          <a:p>
            <a:r>
              <a:rPr lang="en-US" b="1" dirty="0" smtClean="0">
                <a:latin typeface="Graphite Light ATT" panose="03020402050402020203" pitchFamily="66" charset="0"/>
              </a:rPr>
              <a:t>CUSIP:  Identifier for a Financial Securities</a:t>
            </a:r>
            <a:endParaRPr lang="en-US" b="1" dirty="0">
              <a:latin typeface="Graphite Light ATT" panose="03020402050402020203" pitchFamily="66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52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1171521" y="2678302"/>
            <a:ext cx="3437099" cy="541356"/>
            <a:chOff x="1171521" y="2678302"/>
            <a:chExt cx="3437099" cy="541356"/>
          </a:xfrm>
        </p:grpSpPr>
        <p:sp>
          <p:nvSpPr>
            <p:cNvPr id="11" name="Oval 7"/>
            <p:cNvSpPr>
              <a:spLocks noChangeArrowheads="1"/>
            </p:cNvSpPr>
            <p:nvPr/>
          </p:nvSpPr>
          <p:spPr bwMode="auto">
            <a:xfrm>
              <a:off x="1171521" y="2821195"/>
              <a:ext cx="1292225" cy="398463"/>
            </a:xfrm>
            <a:prstGeom prst="ellipse">
              <a:avLst/>
            </a:prstGeom>
            <a:solidFill>
              <a:srgbClr val="5B9BD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none" lIns="0" tIns="45720" rIns="0" bIns="45720" numCol="1" anchor="t" anchorCtr="0" compatLnSpc="1">
              <a:prstTxWarp prst="textNoShape">
                <a:avLst/>
              </a:prstTxWarp>
            </a:bodyPr>
            <a:lstStyle/>
            <a:p>
              <a:pPr lvl="0" algn="ctr"/>
              <a:r>
                <a:rPr lang="en-US" altLang="en-US" sz="1000" b="1" dirty="0" smtClean="0">
                  <a:solidFill>
                    <a:srgbClr val="FEFFFF"/>
                  </a:solidFill>
                  <a:latin typeface="Tekton Pro" charset="0"/>
                </a:rPr>
                <a:t>cusip:02209S103</a:t>
              </a:r>
              <a:endParaRPr lang="en-US" altLang="en-US" sz="1400" b="1" dirty="0">
                <a:latin typeface="Arial" panose="020B0604020202020204" pitchFamily="34" charset="0"/>
              </a:endParaRPr>
            </a:p>
          </p:txBody>
        </p:sp>
        <p:sp>
          <p:nvSpPr>
            <p:cNvPr id="18" name="Freeform 14"/>
            <p:cNvSpPr>
              <a:spLocks/>
            </p:cNvSpPr>
            <p:nvPr/>
          </p:nvSpPr>
          <p:spPr bwMode="auto">
            <a:xfrm>
              <a:off x="2429433" y="2854264"/>
              <a:ext cx="902955" cy="173582"/>
            </a:xfrm>
            <a:custGeom>
              <a:avLst/>
              <a:gdLst>
                <a:gd name="T0" fmla="*/ 0 w 558"/>
                <a:gd name="T1" fmla="*/ 125 h 125"/>
                <a:gd name="T2" fmla="*/ 558 w 558"/>
                <a:gd name="T3" fmla="*/ 106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58" h="125">
                  <a:moveTo>
                    <a:pt x="0" y="125"/>
                  </a:moveTo>
                  <a:cubicBezTo>
                    <a:pt x="167" y="7"/>
                    <a:pt x="384" y="0"/>
                    <a:pt x="558" y="106"/>
                  </a:cubicBezTo>
                </a:path>
              </a:pathLst>
            </a:custGeom>
            <a:noFill/>
            <a:ln w="31750" cap="rnd">
              <a:solidFill>
                <a:srgbClr val="306FA2"/>
              </a:solidFill>
              <a:prstDash val="solid"/>
              <a:round/>
              <a:headEnd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Rectangle 18"/>
            <p:cNvSpPr>
              <a:spLocks noChangeArrowheads="1"/>
            </p:cNvSpPr>
            <p:nvPr/>
          </p:nvSpPr>
          <p:spPr bwMode="auto">
            <a:xfrm>
              <a:off x="2501481" y="2678302"/>
              <a:ext cx="793487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100" dirty="0" err="1">
                  <a:solidFill>
                    <a:srgbClr val="5B9BD5"/>
                  </a:solidFill>
                  <a:latin typeface="Tekton Pro" charset="0"/>
                </a:rPr>
                <a:t>c</a:t>
              </a:r>
              <a:r>
                <a:rPr kumimoji="0" lang="en-US" altLang="en-US" sz="1100" b="0" i="0" u="none" strike="noStrike" cap="none" normalizeH="0" baseline="0" dirty="0" err="1" smtClean="0">
                  <a:ln>
                    <a:noFill/>
                  </a:ln>
                  <a:solidFill>
                    <a:srgbClr val="5B9BD5"/>
                  </a:solidFill>
                  <a:effectLst/>
                  <a:latin typeface="Tekton Pro" charset="0"/>
                </a:rPr>
                <a:t>usip:filedBy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3" name="Oval 21"/>
            <p:cNvSpPr>
              <a:spLocks noChangeArrowheads="1"/>
            </p:cNvSpPr>
            <p:nvPr/>
          </p:nvSpPr>
          <p:spPr bwMode="auto">
            <a:xfrm>
              <a:off x="3316395" y="2804316"/>
              <a:ext cx="1292225" cy="396875"/>
            </a:xfrm>
            <a:prstGeom prst="ellipse">
              <a:avLst/>
            </a:prstGeom>
            <a:solidFill>
              <a:srgbClr val="5B9BD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0" tIns="45720" rIns="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000" b="1" dirty="0">
                  <a:solidFill>
                    <a:srgbClr val="FEFFFF"/>
                  </a:solidFill>
                  <a:latin typeface="Tekton Pro" charset="0"/>
                </a:rPr>
                <a:t>cusip:02209S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1117600" y="3419475"/>
            <a:ext cx="3398838" cy="650875"/>
            <a:chOff x="1117600" y="3419475"/>
            <a:chExt cx="3398838" cy="650875"/>
          </a:xfrm>
        </p:grpSpPr>
        <p:sp>
          <p:nvSpPr>
            <p:cNvPr id="34" name="Rectangle 18"/>
            <p:cNvSpPr>
              <a:spLocks noChangeArrowheads="1"/>
            </p:cNvSpPr>
            <p:nvPr/>
          </p:nvSpPr>
          <p:spPr bwMode="auto">
            <a:xfrm>
              <a:off x="2629456" y="3542298"/>
              <a:ext cx="721351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100" dirty="0" err="1" smtClean="0">
                  <a:solidFill>
                    <a:srgbClr val="5B9BD5"/>
                  </a:solidFill>
                  <a:latin typeface="Tekton Pro" charset="0"/>
                </a:rPr>
                <a:t>c</a:t>
              </a:r>
              <a:r>
                <a:rPr kumimoji="0" lang="en-US" altLang="en-US" sz="1100" b="0" i="0" u="none" strike="noStrike" cap="none" normalizeH="0" baseline="0" dirty="0" err="1" smtClean="0">
                  <a:ln>
                    <a:noFill/>
                  </a:ln>
                  <a:solidFill>
                    <a:srgbClr val="5B9BD5"/>
                  </a:solidFill>
                  <a:effectLst/>
                  <a:latin typeface="Tekton Pro" charset="0"/>
                </a:rPr>
                <a:t>usip:name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0" name="AutoShape 47"/>
            <p:cNvSpPr>
              <a:spLocks noChangeAspect="1" noChangeArrowheads="1" noTextEdit="1"/>
            </p:cNvSpPr>
            <p:nvPr/>
          </p:nvSpPr>
          <p:spPr bwMode="auto">
            <a:xfrm>
              <a:off x="1117600" y="3419475"/>
              <a:ext cx="3398838" cy="650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Rectangle 55"/>
            <p:cNvSpPr>
              <a:spLocks noChangeArrowheads="1"/>
            </p:cNvSpPr>
            <p:nvPr/>
          </p:nvSpPr>
          <p:spPr bwMode="auto">
            <a:xfrm>
              <a:off x="3550275" y="3704352"/>
              <a:ext cx="607539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600" b="0" i="0" u="none" strike="noStrike" cap="none" normalizeH="0" baseline="0" smtClean="0">
                  <a:ln>
                    <a:noFill/>
                  </a:ln>
                  <a:solidFill>
                    <a:srgbClr val="5B9BD5"/>
                  </a:solidFill>
                  <a:effectLst/>
                  <a:latin typeface="Tekton Pro" charset="0"/>
                </a:rPr>
                <a:t>“Altria”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3" name="Oval 21"/>
            <p:cNvSpPr>
              <a:spLocks noChangeArrowheads="1"/>
            </p:cNvSpPr>
            <p:nvPr/>
          </p:nvSpPr>
          <p:spPr bwMode="auto">
            <a:xfrm>
              <a:off x="1171521" y="3629025"/>
              <a:ext cx="1292225" cy="396875"/>
            </a:xfrm>
            <a:prstGeom prst="ellipse">
              <a:avLst/>
            </a:prstGeom>
            <a:solidFill>
              <a:srgbClr val="5B9BD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0" tIns="45720" rIns="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000" b="1" dirty="0">
                  <a:solidFill>
                    <a:srgbClr val="FEFFFF"/>
                  </a:solidFill>
                  <a:latin typeface="Tekton Pro" charset="0"/>
                </a:rPr>
                <a:t>cusip:02209S</a:t>
              </a:r>
            </a:p>
          </p:txBody>
        </p:sp>
        <p:sp>
          <p:nvSpPr>
            <p:cNvPr id="74" name="Freeform 14"/>
            <p:cNvSpPr>
              <a:spLocks/>
            </p:cNvSpPr>
            <p:nvPr/>
          </p:nvSpPr>
          <p:spPr bwMode="auto">
            <a:xfrm>
              <a:off x="2470495" y="3674854"/>
              <a:ext cx="1053294" cy="170737"/>
            </a:xfrm>
            <a:custGeom>
              <a:avLst/>
              <a:gdLst>
                <a:gd name="T0" fmla="*/ 0 w 558"/>
                <a:gd name="T1" fmla="*/ 125 h 125"/>
                <a:gd name="T2" fmla="*/ 558 w 558"/>
                <a:gd name="T3" fmla="*/ 106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58" h="125">
                  <a:moveTo>
                    <a:pt x="0" y="125"/>
                  </a:moveTo>
                  <a:cubicBezTo>
                    <a:pt x="167" y="7"/>
                    <a:pt x="384" y="0"/>
                    <a:pt x="558" y="106"/>
                  </a:cubicBezTo>
                </a:path>
              </a:pathLst>
            </a:custGeom>
            <a:noFill/>
            <a:ln w="31750" cap="rnd">
              <a:solidFill>
                <a:srgbClr val="6B8E23"/>
              </a:solidFill>
              <a:prstDash val="solid"/>
              <a:round/>
              <a:headEnd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8690" name="AutoShape 66"/>
          <p:cNvSpPr>
            <a:spLocks noChangeAspect="1" noChangeArrowheads="1" noTextEdit="1"/>
          </p:cNvSpPr>
          <p:nvPr/>
        </p:nvSpPr>
        <p:spPr bwMode="auto">
          <a:xfrm>
            <a:off x="1135063" y="4892675"/>
            <a:ext cx="3544887" cy="154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1171521" y="4205683"/>
            <a:ext cx="3616528" cy="683817"/>
            <a:chOff x="1171521" y="4205683"/>
            <a:chExt cx="3616528" cy="683817"/>
          </a:xfrm>
        </p:grpSpPr>
        <p:sp>
          <p:nvSpPr>
            <p:cNvPr id="41" name="Freeform 38"/>
            <p:cNvSpPr>
              <a:spLocks/>
            </p:cNvSpPr>
            <p:nvPr/>
          </p:nvSpPr>
          <p:spPr bwMode="auto">
            <a:xfrm>
              <a:off x="2466975" y="4364039"/>
              <a:ext cx="1008214" cy="405972"/>
            </a:xfrm>
            <a:custGeom>
              <a:avLst/>
              <a:gdLst>
                <a:gd name="T0" fmla="*/ 0 w 605"/>
                <a:gd name="T1" fmla="*/ 32 h 274"/>
                <a:gd name="T2" fmla="*/ 605 w 605"/>
                <a:gd name="T3" fmla="*/ 274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05" h="274">
                  <a:moveTo>
                    <a:pt x="0" y="32"/>
                  </a:moveTo>
                  <a:cubicBezTo>
                    <a:pt x="228" y="0"/>
                    <a:pt x="456" y="91"/>
                    <a:pt x="605" y="274"/>
                  </a:cubicBezTo>
                </a:path>
              </a:pathLst>
            </a:custGeom>
            <a:noFill/>
            <a:ln w="31750" cap="rnd">
              <a:solidFill>
                <a:srgbClr val="6B8E23"/>
              </a:solidFill>
              <a:prstDash val="solid"/>
              <a:round/>
              <a:headEnd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Rectangle 44"/>
            <p:cNvSpPr>
              <a:spLocks noChangeArrowheads="1"/>
            </p:cNvSpPr>
            <p:nvPr/>
          </p:nvSpPr>
          <p:spPr bwMode="auto">
            <a:xfrm>
              <a:off x="3475189" y="4643279"/>
              <a:ext cx="131286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600" b="0" i="0" u="none" strike="noStrike" cap="none" normalizeH="0" baseline="0" smtClean="0">
                  <a:ln>
                    <a:noFill/>
                  </a:ln>
                  <a:solidFill>
                    <a:srgbClr val="5B9BD5"/>
                  </a:solidFill>
                  <a:effectLst/>
                  <a:latin typeface="Tekton Pro" charset="0"/>
                </a:rPr>
                <a:t>“Phillip Morris”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" name="Rectangle 18"/>
            <p:cNvSpPr>
              <a:spLocks noChangeArrowheads="1"/>
            </p:cNvSpPr>
            <p:nvPr/>
          </p:nvSpPr>
          <p:spPr bwMode="auto">
            <a:xfrm>
              <a:off x="2514752" y="4565442"/>
              <a:ext cx="625171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100" dirty="0" err="1">
                  <a:solidFill>
                    <a:srgbClr val="5B9BD5"/>
                  </a:solidFill>
                  <a:latin typeface="Tekton Pro" charset="0"/>
                </a:rPr>
                <a:t>f</a:t>
              </a:r>
              <a:r>
                <a:rPr lang="en-US" altLang="en-US" sz="1100" dirty="0" err="1" smtClean="0">
                  <a:solidFill>
                    <a:srgbClr val="5B9BD5"/>
                  </a:solidFill>
                  <a:latin typeface="Tekton Pro" charset="0"/>
                </a:rPr>
                <a:t>oaf:name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8" name="Oval 21"/>
            <p:cNvSpPr>
              <a:spLocks noChangeArrowheads="1"/>
            </p:cNvSpPr>
            <p:nvPr/>
          </p:nvSpPr>
          <p:spPr bwMode="auto">
            <a:xfrm>
              <a:off x="1171521" y="4205683"/>
              <a:ext cx="1292225" cy="396875"/>
            </a:xfrm>
            <a:prstGeom prst="ellipse">
              <a:avLst/>
            </a:prstGeom>
            <a:solidFill>
              <a:srgbClr val="5B9BD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0" tIns="45720" rIns="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000" b="1" dirty="0">
                  <a:solidFill>
                    <a:srgbClr val="FEFFFF"/>
                  </a:solidFill>
                  <a:latin typeface="Tekton Pro" charset="0"/>
                </a:rPr>
                <a:t>cusip:02209S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1171521" y="4935131"/>
            <a:ext cx="3487791" cy="1399867"/>
            <a:chOff x="1171521" y="4935131"/>
            <a:chExt cx="3487791" cy="1399867"/>
          </a:xfrm>
        </p:grpSpPr>
        <p:sp>
          <p:nvSpPr>
            <p:cNvPr id="36" name="Rectangle 18"/>
            <p:cNvSpPr>
              <a:spLocks noChangeArrowheads="1"/>
            </p:cNvSpPr>
            <p:nvPr/>
          </p:nvSpPr>
          <p:spPr bwMode="auto">
            <a:xfrm>
              <a:off x="1788336" y="5603626"/>
              <a:ext cx="1309654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100" dirty="0" err="1" smtClean="0">
                  <a:solidFill>
                    <a:srgbClr val="5B9BD5"/>
                  </a:solidFill>
                  <a:latin typeface="Tekton Pro" charset="0"/>
                </a:rPr>
                <a:t>c</a:t>
              </a:r>
              <a:r>
                <a:rPr kumimoji="0" lang="en-US" altLang="en-US" sz="1100" b="0" i="0" u="none" strike="noStrike" cap="none" normalizeH="0" baseline="0" dirty="0" err="1" smtClean="0">
                  <a:ln>
                    <a:noFill/>
                  </a:ln>
                  <a:solidFill>
                    <a:srgbClr val="5B9BD5"/>
                  </a:solidFill>
                  <a:effectLst/>
                  <a:latin typeface="Tekton Pro" charset="0"/>
                </a:rPr>
                <a:t>usip:underwrittenBy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8698" name="Oval 79"/>
            <p:cNvSpPr>
              <a:spLocks noChangeArrowheads="1"/>
            </p:cNvSpPr>
            <p:nvPr/>
          </p:nvSpPr>
          <p:spPr bwMode="auto">
            <a:xfrm>
              <a:off x="3371850" y="5939710"/>
              <a:ext cx="1287462" cy="395288"/>
            </a:xfrm>
            <a:prstGeom prst="ellipse">
              <a:avLst/>
            </a:prstGeom>
            <a:solidFill>
              <a:srgbClr val="5B9BD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0" tIns="45720" rIns="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000" b="1" dirty="0" smtClean="0">
                  <a:solidFill>
                    <a:srgbClr val="FEFFFF"/>
                  </a:solidFill>
                  <a:latin typeface="Tekton Pro" charset="0"/>
                </a:rPr>
                <a:t>cusip:123456</a:t>
              </a:r>
              <a:endParaRPr lang="en-US" sz="1000" b="1" dirty="0">
                <a:solidFill>
                  <a:srgbClr val="FEFFFF"/>
                </a:solidFill>
                <a:latin typeface="Tekton Pro" charset="0"/>
              </a:endParaRPr>
            </a:p>
          </p:txBody>
        </p:sp>
        <p:sp>
          <p:nvSpPr>
            <p:cNvPr id="198703" name="Freeform 84"/>
            <p:cNvSpPr>
              <a:spLocks/>
            </p:cNvSpPr>
            <p:nvPr/>
          </p:nvSpPr>
          <p:spPr bwMode="auto">
            <a:xfrm>
              <a:off x="2443163" y="5102225"/>
              <a:ext cx="909637" cy="1054100"/>
            </a:xfrm>
            <a:custGeom>
              <a:avLst/>
              <a:gdLst>
                <a:gd name="T0" fmla="*/ 0 w 573"/>
                <a:gd name="T1" fmla="*/ 0 h 664"/>
                <a:gd name="T2" fmla="*/ 573 w 573"/>
                <a:gd name="T3" fmla="*/ 664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3" h="664">
                  <a:moveTo>
                    <a:pt x="0" y="0"/>
                  </a:moveTo>
                  <a:cubicBezTo>
                    <a:pt x="266" y="136"/>
                    <a:pt x="472" y="374"/>
                    <a:pt x="573" y="664"/>
                  </a:cubicBezTo>
                </a:path>
              </a:pathLst>
            </a:custGeom>
            <a:noFill/>
            <a:ln w="31750" cap="rnd">
              <a:solidFill>
                <a:srgbClr val="306FA2"/>
              </a:solidFill>
              <a:prstDash val="solid"/>
              <a:round/>
              <a:headEnd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Oval 7"/>
            <p:cNvSpPr>
              <a:spLocks noChangeArrowheads="1"/>
            </p:cNvSpPr>
            <p:nvPr/>
          </p:nvSpPr>
          <p:spPr bwMode="auto">
            <a:xfrm>
              <a:off x="1171521" y="4935131"/>
              <a:ext cx="1292225" cy="398463"/>
            </a:xfrm>
            <a:prstGeom prst="ellipse">
              <a:avLst/>
            </a:prstGeom>
            <a:solidFill>
              <a:srgbClr val="5B9BD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none" lIns="0" tIns="45720" rIns="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r>
                <a:rPr lang="en-US" altLang="en-US" sz="1000" b="1" dirty="0" smtClean="0">
                  <a:solidFill>
                    <a:srgbClr val="FEFFFF"/>
                  </a:solidFill>
                  <a:latin typeface="Tekton Pro" charset="0"/>
                </a:rPr>
                <a:t>cusip:02209S103</a:t>
              </a:r>
              <a:endParaRPr lang="en-US" altLang="en-US" sz="1400" b="1" dirty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3948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4.81481E-6 L 0.2342 -0.1236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01" y="-61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2.96296E-6 L 0.23698 -0.20347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40" y="-10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163 -0.0338 L 0.00087 -0.30949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8" y="-137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Graphs instead of tables</a:t>
            </a:r>
            <a:endParaRPr lang="en-US" sz="4000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7400" y="1724025"/>
            <a:ext cx="4762500" cy="429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56D00-7E3A-474F-A645-5B00B94AB3EE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150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Metadata discussion later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Moved metadata slides to Day 2 p.m.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54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 must be declared…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2699657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2400" b="1" dirty="0" smtClean="0">
                <a:latin typeface="Graphite Light ATT" panose="03020402050402020203" pitchFamily="66" charset="0"/>
              </a:rPr>
              <a:t>…before you can use them in an assertion.</a:t>
            </a:r>
          </a:p>
          <a:p>
            <a:pPr>
              <a:spcBef>
                <a:spcPts val="0"/>
              </a:spcBef>
            </a:pPr>
            <a:r>
              <a:rPr lang="en-US" sz="2400" b="1" dirty="0" smtClean="0">
                <a:latin typeface="Graphite Light ATT" panose="03020402050402020203" pitchFamily="66" charset="0"/>
              </a:rPr>
              <a:t>Because the assertions come in two varieties, so do the properties</a:t>
            </a:r>
            <a:r>
              <a:rPr lang="en-US" sz="2400" b="1" dirty="0">
                <a:latin typeface="Graphite Light ATT" panose="03020402050402020203" pitchFamily="66" charset="0"/>
              </a:rPr>
              <a:t>:</a:t>
            </a:r>
            <a:endParaRPr lang="en-US" sz="2400" b="1" dirty="0" smtClean="0">
              <a:latin typeface="Graphite Light ATT" panose="03020402050402020203" pitchFamily="66" charset="0"/>
            </a:endParaRP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000" b="1" dirty="0" smtClean="0">
                <a:solidFill>
                  <a:srgbClr val="306FA2"/>
                </a:solidFill>
                <a:latin typeface="Graphite Light ATT" panose="03020402050402020203" pitchFamily="66" charset="0"/>
              </a:rPr>
              <a:t>“Object Properties”</a:t>
            </a:r>
            <a:r>
              <a:rPr lang="en-US" sz="2000" b="1" dirty="0" smtClean="0">
                <a:latin typeface="Graphite Light ATT" panose="03020402050402020203" pitchFamily="66" charset="0"/>
              </a:rPr>
              <a:t> which are used to connect Individuals (URIs) to other Individuals.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000" b="1" dirty="0" smtClean="0">
                <a:solidFill>
                  <a:srgbClr val="6B8E23"/>
                </a:solidFill>
                <a:latin typeface="Graphite Light ATT" panose="03020402050402020203" pitchFamily="66" charset="0"/>
              </a:rPr>
              <a:t>“Datatype Properties”</a:t>
            </a:r>
            <a:r>
              <a:rPr lang="en-US" sz="2000" b="1" dirty="0" smtClean="0">
                <a:latin typeface="Graphite Light ATT" panose="03020402050402020203" pitchFamily="66" charset="0"/>
              </a:rPr>
              <a:t> which are used to connect individuals to literals.</a:t>
            </a:r>
          </a:p>
          <a:p>
            <a:pPr>
              <a:spcBef>
                <a:spcPts val="0"/>
              </a:spcBef>
            </a:pPr>
            <a:r>
              <a:rPr lang="en-US" sz="2400" b="1" dirty="0" smtClean="0">
                <a:latin typeface="Graphite Light ATT" panose="03020402050402020203" pitchFamily="66" charset="0"/>
              </a:rPr>
              <a:t>For the remainder of this course we’ll use this drawing convention when we draw properties.</a:t>
            </a:r>
          </a:p>
        </p:txBody>
      </p:sp>
      <p:sp>
        <p:nvSpPr>
          <p:cNvPr id="4" name="Pentagon 3"/>
          <p:cNvSpPr/>
          <p:nvPr/>
        </p:nvSpPr>
        <p:spPr>
          <a:xfrm>
            <a:off x="1853387" y="5133705"/>
            <a:ext cx="1447800" cy="228600"/>
          </a:xfrm>
          <a:prstGeom prst="homePlate">
            <a:avLst/>
          </a:prstGeom>
          <a:solidFill>
            <a:srgbClr val="306F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5" name="Pentagon 4"/>
          <p:cNvSpPr/>
          <p:nvPr/>
        </p:nvSpPr>
        <p:spPr>
          <a:xfrm>
            <a:off x="5434787" y="5133705"/>
            <a:ext cx="1447800" cy="228600"/>
          </a:xfrm>
          <a:prstGeom prst="homePlate">
            <a:avLst/>
          </a:prstGeom>
          <a:solidFill>
            <a:srgbClr val="6B8E23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6" name="Rectangle 5"/>
          <p:cNvSpPr/>
          <p:nvPr/>
        </p:nvSpPr>
        <p:spPr>
          <a:xfrm>
            <a:off x="1644462" y="4600305"/>
            <a:ext cx="19159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Object Property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77552" y="4600305"/>
            <a:ext cx="21723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Tekton Pro" pitchFamily="34" charset="0"/>
              </a:rPr>
              <a:t>Datatype Property</a:t>
            </a:r>
            <a:endParaRPr lang="en-US" b="1" dirty="0">
              <a:solidFill>
                <a:schemeClr val="accent3">
                  <a:lumMod val="50000"/>
                </a:schemeClr>
              </a:solidFill>
              <a:latin typeface="Tekton Pro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670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9" y="1238236"/>
            <a:ext cx="6617741" cy="50863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Let’s define one, then use it</a:t>
            </a:r>
            <a:endParaRPr lang="en-US" dirty="0"/>
          </a:p>
        </p:txBody>
      </p:sp>
      <p:sp>
        <p:nvSpPr>
          <p:cNvPr id="5" name="Down Arrow 4"/>
          <p:cNvSpPr/>
          <p:nvPr/>
        </p:nvSpPr>
        <p:spPr>
          <a:xfrm>
            <a:off x="2590800" y="1734353"/>
            <a:ext cx="609600" cy="53340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873239" y="1676400"/>
            <a:ext cx="2143760" cy="1066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te Light ATT" panose="03020402050402020203" pitchFamily="66" charset="0"/>
              </a:rPr>
              <a:t>Click on the Object Property </a:t>
            </a:r>
            <a:r>
              <a:rPr kumimoji="0" lang="en-US" sz="2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te Light ATT" panose="03020402050402020203" pitchFamily="66" charset="0"/>
              </a:rPr>
              <a:t> tab.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te Light ATT" panose="03020402050402020203" pitchFamily="66" charset="0"/>
            </a:endParaRPr>
          </a:p>
        </p:txBody>
      </p:sp>
      <p:sp>
        <p:nvSpPr>
          <p:cNvPr id="7" name="Down Arrow 6"/>
          <p:cNvSpPr/>
          <p:nvPr/>
        </p:nvSpPr>
        <p:spPr>
          <a:xfrm rot="10800000">
            <a:off x="762000" y="2968044"/>
            <a:ext cx="609600" cy="53340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6883399" y="3009900"/>
            <a:ext cx="2133600" cy="6477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sz="2000" b="1">
                <a:latin typeface="Graphite Light ATT" panose="03020402050402020203" pitchFamily="66" charset="0"/>
              </a:rPr>
              <a:t>Select </a:t>
            </a:r>
            <a:r>
              <a:rPr lang="en-US" sz="2000" b="1" smtClean="0">
                <a:latin typeface="Graphite Light ATT" panose="03020402050402020203" pitchFamily="66" charset="0"/>
              </a:rPr>
              <a:t>“owl:topProperty”</a:t>
            </a:r>
            <a:endParaRPr lang="en-US" sz="2000" b="1" dirty="0">
              <a:latin typeface="Graphite Light ATT" panose="03020402050402020203" pitchFamily="66" charset="0"/>
            </a:endParaRPr>
          </a:p>
        </p:txBody>
      </p:sp>
      <p:sp>
        <p:nvSpPr>
          <p:cNvPr id="9" name="Down Arrow 8"/>
          <p:cNvSpPr/>
          <p:nvPr/>
        </p:nvSpPr>
        <p:spPr>
          <a:xfrm>
            <a:off x="115909" y="2021177"/>
            <a:ext cx="609600" cy="53340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898246" y="3924300"/>
            <a:ext cx="2158999" cy="68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lvl="0" fontAlgn="auto">
              <a:lnSpc>
                <a:spcPct val="8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US" sz="2000" b="1" dirty="0">
                <a:latin typeface="Graphite Light ATT" panose="03020402050402020203" pitchFamily="66" charset="0"/>
              </a:rPr>
              <a:t>Select the </a:t>
            </a:r>
            <a:r>
              <a:rPr lang="en-US" sz="2000" b="1">
                <a:latin typeface="Graphite Light ATT" panose="03020402050402020203" pitchFamily="66" charset="0"/>
              </a:rPr>
              <a:t>icon </a:t>
            </a:r>
            <a:r>
              <a:rPr lang="en-US" sz="2000" b="1" smtClean="0">
                <a:latin typeface="Graphite Light ATT" panose="03020402050402020203" pitchFamily="66" charset="0"/>
              </a:rPr>
              <a:t>“add </a:t>
            </a:r>
            <a:r>
              <a:rPr lang="en-US" sz="2000" b="1">
                <a:latin typeface="Graphite Light ATT" panose="03020402050402020203" pitchFamily="66" charset="0"/>
              </a:rPr>
              <a:t>sub </a:t>
            </a:r>
            <a:r>
              <a:rPr lang="en-US" sz="2000" b="1" smtClean="0">
                <a:latin typeface="Graphite Light ATT" panose="03020402050402020203" pitchFamily="66" charset="0"/>
              </a:rPr>
              <a:t>property”</a:t>
            </a:r>
            <a:endParaRPr lang="en-US" sz="2000" b="1" dirty="0">
              <a:latin typeface="Graphite Light ATT" panose="03020402050402020203" pitchFamily="66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315200" y="4495800"/>
            <a:ext cx="1143000" cy="117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052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build="p"/>
      <p:bldP spid="7" grpId="0" animBg="1"/>
      <p:bldP spid="8" grpId="0" build="p"/>
      <p:bldP spid="9" grpId="0" animBg="1"/>
      <p:bldP spid="10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 the property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914399"/>
          </a:xfrm>
        </p:spPr>
        <p:txBody>
          <a:bodyPr>
            <a:normAutofit/>
          </a:bodyPr>
          <a:lstStyle/>
          <a:p>
            <a:r>
              <a:rPr lang="en-US" sz="2800" dirty="0" smtClean="0"/>
              <a:t>Don’t forget the namespace.</a:t>
            </a:r>
            <a:endParaRPr lang="en-US" sz="28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81000" y="3810000"/>
            <a:ext cx="5715000" cy="13890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400" b="1" dirty="0">
                <a:latin typeface="Graphite Light ATT" panose="03020402050402020203" pitchFamily="66" charset="0"/>
              </a:rPr>
              <a:t>Note that by convention, property names are </a:t>
            </a:r>
            <a:r>
              <a:rPr lang="en-US" sz="2400" b="1" dirty="0" err="1">
                <a:latin typeface="Graphite Light ATT" panose="03020402050402020203" pitchFamily="66" charset="0"/>
              </a:rPr>
              <a:t>camelCase</a:t>
            </a:r>
            <a:r>
              <a:rPr lang="en-US" sz="2400" b="1" dirty="0">
                <a:latin typeface="Graphite Light ATT" panose="03020402050402020203" pitchFamily="66" charset="0"/>
              </a:rPr>
              <a:t>, with an initial lower case.  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1859516"/>
            <a:ext cx="5375366" cy="17784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63194" y="1810432"/>
            <a:ext cx="2976090" cy="391480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/>
            <a:r>
              <a:rPr lang="en-US" sz="2400" b="1" dirty="0">
                <a:latin typeface="Graphite Light ATT" panose="03020402050402020203" pitchFamily="66" charset="0"/>
              </a:rPr>
              <a:t>After you’ve </a:t>
            </a:r>
            <a:r>
              <a:rPr lang="en-US" sz="2400" b="1" dirty="0" smtClean="0">
                <a:latin typeface="Graphite Light ATT" panose="03020402050402020203" pitchFamily="66" charset="0"/>
              </a:rPr>
              <a:t>created </a:t>
            </a:r>
            <a:r>
              <a:rPr lang="en-US" sz="2400" b="1" dirty="0" smtClean="0">
                <a:solidFill>
                  <a:srgbClr val="306FA2"/>
                </a:solidFill>
                <a:latin typeface="Graphite Light ATT" panose="03020402050402020203" pitchFamily="66" charset="0"/>
              </a:rPr>
              <a:t>:owns</a:t>
            </a:r>
            <a:r>
              <a:rPr lang="en-US" sz="2400" b="1" dirty="0" smtClean="0">
                <a:latin typeface="Graphite Light ATT" panose="03020402050402020203" pitchFamily="66" charset="0"/>
              </a:rPr>
              <a:t>, </a:t>
            </a:r>
            <a:r>
              <a:rPr lang="en-US" sz="2400" b="1" dirty="0">
                <a:latin typeface="Graphite Light ATT" panose="03020402050402020203" pitchFamily="66" charset="0"/>
              </a:rPr>
              <a:t>go back and add </a:t>
            </a:r>
            <a:r>
              <a:rPr lang="en-US" sz="2400" b="1" dirty="0" smtClean="0">
                <a:latin typeface="Graphite Light ATT" panose="03020402050402020203" pitchFamily="66" charset="0"/>
              </a:rPr>
              <a:t>these </a:t>
            </a:r>
            <a:r>
              <a:rPr lang="en-US" sz="2400" b="1" dirty="0">
                <a:latin typeface="Graphite Light ATT" panose="03020402050402020203" pitchFamily="66" charset="0"/>
              </a:rPr>
              <a:t>properties: </a:t>
            </a:r>
            <a:endParaRPr lang="en-US" sz="2400" b="1" dirty="0" smtClean="0">
              <a:latin typeface="Graphite Light ATT" panose="03020402050402020203" pitchFamily="66" charset="0"/>
            </a:endParaRPr>
          </a:p>
          <a:p>
            <a:pPr lvl="0"/>
            <a:r>
              <a:rPr lang="en-US" sz="2000" b="1" dirty="0" err="1" smtClean="0">
                <a:solidFill>
                  <a:srgbClr val="306FA2"/>
                </a:solidFill>
                <a:latin typeface="Graphite Light ATT" panose="03020402050402020203" pitchFamily="66" charset="0"/>
              </a:rPr>
              <a:t>belongsTo</a:t>
            </a:r>
            <a:r>
              <a:rPr lang="en-US" sz="2000" b="1" dirty="0" smtClean="0">
                <a:solidFill>
                  <a:srgbClr val="306FA2"/>
                </a:solidFill>
                <a:latin typeface="Graphite Light ATT" panose="03020402050402020203" pitchFamily="66" charset="0"/>
              </a:rPr>
              <a:t>, </a:t>
            </a:r>
          </a:p>
          <a:p>
            <a:pPr lvl="0"/>
            <a:r>
              <a:rPr lang="en-US" sz="2000" b="1" dirty="0" err="1" smtClean="0">
                <a:solidFill>
                  <a:srgbClr val="306FA2"/>
                </a:solidFill>
                <a:latin typeface="Graphite Light ATT" panose="03020402050402020203" pitchFamily="66" charset="0"/>
              </a:rPr>
              <a:t>memberIn</a:t>
            </a:r>
            <a:r>
              <a:rPr lang="en-US" sz="2000" b="1" dirty="0" smtClean="0">
                <a:solidFill>
                  <a:srgbClr val="306FA2"/>
                </a:solidFill>
                <a:latin typeface="Graphite Light ATT" panose="03020402050402020203" pitchFamily="66" charset="0"/>
              </a:rPr>
              <a:t>, </a:t>
            </a:r>
          </a:p>
          <a:p>
            <a:pPr lvl="0"/>
            <a:r>
              <a:rPr lang="en-US" sz="2000" b="1" dirty="0" err="1" smtClean="0">
                <a:solidFill>
                  <a:srgbClr val="306FA2"/>
                </a:solidFill>
                <a:latin typeface="Graphite Light ATT" panose="03020402050402020203" pitchFamily="66" charset="0"/>
              </a:rPr>
              <a:t>geoOccupies</a:t>
            </a:r>
            <a:r>
              <a:rPr lang="en-US" sz="2000" b="1" dirty="0" smtClean="0">
                <a:solidFill>
                  <a:srgbClr val="306FA2"/>
                </a:solidFill>
                <a:latin typeface="Graphite Light ATT" panose="03020402050402020203" pitchFamily="66" charset="0"/>
              </a:rPr>
              <a:t>, </a:t>
            </a:r>
            <a:endParaRPr lang="en-US" sz="2000" b="1" dirty="0" smtClean="0">
              <a:solidFill>
                <a:srgbClr val="306FA2"/>
              </a:solidFill>
              <a:latin typeface="Graphite Light ATT" panose="03020402050402020203" pitchFamily="66" charset="0"/>
            </a:endParaRPr>
          </a:p>
          <a:p>
            <a:pPr lvl="0"/>
            <a:r>
              <a:rPr lang="en-US" sz="2000" b="1" dirty="0" err="1" smtClean="0">
                <a:solidFill>
                  <a:srgbClr val="306FA2"/>
                </a:solidFill>
                <a:latin typeface="Graphite Light ATT" panose="03020402050402020203" pitchFamily="66" charset="0"/>
              </a:rPr>
              <a:t>geoDirectlyContainedIn</a:t>
            </a:r>
            <a:r>
              <a:rPr lang="en-US" sz="2000" b="1" dirty="0" smtClean="0">
                <a:solidFill>
                  <a:srgbClr val="306FA2"/>
                </a:solidFill>
                <a:latin typeface="Graphite Light ATT" panose="03020402050402020203" pitchFamily="66" charset="0"/>
              </a:rPr>
              <a:t>, </a:t>
            </a:r>
          </a:p>
          <a:p>
            <a:pPr lvl="0"/>
            <a:r>
              <a:rPr lang="en-US" sz="2000" b="1" dirty="0" smtClean="0">
                <a:solidFill>
                  <a:srgbClr val="306FA2"/>
                </a:solidFill>
                <a:latin typeface="Graphite Light ATT" panose="03020402050402020203" pitchFamily="66" charset="0"/>
              </a:rPr>
              <a:t>operator, </a:t>
            </a:r>
          </a:p>
          <a:p>
            <a:pPr lvl="0"/>
            <a:r>
              <a:rPr lang="en-US" sz="2000" b="1" dirty="0" err="1" smtClean="0">
                <a:solidFill>
                  <a:srgbClr val="306FA2"/>
                </a:solidFill>
                <a:latin typeface="Graphite Light ATT" panose="03020402050402020203" pitchFamily="66" charset="0"/>
              </a:rPr>
              <a:t>suitableToMove</a:t>
            </a:r>
            <a:r>
              <a:rPr lang="en-US" sz="2000" b="1" dirty="0" smtClean="0">
                <a:solidFill>
                  <a:srgbClr val="306FA2"/>
                </a:solidFill>
                <a:latin typeface="Graphite Light ATT" panose="03020402050402020203" pitchFamily="66" charset="0"/>
              </a:rPr>
              <a:t>, </a:t>
            </a:r>
          </a:p>
          <a:p>
            <a:pPr lvl="0"/>
            <a:r>
              <a:rPr lang="en-US" sz="2000" b="1" dirty="0" err="1" smtClean="0">
                <a:solidFill>
                  <a:srgbClr val="306FA2"/>
                </a:solidFill>
                <a:latin typeface="Graphite Light ATT" panose="03020402050402020203" pitchFamily="66" charset="0"/>
              </a:rPr>
              <a:t>governedBy</a:t>
            </a:r>
            <a:r>
              <a:rPr lang="en-US" sz="2000" b="1" dirty="0" smtClean="0">
                <a:solidFill>
                  <a:srgbClr val="306FA2"/>
                </a:solidFill>
                <a:latin typeface="Graphite Light ATT" panose="03020402050402020203" pitchFamily="66" charset="0"/>
              </a:rPr>
              <a:t>, </a:t>
            </a:r>
          </a:p>
          <a:p>
            <a:pPr lvl="0"/>
            <a:r>
              <a:rPr lang="en-US" sz="2000" b="1" dirty="0" err="1" smtClean="0">
                <a:solidFill>
                  <a:srgbClr val="306FA2"/>
                </a:solidFill>
                <a:latin typeface="Graphite Light ATT" panose="03020402050402020203" pitchFamily="66" charset="0"/>
              </a:rPr>
              <a:t>categorizedBy</a:t>
            </a:r>
            <a:endParaRPr lang="en-US" sz="2000" b="1" dirty="0">
              <a:solidFill>
                <a:srgbClr val="306FA2"/>
              </a:solidFill>
              <a:latin typeface="Graphite Light ATT" panose="03020402050402020203" pitchFamily="66" charset="0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71281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77" y="1524000"/>
            <a:ext cx="6146800" cy="47244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Do the same for the </a:t>
            </a:r>
            <a:r>
              <a:rPr lang="en-US" dirty="0" err="1" smtClean="0"/>
              <a:t>Datatype</a:t>
            </a:r>
            <a:r>
              <a:rPr lang="en-US" dirty="0" smtClean="0"/>
              <a:t> Properties</a:t>
            </a:r>
            <a:endParaRPr lang="en-US" dirty="0"/>
          </a:p>
        </p:txBody>
      </p:sp>
      <p:sp>
        <p:nvSpPr>
          <p:cNvPr id="5" name="Down Arrow 4"/>
          <p:cNvSpPr/>
          <p:nvPr/>
        </p:nvSpPr>
        <p:spPr>
          <a:xfrm>
            <a:off x="4648200" y="1905000"/>
            <a:ext cx="609600" cy="53340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519476" y="1565429"/>
            <a:ext cx="2091123" cy="990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te Light ATT" panose="03020402050402020203" pitchFamily="66" charset="0"/>
              </a:rPr>
              <a:t>Click on the Data Properties </a:t>
            </a:r>
            <a:r>
              <a:rPr kumimoji="0" lang="en-US" sz="2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te Light ATT" panose="03020402050402020203" pitchFamily="66" charset="0"/>
              </a:rPr>
              <a:t>tab.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te Light ATT" panose="03020402050402020203" pitchFamily="66" charset="0"/>
            </a:endParaRPr>
          </a:p>
        </p:txBody>
      </p:sp>
      <p:sp>
        <p:nvSpPr>
          <p:cNvPr id="7" name="Down Arrow 6"/>
          <p:cNvSpPr/>
          <p:nvPr/>
        </p:nvSpPr>
        <p:spPr>
          <a:xfrm rot="10800000">
            <a:off x="685800" y="3305167"/>
            <a:ext cx="609600" cy="53340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6519477" y="2667000"/>
            <a:ext cx="2624523" cy="990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2000" b="1">
                <a:latin typeface="Graphite Light ATT" panose="03020402050402020203" pitchFamily="66" charset="0"/>
              </a:rPr>
              <a:t>Select </a:t>
            </a:r>
            <a:r>
              <a:rPr lang="en-US" sz="2000" b="1" smtClean="0">
                <a:latin typeface="Graphite Light ATT" panose="03020402050402020203" pitchFamily="66" charset="0"/>
              </a:rPr>
              <a:t>“owl:topDataProperty”</a:t>
            </a:r>
            <a:endParaRPr lang="en-US" sz="2000" b="1" dirty="0">
              <a:latin typeface="Graphite Light ATT" panose="03020402050402020203" pitchFamily="66" charset="0"/>
            </a:endParaRPr>
          </a:p>
        </p:txBody>
      </p:sp>
      <p:sp>
        <p:nvSpPr>
          <p:cNvPr id="9" name="Down Arrow 8"/>
          <p:cNvSpPr/>
          <p:nvPr/>
        </p:nvSpPr>
        <p:spPr>
          <a:xfrm>
            <a:off x="152400" y="2438400"/>
            <a:ext cx="609600" cy="53340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519476" y="3671656"/>
            <a:ext cx="2167323" cy="8241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000" b="1" dirty="0">
                <a:latin typeface="Graphite Light ATT" panose="03020402050402020203" pitchFamily="66" charset="0"/>
              </a:rPr>
              <a:t>Select the </a:t>
            </a:r>
            <a:r>
              <a:rPr lang="en-US" sz="2000" b="1">
                <a:latin typeface="Graphite Light ATT" panose="03020402050402020203" pitchFamily="66" charset="0"/>
              </a:rPr>
              <a:t>icon </a:t>
            </a:r>
            <a:r>
              <a:rPr lang="en-US" sz="2000" b="1" smtClean="0">
                <a:latin typeface="Graphite Light ATT" panose="03020402050402020203" pitchFamily="66" charset="0"/>
              </a:rPr>
              <a:t>“add </a:t>
            </a:r>
            <a:r>
              <a:rPr lang="en-US" sz="2000" b="1">
                <a:latin typeface="Graphite Light ATT" panose="03020402050402020203" pitchFamily="66" charset="0"/>
              </a:rPr>
              <a:t>sub </a:t>
            </a:r>
            <a:r>
              <a:rPr lang="en-US" sz="2000" b="1" smtClean="0">
                <a:latin typeface="Graphite Light ATT" panose="03020402050402020203" pitchFamily="66" charset="0"/>
              </a:rPr>
              <a:t>property”</a:t>
            </a:r>
            <a:endParaRPr lang="en-US" sz="2000" b="1" dirty="0">
              <a:latin typeface="Graphite Light ATT" panose="03020402050402020203" pitchFamily="66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185228" y="4509856"/>
            <a:ext cx="835820" cy="86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454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build="p"/>
      <p:bldP spid="7" grpId="0" animBg="1"/>
      <p:bldP spid="8" grpId="0" build="p"/>
      <p:bldP spid="9" grpId="0" animBg="1"/>
      <p:bldP spid="10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 datatype 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2183" y="1825625"/>
            <a:ext cx="2665743" cy="2236924"/>
          </a:xfrm>
        </p:spPr>
        <p:txBody>
          <a:bodyPr>
            <a:normAutofit/>
          </a:bodyPr>
          <a:lstStyle/>
          <a:p>
            <a:r>
              <a:rPr lang="en-US" dirty="0" smtClean="0"/>
              <a:t>Add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rgbClr val="6B8E23"/>
                </a:solidFill>
              </a:rPr>
              <a:t>name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 err="1" smtClean="0">
                <a:solidFill>
                  <a:srgbClr val="6B8E23"/>
                </a:solidFill>
              </a:rPr>
              <a:t>imoNumber</a:t>
            </a:r>
            <a:endParaRPr lang="en-US" sz="2400" dirty="0" smtClean="0">
              <a:solidFill>
                <a:srgbClr val="6B8E23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 err="1" smtClean="0">
                <a:solidFill>
                  <a:srgbClr val="6B8E23"/>
                </a:solidFill>
              </a:rPr>
              <a:t>hullIdentifier</a:t>
            </a:r>
            <a:endParaRPr lang="en-US" sz="2400" dirty="0" smtClean="0">
              <a:solidFill>
                <a:srgbClr val="6B8E23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 err="1" smtClean="0">
                <a:solidFill>
                  <a:srgbClr val="6B8E23"/>
                </a:solidFill>
              </a:rPr>
              <a:t>fleetName</a:t>
            </a:r>
            <a:endParaRPr lang="en-US" sz="2400" dirty="0">
              <a:solidFill>
                <a:srgbClr val="6B8E23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9556" y="1952899"/>
            <a:ext cx="5780113" cy="201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648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062992"/>
            <a:ext cx="8458200" cy="41616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Now we’ll make some object assertions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52400" y="1219200"/>
            <a:ext cx="1752600" cy="7652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lvl="0" algn="l" defTabSz="914400" rtl="0" eaLnBrk="1" fontAlgn="auto" latinLnBrk="0" hangingPunct="1">
              <a:spcAft>
                <a:spcPts val="0"/>
              </a:spcAft>
              <a:buClrTx/>
              <a:buSzTx/>
              <a:tabLst/>
              <a:defRPr/>
            </a:pPr>
            <a:r>
              <a:rPr lang="en-US" sz="2000" b="1" dirty="0" smtClean="0">
                <a:latin typeface="Graphite Light ATT" panose="03020402050402020203" pitchFamily="66" charset="0"/>
              </a:rPr>
              <a:t>Select </a:t>
            </a:r>
            <a:r>
              <a:rPr lang="en-US" sz="2000" b="1" dirty="0">
                <a:latin typeface="Graphite Light ATT" panose="03020402050402020203" pitchFamily="66" charset="0"/>
              </a:rPr>
              <a:t>the </a:t>
            </a:r>
            <a:r>
              <a:rPr lang="en-US" sz="2000" b="1" dirty="0" smtClean="0">
                <a:latin typeface="Graphite Light ATT" panose="03020402050402020203" pitchFamily="66" charset="0"/>
              </a:rPr>
              <a:t>Individuals tab. 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te Light ATT" panose="03020402050402020203" pitchFamily="66" charset="0"/>
            </a:endParaRPr>
          </a:p>
        </p:txBody>
      </p:sp>
      <p:sp>
        <p:nvSpPr>
          <p:cNvPr id="7" name="Down Arrow 6"/>
          <p:cNvSpPr/>
          <p:nvPr/>
        </p:nvSpPr>
        <p:spPr>
          <a:xfrm rot="16200000">
            <a:off x="1257300" y="4229100"/>
            <a:ext cx="609600" cy="53340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5638800" y="1219200"/>
            <a:ext cx="3300213" cy="76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defRPr/>
            </a:pPr>
            <a:r>
              <a:rPr lang="en-US" sz="2000" b="1" dirty="0">
                <a:latin typeface="Graphite Light ATT" panose="03020402050402020203" pitchFamily="66" charset="0"/>
              </a:rPr>
              <a:t>Click on the </a:t>
            </a:r>
            <a:r>
              <a:rPr lang="en-US" sz="2000" b="1" dirty="0" smtClean="0">
                <a:latin typeface="Graphite Light ATT" panose="03020402050402020203" pitchFamily="66" charset="0"/>
              </a:rPr>
              <a:t>plus sign </a:t>
            </a:r>
            <a:r>
              <a:rPr lang="en-US" sz="2000" b="1" dirty="0">
                <a:latin typeface="Graphite Light ATT" panose="03020402050402020203" pitchFamily="66" charset="0"/>
              </a:rPr>
              <a:t>next to Object Property Assertions.</a:t>
            </a:r>
          </a:p>
        </p:txBody>
      </p:sp>
      <p:sp>
        <p:nvSpPr>
          <p:cNvPr id="9" name="Down Arrow 8"/>
          <p:cNvSpPr/>
          <p:nvPr/>
        </p:nvSpPr>
        <p:spPr>
          <a:xfrm rot="5400000">
            <a:off x="6393183" y="4305300"/>
            <a:ext cx="609600" cy="53340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09800" y="1219200"/>
            <a:ext cx="3124200" cy="7652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/>
            <a:r>
              <a:rPr lang="en-US" sz="2000" b="1" dirty="0" smtClean="0">
                <a:latin typeface="Graphite Light ATT" panose="03020402050402020203" pitchFamily="66" charset="0"/>
              </a:rPr>
              <a:t>Select </a:t>
            </a:r>
            <a:r>
              <a:rPr lang="en-US" sz="2000" b="1" dirty="0">
                <a:latin typeface="Graphite Light ATT" panose="03020402050402020203" pitchFamily="66" charset="0"/>
              </a:rPr>
              <a:t>the individual </a:t>
            </a:r>
            <a:r>
              <a:rPr lang="en-US" sz="2000" b="1" dirty="0" smtClean="0">
                <a:latin typeface="Graphite Light ATT" panose="03020402050402020203" pitchFamily="66" charset="0"/>
              </a:rPr>
              <a:t>to be </a:t>
            </a:r>
            <a:r>
              <a:rPr lang="en-US" sz="2000" b="1" dirty="0">
                <a:latin typeface="Graphite Light ATT" panose="03020402050402020203" pitchFamily="66" charset="0"/>
              </a:rPr>
              <a:t>the subject of your triples.</a:t>
            </a:r>
          </a:p>
          <a:p>
            <a:endParaRPr lang="en-US" sz="2000" dirty="0"/>
          </a:p>
        </p:txBody>
      </p:sp>
      <p:sp>
        <p:nvSpPr>
          <p:cNvPr id="10" name="Down Arrow 9"/>
          <p:cNvSpPr/>
          <p:nvPr/>
        </p:nvSpPr>
        <p:spPr>
          <a:xfrm>
            <a:off x="4610100" y="2644886"/>
            <a:ext cx="609600" cy="53340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931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8" grpId="0"/>
      <p:bldP spid="9" grpId="0" animBg="1"/>
      <p:bldP spid="3" grpId="0"/>
      <p:bldP spid="10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587321"/>
            <a:ext cx="5887792" cy="382287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Select your predicate and object</a:t>
            </a:r>
            <a:endParaRPr lang="en-US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319038" y="1447800"/>
            <a:ext cx="2666123" cy="1993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US" sz="2000" b="1" dirty="0" smtClean="0">
                <a:latin typeface="Graphite Light ATT" panose="03020402050402020203" pitchFamily="66" charset="0"/>
              </a:rPr>
              <a:t>(You may need to click </a:t>
            </a: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te Light ATT" panose="03020402050402020203" pitchFamily="66" charset="0"/>
              </a:rPr>
              <a:t>the little triangle to the left of </a:t>
            </a:r>
            <a:r>
              <a:rPr kumimoji="0" 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te Light ATT" panose="03020402050402020203" pitchFamily="66" charset="0"/>
              </a:rPr>
              <a:t>owl:topObjectProperty</a:t>
            </a:r>
            <a:r>
              <a:rPr kumimoji="0" lang="en-US" sz="2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te Light ATT" panose="03020402050402020203" pitchFamily="66" charset="0"/>
              </a:rPr>
              <a:t> to see all the object properties.)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te Light ATT" panose="03020402050402020203" pitchFamily="66" charset="0"/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6319038" y="3522034"/>
            <a:ext cx="2670048" cy="105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te Light ATT" panose="03020402050402020203" pitchFamily="66" charset="0"/>
              </a:rPr>
              <a:t>Select the property you want for the predicate (owns).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te Light ATT" panose="03020402050402020203" pitchFamily="66" charset="0"/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6319038" y="4652768"/>
            <a:ext cx="2670048" cy="1139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US" sz="2000" b="1" dirty="0">
                <a:latin typeface="Graphite Light ATT" panose="03020402050402020203" pitchFamily="66" charset="0"/>
              </a:rPr>
              <a:t>S</a:t>
            </a: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te Light ATT" panose="03020402050402020203" pitchFamily="66" charset="0"/>
              </a:rPr>
              <a:t>elect the individual </a:t>
            </a:r>
            <a:r>
              <a:rPr lang="en-US" sz="2000" b="1" dirty="0" smtClean="0">
                <a:latin typeface="Graphite Light ATT" panose="03020402050402020203" pitchFamily="66" charset="0"/>
              </a:rPr>
              <a:t>you</a:t>
            </a: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te Light ATT" panose="03020402050402020203" pitchFamily="66" charset="0"/>
              </a:rPr>
              <a:t> want as the</a:t>
            </a:r>
            <a:r>
              <a:rPr kumimoji="0" lang="en-US" sz="2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te Light ATT" panose="03020402050402020203" pitchFamily="66" charset="0"/>
              </a:rPr>
              <a:t> assertion’s object</a:t>
            </a: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te Light ATT" panose="03020402050402020203" pitchFamily="66" charset="0"/>
              </a:rPr>
              <a:t>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te Light ATT" panose="03020402050402020203" pitchFamily="66" charset="0"/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6319038" y="5872883"/>
            <a:ext cx="2670048" cy="4604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te Light ATT" panose="03020402050402020203" pitchFamily="66" charset="0"/>
              </a:rPr>
              <a:t>Click OK.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te Light ATT" panose="03020402050402020203" pitchFamily="66" charset="0"/>
            </a:endParaRPr>
          </a:p>
        </p:txBody>
      </p:sp>
      <p:sp>
        <p:nvSpPr>
          <p:cNvPr id="20" name="Down Arrow 19"/>
          <p:cNvSpPr/>
          <p:nvPr/>
        </p:nvSpPr>
        <p:spPr>
          <a:xfrm>
            <a:off x="304800" y="2057400"/>
            <a:ext cx="609600" cy="53340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own Arrow 8"/>
          <p:cNvSpPr/>
          <p:nvPr/>
        </p:nvSpPr>
        <p:spPr>
          <a:xfrm rot="10800000">
            <a:off x="1143000" y="3953934"/>
            <a:ext cx="609600" cy="53340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own Arrow 20"/>
          <p:cNvSpPr/>
          <p:nvPr/>
        </p:nvSpPr>
        <p:spPr>
          <a:xfrm rot="5400000">
            <a:off x="4762500" y="3086100"/>
            <a:ext cx="609600" cy="53340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4"/>
          <p:cNvSpPr/>
          <p:nvPr/>
        </p:nvSpPr>
        <p:spPr>
          <a:xfrm rot="10800000">
            <a:off x="2514600" y="5342586"/>
            <a:ext cx="609600" cy="53340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28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 animBg="1"/>
      <p:bldP spid="9" grpId="0" animBg="1"/>
      <p:bldP spid="21" grpId="0" animBg="1"/>
      <p:bldP spid="1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You’ve now created this triple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498063"/>
            <a:ext cx="5867400" cy="2745386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400" b="1" dirty="0" smtClean="0">
                <a:latin typeface="Graphite Light ATT" panose="03020402050402020203" pitchFamily="66" charset="0"/>
              </a:rPr>
              <a:t>Create several more for “muscle memory”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rgbClr val="FF0000"/>
                </a:solidFill>
                <a:latin typeface="Graphite Light ATT" panose="03020402050402020203" pitchFamily="66" charset="0"/>
              </a:rPr>
              <a:t>:</a:t>
            </a:r>
            <a:r>
              <a:rPr lang="en-US" sz="1800" b="1" dirty="0" smtClean="0">
                <a:solidFill>
                  <a:srgbClr val="FF0000"/>
                </a:solidFill>
                <a:latin typeface="Graphite Light ATT" panose="03020402050402020203" pitchFamily="66" charset="0"/>
              </a:rPr>
              <a:t>_</a:t>
            </a:r>
            <a:r>
              <a:rPr lang="en-US" sz="1800" b="1" dirty="0" err="1" smtClean="0">
                <a:solidFill>
                  <a:srgbClr val="FF0000"/>
                </a:solidFill>
                <a:latin typeface="Graphite Light ATT" panose="03020402050402020203" pitchFamily="66" charset="0"/>
              </a:rPr>
              <a:t>SiriusStar</a:t>
            </a:r>
            <a:r>
              <a:rPr lang="en-US" sz="1800" b="1" dirty="0" smtClean="0">
                <a:solidFill>
                  <a:srgbClr val="FF0000"/>
                </a:solidFill>
                <a:latin typeface="Graphite Light ATT" panose="03020402050402020203" pitchFamily="66" charset="0"/>
              </a:rPr>
              <a:t> :</a:t>
            </a:r>
            <a:r>
              <a:rPr lang="en-US" sz="1800" b="1" dirty="0" err="1" smtClean="0">
                <a:solidFill>
                  <a:srgbClr val="FF0000"/>
                </a:solidFill>
                <a:latin typeface="Graphite Light ATT" panose="03020402050402020203" pitchFamily="66" charset="0"/>
              </a:rPr>
              <a:t>geoOccupies</a:t>
            </a:r>
            <a:r>
              <a:rPr lang="en-US" sz="1800" b="1" dirty="0" smtClean="0">
                <a:solidFill>
                  <a:srgbClr val="FF0000"/>
                </a:solidFill>
                <a:latin typeface="Graphite Light ATT" panose="03020402050402020203" pitchFamily="66" charset="0"/>
              </a:rPr>
              <a:t> :_Houston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 b="1" dirty="0" smtClean="0">
                <a:solidFill>
                  <a:srgbClr val="FF0000"/>
                </a:solidFill>
                <a:latin typeface="Graphite Light ATT" panose="03020402050402020203" pitchFamily="66" charset="0"/>
              </a:rPr>
              <a:t>:_</a:t>
            </a:r>
            <a:r>
              <a:rPr lang="en-US" sz="1800" b="1" dirty="0" err="1" smtClean="0">
                <a:solidFill>
                  <a:srgbClr val="FF0000"/>
                </a:solidFill>
                <a:latin typeface="Graphite Light ATT" panose="03020402050402020203" pitchFamily="66" charset="0"/>
              </a:rPr>
              <a:t>houston</a:t>
            </a:r>
            <a:r>
              <a:rPr lang="en-US" sz="1800" b="1" dirty="0" smtClean="0">
                <a:solidFill>
                  <a:srgbClr val="FF0000"/>
                </a:solidFill>
                <a:latin typeface="Graphite Light ATT" panose="03020402050402020203" pitchFamily="66" charset="0"/>
              </a:rPr>
              <a:t> :</a:t>
            </a:r>
            <a:r>
              <a:rPr lang="en-US" sz="1800" b="1" dirty="0" err="1" smtClean="0">
                <a:solidFill>
                  <a:srgbClr val="FF0000"/>
                </a:solidFill>
                <a:latin typeface="Graphite Light ATT" panose="03020402050402020203" pitchFamily="66" charset="0"/>
              </a:rPr>
              <a:t>geoDirectlyContainedIn</a:t>
            </a:r>
            <a:r>
              <a:rPr lang="en-US" sz="1800" b="1" dirty="0" smtClean="0">
                <a:solidFill>
                  <a:srgbClr val="FF0000"/>
                </a:solidFill>
                <a:latin typeface="Graphite Light ATT" panose="03020402050402020203" pitchFamily="66" charset="0"/>
              </a:rPr>
              <a:t> :_</a:t>
            </a:r>
            <a:r>
              <a:rPr lang="en-US" sz="1800" b="1" dirty="0" err="1" smtClean="0">
                <a:solidFill>
                  <a:srgbClr val="FF0000"/>
                </a:solidFill>
                <a:latin typeface="Graphite Light ATT" panose="03020402050402020203" pitchFamily="66" charset="0"/>
              </a:rPr>
              <a:t>harrisCounty</a:t>
            </a:r>
            <a:endParaRPr lang="en-US" sz="1800" b="1" dirty="0" smtClean="0">
              <a:solidFill>
                <a:srgbClr val="FF0000"/>
              </a:solidFill>
              <a:latin typeface="Graphite Light ATT" panose="03020402050402020203" pitchFamily="66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 b="1" dirty="0" smtClean="0">
                <a:solidFill>
                  <a:srgbClr val="FF0000"/>
                </a:solidFill>
                <a:latin typeface="Graphite Light ATT" panose="03020402050402020203" pitchFamily="66" charset="0"/>
              </a:rPr>
              <a:t>:_</a:t>
            </a:r>
            <a:r>
              <a:rPr lang="en-US" sz="1800" b="1" dirty="0" err="1" smtClean="0">
                <a:solidFill>
                  <a:srgbClr val="FF0000"/>
                </a:solidFill>
                <a:latin typeface="Graphite Light ATT" panose="03020402050402020203" pitchFamily="66" charset="0"/>
              </a:rPr>
              <a:t>harrisCounty</a:t>
            </a:r>
            <a:r>
              <a:rPr lang="en-US" sz="1800" b="1" dirty="0" smtClean="0">
                <a:solidFill>
                  <a:srgbClr val="FF0000"/>
                </a:solidFill>
                <a:latin typeface="Graphite Light ATT" panose="03020402050402020203" pitchFamily="66" charset="0"/>
              </a:rPr>
              <a:t> :</a:t>
            </a:r>
            <a:r>
              <a:rPr lang="en-US" sz="1800" b="1" dirty="0" err="1" smtClean="0">
                <a:solidFill>
                  <a:srgbClr val="FF0000"/>
                </a:solidFill>
                <a:latin typeface="Graphite Light ATT" panose="03020402050402020203" pitchFamily="66" charset="0"/>
              </a:rPr>
              <a:t>geoDirectlyContainedIn</a:t>
            </a:r>
            <a:r>
              <a:rPr lang="en-US" sz="1800" b="1" dirty="0" smtClean="0">
                <a:solidFill>
                  <a:srgbClr val="FF0000"/>
                </a:solidFill>
                <a:latin typeface="Graphite Light ATT" panose="03020402050402020203" pitchFamily="66" charset="0"/>
              </a:rPr>
              <a:t> :_</a:t>
            </a:r>
            <a:r>
              <a:rPr lang="en-US" sz="1800" b="1" dirty="0" err="1" smtClean="0">
                <a:solidFill>
                  <a:srgbClr val="FF0000"/>
                </a:solidFill>
                <a:latin typeface="Graphite Light ATT" panose="03020402050402020203" pitchFamily="66" charset="0"/>
              </a:rPr>
              <a:t>texas</a:t>
            </a:r>
            <a:endParaRPr lang="en-US" sz="1800" b="1" dirty="0" smtClean="0">
              <a:solidFill>
                <a:srgbClr val="FF0000"/>
              </a:solidFill>
              <a:latin typeface="Graphite Light ATT" panose="03020402050402020203" pitchFamily="66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rgbClr val="FF0000"/>
                </a:solidFill>
                <a:latin typeface="Graphite Light ATT" panose="03020402050402020203" pitchFamily="66" charset="0"/>
              </a:rPr>
              <a:t>:_</a:t>
            </a:r>
            <a:r>
              <a:rPr lang="en-US" sz="1800" b="1" dirty="0" err="1">
                <a:solidFill>
                  <a:srgbClr val="FF0000"/>
                </a:solidFill>
                <a:latin typeface="Graphite Light ATT" panose="03020402050402020203" pitchFamily="66" charset="0"/>
              </a:rPr>
              <a:t>texas</a:t>
            </a:r>
            <a:r>
              <a:rPr lang="en-US" sz="1800" b="1" dirty="0">
                <a:solidFill>
                  <a:srgbClr val="FF0000"/>
                </a:solidFill>
                <a:latin typeface="Graphite Light ATT" panose="03020402050402020203" pitchFamily="66" charset="0"/>
              </a:rPr>
              <a:t> :</a:t>
            </a:r>
            <a:r>
              <a:rPr lang="en-US" sz="1800" b="1" dirty="0" err="1">
                <a:solidFill>
                  <a:srgbClr val="FF0000"/>
                </a:solidFill>
                <a:latin typeface="Graphite Light ATT" panose="03020402050402020203" pitchFamily="66" charset="0"/>
              </a:rPr>
              <a:t>geoDirectlyContainedIn</a:t>
            </a:r>
            <a:r>
              <a:rPr lang="en-US" sz="1800" b="1" dirty="0">
                <a:solidFill>
                  <a:srgbClr val="FF0000"/>
                </a:solidFill>
                <a:latin typeface="Graphite Light ATT" panose="03020402050402020203" pitchFamily="66" charset="0"/>
              </a:rPr>
              <a:t> :_</a:t>
            </a:r>
            <a:r>
              <a:rPr lang="en-US" sz="1800" b="1" dirty="0" err="1">
                <a:solidFill>
                  <a:srgbClr val="FF0000"/>
                </a:solidFill>
                <a:latin typeface="Graphite Light ATT" panose="03020402050402020203" pitchFamily="66" charset="0"/>
              </a:rPr>
              <a:t>usa</a:t>
            </a:r>
            <a:endParaRPr lang="en-US" sz="1800" b="1" dirty="0">
              <a:solidFill>
                <a:srgbClr val="FF0000"/>
              </a:solidFill>
              <a:latin typeface="Graphite Light ATT" panose="03020402050402020203" pitchFamily="66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 b="1" dirty="0" smtClean="0">
                <a:solidFill>
                  <a:srgbClr val="FF0000"/>
                </a:solidFill>
                <a:latin typeface="Graphite Light ATT" panose="03020402050402020203" pitchFamily="66" charset="0"/>
              </a:rPr>
              <a:t>:_</a:t>
            </a:r>
            <a:r>
              <a:rPr lang="en-US" sz="1800" b="1" dirty="0" err="1" smtClean="0">
                <a:solidFill>
                  <a:srgbClr val="FF0000"/>
                </a:solidFill>
                <a:latin typeface="Graphite Light ATT" panose="03020402050402020203" pitchFamily="66" charset="0"/>
              </a:rPr>
              <a:t>texas</a:t>
            </a:r>
            <a:r>
              <a:rPr lang="en-US" sz="1800" b="1" dirty="0" smtClean="0">
                <a:solidFill>
                  <a:srgbClr val="FF0000"/>
                </a:solidFill>
                <a:latin typeface="Graphite Light ATT" panose="03020402050402020203" pitchFamily="66" charset="0"/>
              </a:rPr>
              <a:t> :</a:t>
            </a:r>
            <a:r>
              <a:rPr lang="en-US" sz="1800" b="1" dirty="0" err="1" smtClean="0">
                <a:solidFill>
                  <a:srgbClr val="FF0000"/>
                </a:solidFill>
                <a:latin typeface="Graphite Light ATT" panose="03020402050402020203" pitchFamily="66" charset="0"/>
              </a:rPr>
              <a:t>geoDirectlyContainedIn</a:t>
            </a:r>
            <a:r>
              <a:rPr lang="en-US" sz="1800" b="1" dirty="0" smtClean="0">
                <a:solidFill>
                  <a:srgbClr val="FF0000"/>
                </a:solidFill>
                <a:latin typeface="Graphite Light ATT" panose="03020402050402020203" pitchFamily="66" charset="0"/>
              </a:rPr>
              <a:t> </a:t>
            </a:r>
            <a:r>
              <a:rPr lang="en-US" sz="1800" b="1" dirty="0" smtClean="0">
                <a:solidFill>
                  <a:srgbClr val="FF0000"/>
                </a:solidFill>
                <a:latin typeface="Graphite Light ATT" panose="03020402050402020203" pitchFamily="66" charset="0"/>
              </a:rPr>
              <a:t>:_padd3</a:t>
            </a:r>
            <a:endParaRPr lang="en-US" sz="1800" b="1" dirty="0" smtClean="0">
              <a:solidFill>
                <a:srgbClr val="FF0000"/>
              </a:solidFill>
              <a:latin typeface="Graphite Light ATT" panose="03020402050402020203" pitchFamily="66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 b="1" dirty="0" smtClean="0">
                <a:solidFill>
                  <a:srgbClr val="FF0000"/>
                </a:solidFill>
                <a:latin typeface="Graphite Light ATT" panose="03020402050402020203" pitchFamily="66" charset="0"/>
              </a:rPr>
              <a:t>:_</a:t>
            </a:r>
            <a:r>
              <a:rPr lang="en-US" sz="1800" b="1" dirty="0" err="1" smtClean="0">
                <a:solidFill>
                  <a:srgbClr val="FF0000"/>
                </a:solidFill>
                <a:latin typeface="Graphite Light ATT" panose="03020402050402020203" pitchFamily="66" charset="0"/>
              </a:rPr>
              <a:t>usa</a:t>
            </a:r>
            <a:r>
              <a:rPr lang="en-US" sz="1800" b="1" dirty="0" smtClean="0">
                <a:solidFill>
                  <a:srgbClr val="FF0000"/>
                </a:solidFill>
                <a:latin typeface="Graphite Light ATT" panose="03020402050402020203" pitchFamily="66" charset="0"/>
              </a:rPr>
              <a:t> :</a:t>
            </a:r>
            <a:r>
              <a:rPr lang="en-US" sz="1800" b="1" dirty="0" err="1" smtClean="0">
                <a:solidFill>
                  <a:srgbClr val="FF0000"/>
                </a:solidFill>
                <a:latin typeface="Graphite Light ATT" panose="03020402050402020203" pitchFamily="66" charset="0"/>
              </a:rPr>
              <a:t>geoDirectlyContainedIn</a:t>
            </a:r>
            <a:r>
              <a:rPr lang="en-US" sz="1800" b="1" dirty="0" smtClean="0">
                <a:solidFill>
                  <a:srgbClr val="FF0000"/>
                </a:solidFill>
                <a:latin typeface="Graphite Light ATT" panose="03020402050402020203" pitchFamily="66" charset="0"/>
              </a:rPr>
              <a:t> :_</a:t>
            </a:r>
            <a:r>
              <a:rPr lang="en-US" sz="1800" b="1" dirty="0" err="1" smtClean="0">
                <a:solidFill>
                  <a:srgbClr val="FF0000"/>
                </a:solidFill>
                <a:latin typeface="Graphite Light ATT" panose="03020402050402020203" pitchFamily="66" charset="0"/>
              </a:rPr>
              <a:t>northAmerica</a:t>
            </a:r>
            <a:endParaRPr lang="en-US" sz="1800" b="1" dirty="0" smtClean="0">
              <a:solidFill>
                <a:srgbClr val="FF0000"/>
              </a:solidFill>
              <a:latin typeface="Graphite Light ATT" panose="03020402050402020203" pitchFamily="66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 b="1" dirty="0" smtClean="0">
                <a:solidFill>
                  <a:srgbClr val="FF0000"/>
                </a:solidFill>
                <a:latin typeface="Graphite Light ATT" panose="03020402050402020203" pitchFamily="66" charset="0"/>
              </a:rPr>
              <a:t>:_padd3 :</a:t>
            </a:r>
            <a:r>
              <a:rPr lang="en-US" sz="1800" b="1" dirty="0" err="1" smtClean="0">
                <a:solidFill>
                  <a:srgbClr val="FF0000"/>
                </a:solidFill>
                <a:latin typeface="Graphite Light ATT" panose="03020402050402020203" pitchFamily="66" charset="0"/>
              </a:rPr>
              <a:t>geoDirectlyContainedIn</a:t>
            </a:r>
            <a:r>
              <a:rPr lang="en-US" sz="1800" b="1" dirty="0" smtClean="0">
                <a:solidFill>
                  <a:srgbClr val="FF0000"/>
                </a:solidFill>
                <a:latin typeface="Graphite Light ATT" panose="03020402050402020203" pitchFamily="66" charset="0"/>
              </a:rPr>
              <a:t> :_</a:t>
            </a:r>
            <a:r>
              <a:rPr lang="en-US" sz="1800" b="1" dirty="0" err="1" smtClean="0">
                <a:solidFill>
                  <a:srgbClr val="FF0000"/>
                </a:solidFill>
                <a:latin typeface="Graphite Light ATT" panose="03020402050402020203" pitchFamily="66" charset="0"/>
              </a:rPr>
              <a:t>usa</a:t>
            </a:r>
            <a:endParaRPr lang="en-US" sz="1800" b="1" dirty="0" smtClean="0">
              <a:solidFill>
                <a:srgbClr val="FF0000"/>
              </a:solidFill>
              <a:latin typeface="Graphite Light ATT" panose="03020402050402020203" pitchFamily="66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 b="1" dirty="0" smtClean="0">
                <a:solidFill>
                  <a:srgbClr val="FF0000"/>
                </a:solidFill>
                <a:latin typeface="Graphite Light ATT" panose="03020402050402020203" pitchFamily="66" charset="0"/>
              </a:rPr>
              <a:t>:_</a:t>
            </a:r>
            <a:r>
              <a:rPr lang="en-US" sz="1800" b="1" dirty="0" err="1" smtClean="0">
                <a:solidFill>
                  <a:srgbClr val="FF0000"/>
                </a:solidFill>
                <a:latin typeface="Graphite Light ATT" panose="03020402050402020203" pitchFamily="66" charset="0"/>
              </a:rPr>
              <a:t>portArthur</a:t>
            </a:r>
            <a:r>
              <a:rPr lang="en-US" sz="1800" b="1" dirty="0" smtClean="0">
                <a:solidFill>
                  <a:srgbClr val="FF0000"/>
                </a:solidFill>
                <a:latin typeface="Graphite Light ATT" panose="03020402050402020203" pitchFamily="66" charset="0"/>
              </a:rPr>
              <a:t> :</a:t>
            </a:r>
            <a:r>
              <a:rPr lang="en-US" sz="1800" b="1" dirty="0" err="1" smtClean="0">
                <a:solidFill>
                  <a:srgbClr val="FF0000"/>
                </a:solidFill>
                <a:latin typeface="Graphite Light ATT" panose="03020402050402020203" pitchFamily="66" charset="0"/>
              </a:rPr>
              <a:t>geoDirectlyContainedIn</a:t>
            </a:r>
            <a:r>
              <a:rPr lang="en-US" sz="1800" b="1" dirty="0" smtClean="0">
                <a:solidFill>
                  <a:srgbClr val="FF0000"/>
                </a:solidFill>
                <a:latin typeface="Graphite Light ATT" panose="03020402050402020203" pitchFamily="66" charset="0"/>
              </a:rPr>
              <a:t> :_</a:t>
            </a:r>
            <a:r>
              <a:rPr lang="en-US" sz="1800" b="1" dirty="0" err="1" smtClean="0">
                <a:solidFill>
                  <a:srgbClr val="FF0000"/>
                </a:solidFill>
                <a:latin typeface="Graphite Light ATT" panose="03020402050402020203" pitchFamily="66" charset="0"/>
              </a:rPr>
              <a:t>jeffersonCounty</a:t>
            </a:r>
            <a:endParaRPr lang="en-US" sz="1800" b="1" dirty="0" smtClean="0">
              <a:solidFill>
                <a:srgbClr val="FF0000"/>
              </a:solidFill>
              <a:latin typeface="Graphite Light ATT" panose="03020402050402020203" pitchFamily="66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 b="1" dirty="0" smtClean="0">
                <a:solidFill>
                  <a:srgbClr val="FF0000"/>
                </a:solidFill>
                <a:latin typeface="Graphite Light ATT" panose="03020402050402020203" pitchFamily="66" charset="0"/>
              </a:rPr>
              <a:t>:_</a:t>
            </a:r>
            <a:r>
              <a:rPr lang="en-US" sz="1800" b="1" dirty="0" err="1" smtClean="0">
                <a:solidFill>
                  <a:srgbClr val="FF0000"/>
                </a:solidFill>
                <a:latin typeface="Graphite Light ATT" panose="03020402050402020203" pitchFamily="66" charset="0"/>
              </a:rPr>
              <a:t>jeffersonCounty</a:t>
            </a:r>
            <a:r>
              <a:rPr lang="en-US" sz="1800" b="1" dirty="0" smtClean="0">
                <a:solidFill>
                  <a:srgbClr val="FF0000"/>
                </a:solidFill>
                <a:latin typeface="Graphite Light ATT" panose="03020402050402020203" pitchFamily="66" charset="0"/>
              </a:rPr>
              <a:t> :</a:t>
            </a:r>
            <a:r>
              <a:rPr lang="en-US" sz="1800" b="1" dirty="0" err="1" smtClean="0">
                <a:solidFill>
                  <a:srgbClr val="FF0000"/>
                </a:solidFill>
                <a:latin typeface="Graphite Light ATT" panose="03020402050402020203" pitchFamily="66" charset="0"/>
              </a:rPr>
              <a:t>geoDirectlyContainedIn</a:t>
            </a:r>
            <a:r>
              <a:rPr lang="en-US" sz="1800" b="1" dirty="0" smtClean="0">
                <a:solidFill>
                  <a:srgbClr val="FF0000"/>
                </a:solidFill>
                <a:latin typeface="Graphite Light ATT" panose="03020402050402020203" pitchFamily="66" charset="0"/>
              </a:rPr>
              <a:t> :_</a:t>
            </a:r>
            <a:r>
              <a:rPr lang="en-US" sz="1800" b="1" dirty="0" err="1" smtClean="0">
                <a:solidFill>
                  <a:srgbClr val="FF0000"/>
                </a:solidFill>
                <a:latin typeface="Graphite Light ATT" panose="03020402050402020203" pitchFamily="66" charset="0"/>
              </a:rPr>
              <a:t>texas</a:t>
            </a:r>
            <a:endParaRPr lang="en-US" sz="1800" b="1" dirty="0" smtClean="0">
              <a:solidFill>
                <a:srgbClr val="FF0000"/>
              </a:solidFill>
              <a:latin typeface="Graphite Light ATT" panose="03020402050402020203" pitchFamily="66" charset="0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sz="1800" b="1" dirty="0">
              <a:latin typeface="Graphite Light ATT" panose="03020402050402020203" pitchFamily="66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266254" y="1295400"/>
            <a:ext cx="6400800" cy="762000"/>
            <a:chOff x="990600" y="1600200"/>
            <a:chExt cx="6400800" cy="762000"/>
          </a:xfrm>
        </p:grpSpPr>
        <p:sp>
          <p:nvSpPr>
            <p:cNvPr id="4" name="Oval 3"/>
            <p:cNvSpPr/>
            <p:nvPr/>
          </p:nvSpPr>
          <p:spPr>
            <a:xfrm>
              <a:off x="990600" y="1676400"/>
              <a:ext cx="1905000" cy="6858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dbbo</a:t>
              </a:r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:_vela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  <p:cxnSp>
          <p:nvCxnSpPr>
            <p:cNvPr id="5" name="Straight Arrow Connector 4"/>
            <p:cNvCxnSpPr>
              <a:stCxn id="4" idx="6"/>
              <a:endCxn id="6" idx="2"/>
            </p:cNvCxnSpPr>
            <p:nvPr/>
          </p:nvCxnSpPr>
          <p:spPr>
            <a:xfrm>
              <a:off x="2895600" y="2019300"/>
              <a:ext cx="1828800" cy="0"/>
            </a:xfrm>
            <a:prstGeom prst="straightConnector1">
              <a:avLst/>
            </a:prstGeom>
            <a:ln w="31750">
              <a:solidFill>
                <a:srgbClr val="306FA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4724400" y="1676400"/>
              <a:ext cx="2667000" cy="6858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dbbo</a:t>
              </a:r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:_</a:t>
              </a:r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SiriusStar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3200400" y="1600200"/>
              <a:ext cx="11735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dbbo:owns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60909" y="2286000"/>
            <a:ext cx="6611491" cy="866778"/>
          </a:xfrm>
          <a:prstGeom prst="rect">
            <a:avLst/>
          </a:prstGeom>
        </p:spPr>
      </p:pic>
      <p:sp>
        <p:nvSpPr>
          <p:cNvPr id="11" name="Content Placeholder 2"/>
          <p:cNvSpPr txBox="1">
            <a:spLocks/>
          </p:cNvSpPr>
          <p:nvPr/>
        </p:nvSpPr>
        <p:spPr>
          <a:xfrm>
            <a:off x="5954486" y="3802863"/>
            <a:ext cx="2960914" cy="19974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b="1" kern="1200">
                <a:solidFill>
                  <a:schemeClr val="tx1"/>
                </a:solidFill>
                <a:latin typeface="Graphite Light ATT" panose="03020402050402020203" pitchFamily="66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1" kern="1200">
                <a:solidFill>
                  <a:schemeClr val="tx1"/>
                </a:solidFill>
                <a:latin typeface="Graphite Light ATT" panose="03020402050402020203" pitchFamily="66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b="1" kern="1200">
                <a:solidFill>
                  <a:schemeClr val="tx1"/>
                </a:solidFill>
                <a:latin typeface="Graphite Light ATT" panose="03020402050402020203" pitchFamily="66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b="1" kern="1200">
                <a:solidFill>
                  <a:schemeClr val="tx1"/>
                </a:solidFill>
                <a:latin typeface="Graphite Light ATT" panose="03020402050402020203" pitchFamily="66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b="1" kern="1200">
                <a:solidFill>
                  <a:schemeClr val="tx1"/>
                </a:solidFill>
                <a:latin typeface="Graphite Light ATT" panose="03020402050402020203" pitchFamily="66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6858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 dirty="0" smtClean="0">
                <a:solidFill>
                  <a:srgbClr val="FF0000"/>
                </a:solidFill>
              </a:rPr>
              <a:t>:_vela :owns :_</a:t>
            </a:r>
            <a:r>
              <a:rPr lang="en-US" sz="1800" dirty="0" err="1" smtClean="0">
                <a:solidFill>
                  <a:srgbClr val="FF0000"/>
                </a:solidFill>
              </a:rPr>
              <a:t>AriesStar</a:t>
            </a:r>
            <a:endParaRPr lang="en-US" sz="1800" dirty="0" smtClean="0">
              <a:solidFill>
                <a:srgbClr val="FF0000"/>
              </a:solidFill>
            </a:endParaRPr>
          </a:p>
          <a:p>
            <a:pPr marL="171450" indent="-171450" defTabSz="6858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 dirty="0" smtClean="0">
                <a:solidFill>
                  <a:srgbClr val="FF0000"/>
                </a:solidFill>
              </a:rPr>
              <a:t>:_</a:t>
            </a:r>
            <a:r>
              <a:rPr lang="en-US" sz="1800" dirty="0" err="1">
                <a:solidFill>
                  <a:srgbClr val="FF0000"/>
                </a:solidFill>
              </a:rPr>
              <a:t>osg</a:t>
            </a:r>
            <a:r>
              <a:rPr lang="en-US" sz="1800" dirty="0">
                <a:solidFill>
                  <a:srgbClr val="FF0000"/>
                </a:solidFill>
              </a:rPr>
              <a:t> :owns :_</a:t>
            </a:r>
            <a:r>
              <a:rPr lang="en-US" sz="1800" dirty="0" err="1">
                <a:solidFill>
                  <a:srgbClr val="FF0000"/>
                </a:solidFill>
              </a:rPr>
              <a:t>Aframax</a:t>
            </a:r>
            <a:endParaRPr lang="en-US" sz="1800" dirty="0">
              <a:solidFill>
                <a:srgbClr val="FF0000"/>
              </a:solidFill>
            </a:endParaRPr>
          </a:p>
          <a:p>
            <a:pPr marL="171450" indent="-171450" defTabSz="6858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FF0000"/>
                </a:solidFill>
              </a:rPr>
              <a:t>:_</a:t>
            </a:r>
            <a:r>
              <a:rPr lang="en-US" sz="1800" dirty="0" err="1">
                <a:solidFill>
                  <a:srgbClr val="FF0000"/>
                </a:solidFill>
              </a:rPr>
              <a:t>Aframax</a:t>
            </a:r>
            <a:r>
              <a:rPr lang="en-US" sz="1800" dirty="0">
                <a:solidFill>
                  <a:srgbClr val="FF0000"/>
                </a:solidFill>
              </a:rPr>
              <a:t> :</a:t>
            </a:r>
            <a:r>
              <a:rPr lang="en-US" sz="1800" dirty="0" err="1">
                <a:solidFill>
                  <a:srgbClr val="FF0000"/>
                </a:solidFill>
              </a:rPr>
              <a:t>memberIn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 smtClean="0">
                <a:solidFill>
                  <a:srgbClr val="FF0000"/>
                </a:solidFill>
              </a:rPr>
              <a:t>:_</a:t>
            </a:r>
            <a:r>
              <a:rPr lang="en-US" sz="1800" dirty="0" err="1" smtClean="0">
                <a:solidFill>
                  <a:srgbClr val="FF0000"/>
                </a:solidFill>
              </a:rPr>
              <a:t>osgFleet</a:t>
            </a:r>
            <a:endParaRPr lang="en-US" sz="1800" dirty="0" smtClean="0">
              <a:solidFill>
                <a:srgbClr val="FF0000"/>
              </a:solidFill>
            </a:endParaRPr>
          </a:p>
          <a:p>
            <a:pPr marL="171450" indent="-171450" defTabSz="6858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 dirty="0" smtClean="0">
                <a:solidFill>
                  <a:srgbClr val="FF0000"/>
                </a:solidFill>
              </a:rPr>
              <a:t>:_</a:t>
            </a:r>
            <a:r>
              <a:rPr lang="en-US" sz="1800" dirty="0" err="1" smtClean="0">
                <a:solidFill>
                  <a:srgbClr val="FF0000"/>
                </a:solidFill>
              </a:rPr>
              <a:t>SiriusStar</a:t>
            </a:r>
            <a:r>
              <a:rPr lang="en-US" sz="1800" dirty="0" smtClean="0">
                <a:solidFill>
                  <a:srgbClr val="FF0000"/>
                </a:solidFill>
              </a:rPr>
              <a:t> :</a:t>
            </a:r>
            <a:r>
              <a:rPr lang="en-US" sz="1800" dirty="0" err="1" smtClean="0">
                <a:solidFill>
                  <a:srgbClr val="FF0000"/>
                </a:solidFill>
              </a:rPr>
              <a:t>memberIn</a:t>
            </a:r>
            <a:r>
              <a:rPr lang="en-US" sz="1800" dirty="0" smtClean="0">
                <a:solidFill>
                  <a:srgbClr val="FF0000"/>
                </a:solidFill>
              </a:rPr>
              <a:t> :_</a:t>
            </a:r>
            <a:r>
              <a:rPr lang="en-US" sz="1800" dirty="0" err="1" smtClean="0">
                <a:solidFill>
                  <a:srgbClr val="FF0000"/>
                </a:solidFill>
              </a:rPr>
              <a:t>velaFleet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603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60" y="1412070"/>
            <a:ext cx="6599321" cy="33885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some datatype assertions</a:t>
            </a:r>
            <a:endParaRPr lang="en-US" dirty="0"/>
          </a:p>
        </p:txBody>
      </p:sp>
      <p:sp>
        <p:nvSpPr>
          <p:cNvPr id="5" name="Down Arrow 4"/>
          <p:cNvSpPr/>
          <p:nvPr/>
        </p:nvSpPr>
        <p:spPr>
          <a:xfrm rot="16200000">
            <a:off x="876300" y="3009900"/>
            <a:ext cx="609600" cy="53340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928838" y="2279023"/>
            <a:ext cx="2133600" cy="10117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te Light ATT" panose="03020402050402020203" pitchFamily="66" charset="0"/>
              </a:rPr>
              <a:t>Click on the Data property assertions plus sign.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te Light ATT" panose="03020402050402020203" pitchFamily="66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6928838" y="4229335"/>
            <a:ext cx="2057400" cy="7037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US" b="1" dirty="0" smtClean="0">
                <a:latin typeface="Graphite Light ATT" panose="03020402050402020203" pitchFamily="66" charset="0"/>
              </a:rPr>
              <a:t>Enter the literal value.</a:t>
            </a:r>
            <a:endParaRPr lang="en-US" b="1" dirty="0">
              <a:latin typeface="Graphite Light ATT" panose="03020402050402020203" pitchFamily="66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21" y="4137212"/>
            <a:ext cx="4936413" cy="2263588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 rot="5400000">
            <a:off x="4914900" y="3238500"/>
            <a:ext cx="609600" cy="53340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928838" y="1332010"/>
            <a:ext cx="2133600" cy="9539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/>
            <a:r>
              <a:rPr lang="en-US" b="1" dirty="0" smtClean="0">
                <a:latin typeface="Graphite Light ATT" panose="03020402050402020203" pitchFamily="66" charset="0"/>
              </a:rPr>
              <a:t>Select </a:t>
            </a:r>
            <a:r>
              <a:rPr lang="en-US" b="1" dirty="0">
                <a:latin typeface="Graphite Light ATT" panose="03020402050402020203" pitchFamily="66" charset="0"/>
              </a:rPr>
              <a:t>the individual </a:t>
            </a:r>
            <a:r>
              <a:rPr lang="en-US" b="1" dirty="0" smtClean="0">
                <a:latin typeface="Graphite Light ATT" panose="03020402050402020203" pitchFamily="66" charset="0"/>
              </a:rPr>
              <a:t>to be </a:t>
            </a:r>
            <a:r>
              <a:rPr lang="en-US" b="1" dirty="0">
                <a:latin typeface="Graphite Light ATT" panose="03020402050402020203" pitchFamily="66" charset="0"/>
              </a:rPr>
              <a:t>the subject of your </a:t>
            </a:r>
            <a:r>
              <a:rPr lang="en-US" b="1" dirty="0" smtClean="0">
                <a:latin typeface="Graphite Light ATT" panose="03020402050402020203" pitchFamily="66" charset="0"/>
              </a:rPr>
              <a:t>triple.</a:t>
            </a:r>
            <a:endParaRPr lang="en-US" b="1" dirty="0">
              <a:latin typeface="Graphite Light ATT" panose="03020402050402020203" pitchFamily="66" charset="0"/>
            </a:endParaRPr>
          </a:p>
          <a:p>
            <a:endParaRPr lang="en-US" dirty="0"/>
          </a:p>
        </p:txBody>
      </p:sp>
      <p:sp>
        <p:nvSpPr>
          <p:cNvPr id="8" name="Down Arrow 7"/>
          <p:cNvSpPr/>
          <p:nvPr/>
        </p:nvSpPr>
        <p:spPr>
          <a:xfrm rot="10800000">
            <a:off x="3021126" y="5143499"/>
            <a:ext cx="609600" cy="53340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/>
          <p:cNvSpPr/>
          <p:nvPr/>
        </p:nvSpPr>
        <p:spPr>
          <a:xfrm rot="10800000">
            <a:off x="914611" y="5562600"/>
            <a:ext cx="609600" cy="53340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4"/>
          <p:cNvSpPr/>
          <p:nvPr/>
        </p:nvSpPr>
        <p:spPr>
          <a:xfrm rot="5400000">
            <a:off x="4267200" y="5524500"/>
            <a:ext cx="609600" cy="53340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928838" y="3283813"/>
            <a:ext cx="2057400" cy="9524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te Light ATT" panose="03020402050402020203" pitchFamily="66" charset="0"/>
              </a:rPr>
              <a:t>Select the property you want (name).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te Light ATT" panose="03020402050402020203" pitchFamily="66" charset="0"/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7522003" y="5646271"/>
            <a:ext cx="1148362" cy="3842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te Light ATT" panose="03020402050402020203" pitchFamily="66" charset="0"/>
              </a:rPr>
              <a:t>Click OK.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te Light ATT" panose="03020402050402020203" pitchFamily="66" charset="0"/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5562600" y="4875308"/>
            <a:ext cx="2057400" cy="11990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US" b="1" dirty="0" smtClean="0">
                <a:latin typeface="Graphite Light ATT" panose="03020402050402020203" pitchFamily="66" charset="0"/>
              </a:rPr>
              <a:t>Indicating the </a:t>
            </a:r>
            <a:r>
              <a:rPr lang="en-US" b="1" smtClean="0">
                <a:latin typeface="Graphite Light ATT" panose="03020402050402020203" pitchFamily="66" charset="0"/>
              </a:rPr>
              <a:t>language (“en” </a:t>
            </a:r>
            <a:r>
              <a:rPr lang="en-US" b="1" dirty="0" smtClean="0">
                <a:latin typeface="Graphite Light ATT" panose="03020402050402020203" pitchFamily="66" charset="0"/>
              </a:rPr>
              <a:t>= English) is a good practice.</a:t>
            </a:r>
            <a:endParaRPr lang="en-US" b="1" dirty="0">
              <a:latin typeface="Graphite Light ATT" panose="0302040205040202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4438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9" grpId="0"/>
      <p:bldP spid="10" grpId="0" animBg="1"/>
      <p:bldP spid="13" grpId="0"/>
      <p:bldP spid="8" grpId="0" animBg="1"/>
      <p:bldP spid="14" grpId="0" animBg="1"/>
      <p:bldP spid="15" grpId="0" animBg="1"/>
      <p:bldP spid="16" grpId="0"/>
      <p:bldP spid="17" grpId="0"/>
      <p:bldP spid="18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You’ve created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1034758" y="1371600"/>
            <a:ext cx="6858000" cy="762000"/>
            <a:chOff x="1066800" y="1828800"/>
            <a:chExt cx="6858000" cy="762000"/>
          </a:xfrm>
        </p:grpSpPr>
        <p:sp>
          <p:nvSpPr>
            <p:cNvPr id="4" name="Oval 3"/>
            <p:cNvSpPr/>
            <p:nvPr/>
          </p:nvSpPr>
          <p:spPr>
            <a:xfrm>
              <a:off x="1066800" y="1905000"/>
              <a:ext cx="1905000" cy="6858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dbbo</a:t>
              </a:r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:_vela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  <p:cxnSp>
          <p:nvCxnSpPr>
            <p:cNvPr id="5" name="Straight Arrow Connector 4"/>
            <p:cNvCxnSpPr>
              <a:stCxn id="4" idx="6"/>
              <a:endCxn id="7" idx="1"/>
            </p:cNvCxnSpPr>
            <p:nvPr/>
          </p:nvCxnSpPr>
          <p:spPr>
            <a:xfrm flipV="1">
              <a:off x="2971800" y="2242066"/>
              <a:ext cx="1981200" cy="5834"/>
            </a:xfrm>
            <a:prstGeom prst="straightConnector1">
              <a:avLst/>
            </a:prstGeom>
            <a:ln w="31750">
              <a:solidFill>
                <a:srgbClr val="6B8E2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5"/>
            <p:cNvSpPr/>
            <p:nvPr/>
          </p:nvSpPr>
          <p:spPr>
            <a:xfrm>
              <a:off x="3268842" y="1828800"/>
              <a:ext cx="11890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dbbo:name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4953000" y="2057400"/>
              <a:ext cx="297180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“Vela International Marine”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</p:grp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85800" y="3505200"/>
            <a:ext cx="6858000" cy="1905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>
                <a:latin typeface="Graphite Light ATT" panose="03020402050402020203" pitchFamily="66" charset="0"/>
              </a:rPr>
              <a:t>Load up </a:t>
            </a:r>
          </a:p>
          <a:p>
            <a:r>
              <a:rPr lang="en-US" sz="2400" b="1" dirty="0" smtClean="0">
                <a:latin typeface="Graphite Light ATT" panose="03020402050402020203" pitchFamily="66" charset="0"/>
              </a:rPr>
              <a:t>organizations with names, </a:t>
            </a:r>
          </a:p>
          <a:p>
            <a:r>
              <a:rPr lang="en-US" sz="2400" b="1" dirty="0" smtClean="0">
                <a:latin typeface="Graphite Light ATT" panose="03020402050402020203" pitchFamily="66" charset="0"/>
              </a:rPr>
              <a:t>vehicles with </a:t>
            </a:r>
            <a:r>
              <a:rPr lang="en-US" sz="2400" b="1" dirty="0" err="1" smtClean="0">
                <a:latin typeface="Graphite Light ATT" panose="03020402050402020203" pitchFamily="66" charset="0"/>
              </a:rPr>
              <a:t>imoNumbers</a:t>
            </a:r>
            <a:r>
              <a:rPr lang="en-US" sz="2400" b="1" dirty="0" smtClean="0">
                <a:latin typeface="Graphite Light ATT" panose="03020402050402020203" pitchFamily="66" charset="0"/>
              </a:rPr>
              <a:t> and </a:t>
            </a:r>
            <a:r>
              <a:rPr lang="en-US" sz="2400" b="1" dirty="0" err="1" smtClean="0">
                <a:latin typeface="Graphite Light ATT" panose="03020402050402020203" pitchFamily="66" charset="0"/>
              </a:rPr>
              <a:t>hullIdentifiers</a:t>
            </a:r>
            <a:r>
              <a:rPr lang="en-US" sz="2400" b="1" dirty="0" smtClean="0">
                <a:latin typeface="Graphite Light ATT" panose="03020402050402020203" pitchFamily="66" charset="0"/>
              </a:rPr>
              <a:t>, </a:t>
            </a:r>
          </a:p>
          <a:p>
            <a:r>
              <a:rPr lang="en-US" sz="2400" b="1" dirty="0" smtClean="0">
                <a:latin typeface="Graphite Light ATT" panose="03020402050402020203" pitchFamily="66" charset="0"/>
              </a:rPr>
              <a:t>and give the fleets names.</a:t>
            </a:r>
            <a:endParaRPr lang="en-US" sz="2400" b="1" dirty="0">
              <a:latin typeface="Graphite Light ATT" panose="03020402050402020203" pitchFamily="66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90600" y="2348801"/>
            <a:ext cx="6946316" cy="992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505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Break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56D00-7E3A-474F-A645-5B00B94AB3EE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270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Once we’ve assembled a graph…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2183" y="1825625"/>
            <a:ext cx="8443913" cy="3895906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Graphite Light ATT" panose="03020402050402020203" pitchFamily="66" charset="0"/>
              </a:rPr>
              <a:t>We can use the </a:t>
            </a:r>
            <a:r>
              <a:rPr lang="en-US" sz="2400" b="1" dirty="0">
                <a:latin typeface="Graphite Light ATT" panose="03020402050402020203" pitchFamily="66" charset="0"/>
              </a:rPr>
              <a:t>assembled information to </a:t>
            </a:r>
            <a:r>
              <a:rPr lang="en-US" sz="2400" b="1" dirty="0" smtClean="0">
                <a:latin typeface="Graphite Light ATT" panose="03020402050402020203" pitchFamily="66" charset="0"/>
              </a:rPr>
              <a:t>infer additional information.</a:t>
            </a:r>
          </a:p>
          <a:p>
            <a:r>
              <a:rPr lang="en-US" sz="2400" b="1" dirty="0">
                <a:latin typeface="Graphite Light ATT" panose="03020402050402020203" pitchFamily="66" charset="0"/>
              </a:rPr>
              <a:t>Inference is the ability to derive new information from existing data and knowledge.</a:t>
            </a:r>
          </a:p>
          <a:p>
            <a:r>
              <a:rPr lang="en-US" sz="2400" b="1" dirty="0">
                <a:latin typeface="Graphite Light ATT" panose="03020402050402020203" pitchFamily="66" charset="0"/>
              </a:rPr>
              <a:t>In general, many types of inference are possible.</a:t>
            </a:r>
          </a:p>
          <a:p>
            <a:r>
              <a:rPr lang="en-US" sz="2400" b="1" dirty="0">
                <a:latin typeface="Graphite Light ATT" panose="03020402050402020203" pitchFamily="66" charset="0"/>
              </a:rPr>
              <a:t>Interpolation, regression,  and the results of algorithms could be thought of as forms of inference.</a:t>
            </a:r>
          </a:p>
          <a:p>
            <a:r>
              <a:rPr lang="en-US" sz="2400" b="1" dirty="0">
                <a:latin typeface="Graphite Light ATT" panose="03020402050402020203" pitchFamily="66" charset="0"/>
              </a:rPr>
              <a:t>But here, we’ll focus on inference that can be drawn from triples and </a:t>
            </a:r>
            <a:r>
              <a:rPr lang="en-US" sz="2400" b="1" u="sng" dirty="0">
                <a:latin typeface="Graphite Light ATT" panose="03020402050402020203" pitchFamily="66" charset="0"/>
              </a:rPr>
              <a:t>results in new triples</a:t>
            </a:r>
            <a:r>
              <a:rPr lang="en-US" sz="2400" b="1" dirty="0" smtClean="0">
                <a:latin typeface="Graphite Light ATT" panose="03020402050402020203" pitchFamily="66" charset="0"/>
              </a:rPr>
              <a:t>.</a:t>
            </a:r>
            <a:endParaRPr lang="en-US" sz="2400" dirty="0">
              <a:latin typeface="Graphite Light ATT" panose="03020402050402020203" pitchFamily="66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49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Reasoner</a:t>
            </a:r>
            <a:r>
              <a:rPr lang="en-US" dirty="0" smtClean="0"/>
              <a:t> or Inference Engine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6330"/>
            <a:ext cx="8229600" cy="3781693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Graphite Light ATT" panose="03020402050402020203" pitchFamily="66" charset="0"/>
              </a:rPr>
              <a:t>In Semantics, a Reasoner or an Inference Engine (the two terms are interchangeable) is a software program that runs over a set of triples (an ontology) and, using rules in the ontology,  can construct new triples.</a:t>
            </a:r>
          </a:p>
          <a:p>
            <a:r>
              <a:rPr lang="en-US" sz="2400" b="1" dirty="0" smtClean="0">
                <a:latin typeface="Graphite Light ATT" panose="03020402050402020203" pitchFamily="66" charset="0"/>
              </a:rPr>
              <a:t>It can also prove that some triples cannot possibly exist.</a:t>
            </a:r>
          </a:p>
          <a:p>
            <a:r>
              <a:rPr lang="en-US" sz="2400" b="1" dirty="0" smtClean="0">
                <a:latin typeface="Graphite Light ATT" panose="03020402050402020203" pitchFamily="66" charset="0"/>
              </a:rPr>
              <a:t>In the Enterprise, the reasoner is often </a:t>
            </a:r>
            <a:r>
              <a:rPr lang="en-US" sz="2400" b="1" dirty="0">
                <a:latin typeface="Graphite Light ATT" panose="03020402050402020203" pitchFamily="66" charset="0"/>
              </a:rPr>
              <a:t>server-based and near the triple </a:t>
            </a:r>
            <a:r>
              <a:rPr lang="en-US" sz="2400" b="1" dirty="0" smtClean="0">
                <a:latin typeface="Graphite Light ATT" panose="03020402050402020203" pitchFamily="66" charset="0"/>
              </a:rPr>
              <a:t>store.</a:t>
            </a:r>
          </a:p>
          <a:p>
            <a:r>
              <a:rPr lang="en-US" sz="2400" b="1" dirty="0">
                <a:latin typeface="Graphite Light ATT" panose="03020402050402020203" pitchFamily="66" charset="0"/>
              </a:rPr>
              <a:t>Most ontology editors (including Protégé) have at least one inference engine built in, and others potentially available</a:t>
            </a:r>
            <a:r>
              <a:rPr lang="en-US" sz="2400" b="1" dirty="0" smtClean="0">
                <a:latin typeface="Graphite Light ATT" panose="03020402050402020203" pitchFamily="66" charset="0"/>
              </a:rPr>
              <a:t>.</a:t>
            </a:r>
            <a:endParaRPr lang="en-US" sz="2400" b="1" dirty="0">
              <a:latin typeface="Graphite Light ATT" panose="03020402050402020203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865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Graphite MM" panose="02000206020000020004" pitchFamily="2" charset="0"/>
              </a:rPr>
              <a:t>Our first inference</a:t>
            </a:r>
            <a:endParaRPr lang="en-US" dirty="0">
              <a:latin typeface="Graphite MM" panose="02000206020000020004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46809"/>
            <a:ext cx="7905750" cy="1360923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Graphite Light ATT" panose="03020402050402020203" pitchFamily="66" charset="0"/>
              </a:rPr>
              <a:t>Properties are directional.</a:t>
            </a:r>
          </a:p>
          <a:p>
            <a:r>
              <a:rPr lang="en-US" b="1" dirty="0" smtClean="0">
                <a:latin typeface="Graphite Light ATT" panose="03020402050402020203" pitchFamily="66" charset="0"/>
              </a:rPr>
              <a:t>Both the property’s definition and its use as a predicate in an assertion are directional.</a:t>
            </a:r>
            <a:endParaRPr lang="en-US" b="1" dirty="0">
              <a:latin typeface="Graphite Light ATT" panose="03020402050402020203" pitchFamily="66" charset="0"/>
            </a:endParaRPr>
          </a:p>
        </p:txBody>
      </p:sp>
      <p:sp>
        <p:nvSpPr>
          <p:cNvPr id="5" name="Pentagon 4"/>
          <p:cNvSpPr/>
          <p:nvPr/>
        </p:nvSpPr>
        <p:spPr>
          <a:xfrm>
            <a:off x="3407228" y="2860771"/>
            <a:ext cx="1447800" cy="228600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Graphite MM" panose="02000206020000020004" pitchFamily="2" charset="0"/>
              </a:rPr>
              <a:t>:hasParent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Graphite MM" panose="02000206020000020004" pitchFamily="2" charset="0"/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609600" y="5210174"/>
            <a:ext cx="3332309" cy="497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2400" b="1" u="sng" dirty="0">
                <a:latin typeface="Graphite Light ATT" panose="03020402050402020203" pitchFamily="66" charset="0"/>
              </a:rPr>
              <a:t>Not</a:t>
            </a:r>
            <a:r>
              <a:rPr lang="en-US" sz="2400" b="1" dirty="0">
                <a:latin typeface="Graphite Light ATT" panose="03020402050402020203" pitchFamily="66" charset="0"/>
              </a:rPr>
              <a:t> the same as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68</a:t>
            </a:fld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970691" y="3180002"/>
            <a:ext cx="4077786" cy="907091"/>
            <a:chOff x="2133600" y="3436309"/>
            <a:chExt cx="4077786" cy="907091"/>
          </a:xfrm>
        </p:grpSpPr>
        <p:sp>
          <p:nvSpPr>
            <p:cNvPr id="10" name="Rectangle 9"/>
            <p:cNvSpPr/>
            <p:nvPr/>
          </p:nvSpPr>
          <p:spPr>
            <a:xfrm>
              <a:off x="3516891" y="3436309"/>
              <a:ext cx="11448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Graphite MM" panose="02000206020000020004" pitchFamily="2" charset="0"/>
                </a:rPr>
                <a:t>:hasParent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Graphite MM" panose="02000206020000020004" pitchFamily="2" charset="0"/>
              </a:endParaRPr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2133600" y="3771176"/>
              <a:ext cx="4077786" cy="572224"/>
              <a:chOff x="2133600" y="3771176"/>
              <a:chExt cx="4077786" cy="572224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2133600" y="3810000"/>
                <a:ext cx="1270000" cy="53340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chemeClr val="accent1">
                        <a:lumMod val="50000"/>
                      </a:schemeClr>
                    </a:solidFill>
                    <a:latin typeface="Graphite MM" panose="02000206020000020004" pitchFamily="2" charset="0"/>
                  </a:rPr>
                  <a:t>:_addie</a:t>
                </a:r>
                <a:endParaRPr lang="en-US" dirty="0">
                  <a:solidFill>
                    <a:schemeClr val="accent1">
                      <a:lumMod val="50000"/>
                    </a:schemeClr>
                  </a:solidFill>
                  <a:latin typeface="Graphite MM" panose="02000206020000020004" pitchFamily="2" charset="0"/>
                </a:endParaRPr>
              </a:p>
            </p:txBody>
          </p:sp>
          <p:sp>
            <p:nvSpPr>
              <p:cNvPr id="8" name="Oval 7"/>
              <p:cNvSpPr/>
              <p:nvPr/>
            </p:nvSpPr>
            <p:spPr>
              <a:xfrm>
                <a:off x="4839786" y="3810000"/>
                <a:ext cx="1371600" cy="53340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chemeClr val="accent1">
                        <a:lumMod val="50000"/>
                      </a:schemeClr>
                    </a:solidFill>
                    <a:latin typeface="Graphite MM" panose="02000206020000020004" pitchFamily="2" charset="0"/>
                  </a:rPr>
                  <a:t>:_</a:t>
                </a:r>
                <a:r>
                  <a:rPr lang="en-US" dirty="0" err="1" smtClean="0">
                    <a:solidFill>
                      <a:schemeClr val="accent1">
                        <a:lumMod val="50000"/>
                      </a:schemeClr>
                    </a:solidFill>
                    <a:latin typeface="Graphite MM" panose="02000206020000020004" pitchFamily="2" charset="0"/>
                  </a:rPr>
                  <a:t>dave</a:t>
                </a:r>
                <a:endParaRPr lang="en-US" dirty="0">
                  <a:solidFill>
                    <a:schemeClr val="accent1">
                      <a:lumMod val="50000"/>
                    </a:schemeClr>
                  </a:solidFill>
                  <a:latin typeface="Graphite MM" panose="02000206020000020004" pitchFamily="2" charset="0"/>
                </a:endParaRPr>
              </a:p>
            </p:txBody>
          </p:sp>
          <p:sp>
            <p:nvSpPr>
              <p:cNvPr id="9" name="Freeform 5"/>
              <p:cNvSpPr>
                <a:spLocks/>
              </p:cNvSpPr>
              <p:nvPr/>
            </p:nvSpPr>
            <p:spPr bwMode="auto">
              <a:xfrm>
                <a:off x="3373438" y="3771176"/>
                <a:ext cx="1482725" cy="296863"/>
              </a:xfrm>
              <a:custGeom>
                <a:avLst/>
                <a:gdLst>
                  <a:gd name="T0" fmla="*/ 0 w 934"/>
                  <a:gd name="T1" fmla="*/ 187 h 187"/>
                  <a:gd name="T2" fmla="*/ 117 w 934"/>
                  <a:gd name="T3" fmla="*/ 105 h 187"/>
                  <a:gd name="T4" fmla="*/ 234 w 934"/>
                  <a:gd name="T5" fmla="*/ 47 h 187"/>
                  <a:gd name="T6" fmla="*/ 350 w 934"/>
                  <a:gd name="T7" fmla="*/ 12 h 187"/>
                  <a:gd name="T8" fmla="*/ 467 w 934"/>
                  <a:gd name="T9" fmla="*/ 0 h 187"/>
                  <a:gd name="T10" fmla="*/ 584 w 934"/>
                  <a:gd name="T11" fmla="*/ 12 h 187"/>
                  <a:gd name="T12" fmla="*/ 701 w 934"/>
                  <a:gd name="T13" fmla="*/ 47 h 187"/>
                  <a:gd name="T14" fmla="*/ 818 w 934"/>
                  <a:gd name="T15" fmla="*/ 105 h 187"/>
                  <a:gd name="T16" fmla="*/ 934 w 934"/>
                  <a:gd name="T17" fmla="*/ 187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34" h="187">
                    <a:moveTo>
                      <a:pt x="0" y="187"/>
                    </a:moveTo>
                    <a:lnTo>
                      <a:pt x="117" y="105"/>
                    </a:lnTo>
                    <a:lnTo>
                      <a:pt x="234" y="47"/>
                    </a:lnTo>
                    <a:lnTo>
                      <a:pt x="350" y="12"/>
                    </a:lnTo>
                    <a:lnTo>
                      <a:pt x="467" y="0"/>
                    </a:lnTo>
                    <a:lnTo>
                      <a:pt x="584" y="12"/>
                    </a:lnTo>
                    <a:lnTo>
                      <a:pt x="701" y="47"/>
                    </a:lnTo>
                    <a:lnTo>
                      <a:pt x="818" y="105"/>
                    </a:lnTo>
                    <a:lnTo>
                      <a:pt x="934" y="187"/>
                    </a:lnTo>
                  </a:path>
                </a:pathLst>
              </a:custGeom>
              <a:noFill/>
              <a:ln w="31750" cap="rnd">
                <a:solidFill>
                  <a:srgbClr val="306FA2"/>
                </a:solidFill>
                <a:prstDash val="solid"/>
                <a:round/>
                <a:headEnd/>
                <a:tailEnd type="triangle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2" name="Group 11"/>
          <p:cNvGrpSpPr/>
          <p:nvPr/>
        </p:nvGrpSpPr>
        <p:grpSpPr>
          <a:xfrm>
            <a:off x="2171700" y="5597233"/>
            <a:ext cx="4103913" cy="878789"/>
            <a:chOff x="2209800" y="5257800"/>
            <a:chExt cx="4103913" cy="878789"/>
          </a:xfrm>
        </p:grpSpPr>
        <p:sp>
          <p:nvSpPr>
            <p:cNvPr id="16" name="Rectangle 15"/>
            <p:cNvSpPr/>
            <p:nvPr/>
          </p:nvSpPr>
          <p:spPr>
            <a:xfrm>
              <a:off x="3662759" y="5767257"/>
              <a:ext cx="11448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Graphite MM" panose="02000206020000020004" pitchFamily="2" charset="0"/>
                </a:rPr>
                <a:t>:hasParent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Graphite MM" panose="02000206020000020004" pitchFamily="2" charset="0"/>
              </a:endParaRP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2209800" y="5257800"/>
              <a:ext cx="4103913" cy="552993"/>
              <a:chOff x="2209800" y="5257800"/>
              <a:chExt cx="4103913" cy="552993"/>
            </a:xfrm>
          </p:grpSpPr>
          <p:sp>
            <p:nvSpPr>
              <p:cNvPr id="14" name="Oval 13"/>
              <p:cNvSpPr/>
              <p:nvPr/>
            </p:nvSpPr>
            <p:spPr>
              <a:xfrm>
                <a:off x="2209800" y="5257800"/>
                <a:ext cx="1270000" cy="53340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chemeClr val="accent1">
                        <a:lumMod val="50000"/>
                      </a:schemeClr>
                    </a:solidFill>
                    <a:latin typeface="Graphite MM" panose="02000206020000020004" pitchFamily="2" charset="0"/>
                  </a:rPr>
                  <a:t>:_addie</a:t>
                </a:r>
                <a:endParaRPr lang="en-US" dirty="0">
                  <a:solidFill>
                    <a:schemeClr val="accent1">
                      <a:lumMod val="50000"/>
                    </a:schemeClr>
                  </a:solidFill>
                  <a:latin typeface="Graphite MM" panose="02000206020000020004" pitchFamily="2" charset="0"/>
                </a:endParaRPr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4942113" y="5277393"/>
                <a:ext cx="1371600" cy="53340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chemeClr val="accent1">
                        <a:lumMod val="50000"/>
                      </a:schemeClr>
                    </a:solidFill>
                    <a:latin typeface="Graphite MM" panose="02000206020000020004" pitchFamily="2" charset="0"/>
                  </a:rPr>
                  <a:t>:_</a:t>
                </a:r>
                <a:r>
                  <a:rPr lang="en-US" dirty="0" err="1" smtClean="0">
                    <a:solidFill>
                      <a:schemeClr val="accent1">
                        <a:lumMod val="50000"/>
                      </a:schemeClr>
                    </a:solidFill>
                    <a:latin typeface="Graphite MM" panose="02000206020000020004" pitchFamily="2" charset="0"/>
                  </a:rPr>
                  <a:t>dave</a:t>
                </a:r>
                <a:endParaRPr lang="en-US" dirty="0">
                  <a:solidFill>
                    <a:schemeClr val="accent1">
                      <a:lumMod val="50000"/>
                    </a:schemeClr>
                  </a:solidFill>
                  <a:latin typeface="Graphite MM" panose="02000206020000020004" pitchFamily="2" charset="0"/>
                </a:endParaRPr>
              </a:p>
            </p:txBody>
          </p:sp>
          <p:sp>
            <p:nvSpPr>
              <p:cNvPr id="18" name="Freeform 5"/>
              <p:cNvSpPr>
                <a:spLocks/>
              </p:cNvSpPr>
              <p:nvPr/>
            </p:nvSpPr>
            <p:spPr bwMode="auto">
              <a:xfrm rot="10800000">
                <a:off x="3479800" y="5511133"/>
                <a:ext cx="1482725" cy="296863"/>
              </a:xfrm>
              <a:custGeom>
                <a:avLst/>
                <a:gdLst>
                  <a:gd name="T0" fmla="*/ 0 w 934"/>
                  <a:gd name="T1" fmla="*/ 187 h 187"/>
                  <a:gd name="T2" fmla="*/ 117 w 934"/>
                  <a:gd name="T3" fmla="*/ 105 h 187"/>
                  <a:gd name="T4" fmla="*/ 234 w 934"/>
                  <a:gd name="T5" fmla="*/ 47 h 187"/>
                  <a:gd name="T6" fmla="*/ 350 w 934"/>
                  <a:gd name="T7" fmla="*/ 12 h 187"/>
                  <a:gd name="T8" fmla="*/ 467 w 934"/>
                  <a:gd name="T9" fmla="*/ 0 h 187"/>
                  <a:gd name="T10" fmla="*/ 584 w 934"/>
                  <a:gd name="T11" fmla="*/ 12 h 187"/>
                  <a:gd name="T12" fmla="*/ 701 w 934"/>
                  <a:gd name="T13" fmla="*/ 47 h 187"/>
                  <a:gd name="T14" fmla="*/ 818 w 934"/>
                  <a:gd name="T15" fmla="*/ 105 h 187"/>
                  <a:gd name="T16" fmla="*/ 934 w 934"/>
                  <a:gd name="T17" fmla="*/ 187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34" h="187">
                    <a:moveTo>
                      <a:pt x="0" y="187"/>
                    </a:moveTo>
                    <a:lnTo>
                      <a:pt x="117" y="105"/>
                    </a:lnTo>
                    <a:lnTo>
                      <a:pt x="234" y="47"/>
                    </a:lnTo>
                    <a:lnTo>
                      <a:pt x="350" y="12"/>
                    </a:lnTo>
                    <a:lnTo>
                      <a:pt x="467" y="0"/>
                    </a:lnTo>
                    <a:lnTo>
                      <a:pt x="584" y="12"/>
                    </a:lnTo>
                    <a:lnTo>
                      <a:pt x="701" y="47"/>
                    </a:lnTo>
                    <a:lnTo>
                      <a:pt x="818" y="105"/>
                    </a:lnTo>
                    <a:lnTo>
                      <a:pt x="934" y="187"/>
                    </a:lnTo>
                  </a:path>
                </a:pathLst>
              </a:custGeom>
              <a:noFill/>
              <a:ln w="31750" cap="rnd">
                <a:solidFill>
                  <a:srgbClr val="306FA2"/>
                </a:solidFill>
                <a:prstDash val="solid"/>
                <a:round/>
                <a:headEnd/>
                <a:tailEnd type="triangle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26" name="Content Placeholder 2"/>
          <p:cNvSpPr txBox="1">
            <a:spLocks/>
          </p:cNvSpPr>
          <p:nvPr/>
        </p:nvSpPr>
        <p:spPr>
          <a:xfrm>
            <a:off x="1140545" y="4247963"/>
            <a:ext cx="3332309" cy="497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2400" b="1" dirty="0" smtClean="0">
                <a:latin typeface="Graphite Light ATT" panose="03020402050402020203" pitchFamily="66" charset="0"/>
              </a:rPr>
              <a:t>The </a:t>
            </a:r>
            <a:r>
              <a:rPr lang="en-US" sz="2400" b="1" dirty="0">
                <a:latin typeface="Graphite Light ATT" panose="03020402050402020203" pitchFamily="66" charset="0"/>
              </a:rPr>
              <a:t>same as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4374703" y="3820393"/>
            <a:ext cx="4077786" cy="907091"/>
            <a:chOff x="4374703" y="3820393"/>
            <a:chExt cx="4077786" cy="907091"/>
          </a:xfrm>
        </p:grpSpPr>
        <p:grpSp>
          <p:nvGrpSpPr>
            <p:cNvPr id="20" name="Group 19"/>
            <p:cNvGrpSpPr/>
            <p:nvPr/>
          </p:nvGrpSpPr>
          <p:grpSpPr>
            <a:xfrm>
              <a:off x="4374703" y="3820393"/>
              <a:ext cx="4077786" cy="907091"/>
              <a:chOff x="2133600" y="3436309"/>
              <a:chExt cx="4077786" cy="907091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3516891" y="3436309"/>
                <a:ext cx="114486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 smtClean="0">
                    <a:solidFill>
                      <a:schemeClr val="accent1">
                        <a:lumMod val="50000"/>
                      </a:schemeClr>
                    </a:solidFill>
                    <a:latin typeface="Graphite MM" panose="02000206020000020004" pitchFamily="2" charset="0"/>
                  </a:rPr>
                  <a:t>:hasParent</a:t>
                </a:r>
                <a:endParaRPr lang="en-US" dirty="0">
                  <a:solidFill>
                    <a:schemeClr val="accent1">
                      <a:lumMod val="50000"/>
                    </a:schemeClr>
                  </a:solidFill>
                  <a:latin typeface="Graphite MM" panose="02000206020000020004" pitchFamily="2" charset="0"/>
                </a:endParaRPr>
              </a:p>
            </p:txBody>
          </p:sp>
          <p:grpSp>
            <p:nvGrpSpPr>
              <p:cNvPr id="22" name="Group 21"/>
              <p:cNvGrpSpPr/>
              <p:nvPr/>
            </p:nvGrpSpPr>
            <p:grpSpPr>
              <a:xfrm>
                <a:off x="2133600" y="3771176"/>
                <a:ext cx="4077786" cy="572224"/>
                <a:chOff x="2133600" y="3771176"/>
                <a:chExt cx="4077786" cy="572224"/>
              </a:xfrm>
            </p:grpSpPr>
            <p:sp>
              <p:nvSpPr>
                <p:cNvPr id="23" name="Oval 22"/>
                <p:cNvSpPr/>
                <p:nvPr/>
              </p:nvSpPr>
              <p:spPr>
                <a:xfrm>
                  <a:off x="2133600" y="3810000"/>
                  <a:ext cx="1270000" cy="533400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smtClean="0">
                      <a:solidFill>
                        <a:schemeClr val="accent1">
                          <a:lumMod val="50000"/>
                        </a:schemeClr>
                      </a:solidFill>
                      <a:latin typeface="Graphite MM" panose="02000206020000020004" pitchFamily="2" charset="0"/>
                    </a:rPr>
                    <a:t>:_</a:t>
                  </a:r>
                  <a:r>
                    <a:rPr lang="en-US" dirty="0" err="1" smtClean="0">
                      <a:solidFill>
                        <a:schemeClr val="accent1">
                          <a:lumMod val="50000"/>
                        </a:schemeClr>
                      </a:solidFill>
                      <a:latin typeface="Graphite MM" panose="02000206020000020004" pitchFamily="2" charset="0"/>
                    </a:rPr>
                    <a:t>dave</a:t>
                  </a:r>
                  <a:endParaRPr lang="en-US" dirty="0">
                    <a:solidFill>
                      <a:schemeClr val="accent1">
                        <a:lumMod val="50000"/>
                      </a:schemeClr>
                    </a:solidFill>
                    <a:latin typeface="Graphite MM" panose="02000206020000020004" pitchFamily="2" charset="0"/>
                  </a:endParaRPr>
                </a:p>
              </p:txBody>
            </p:sp>
            <p:sp>
              <p:nvSpPr>
                <p:cNvPr id="24" name="Oval 23"/>
                <p:cNvSpPr/>
                <p:nvPr/>
              </p:nvSpPr>
              <p:spPr>
                <a:xfrm>
                  <a:off x="4839786" y="3810000"/>
                  <a:ext cx="1371600" cy="533400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smtClean="0">
                      <a:solidFill>
                        <a:schemeClr val="accent1">
                          <a:lumMod val="50000"/>
                        </a:schemeClr>
                      </a:solidFill>
                      <a:latin typeface="Graphite MM" panose="02000206020000020004" pitchFamily="2" charset="0"/>
                    </a:rPr>
                    <a:t>:_</a:t>
                  </a:r>
                  <a:r>
                    <a:rPr lang="en-US" dirty="0" err="1" smtClean="0">
                      <a:solidFill>
                        <a:schemeClr val="accent1">
                          <a:lumMod val="50000"/>
                        </a:schemeClr>
                      </a:solidFill>
                      <a:latin typeface="Graphite MM" panose="02000206020000020004" pitchFamily="2" charset="0"/>
                    </a:rPr>
                    <a:t>addie</a:t>
                  </a:r>
                  <a:endParaRPr lang="en-US" dirty="0">
                    <a:solidFill>
                      <a:schemeClr val="accent1">
                        <a:lumMod val="50000"/>
                      </a:schemeClr>
                    </a:solidFill>
                    <a:latin typeface="Graphite MM" panose="02000206020000020004" pitchFamily="2" charset="0"/>
                  </a:endParaRPr>
                </a:p>
              </p:txBody>
            </p:sp>
            <p:sp>
              <p:nvSpPr>
                <p:cNvPr id="25" name="Freeform 5"/>
                <p:cNvSpPr>
                  <a:spLocks/>
                </p:cNvSpPr>
                <p:nvPr/>
              </p:nvSpPr>
              <p:spPr bwMode="auto">
                <a:xfrm>
                  <a:off x="3373438" y="3771176"/>
                  <a:ext cx="1482725" cy="296863"/>
                </a:xfrm>
                <a:custGeom>
                  <a:avLst/>
                  <a:gdLst>
                    <a:gd name="T0" fmla="*/ 0 w 934"/>
                    <a:gd name="T1" fmla="*/ 187 h 187"/>
                    <a:gd name="T2" fmla="*/ 117 w 934"/>
                    <a:gd name="T3" fmla="*/ 105 h 187"/>
                    <a:gd name="T4" fmla="*/ 234 w 934"/>
                    <a:gd name="T5" fmla="*/ 47 h 187"/>
                    <a:gd name="T6" fmla="*/ 350 w 934"/>
                    <a:gd name="T7" fmla="*/ 12 h 187"/>
                    <a:gd name="T8" fmla="*/ 467 w 934"/>
                    <a:gd name="T9" fmla="*/ 0 h 187"/>
                    <a:gd name="T10" fmla="*/ 584 w 934"/>
                    <a:gd name="T11" fmla="*/ 12 h 187"/>
                    <a:gd name="T12" fmla="*/ 701 w 934"/>
                    <a:gd name="T13" fmla="*/ 47 h 187"/>
                    <a:gd name="T14" fmla="*/ 818 w 934"/>
                    <a:gd name="T15" fmla="*/ 105 h 187"/>
                    <a:gd name="T16" fmla="*/ 934 w 934"/>
                    <a:gd name="T17" fmla="*/ 187 h 1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34" h="187">
                      <a:moveTo>
                        <a:pt x="0" y="187"/>
                      </a:moveTo>
                      <a:lnTo>
                        <a:pt x="117" y="105"/>
                      </a:lnTo>
                      <a:lnTo>
                        <a:pt x="234" y="47"/>
                      </a:lnTo>
                      <a:lnTo>
                        <a:pt x="350" y="12"/>
                      </a:lnTo>
                      <a:lnTo>
                        <a:pt x="467" y="0"/>
                      </a:lnTo>
                      <a:lnTo>
                        <a:pt x="584" y="12"/>
                      </a:lnTo>
                      <a:lnTo>
                        <a:pt x="701" y="47"/>
                      </a:lnTo>
                      <a:lnTo>
                        <a:pt x="818" y="105"/>
                      </a:lnTo>
                      <a:lnTo>
                        <a:pt x="934" y="187"/>
                      </a:lnTo>
                    </a:path>
                  </a:pathLst>
                </a:custGeom>
                <a:noFill/>
                <a:ln w="31750" cap="rnd">
                  <a:solidFill>
                    <a:srgbClr val="306FA2"/>
                  </a:solidFill>
                  <a:prstDash val="solid"/>
                  <a:round/>
                  <a:headEnd type="triangle"/>
                  <a:tailEnd type="none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sp>
          <p:nvSpPr>
            <p:cNvPr id="13" name="Oval 12"/>
            <p:cNvSpPr/>
            <p:nvPr/>
          </p:nvSpPr>
          <p:spPr>
            <a:xfrm>
              <a:off x="5517136" y="4247963"/>
              <a:ext cx="305598" cy="31115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4084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19" grpId="0"/>
      <p:bldP spid="26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Graphite MM" panose="02000206020000020004" pitchFamily="2" charset="0"/>
              </a:rPr>
              <a:t>Implied relation</a:t>
            </a:r>
            <a:endParaRPr lang="en-US" dirty="0">
              <a:latin typeface="Graphite MM" panose="02000206020000020004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63187"/>
            <a:ext cx="8382000" cy="838200"/>
          </a:xfrm>
        </p:spPr>
        <p:txBody>
          <a:bodyPr>
            <a:noAutofit/>
          </a:bodyPr>
          <a:lstStyle/>
          <a:p>
            <a:r>
              <a:rPr lang="en-US" b="1" dirty="0" smtClean="0">
                <a:latin typeface="Graphite Light ATT" panose="03020402050402020203" pitchFamily="66" charset="0"/>
              </a:rPr>
              <a:t>But there is an implied relationship going the other way:</a:t>
            </a:r>
            <a:endParaRPr lang="en-US" b="1" dirty="0">
              <a:latin typeface="Graphite Light ATT" panose="03020402050402020203" pitchFamily="66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2133600" y="3810000"/>
            <a:ext cx="1270000" cy="5334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Graphite MM" panose="02000206020000020004" pitchFamily="2" charset="0"/>
              </a:rPr>
              <a:t>:_addie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Graphite MM" panose="02000206020000020004" pitchFamily="2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4800600" y="3810000"/>
            <a:ext cx="1371600" cy="5334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Graphite MM" panose="02000206020000020004" pitchFamily="2" charset="0"/>
              </a:rPr>
              <a:t>:_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  <a:latin typeface="Graphite MM" panose="02000206020000020004" pitchFamily="2" charset="0"/>
              </a:rPr>
              <a:t>dave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Graphite MM" panose="02000206020000020004" pitchFamily="2" charset="0"/>
            </a:endParaRPr>
          </a:p>
        </p:txBody>
      </p:sp>
      <p:sp>
        <p:nvSpPr>
          <p:cNvPr id="5" name="Pentagon 4"/>
          <p:cNvSpPr/>
          <p:nvPr/>
        </p:nvSpPr>
        <p:spPr>
          <a:xfrm>
            <a:off x="3420286" y="2514600"/>
            <a:ext cx="1447800" cy="228600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Graphite MM" panose="02000206020000020004" pitchFamily="2" charset="0"/>
              </a:rPr>
              <a:t>:hasParent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Graphite MM" panose="02000206020000020004" pitchFamily="2" charset="0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3267886" y="2743200"/>
            <a:ext cx="1447800" cy="369332"/>
            <a:chOff x="3267886" y="2743200"/>
            <a:chExt cx="1447800" cy="369332"/>
          </a:xfrm>
        </p:grpSpPr>
        <p:sp>
          <p:nvSpPr>
            <p:cNvPr id="17" name="Pentagon 16"/>
            <p:cNvSpPr/>
            <p:nvPr/>
          </p:nvSpPr>
          <p:spPr>
            <a:xfrm rot="10800000">
              <a:off x="3267886" y="2819400"/>
              <a:ext cx="1447800" cy="228600"/>
            </a:xfrm>
            <a:prstGeom prst="homePlat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50000"/>
                  </a:schemeClr>
                </a:solidFill>
                <a:latin typeface="Graphite MM" panose="02000206020000020004" pitchFamily="2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463766" y="2743200"/>
              <a:ext cx="9637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Graphite MM" panose="02000206020000020004" pitchFamily="2" charset="0"/>
                </a:rPr>
                <a:t>:hasChild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Graphite MM" panose="02000206020000020004" pitchFamily="2" charset="0"/>
              </a:endParaRPr>
            </a:p>
          </p:txBody>
        </p:sp>
      </p:grpSp>
      <p:sp>
        <p:nvSpPr>
          <p:cNvPr id="18" name="Rectangle 17"/>
          <p:cNvSpPr/>
          <p:nvPr/>
        </p:nvSpPr>
        <p:spPr>
          <a:xfrm>
            <a:off x="3458111" y="3429000"/>
            <a:ext cx="11448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Graphite MM" panose="02000206020000020004" pitchFamily="2" charset="0"/>
              </a:rPr>
              <a:t>:hasParent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Graphite MM" panose="02000206020000020004" pitchFamily="2" charset="0"/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457200" y="5334000"/>
            <a:ext cx="8382000" cy="838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171450" marR="0" lvl="0" indent="-171450" defTabSz="685800" fontAlgn="auto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gency FB" panose="020B0503020202020204" pitchFamily="34" charset="0"/>
              <a:buChar char="•"/>
              <a:tabLst/>
              <a:defRPr/>
            </a:pPr>
            <a:r>
              <a:rPr lang="en-US" sz="2800" b="1" dirty="0">
                <a:latin typeface="Graphite Light ATT" panose="03020402050402020203" pitchFamily="66" charset="0"/>
              </a:rPr>
              <a:t>It is called the </a:t>
            </a:r>
            <a:r>
              <a:rPr lang="en-US" sz="2800" b="1" u="sng" dirty="0">
                <a:latin typeface="Graphite Light ATT" panose="03020402050402020203" pitchFamily="66" charset="0"/>
              </a:rPr>
              <a:t>inverse</a:t>
            </a:r>
            <a:r>
              <a:rPr lang="en-US" sz="2800" b="1" dirty="0">
                <a:latin typeface="Graphite Light ATT" panose="03020402050402020203" pitchFamily="66" charset="0"/>
              </a:rPr>
              <a:t>, and it’s ours for the naming.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69</a:t>
            </a:fld>
            <a:endParaRPr lang="en-US" dirty="0"/>
          </a:p>
        </p:txBody>
      </p:sp>
      <p:sp>
        <p:nvSpPr>
          <p:cNvPr id="14" name="Freeform 5"/>
          <p:cNvSpPr>
            <a:spLocks/>
          </p:cNvSpPr>
          <p:nvPr/>
        </p:nvSpPr>
        <p:spPr bwMode="auto">
          <a:xfrm>
            <a:off x="3373438" y="3797300"/>
            <a:ext cx="1482725" cy="296863"/>
          </a:xfrm>
          <a:custGeom>
            <a:avLst/>
            <a:gdLst>
              <a:gd name="T0" fmla="*/ 0 w 934"/>
              <a:gd name="T1" fmla="*/ 187 h 187"/>
              <a:gd name="T2" fmla="*/ 117 w 934"/>
              <a:gd name="T3" fmla="*/ 105 h 187"/>
              <a:gd name="T4" fmla="*/ 234 w 934"/>
              <a:gd name="T5" fmla="*/ 47 h 187"/>
              <a:gd name="T6" fmla="*/ 350 w 934"/>
              <a:gd name="T7" fmla="*/ 12 h 187"/>
              <a:gd name="T8" fmla="*/ 467 w 934"/>
              <a:gd name="T9" fmla="*/ 0 h 187"/>
              <a:gd name="T10" fmla="*/ 584 w 934"/>
              <a:gd name="T11" fmla="*/ 12 h 187"/>
              <a:gd name="T12" fmla="*/ 701 w 934"/>
              <a:gd name="T13" fmla="*/ 47 h 187"/>
              <a:gd name="T14" fmla="*/ 818 w 934"/>
              <a:gd name="T15" fmla="*/ 105 h 187"/>
              <a:gd name="T16" fmla="*/ 934 w 934"/>
              <a:gd name="T17" fmla="*/ 187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34" h="187">
                <a:moveTo>
                  <a:pt x="0" y="187"/>
                </a:moveTo>
                <a:lnTo>
                  <a:pt x="117" y="105"/>
                </a:lnTo>
                <a:lnTo>
                  <a:pt x="234" y="47"/>
                </a:lnTo>
                <a:lnTo>
                  <a:pt x="350" y="12"/>
                </a:lnTo>
                <a:lnTo>
                  <a:pt x="467" y="0"/>
                </a:lnTo>
                <a:lnTo>
                  <a:pt x="584" y="12"/>
                </a:lnTo>
                <a:lnTo>
                  <a:pt x="701" y="47"/>
                </a:lnTo>
                <a:lnTo>
                  <a:pt x="818" y="105"/>
                </a:lnTo>
                <a:lnTo>
                  <a:pt x="934" y="187"/>
                </a:lnTo>
              </a:path>
            </a:pathLst>
          </a:custGeom>
          <a:noFill/>
          <a:ln w="31750" cap="rnd">
            <a:solidFill>
              <a:srgbClr val="7395BF"/>
            </a:solidFill>
            <a:prstDash val="solid"/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5" name="Group 24"/>
          <p:cNvGrpSpPr/>
          <p:nvPr/>
        </p:nvGrpSpPr>
        <p:grpSpPr>
          <a:xfrm>
            <a:off x="3373438" y="4178300"/>
            <a:ext cx="1482725" cy="698500"/>
            <a:chOff x="3373438" y="4178300"/>
            <a:chExt cx="1482725" cy="698500"/>
          </a:xfrm>
        </p:grpSpPr>
        <p:sp>
          <p:nvSpPr>
            <p:cNvPr id="13" name="Rectangle 12"/>
            <p:cNvSpPr/>
            <p:nvPr/>
          </p:nvSpPr>
          <p:spPr>
            <a:xfrm>
              <a:off x="3616314" y="4507468"/>
              <a:ext cx="9637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Graphite MM" panose="02000206020000020004" pitchFamily="2" charset="0"/>
                </a:rPr>
                <a:t>:hasChild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Graphite MM" panose="02000206020000020004" pitchFamily="2" charset="0"/>
              </a:endParaRPr>
            </a:p>
          </p:txBody>
        </p:sp>
        <p:sp>
          <p:nvSpPr>
            <p:cNvPr id="22" name="Freeform 10"/>
            <p:cNvSpPr>
              <a:spLocks/>
            </p:cNvSpPr>
            <p:nvPr/>
          </p:nvSpPr>
          <p:spPr bwMode="auto">
            <a:xfrm rot="10800000">
              <a:off x="3373438" y="4178300"/>
              <a:ext cx="1482725" cy="296863"/>
            </a:xfrm>
            <a:custGeom>
              <a:avLst/>
              <a:gdLst>
                <a:gd name="T0" fmla="*/ 0 w 934"/>
                <a:gd name="T1" fmla="*/ 187 h 187"/>
                <a:gd name="T2" fmla="*/ 117 w 934"/>
                <a:gd name="T3" fmla="*/ 105 h 187"/>
                <a:gd name="T4" fmla="*/ 234 w 934"/>
                <a:gd name="T5" fmla="*/ 47 h 187"/>
                <a:gd name="T6" fmla="*/ 350 w 934"/>
                <a:gd name="T7" fmla="*/ 12 h 187"/>
                <a:gd name="T8" fmla="*/ 467 w 934"/>
                <a:gd name="T9" fmla="*/ 0 h 187"/>
                <a:gd name="T10" fmla="*/ 584 w 934"/>
                <a:gd name="T11" fmla="*/ 12 h 187"/>
                <a:gd name="T12" fmla="*/ 701 w 934"/>
                <a:gd name="T13" fmla="*/ 47 h 187"/>
                <a:gd name="T14" fmla="*/ 818 w 934"/>
                <a:gd name="T15" fmla="*/ 105 h 187"/>
                <a:gd name="T16" fmla="*/ 934 w 934"/>
                <a:gd name="T17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4" h="187">
                  <a:moveTo>
                    <a:pt x="0" y="187"/>
                  </a:moveTo>
                  <a:lnTo>
                    <a:pt x="117" y="105"/>
                  </a:lnTo>
                  <a:lnTo>
                    <a:pt x="234" y="47"/>
                  </a:lnTo>
                  <a:lnTo>
                    <a:pt x="350" y="12"/>
                  </a:lnTo>
                  <a:lnTo>
                    <a:pt x="467" y="0"/>
                  </a:lnTo>
                  <a:lnTo>
                    <a:pt x="584" y="12"/>
                  </a:lnTo>
                  <a:lnTo>
                    <a:pt x="701" y="47"/>
                  </a:lnTo>
                  <a:lnTo>
                    <a:pt x="818" y="105"/>
                  </a:lnTo>
                  <a:lnTo>
                    <a:pt x="934" y="187"/>
                  </a:lnTo>
                </a:path>
              </a:pathLst>
            </a:custGeom>
            <a:noFill/>
            <a:ln w="31750" cap="rnd">
              <a:solidFill>
                <a:srgbClr val="7395BF"/>
              </a:solidFill>
              <a:prstDash val="solid"/>
              <a:round/>
              <a:headEnd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57430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  <p:bldP spid="8" grpId="0" animBg="1"/>
      <p:bldP spid="5" grpId="0" animBg="1"/>
      <p:bldP spid="18" grpId="0"/>
      <p:bldP spid="19" grpId="0"/>
      <p:bldP spid="1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We’re going to create an Inverse Property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>
          <a:xfrm>
            <a:off x="6854174" y="4318598"/>
            <a:ext cx="1902842" cy="7106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 smtClean="0">
                <a:latin typeface="Graphite Light ATT" panose="03020402050402020203" pitchFamily="66" charset="0"/>
              </a:rPr>
              <a:t>Select </a:t>
            </a:r>
            <a:r>
              <a:rPr lang="en-US" sz="2000" b="1" dirty="0" err="1" smtClean="0">
                <a:latin typeface="Graphite Light ATT" panose="03020402050402020203" pitchFamily="66" charset="0"/>
              </a:rPr>
              <a:t>dbbo:belongsTo</a:t>
            </a:r>
            <a:endParaRPr lang="en-US" sz="2000" b="1" dirty="0" smtClean="0">
              <a:latin typeface="Graphite Light ATT" panose="03020402050402020203" pitchFamily="66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70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81" y="1804795"/>
            <a:ext cx="5645085" cy="3765216"/>
          </a:xfrm>
          <a:prstGeom prst="rect">
            <a:avLst/>
          </a:prstGeom>
        </p:spPr>
      </p:pic>
      <p:sp>
        <p:nvSpPr>
          <p:cNvPr id="8" name="Down Arrow 7"/>
          <p:cNvSpPr/>
          <p:nvPr/>
        </p:nvSpPr>
        <p:spPr>
          <a:xfrm>
            <a:off x="2139046" y="2080124"/>
            <a:ext cx="609600" cy="53340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own Arrow 8"/>
          <p:cNvSpPr/>
          <p:nvPr/>
        </p:nvSpPr>
        <p:spPr>
          <a:xfrm rot="5400000">
            <a:off x="3512827" y="3862250"/>
            <a:ext cx="609600" cy="53340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own Arrow 9"/>
          <p:cNvSpPr/>
          <p:nvPr/>
        </p:nvSpPr>
        <p:spPr>
          <a:xfrm rot="10800000">
            <a:off x="471356" y="3900350"/>
            <a:ext cx="609600" cy="53340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5995851" y="1676400"/>
            <a:ext cx="3021148" cy="7806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te Light ATT" panose="03020402050402020203" pitchFamily="66" charset="0"/>
              </a:rPr>
              <a:t>Click on the Object Properties </a:t>
            </a:r>
            <a:r>
              <a:rPr kumimoji="0" lang="en-US" sz="2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te Light ATT" panose="03020402050402020203" pitchFamily="66" charset="0"/>
              </a:rPr>
              <a:t> tab.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te Light ATT" panose="03020402050402020203" pitchFamily="66" charset="0"/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995851" y="2558691"/>
            <a:ext cx="2133600" cy="3410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sz="2000" b="1" dirty="0">
                <a:latin typeface="Graphite Light ATT" panose="03020402050402020203" pitchFamily="66" charset="0"/>
              </a:rPr>
              <a:t>Select </a:t>
            </a:r>
            <a:r>
              <a:rPr lang="en-US" sz="2000" b="1" dirty="0" smtClean="0">
                <a:latin typeface="Graphite Light ATT" panose="03020402050402020203" pitchFamily="66" charset="0"/>
              </a:rPr>
              <a:t>dbbo:owns</a:t>
            </a:r>
            <a:endParaRPr lang="en-US" sz="2000" b="1" dirty="0">
              <a:latin typeface="Graphite Light ATT" panose="03020402050402020203" pitchFamily="66" charset="0"/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995851" y="3083919"/>
            <a:ext cx="3069051" cy="5867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sz="2000" b="1" dirty="0" smtClean="0">
                <a:latin typeface="Graphite Light ATT" panose="03020402050402020203" pitchFamily="66" charset="0"/>
              </a:rPr>
              <a:t>Click on the plus sign </a:t>
            </a:r>
            <a:r>
              <a:rPr lang="en-US" sz="2000" b="1" smtClean="0">
                <a:latin typeface="Graphite Light ATT" panose="03020402050402020203" pitchFamily="66" charset="0"/>
              </a:rPr>
              <a:t>beside “Inverse Of”</a:t>
            </a:r>
            <a:endParaRPr lang="en-US" sz="2000" b="1" dirty="0">
              <a:latin typeface="Graphite Light ATT" panose="03020402050402020203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9504" y="3718967"/>
            <a:ext cx="2411741" cy="2776479"/>
          </a:xfrm>
          <a:prstGeom prst="rect">
            <a:avLst/>
          </a:prstGeom>
        </p:spPr>
      </p:pic>
      <p:sp>
        <p:nvSpPr>
          <p:cNvPr id="19" name="Content Placeholder 2"/>
          <p:cNvSpPr txBox="1">
            <a:spLocks/>
          </p:cNvSpPr>
          <p:nvPr/>
        </p:nvSpPr>
        <p:spPr>
          <a:xfrm>
            <a:off x="6854174" y="6056437"/>
            <a:ext cx="1264395" cy="3410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sz="2000" b="1" dirty="0" smtClean="0">
                <a:latin typeface="Graphite Light ATT" panose="03020402050402020203" pitchFamily="66" charset="0"/>
              </a:rPr>
              <a:t>Click OK</a:t>
            </a:r>
            <a:endParaRPr lang="en-US" sz="2000" b="1" dirty="0">
              <a:latin typeface="Graphite Light ATT" panose="03020402050402020203" pitchFamily="66" charset="0"/>
            </a:endParaRPr>
          </a:p>
        </p:txBody>
      </p:sp>
      <p:sp>
        <p:nvSpPr>
          <p:cNvPr id="21" name="Down Arrow 20"/>
          <p:cNvSpPr/>
          <p:nvPr/>
        </p:nvSpPr>
        <p:spPr>
          <a:xfrm rot="5400000">
            <a:off x="5685609" y="4409329"/>
            <a:ext cx="609600" cy="53340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043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  <p:bldP spid="8" grpId="0" animBg="1"/>
      <p:bldP spid="9" grpId="0" animBg="1"/>
      <p:bldP spid="10" grpId="0" animBg="1"/>
      <p:bldP spid="15" grpId="0"/>
      <p:bldP spid="16" grpId="0"/>
      <p:bldP spid="17" grpId="0"/>
      <p:bldP spid="19" grpId="0"/>
      <p:bldP spid="21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we’re doing</a:t>
            </a:r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32183" y="1408176"/>
            <a:ext cx="8443913" cy="967379"/>
          </a:xfrm>
          <a:prstGeom prst="rect">
            <a:avLst/>
          </a:prstGeom>
        </p:spPr>
        <p:txBody>
          <a:bodyPr/>
          <a:lstStyle/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gency FB" panose="020B0503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te Light ATT" panose="03020402050402020203" pitchFamily="66" charset="0"/>
              </a:rPr>
              <a:t>In a traditional relational</a:t>
            </a:r>
            <a:r>
              <a:rPr kumimoji="0" lang="en-US" sz="28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te Light ATT" panose="03020402050402020203" pitchFamily="66" charset="0"/>
              </a:rPr>
              <a:t> system, you may be used to the idea that all properties are bi-directional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te Light ATT" panose="03020402050402020203" pitchFamily="66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365876" y="3111631"/>
            <a:ext cx="1979629" cy="12160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Organization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5760338" y="3111631"/>
            <a:ext cx="1979629" cy="12160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Vehicle</a:t>
            </a:r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3345505" y="3714553"/>
            <a:ext cx="2414833" cy="10212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750858" y="3384222"/>
            <a:ext cx="1771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owns/ </a:t>
            </a:r>
            <a:r>
              <a:rPr lang="en-US" dirty="0" err="1" smtClean="0"/>
              <a:t>belongsTo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71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we’re doing</a:t>
            </a:r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32183" y="1408176"/>
            <a:ext cx="8443913" cy="967379"/>
          </a:xfrm>
          <a:prstGeom prst="rect">
            <a:avLst/>
          </a:prstGeom>
        </p:spPr>
        <p:txBody>
          <a:bodyPr/>
          <a:lstStyle/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gency FB" panose="020B0503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te Light ATT" panose="03020402050402020203" pitchFamily="66" charset="0"/>
              </a:rPr>
              <a:t>In semantic tech, predicates are directional.  </a:t>
            </a: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gency FB" panose="020B0503020202020204" pitchFamily="34" charset="0"/>
              <a:buChar char="•"/>
              <a:defRPr/>
            </a:pPr>
            <a:r>
              <a:rPr lang="en-US" sz="2400" b="1" dirty="0">
                <a:latin typeface="Graphite Light ATT" panose="03020402050402020203" pitchFamily="66" charset="0"/>
              </a:rPr>
              <a:t>We can make them bi-directional when we want to….</a:t>
            </a: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gency FB" panose="020B0503020202020204" pitchFamily="34" charset="0"/>
              <a:buChar char="•"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te Light ATT" panose="03020402050402020203" pitchFamily="66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582659" y="2668509"/>
            <a:ext cx="6523535" cy="762000"/>
            <a:chOff x="582659" y="2481473"/>
            <a:chExt cx="6523535" cy="762000"/>
          </a:xfrm>
        </p:grpSpPr>
        <p:sp>
          <p:nvSpPr>
            <p:cNvPr id="8" name="Oval 7"/>
            <p:cNvSpPr/>
            <p:nvPr/>
          </p:nvSpPr>
          <p:spPr>
            <a:xfrm>
              <a:off x="582659" y="2557673"/>
              <a:ext cx="1975765" cy="6858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dbbo</a:t>
              </a:r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:_vela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  <p:cxnSp>
          <p:nvCxnSpPr>
            <p:cNvPr id="9" name="Straight Arrow Connector 8"/>
            <p:cNvCxnSpPr>
              <a:stCxn id="8" idx="6"/>
              <a:endCxn id="10" idx="2"/>
            </p:cNvCxnSpPr>
            <p:nvPr/>
          </p:nvCxnSpPr>
          <p:spPr>
            <a:xfrm>
              <a:off x="2558424" y="2900573"/>
              <a:ext cx="1828800" cy="0"/>
            </a:xfrm>
            <a:prstGeom prst="straightConnector1">
              <a:avLst/>
            </a:prstGeom>
            <a:ln w="317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4387224" y="2557673"/>
              <a:ext cx="2718970" cy="6858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dbbo</a:t>
              </a:r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:_</a:t>
              </a:r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SiriusStar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863224" y="2481473"/>
              <a:ext cx="11735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dbbo:owns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</p:grpSp>
      <p:sp>
        <p:nvSpPr>
          <p:cNvPr id="13" name="Slide Number Placeholder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72</a:t>
            </a:fld>
            <a:endParaRPr lang="en-US" dirty="0"/>
          </a:p>
        </p:txBody>
      </p:sp>
      <p:sp>
        <p:nvSpPr>
          <p:cNvPr id="19" name="Pentagon 18"/>
          <p:cNvSpPr/>
          <p:nvPr/>
        </p:nvSpPr>
        <p:spPr>
          <a:xfrm>
            <a:off x="615324" y="3658793"/>
            <a:ext cx="1447800" cy="228600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Graphite MM" panose="02000206020000020004" pitchFamily="2" charset="0"/>
              </a:rPr>
              <a:t>:owns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Graphite MM" panose="02000206020000020004" pitchFamily="2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462924" y="3887393"/>
            <a:ext cx="1447800" cy="369332"/>
            <a:chOff x="3267886" y="2743200"/>
            <a:chExt cx="1447800" cy="369332"/>
          </a:xfrm>
        </p:grpSpPr>
        <p:sp>
          <p:nvSpPr>
            <p:cNvPr id="21" name="Pentagon 20"/>
            <p:cNvSpPr/>
            <p:nvPr/>
          </p:nvSpPr>
          <p:spPr>
            <a:xfrm rot="10800000">
              <a:off x="3267886" y="2819400"/>
              <a:ext cx="1447800" cy="228600"/>
            </a:xfrm>
            <a:prstGeom prst="homePlat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50000"/>
                  </a:schemeClr>
                </a:solidFill>
                <a:latin typeface="Graphite MM" panose="02000206020000020004" pitchFamily="2" charset="0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387621" y="2743200"/>
              <a:ext cx="111601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Graphite MM" panose="02000206020000020004" pitchFamily="2" charset="0"/>
                </a:rPr>
                <a:t>:</a:t>
              </a:r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Graphite MM" panose="02000206020000020004" pitchFamily="2" charset="0"/>
                </a:rPr>
                <a:t>belongsTo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Graphite MM" panose="02000206020000020004" pitchFamily="2" charset="0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2024744" y="3970438"/>
            <a:ext cx="6609804" cy="762000"/>
            <a:chOff x="1215941" y="2257276"/>
            <a:chExt cx="6609804" cy="762000"/>
          </a:xfrm>
        </p:grpSpPr>
        <p:sp>
          <p:nvSpPr>
            <p:cNvPr id="24" name="Oval 23"/>
            <p:cNvSpPr/>
            <p:nvPr/>
          </p:nvSpPr>
          <p:spPr>
            <a:xfrm>
              <a:off x="1215941" y="2333476"/>
              <a:ext cx="2011954" cy="6858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dbbo</a:t>
              </a:r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:_vela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  <p:cxnSp>
          <p:nvCxnSpPr>
            <p:cNvPr id="25" name="Straight Arrow Connector 24"/>
            <p:cNvCxnSpPr>
              <a:stCxn id="24" idx="6"/>
              <a:endCxn id="26" idx="2"/>
            </p:cNvCxnSpPr>
            <p:nvPr/>
          </p:nvCxnSpPr>
          <p:spPr>
            <a:xfrm>
              <a:off x="3227895" y="2676376"/>
              <a:ext cx="1828799" cy="0"/>
            </a:xfrm>
            <a:prstGeom prst="straightConnector1">
              <a:avLst/>
            </a:prstGeom>
            <a:ln w="31750"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/>
            <p:cNvSpPr/>
            <p:nvPr/>
          </p:nvSpPr>
          <p:spPr>
            <a:xfrm>
              <a:off x="5056694" y="2333476"/>
              <a:ext cx="2769051" cy="6858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dbbo</a:t>
              </a:r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:_</a:t>
              </a:r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SiriusStar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212769" y="2257276"/>
              <a:ext cx="18133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dbbo:belongsTo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Running the Reasoner in Protégé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73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74110" y="2986501"/>
            <a:ext cx="4367220" cy="44107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43581" y="1327301"/>
            <a:ext cx="3162323" cy="210027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2" y="5585303"/>
            <a:ext cx="8510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latin typeface="Graphite Light ATT" panose="03020402050402020203" pitchFamily="66" charset="0"/>
              </a:rPr>
              <a:t>Protégé displays inferred assertions in dashed, highlighted boxes</a:t>
            </a:r>
            <a:endParaRPr lang="en-US" sz="2400" b="1" dirty="0">
              <a:latin typeface="Graphite Light ATT" panose="03020402050402020203" pitchFamily="66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65762" y="4242119"/>
            <a:ext cx="8415434" cy="115937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98893" y="1546443"/>
            <a:ext cx="32877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Graphite Light ATT" panose="03020402050402020203" pitchFamily="66" charset="0"/>
              </a:rPr>
              <a:t>You can also do CTL-R to start the Reasoner</a:t>
            </a:r>
            <a:endParaRPr lang="en-US" sz="2400" b="1" dirty="0">
              <a:latin typeface="Graphite Light ATT" panose="03020402050402020203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Discarding inferences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74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8201" y="2054881"/>
            <a:ext cx="3808742" cy="1795736"/>
          </a:xfrm>
        </p:spPr>
        <p:txBody>
          <a:bodyPr/>
          <a:lstStyle/>
          <a:p>
            <a:r>
              <a:rPr lang="en-US" b="1" dirty="0" smtClean="0">
                <a:latin typeface="Graphite Light ATT" panose="03020402050402020203" pitchFamily="66" charset="0"/>
              </a:rPr>
              <a:t>Stopping the Reasoner will erase the inferences from memory</a:t>
            </a:r>
            <a:endParaRPr lang="en-US" b="1" dirty="0">
              <a:latin typeface="Graphite Light ATT" panose="03020402050402020203" pitchFamily="66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26446" y="1576389"/>
            <a:ext cx="3114479" cy="30008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information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75</a:t>
            </a:fld>
            <a:endParaRPr lang="en-US" dirty="0"/>
          </a:p>
        </p:txBody>
      </p:sp>
      <p:grpSp>
        <p:nvGrpSpPr>
          <p:cNvPr id="22" name="Group 21"/>
          <p:cNvGrpSpPr/>
          <p:nvPr/>
        </p:nvGrpSpPr>
        <p:grpSpPr>
          <a:xfrm>
            <a:off x="1165412" y="2446417"/>
            <a:ext cx="6635897" cy="762000"/>
            <a:chOff x="1162594" y="2446417"/>
            <a:chExt cx="6635897" cy="762000"/>
          </a:xfrm>
        </p:grpSpPr>
        <p:sp>
          <p:nvSpPr>
            <p:cNvPr id="5" name="Oval 4"/>
            <p:cNvSpPr/>
            <p:nvPr/>
          </p:nvSpPr>
          <p:spPr>
            <a:xfrm>
              <a:off x="1162594" y="2522617"/>
              <a:ext cx="2046447" cy="6858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dbbo</a:t>
              </a:r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:_vela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  <p:cxnSp>
          <p:nvCxnSpPr>
            <p:cNvPr id="6" name="Straight Arrow Connector 5"/>
            <p:cNvCxnSpPr>
              <a:stCxn id="5" idx="6"/>
              <a:endCxn id="7" idx="2"/>
            </p:cNvCxnSpPr>
            <p:nvPr/>
          </p:nvCxnSpPr>
          <p:spPr>
            <a:xfrm>
              <a:off x="3209041" y="2865517"/>
              <a:ext cx="1828799" cy="0"/>
            </a:xfrm>
            <a:prstGeom prst="straightConnector1">
              <a:avLst/>
            </a:prstGeom>
            <a:ln w="317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5037840" y="2522617"/>
              <a:ext cx="2760651" cy="6858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dbbo</a:t>
              </a:r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:_</a:t>
              </a:r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SiriusStar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3513841" y="2446417"/>
              <a:ext cx="11735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dbbo:owns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</p:grpSp>
      <p:sp>
        <p:nvSpPr>
          <p:cNvPr id="9" name="Content Placeholder 2"/>
          <p:cNvSpPr txBox="1">
            <a:spLocks/>
          </p:cNvSpPr>
          <p:nvPr/>
        </p:nvSpPr>
        <p:spPr>
          <a:xfrm>
            <a:off x="362034" y="4665766"/>
            <a:ext cx="8443913" cy="561176"/>
          </a:xfrm>
          <a:prstGeom prst="rect">
            <a:avLst/>
          </a:prstGeom>
        </p:spPr>
        <p:txBody>
          <a:bodyPr/>
          <a:lstStyle/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gency FB" panose="020B0503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te Light ATT" panose="03020402050402020203" pitchFamily="66" charset="0"/>
              </a:rPr>
              <a:t>More succinctly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te Light ATT" panose="03020402050402020203" pitchFamily="66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1160962" y="3635765"/>
            <a:ext cx="6644797" cy="762000"/>
            <a:chOff x="389551" y="3635765"/>
            <a:chExt cx="6644797" cy="762000"/>
          </a:xfrm>
        </p:grpSpPr>
        <p:sp>
          <p:nvSpPr>
            <p:cNvPr id="10" name="Oval 9"/>
            <p:cNvSpPr/>
            <p:nvPr/>
          </p:nvSpPr>
          <p:spPr>
            <a:xfrm>
              <a:off x="389551" y="3711965"/>
              <a:ext cx="2792781" cy="6858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dbbo</a:t>
              </a:r>
              <a:r>
                <a:rPr lang="en-US" dirty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 :_</a:t>
              </a:r>
              <a:r>
                <a:rPr lang="en-US" dirty="0" err="1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SiriusStar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  <p:cxnSp>
          <p:nvCxnSpPr>
            <p:cNvPr id="11" name="Straight Arrow Connector 10"/>
            <p:cNvCxnSpPr>
              <a:stCxn id="10" idx="6"/>
              <a:endCxn id="12" idx="2"/>
            </p:cNvCxnSpPr>
            <p:nvPr/>
          </p:nvCxnSpPr>
          <p:spPr>
            <a:xfrm>
              <a:off x="3182332" y="4054865"/>
              <a:ext cx="1828799" cy="0"/>
            </a:xfrm>
            <a:prstGeom prst="straightConnector1">
              <a:avLst/>
            </a:prstGeom>
            <a:ln w="31750"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5011131" y="3711965"/>
              <a:ext cx="2023217" cy="6858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dbbo</a:t>
              </a:r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:_vela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265086" y="3635765"/>
              <a:ext cx="161762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dbbo:belongsTo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</p:grpSp>
      <p:sp>
        <p:nvSpPr>
          <p:cNvPr id="19" name="Content Placeholder 2"/>
          <p:cNvSpPr txBox="1">
            <a:spLocks/>
          </p:cNvSpPr>
          <p:nvPr/>
        </p:nvSpPr>
        <p:spPr>
          <a:xfrm>
            <a:off x="332182" y="1670897"/>
            <a:ext cx="8443913" cy="561176"/>
          </a:xfrm>
          <a:prstGeom prst="rect">
            <a:avLst/>
          </a:prstGeom>
        </p:spPr>
        <p:txBody>
          <a:bodyPr/>
          <a:lstStyle/>
          <a:p>
            <a:pPr marL="171450" lvl="0" indent="-171450" defTabSz="685800">
              <a:lnSpc>
                <a:spcPct val="90000"/>
              </a:lnSpc>
              <a:spcBef>
                <a:spcPts val="750"/>
              </a:spcBef>
              <a:buFont typeface="Agency FB" panose="020B0503020202020204" pitchFamily="34" charset="0"/>
              <a:buChar char="•"/>
              <a:defRPr/>
            </a:pPr>
            <a:r>
              <a:rPr lang="en-US" sz="2400" b="1" dirty="0">
                <a:latin typeface="Graphite Light ATT" panose="03020402050402020203" pitchFamily="66" charset="0"/>
              </a:rPr>
              <a:t>We’ve created, through </a:t>
            </a:r>
            <a:r>
              <a:rPr lang="en-US" sz="2400" b="1" dirty="0" smtClean="0">
                <a:latin typeface="Graphite Light ATT" panose="03020402050402020203" pitchFamily="66" charset="0"/>
              </a:rPr>
              <a:t>inference, </a:t>
            </a:r>
            <a:r>
              <a:rPr lang="en-US" sz="2400" b="1" dirty="0">
                <a:latin typeface="Graphite Light ATT" panose="03020402050402020203" pitchFamily="66" charset="0"/>
              </a:rPr>
              <a:t>another triple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te Light ATT" panose="03020402050402020203" pitchFamily="66" charset="0"/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1160699" y="5068896"/>
            <a:ext cx="6645323" cy="1285604"/>
            <a:chOff x="1198921" y="5199521"/>
            <a:chExt cx="6645323" cy="1285604"/>
          </a:xfrm>
        </p:grpSpPr>
        <p:grpSp>
          <p:nvGrpSpPr>
            <p:cNvPr id="20" name="Group 19"/>
            <p:cNvGrpSpPr/>
            <p:nvPr/>
          </p:nvGrpSpPr>
          <p:grpSpPr>
            <a:xfrm>
              <a:off x="1198921" y="5199521"/>
              <a:ext cx="6645323" cy="762000"/>
              <a:chOff x="1162594" y="5519556"/>
              <a:chExt cx="6645323" cy="762000"/>
            </a:xfrm>
          </p:grpSpPr>
          <p:sp>
            <p:nvSpPr>
              <p:cNvPr id="14" name="Oval 13"/>
              <p:cNvSpPr/>
              <p:nvPr/>
            </p:nvSpPr>
            <p:spPr>
              <a:xfrm>
                <a:off x="1162594" y="5595756"/>
                <a:ext cx="2065301" cy="68580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 smtClean="0">
                    <a:solidFill>
                      <a:schemeClr val="accent1">
                        <a:lumMod val="50000"/>
                      </a:schemeClr>
                    </a:solidFill>
                    <a:latin typeface="Tekton Pro" pitchFamily="34" charset="0"/>
                  </a:rPr>
                  <a:t>dbbo</a:t>
                </a:r>
                <a:r>
                  <a:rPr lang="en-US" dirty="0" smtClean="0">
                    <a:solidFill>
                      <a:schemeClr val="accent1">
                        <a:lumMod val="50000"/>
                      </a:schemeClr>
                    </a:solidFill>
                    <a:latin typeface="Tekton Pro" pitchFamily="34" charset="0"/>
                  </a:rPr>
                  <a:t>:_vela</a:t>
                </a:r>
                <a:endParaRPr lang="en-US" dirty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endParaRPr>
              </a:p>
            </p:txBody>
          </p:sp>
          <p:cxnSp>
            <p:nvCxnSpPr>
              <p:cNvPr id="15" name="Straight Arrow Connector 14"/>
              <p:cNvCxnSpPr>
                <a:stCxn id="14" idx="6"/>
                <a:endCxn id="16" idx="2"/>
              </p:cNvCxnSpPr>
              <p:nvPr/>
            </p:nvCxnSpPr>
            <p:spPr>
              <a:xfrm>
                <a:off x="3227895" y="5938656"/>
                <a:ext cx="1828799" cy="0"/>
              </a:xfrm>
              <a:prstGeom prst="straightConnector1">
                <a:avLst/>
              </a:prstGeom>
              <a:ln w="3175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Oval 15"/>
              <p:cNvSpPr/>
              <p:nvPr/>
            </p:nvSpPr>
            <p:spPr>
              <a:xfrm>
                <a:off x="5056694" y="5595756"/>
                <a:ext cx="2751223" cy="68580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 smtClean="0">
                    <a:solidFill>
                      <a:schemeClr val="accent1">
                        <a:lumMod val="50000"/>
                      </a:schemeClr>
                    </a:solidFill>
                    <a:latin typeface="Tekton Pro" pitchFamily="34" charset="0"/>
                  </a:rPr>
                  <a:t>dbbo</a:t>
                </a:r>
                <a:r>
                  <a:rPr lang="en-US" dirty="0" smtClean="0">
                    <a:solidFill>
                      <a:schemeClr val="accent1">
                        <a:lumMod val="50000"/>
                      </a:schemeClr>
                    </a:solidFill>
                    <a:latin typeface="Tekton Pro" pitchFamily="34" charset="0"/>
                  </a:rPr>
                  <a:t>:_</a:t>
                </a:r>
                <a:r>
                  <a:rPr lang="en-US" dirty="0" err="1" smtClean="0">
                    <a:solidFill>
                      <a:schemeClr val="accent1">
                        <a:lumMod val="50000"/>
                      </a:schemeClr>
                    </a:solidFill>
                    <a:latin typeface="Tekton Pro" pitchFamily="34" charset="0"/>
                  </a:rPr>
                  <a:t>SiriusStar</a:t>
                </a:r>
                <a:endParaRPr lang="en-US" dirty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endParaRPr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3532695" y="5519556"/>
                <a:ext cx="11735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 smtClean="0">
                    <a:solidFill>
                      <a:schemeClr val="accent1">
                        <a:lumMod val="50000"/>
                      </a:schemeClr>
                    </a:solidFill>
                    <a:latin typeface="Tekton Pro" pitchFamily="34" charset="0"/>
                  </a:rPr>
                  <a:t>dbbo:owns</a:t>
                </a:r>
                <a:endParaRPr lang="en-US" dirty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endParaRPr>
              </a:p>
            </p:txBody>
          </p:sp>
          <p:cxnSp>
            <p:nvCxnSpPr>
              <p:cNvPr id="18" name="Curved Connector 17"/>
              <p:cNvCxnSpPr>
                <a:stCxn id="16" idx="3"/>
                <a:endCxn id="14" idx="5"/>
              </p:cNvCxnSpPr>
              <p:nvPr/>
            </p:nvCxnSpPr>
            <p:spPr>
              <a:xfrm rot="5400000">
                <a:off x="4192520" y="4914042"/>
                <a:ext cx="12700" cy="2534162"/>
              </a:xfrm>
              <a:prstGeom prst="curvedConnector3">
                <a:avLst>
                  <a:gd name="adj1" fmla="val 2590811"/>
                </a:avLst>
              </a:prstGeom>
              <a:ln w="31750">
                <a:prstDash val="sysDash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Rectangle 25"/>
            <p:cNvSpPr/>
            <p:nvPr/>
          </p:nvSpPr>
          <p:spPr>
            <a:xfrm>
              <a:off x="3336139" y="6115793"/>
              <a:ext cx="161762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dbbo:belongsTo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6144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9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 we said…</a:t>
            </a:r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32183" y="1408176"/>
            <a:ext cx="8443913" cy="967379"/>
          </a:xfrm>
          <a:prstGeom prst="rect">
            <a:avLst/>
          </a:prstGeom>
        </p:spPr>
        <p:txBody>
          <a:bodyPr/>
          <a:lstStyle/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gency FB" panose="020B0503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te Light ATT" panose="03020402050402020203" pitchFamily="66" charset="0"/>
              </a:rPr>
              <a:t>In semantic tech, predicates are directional.  </a:t>
            </a: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gency FB" panose="020B0503020202020204" pitchFamily="34" charset="0"/>
              <a:buChar char="•"/>
              <a:defRPr/>
            </a:pPr>
            <a:r>
              <a:rPr lang="en-US" sz="2400" b="1" dirty="0">
                <a:latin typeface="Graphite Light ATT" panose="03020402050402020203" pitchFamily="66" charset="0"/>
              </a:rPr>
              <a:t>We can make them bi-directional when we want to….</a:t>
            </a: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gency FB" panose="020B0503020202020204" pitchFamily="34" charset="0"/>
              <a:buChar char="•"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te Light ATT" panose="03020402050402020203" pitchFamily="66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582659" y="2481473"/>
            <a:ext cx="6523535" cy="762000"/>
            <a:chOff x="582659" y="2481473"/>
            <a:chExt cx="6523535" cy="762000"/>
          </a:xfrm>
        </p:grpSpPr>
        <p:sp>
          <p:nvSpPr>
            <p:cNvPr id="8" name="Oval 7"/>
            <p:cNvSpPr/>
            <p:nvPr/>
          </p:nvSpPr>
          <p:spPr>
            <a:xfrm>
              <a:off x="582659" y="2557673"/>
              <a:ext cx="1975765" cy="6858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dbbo</a:t>
              </a:r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:_vela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  <p:cxnSp>
          <p:nvCxnSpPr>
            <p:cNvPr id="9" name="Straight Arrow Connector 8"/>
            <p:cNvCxnSpPr>
              <a:stCxn id="8" idx="6"/>
              <a:endCxn id="10" idx="2"/>
            </p:cNvCxnSpPr>
            <p:nvPr/>
          </p:nvCxnSpPr>
          <p:spPr>
            <a:xfrm>
              <a:off x="2558424" y="2900573"/>
              <a:ext cx="1828800" cy="0"/>
            </a:xfrm>
            <a:prstGeom prst="straightConnector1">
              <a:avLst/>
            </a:prstGeom>
            <a:ln w="317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4387224" y="2557673"/>
              <a:ext cx="2718970" cy="6858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dbbo</a:t>
              </a:r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:_</a:t>
              </a:r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SiriusStar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863224" y="2481473"/>
              <a:ext cx="11735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dbbo:owns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</p:grpSp>
      <p:sp>
        <p:nvSpPr>
          <p:cNvPr id="12" name="Content Placeholder 2"/>
          <p:cNvSpPr txBox="1">
            <a:spLocks/>
          </p:cNvSpPr>
          <p:nvPr/>
        </p:nvSpPr>
        <p:spPr>
          <a:xfrm>
            <a:off x="352608" y="5184404"/>
            <a:ext cx="8443913" cy="696234"/>
          </a:xfrm>
          <a:prstGeom prst="rect">
            <a:avLst/>
          </a:prstGeom>
        </p:spPr>
        <p:txBody>
          <a:bodyPr/>
          <a:lstStyle/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gency FB" panose="020B0503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te Light ATT" panose="03020402050402020203" pitchFamily="66" charset="0"/>
              </a:rPr>
              <a:t>But this</a:t>
            </a:r>
            <a:r>
              <a:rPr lang="en-US" sz="2800" b="1" dirty="0" smtClean="0">
                <a:latin typeface="Graphite Light ATT" panose="03020402050402020203" pitchFamily="66" charset="0"/>
              </a:rPr>
              <a:t> begs the question: when do we want to?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76</a:t>
            </a:fld>
            <a:endParaRPr lang="en-US" dirty="0"/>
          </a:p>
        </p:txBody>
      </p:sp>
      <p:sp>
        <p:nvSpPr>
          <p:cNvPr id="19" name="Pentagon 18"/>
          <p:cNvSpPr/>
          <p:nvPr/>
        </p:nvSpPr>
        <p:spPr>
          <a:xfrm>
            <a:off x="615324" y="3471757"/>
            <a:ext cx="1447800" cy="228600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Graphite MM" panose="02000206020000020004" pitchFamily="2" charset="0"/>
              </a:rPr>
              <a:t>:owns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Graphite MM" panose="02000206020000020004" pitchFamily="2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462924" y="3700357"/>
            <a:ext cx="1447800" cy="369332"/>
            <a:chOff x="3267886" y="2743200"/>
            <a:chExt cx="1447800" cy="369332"/>
          </a:xfrm>
        </p:grpSpPr>
        <p:sp>
          <p:nvSpPr>
            <p:cNvPr id="21" name="Pentagon 20"/>
            <p:cNvSpPr/>
            <p:nvPr/>
          </p:nvSpPr>
          <p:spPr>
            <a:xfrm rot="10800000">
              <a:off x="3267886" y="2819400"/>
              <a:ext cx="1447800" cy="228600"/>
            </a:xfrm>
            <a:prstGeom prst="homePlat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50000"/>
                  </a:schemeClr>
                </a:solidFill>
                <a:latin typeface="Graphite MM" panose="02000206020000020004" pitchFamily="2" charset="0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387621" y="2743200"/>
              <a:ext cx="111601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Graphite MM" panose="02000206020000020004" pitchFamily="2" charset="0"/>
                </a:rPr>
                <a:t>:</a:t>
              </a:r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Graphite MM" panose="02000206020000020004" pitchFamily="2" charset="0"/>
                </a:rPr>
                <a:t>belongsTo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Graphite MM" panose="02000206020000020004" pitchFamily="2" charset="0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2024744" y="3783402"/>
            <a:ext cx="6609804" cy="762000"/>
            <a:chOff x="1215941" y="2257276"/>
            <a:chExt cx="6609804" cy="762000"/>
          </a:xfrm>
        </p:grpSpPr>
        <p:sp>
          <p:nvSpPr>
            <p:cNvPr id="24" name="Oval 23"/>
            <p:cNvSpPr/>
            <p:nvPr/>
          </p:nvSpPr>
          <p:spPr>
            <a:xfrm>
              <a:off x="1215941" y="2333476"/>
              <a:ext cx="2011954" cy="6858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dbbo</a:t>
              </a:r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:_vela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  <p:cxnSp>
          <p:nvCxnSpPr>
            <p:cNvPr id="25" name="Straight Arrow Connector 24"/>
            <p:cNvCxnSpPr>
              <a:stCxn id="24" idx="6"/>
              <a:endCxn id="26" idx="2"/>
            </p:cNvCxnSpPr>
            <p:nvPr/>
          </p:nvCxnSpPr>
          <p:spPr>
            <a:xfrm>
              <a:off x="3227895" y="2676376"/>
              <a:ext cx="1828799" cy="0"/>
            </a:xfrm>
            <a:prstGeom prst="straightConnector1">
              <a:avLst/>
            </a:prstGeom>
            <a:ln w="31750"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/>
            <p:cNvSpPr/>
            <p:nvPr/>
          </p:nvSpPr>
          <p:spPr>
            <a:xfrm>
              <a:off x="5056694" y="2333476"/>
              <a:ext cx="2769051" cy="6858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dbbo</a:t>
              </a:r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:_</a:t>
              </a:r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SiriusStar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212769" y="2257276"/>
              <a:ext cx="18133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dbbo:belongsTo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9025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implications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2183" y="1953491"/>
            <a:ext cx="8443913" cy="4290148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Graphite Light ATT" panose="03020402050402020203" pitchFamily="66" charset="0"/>
              </a:rPr>
              <a:t>Properties needn’t be bi-directional</a:t>
            </a:r>
          </a:p>
          <a:p>
            <a:r>
              <a:rPr lang="en-US" sz="2400" b="1" dirty="0" smtClean="0">
                <a:latin typeface="Graphite Light ATT" panose="03020402050402020203" pitchFamily="66" charset="0"/>
              </a:rPr>
              <a:t>You don’t need to declare an inverse at the time you define a property</a:t>
            </a:r>
          </a:p>
          <a:p>
            <a:r>
              <a:rPr lang="en-US" sz="2400" b="1" dirty="0" smtClean="0">
                <a:latin typeface="Graphite Light ATT" panose="03020402050402020203" pitchFamily="66" charset="0"/>
              </a:rPr>
              <a:t>You can have many inverses for one property</a:t>
            </a:r>
          </a:p>
          <a:p>
            <a:r>
              <a:rPr lang="en-US" sz="2400" b="1" dirty="0" smtClean="0">
                <a:latin typeface="Graphite Light ATT" panose="03020402050402020203" pitchFamily="66" charset="0"/>
              </a:rPr>
              <a:t>You can declare inverses to properties you inherit</a:t>
            </a:r>
          </a:p>
          <a:p>
            <a:r>
              <a:rPr lang="en-US" sz="2400" b="1" dirty="0" smtClean="0">
                <a:latin typeface="Graphite Light ATT" panose="03020402050402020203" pitchFamily="66" charset="0"/>
              </a:rPr>
              <a:t>Declaring inverses greatly increases the number of triples in your triple store when you run the reasoner</a:t>
            </a:r>
            <a:endParaRPr lang="en-US" sz="2400" b="1" dirty="0">
              <a:latin typeface="Graphite Light ATT" panose="03020402050402020203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77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 in example of </a:t>
            </a:r>
            <a:r>
              <a:rPr lang="en-US" dirty="0" err="1" smtClean="0"/>
              <a:t>ownedBy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78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Maybe drop the </a:t>
            </a:r>
            <a:r>
              <a:rPr lang="en-US" dirty="0" err="1" smtClean="0"/>
              <a:t>sparql</a:t>
            </a:r>
            <a:r>
              <a:rPr lang="en-US" dirty="0" smtClean="0"/>
              <a:t> bit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Agreed.  Following slide tweaked; SPARQL slide deleted </a:t>
            </a:r>
            <a:r>
              <a:rPr lang="en-US" dirty="0" smtClean="0">
                <a:solidFill>
                  <a:srgbClr val="FF0000"/>
                </a:solidFill>
              </a:rPr>
              <a:t>[dc]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79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 you need an inverse?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2183" y="1408177"/>
            <a:ext cx="8443913" cy="1146488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Graphite Light ATT" panose="03020402050402020203" pitchFamily="66" charset="0"/>
              </a:rPr>
              <a:t>If we want to find who owns _</a:t>
            </a:r>
            <a:r>
              <a:rPr lang="en-US" sz="3200" b="1" dirty="0" err="1" smtClean="0">
                <a:latin typeface="Graphite Light ATT" panose="03020402050402020203" pitchFamily="66" charset="0"/>
              </a:rPr>
              <a:t>SiriusStar</a:t>
            </a:r>
            <a:endParaRPr lang="en-US" sz="3200" b="1" dirty="0">
              <a:latin typeface="Graphite Light ATT" panose="03020402050402020203" pitchFamily="66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1511431" y="2740843"/>
            <a:ext cx="1905000" cy="6858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dbbo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:_vela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cxnSp>
        <p:nvCxnSpPr>
          <p:cNvPr id="5" name="Straight Arrow Connector 4"/>
          <p:cNvCxnSpPr>
            <a:stCxn id="4" idx="6"/>
            <a:endCxn id="6" idx="2"/>
          </p:cNvCxnSpPr>
          <p:nvPr/>
        </p:nvCxnSpPr>
        <p:spPr>
          <a:xfrm>
            <a:off x="3416431" y="3083743"/>
            <a:ext cx="1828800" cy="0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5245231" y="2740843"/>
            <a:ext cx="2657798" cy="6858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dbbo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:_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SiriusStar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21231" y="2664643"/>
            <a:ext cx="11735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dbbo:owns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99741" y="4251278"/>
            <a:ext cx="8443913" cy="1842447"/>
          </a:xfrm>
          <a:prstGeom prst="rect">
            <a:avLst/>
          </a:prstGeom>
        </p:spPr>
        <p:txBody>
          <a:bodyPr/>
          <a:lstStyle/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gency FB" panose="020B0503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te Light ATT" panose="03020402050402020203" pitchFamily="66" charset="0"/>
              </a:rPr>
              <a:t>At first</a:t>
            </a:r>
            <a:r>
              <a:rPr kumimoji="0" lang="en-US" sz="24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te Light ATT" panose="03020402050402020203" pitchFamily="66" charset="0"/>
              </a:rPr>
              <a:t> you might think we need an inverse </a:t>
            </a:r>
            <a:r>
              <a:rPr kumimoji="0" lang="en-US" sz="24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te Light ATT" panose="03020402050402020203" pitchFamily="66" charset="0"/>
              </a:rPr>
              <a:t>property…</a:t>
            </a: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gency FB" panose="020B0503020202020204" pitchFamily="34" charset="0"/>
              <a:buChar char="•"/>
              <a:tabLst/>
              <a:defRPr/>
            </a:pPr>
            <a:r>
              <a:rPr lang="en-US" sz="2400" b="1" baseline="0" dirty="0" smtClean="0">
                <a:latin typeface="Graphite Light ATT" panose="03020402050402020203" pitchFamily="66" charset="0"/>
              </a:rPr>
              <a:t>…but in a query, you can just reverse</a:t>
            </a:r>
            <a:r>
              <a:rPr lang="en-US" sz="2400" b="1" dirty="0" smtClean="0">
                <a:latin typeface="Graphite Light ATT" panose="03020402050402020203" pitchFamily="66" charset="0"/>
              </a:rPr>
              <a:t> the order in which the items are reported.</a:t>
            </a: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gency FB" panose="020B0503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te Light ATT" panose="03020402050402020203" pitchFamily="66" charset="0"/>
              </a:rPr>
              <a:t>This</a:t>
            </a:r>
            <a:r>
              <a:rPr kumimoji="0" lang="en-US" sz="24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te Light ATT" panose="03020402050402020203" pitchFamily="66" charset="0"/>
              </a:rPr>
              <a:t> gives the appearance of an inverse.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te Light ATT" panose="03020402050402020203" pitchFamily="66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80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Graphite MM" panose="02000206020000020004" pitchFamily="2" charset="0"/>
              </a:rPr>
              <a:t>Datatype properties cannot have inverses</a:t>
            </a:r>
            <a:endParaRPr lang="en-US" dirty="0">
              <a:latin typeface="Graphite MM" panose="02000206020000020004" pitchFamily="2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09600" y="1606731"/>
            <a:ext cx="8038070" cy="762000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Graphite Light ATT" panose="03020402050402020203" pitchFamily="66" charset="0"/>
              </a:rPr>
              <a:t>If inverses were allowed on datatype properties...</a:t>
            </a:r>
            <a:endParaRPr lang="en-US" sz="2400" b="1" dirty="0">
              <a:latin typeface="Graphite Light ATT" panose="03020402050402020203" pitchFamily="66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2209800" y="2971800"/>
            <a:ext cx="1270000" cy="5334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Graphite MM" panose="02000206020000020004" pitchFamily="2" charset="0"/>
              </a:rPr>
              <a:t>:_addie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Graphite MM" panose="02000206020000020004" pitchFamily="2" charset="0"/>
            </a:endParaRPr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29000" y="2971800"/>
            <a:ext cx="1524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Rectangle 12"/>
          <p:cNvSpPr/>
          <p:nvPr/>
        </p:nvSpPr>
        <p:spPr>
          <a:xfrm>
            <a:off x="3822851" y="2590800"/>
            <a:ext cx="5677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Graphite MM" panose="02000206020000020004" pitchFamily="2" charset="0"/>
              </a:rPr>
              <a:t>:age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Graphite MM" panose="02000206020000020004" pitchFamily="2" charset="0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429000" y="3276600"/>
            <a:ext cx="1524000" cy="35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Rectangle 14"/>
          <p:cNvSpPr/>
          <p:nvPr/>
        </p:nvSpPr>
        <p:spPr>
          <a:xfrm>
            <a:off x="5004430" y="3124200"/>
            <a:ext cx="5918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mtClean="0">
                <a:solidFill>
                  <a:schemeClr val="accent1">
                    <a:lumMod val="50000"/>
                  </a:schemeClr>
                </a:solidFill>
                <a:latin typeface="Graphite MM" panose="02000206020000020004" pitchFamily="2" charset="0"/>
              </a:rPr>
              <a:t>“24”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Graphite MM" panose="02000206020000020004" pitchFamily="2" charset="0"/>
            </a:endParaRPr>
          </a:p>
        </p:txBody>
      </p:sp>
      <p:sp>
        <p:nvSpPr>
          <p:cNvPr id="14" name="Pentagon 13"/>
          <p:cNvSpPr/>
          <p:nvPr/>
        </p:nvSpPr>
        <p:spPr>
          <a:xfrm>
            <a:off x="3505200" y="2133600"/>
            <a:ext cx="1447800" cy="228600"/>
          </a:xfrm>
          <a:prstGeom prst="homePlate">
            <a:avLst/>
          </a:prstGeom>
          <a:solidFill>
            <a:schemeClr val="accent6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>
                <a:solidFill>
                  <a:schemeClr val="accent3">
                    <a:lumMod val="50000"/>
                  </a:schemeClr>
                </a:solidFill>
                <a:latin typeface="Graphite MM" panose="02000206020000020004" pitchFamily="2" charset="0"/>
              </a:rPr>
              <a:t>age</a:t>
            </a:r>
            <a:endParaRPr lang="en-US" dirty="0">
              <a:solidFill>
                <a:schemeClr val="accent3">
                  <a:lumMod val="50000"/>
                </a:schemeClr>
              </a:solidFill>
              <a:latin typeface="Graphite MM" panose="02000206020000020004" pitchFamily="2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642230" y="5501646"/>
            <a:ext cx="5918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mtClean="0">
                <a:solidFill>
                  <a:schemeClr val="accent1">
                    <a:lumMod val="50000"/>
                  </a:schemeClr>
                </a:solidFill>
                <a:latin typeface="Graphite MM" panose="02000206020000020004" pitchFamily="2" charset="0"/>
              </a:rPr>
              <a:t>“24”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Graphite MM" panose="02000206020000020004" pitchFamily="2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419475" y="5425446"/>
            <a:ext cx="157162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Oval 17"/>
          <p:cNvSpPr/>
          <p:nvPr/>
        </p:nvSpPr>
        <p:spPr>
          <a:xfrm>
            <a:off x="4953000" y="5501646"/>
            <a:ext cx="1270000" cy="5334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Graphite MM" panose="02000206020000020004" pitchFamily="2" charset="0"/>
              </a:rPr>
              <a:t>:_addie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Graphite MM" panose="02000206020000020004" pitchFamily="2" charset="0"/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609600" y="4136577"/>
            <a:ext cx="8038070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2400" b="1" dirty="0">
                <a:latin typeface="Graphite Light ATT" panose="03020402050402020203" pitchFamily="66" charset="0"/>
              </a:rPr>
              <a:t>…that would effectively make a triple with a literal as the subject, which isn’t allowed.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4051300" y="3429000"/>
            <a:ext cx="381000" cy="457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te MM" panose="02000206020000020004" pitchFamily="2" charset="0"/>
              </a:rPr>
              <a:t>?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te MM" panose="02000206020000020004" pitchFamily="2" charset="0"/>
            </a:endParaRPr>
          </a:p>
        </p:txBody>
      </p:sp>
      <p:grpSp>
        <p:nvGrpSpPr>
          <p:cNvPr id="3" name="Group 22"/>
          <p:cNvGrpSpPr/>
          <p:nvPr/>
        </p:nvGrpSpPr>
        <p:grpSpPr>
          <a:xfrm>
            <a:off x="2133600" y="5120646"/>
            <a:ext cx="4267200" cy="1066800"/>
            <a:chOff x="2133600" y="5257800"/>
            <a:chExt cx="4267200" cy="1066800"/>
          </a:xfrm>
        </p:grpSpPr>
        <p:cxnSp>
          <p:nvCxnSpPr>
            <p:cNvPr id="21" name="Straight Connector 20"/>
            <p:cNvCxnSpPr/>
            <p:nvPr/>
          </p:nvCxnSpPr>
          <p:spPr>
            <a:xfrm flipH="1">
              <a:off x="2133600" y="5257800"/>
              <a:ext cx="4267200" cy="10668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2133600" y="5257800"/>
              <a:ext cx="4267200" cy="10668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Slide Number Placeholder 1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81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243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 animBg="1"/>
      <p:bldP spid="19" grpId="0"/>
      <p:bldP spid="16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When to have inverses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017" y="1825625"/>
            <a:ext cx="7888333" cy="4418014"/>
          </a:xfrm>
        </p:spPr>
        <p:txBody>
          <a:bodyPr/>
          <a:lstStyle/>
          <a:p>
            <a:r>
              <a:rPr lang="en-US" b="1" dirty="0" smtClean="0">
                <a:latin typeface="Graphite Light ATT" panose="03020402050402020203" pitchFamily="66" charset="0"/>
              </a:rPr>
              <a:t>If you think it would make it a lot easier for consumers of your data to write </a:t>
            </a:r>
            <a:r>
              <a:rPr lang="en-US" b="1" dirty="0" smtClean="0">
                <a:latin typeface="Graphite Light ATT" panose="03020402050402020203" pitchFamily="66" charset="0"/>
              </a:rPr>
              <a:t>queries; or</a:t>
            </a:r>
            <a:endParaRPr lang="en-US" b="1" dirty="0" smtClean="0">
              <a:latin typeface="Graphite Light ATT" panose="03020402050402020203" pitchFamily="66" charset="0"/>
            </a:endParaRPr>
          </a:p>
          <a:p>
            <a:r>
              <a:rPr lang="en-US" b="1" dirty="0" smtClean="0">
                <a:latin typeface="Graphite Light ATT" panose="03020402050402020203" pitchFamily="66" charset="0"/>
              </a:rPr>
              <a:t>If you need to use the inverse name in </a:t>
            </a:r>
            <a:r>
              <a:rPr lang="en-US" b="1" dirty="0" smtClean="0">
                <a:latin typeface="Graphite Light ATT" panose="03020402050402020203" pitchFamily="66" charset="0"/>
              </a:rPr>
              <a:t>a class restriction </a:t>
            </a:r>
            <a:r>
              <a:rPr lang="en-US" b="1" dirty="0" smtClean="0">
                <a:latin typeface="Graphite Light ATT" panose="03020402050402020203" pitchFamily="66" charset="0"/>
              </a:rPr>
              <a:t>(we’ll get to that later)</a:t>
            </a:r>
          </a:p>
          <a:p>
            <a:r>
              <a:rPr lang="en-US" b="1" dirty="0" smtClean="0">
                <a:latin typeface="Graphite Light ATT" panose="03020402050402020203" pitchFamily="66" charset="0"/>
              </a:rPr>
              <a:t>Bottom line: we’ve gone from reflexively adding them all the time to rarely defining them</a:t>
            </a:r>
            <a:endParaRPr lang="en-US" b="1" dirty="0">
              <a:latin typeface="Graphite Light ATT" panose="03020402050402020203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82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Property Characteristics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962399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Graphite Light ATT" panose="03020402050402020203" pitchFamily="66" charset="0"/>
              </a:rPr>
              <a:t>Transitivity</a:t>
            </a:r>
            <a:r>
              <a:rPr lang="en-US" b="1" dirty="0">
                <a:latin typeface="Graphite Light ATT" panose="03020402050402020203" pitchFamily="66" charset="0"/>
              </a:rPr>
              <a:t> </a:t>
            </a:r>
            <a:endParaRPr lang="en-US" b="1" dirty="0" smtClean="0">
              <a:latin typeface="Graphite Light ATT" panose="03020402050402020203" pitchFamily="66" charset="0"/>
            </a:endParaRPr>
          </a:p>
          <a:p>
            <a:r>
              <a:rPr lang="en-US" b="1" dirty="0" smtClean="0">
                <a:latin typeface="Graphite Light ATT" panose="03020402050402020203" pitchFamily="66" charset="0"/>
              </a:rPr>
              <a:t>By saying that a property is transitive, we are:</a:t>
            </a:r>
          </a:p>
          <a:p>
            <a:pPr lvl="1"/>
            <a:r>
              <a:rPr lang="en-US" sz="2400" b="1" dirty="0" smtClean="0">
                <a:latin typeface="Graphite Light ATT" panose="03020402050402020203" pitchFamily="66" charset="0"/>
              </a:rPr>
              <a:t>changing its meaning</a:t>
            </a:r>
          </a:p>
          <a:p>
            <a:pPr lvl="1"/>
            <a:r>
              <a:rPr lang="en-US" sz="2400" b="1" dirty="0" smtClean="0">
                <a:latin typeface="Graphite Light ATT" panose="03020402050402020203" pitchFamily="66" charset="0"/>
              </a:rPr>
              <a:t>changing the inferences that are sanctioned</a:t>
            </a:r>
          </a:p>
          <a:p>
            <a:pPr lvl="1"/>
            <a:r>
              <a:rPr lang="en-US" sz="2400" b="1" dirty="0" smtClean="0">
                <a:latin typeface="Graphite Light ATT" panose="03020402050402020203" pitchFamily="66" charset="0"/>
              </a:rPr>
              <a:t>changing how we use it</a:t>
            </a:r>
          </a:p>
          <a:p>
            <a:endParaRPr lang="en-US" b="1" dirty="0" smtClean="0">
              <a:latin typeface="Graphite Light ATT" panose="03020402050402020203" pitchFamily="66" charset="0"/>
            </a:endParaRPr>
          </a:p>
          <a:p>
            <a:r>
              <a:rPr lang="en-US" b="1" dirty="0" smtClean="0">
                <a:latin typeface="Graphite Light ATT" panose="03020402050402020203" pitchFamily="66" charset="0"/>
              </a:rPr>
              <a:t>Later, we </a:t>
            </a:r>
            <a:r>
              <a:rPr lang="en-US" b="1" dirty="0">
                <a:latin typeface="Graphite Light ATT" panose="03020402050402020203" pitchFamily="66" charset="0"/>
              </a:rPr>
              <a:t>will </a:t>
            </a:r>
            <a:r>
              <a:rPr lang="en-US" b="1" dirty="0" smtClean="0">
                <a:latin typeface="Graphite Light ATT" panose="03020402050402020203" pitchFamily="66" charset="0"/>
              </a:rPr>
              <a:t>introduce other characteristics of properties.</a:t>
            </a:r>
            <a:endParaRPr lang="en-US" b="1" dirty="0">
              <a:latin typeface="Graphite Light ATT" panose="03020402050402020203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83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401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Concept: Transitivity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>
                <a:latin typeface="Graphite Light ATT" panose="03020402050402020203" pitchFamily="66" charset="0"/>
              </a:rPr>
              <a:t>Transitivity is a characteristic of some object properties that works like transitivity in math.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b="1" dirty="0" smtClean="0">
                <a:latin typeface="Graphite Light ATT" panose="03020402050402020203" pitchFamily="66" charset="0"/>
              </a:rPr>
              <a:t>We all know that IF A&gt;B and B&gt;C, THEN A&gt;C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b="1" dirty="0" smtClean="0">
                <a:latin typeface="Graphite Light ATT" panose="03020402050402020203" pitchFamily="66" charset="0"/>
              </a:rPr>
              <a:t>When a property has this pattern, we say it is</a:t>
            </a:r>
            <a:br>
              <a:rPr lang="en-US" sz="2000" b="1" dirty="0" smtClean="0">
                <a:latin typeface="Graphite Light ATT" panose="03020402050402020203" pitchFamily="66" charset="0"/>
              </a:rPr>
            </a:br>
            <a:r>
              <a:rPr lang="en-US" sz="2000" b="1" dirty="0" smtClean="0">
                <a:latin typeface="Graphite Light ATT" panose="03020402050402020203" pitchFamily="66" charset="0"/>
              </a:rPr>
              <a:t> transitive. So “&gt;” is transitive.</a:t>
            </a:r>
          </a:p>
          <a:p>
            <a:pPr lvl="1"/>
            <a:endParaRPr lang="en-US" sz="1600" b="1" dirty="0" smtClean="0">
              <a:latin typeface="Graphite Light ATT" panose="03020402050402020203" pitchFamily="66" charset="0"/>
            </a:endParaRPr>
          </a:p>
          <a:p>
            <a:r>
              <a:rPr lang="en-US" sz="2400" b="1" dirty="0" smtClean="0">
                <a:latin typeface="Graphite Light ATT" panose="03020402050402020203" pitchFamily="66" charset="0"/>
              </a:rPr>
              <a:t>Examples:  “</a:t>
            </a:r>
            <a:r>
              <a:rPr lang="en-US" sz="2400" b="1" dirty="0" err="1" smtClean="0">
                <a:latin typeface="Graphite Light ATT" panose="03020402050402020203" pitchFamily="66" charset="0"/>
              </a:rPr>
              <a:t>locatedIn</a:t>
            </a:r>
            <a:r>
              <a:rPr lang="en-US" sz="2400" b="1" dirty="0" smtClean="0">
                <a:latin typeface="Graphite Light ATT" panose="03020402050402020203" pitchFamily="66" charset="0"/>
              </a:rPr>
              <a:t>”, “</a:t>
            </a:r>
            <a:r>
              <a:rPr lang="en-US" sz="2400" b="1" dirty="0" err="1" smtClean="0">
                <a:latin typeface="Graphite Light ATT" panose="03020402050402020203" pitchFamily="66" charset="0"/>
              </a:rPr>
              <a:t>physicalPartOf</a:t>
            </a:r>
            <a:r>
              <a:rPr lang="en-US" sz="2400" b="1" dirty="0" smtClean="0">
                <a:latin typeface="Graphite Light ATT" panose="03020402050402020203" pitchFamily="66" charset="0"/>
              </a:rPr>
              <a:t>”</a:t>
            </a:r>
          </a:p>
          <a:p>
            <a:r>
              <a:rPr lang="en-US" sz="2400" b="1" dirty="0" smtClean="0">
                <a:latin typeface="Graphite Light ATT" panose="03020402050402020203" pitchFamily="66" charset="0"/>
              </a:rPr>
              <a:t>Counter Examples: “hasParent”, “owns”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84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305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Subproperties</a:t>
            </a:r>
          </a:p>
        </p:txBody>
      </p:sp>
      <p:sp>
        <p:nvSpPr>
          <p:cNvPr id="1053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3581400"/>
            <a:ext cx="7853363" cy="2743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 dirty="0" smtClean="0">
                <a:latin typeface="Graphite Light ATT" panose="03020402050402020203" pitchFamily="66" charset="0"/>
              </a:rPr>
              <a:t>Subproperties are used when participation in one property implies participation in another.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i="1" dirty="0" smtClean="0">
                <a:latin typeface="Graphite Light ATT" panose="03020402050402020203" pitchFamily="66" charset="0"/>
              </a:rPr>
              <a:t>e.g., </a:t>
            </a:r>
            <a:r>
              <a:rPr lang="en-US" b="1" dirty="0" smtClean="0">
                <a:solidFill>
                  <a:srgbClr val="306FA2"/>
                </a:solidFill>
                <a:latin typeface="Graphite Light ATT" panose="03020402050402020203" pitchFamily="66" charset="0"/>
              </a:rPr>
              <a:t>hasParent</a:t>
            </a:r>
            <a:r>
              <a:rPr lang="en-US" b="1" i="1" dirty="0" smtClean="0">
                <a:latin typeface="Graphite Light ATT" panose="03020402050402020203" pitchFamily="66" charset="0"/>
              </a:rPr>
              <a:t> and </a:t>
            </a:r>
            <a:r>
              <a:rPr lang="en-US" b="1" dirty="0" smtClean="0">
                <a:solidFill>
                  <a:srgbClr val="306FA2"/>
                </a:solidFill>
                <a:latin typeface="Graphite Light ATT" panose="03020402050402020203" pitchFamily="66" charset="0"/>
              </a:rPr>
              <a:t>hasAncestor</a:t>
            </a:r>
          </a:p>
          <a:p>
            <a:pPr lvl="1" eaLnBrk="1" hangingPunct="1">
              <a:lnSpc>
                <a:spcPct val="90000"/>
              </a:lnSpc>
            </a:pPr>
            <a:endParaRPr lang="en-US" sz="1200" b="1" i="1" dirty="0" smtClean="0">
              <a:latin typeface="Graphite Light ATT" panose="03020402050402020203" pitchFamily="66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b="1" dirty="0" smtClean="0">
                <a:solidFill>
                  <a:srgbClr val="306FA2"/>
                </a:solidFill>
                <a:latin typeface="Graphite Light ATT" panose="03020402050402020203" pitchFamily="66" charset="0"/>
              </a:rPr>
              <a:t>hasParent</a:t>
            </a:r>
            <a:r>
              <a:rPr lang="en-US" b="1" i="1" dirty="0" smtClean="0">
                <a:latin typeface="Graphite Light ATT" panose="03020402050402020203" pitchFamily="66" charset="0"/>
              </a:rPr>
              <a:t> implies </a:t>
            </a:r>
            <a:r>
              <a:rPr lang="en-US" b="1" dirty="0" err="1" smtClean="0">
                <a:solidFill>
                  <a:srgbClr val="306FA2"/>
                </a:solidFill>
                <a:latin typeface="Graphite Light ATT" panose="03020402050402020203" pitchFamily="66" charset="0"/>
              </a:rPr>
              <a:t>hasAncestor</a:t>
            </a:r>
            <a:endParaRPr lang="en-US" b="1" i="1" dirty="0" smtClean="0">
              <a:latin typeface="Graphite Light ATT" panose="03020402050402020203" pitchFamily="66" charset="0"/>
            </a:endParaRPr>
          </a:p>
        </p:txBody>
      </p:sp>
      <p:sp>
        <p:nvSpPr>
          <p:cNvPr id="4" name="Pentagon 3"/>
          <p:cNvSpPr/>
          <p:nvPr/>
        </p:nvSpPr>
        <p:spPr>
          <a:xfrm>
            <a:off x="408933" y="2699657"/>
            <a:ext cx="2260600" cy="304800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4">
                    <a:lumMod val="50000"/>
                  </a:schemeClr>
                </a:solidFill>
                <a:latin typeface="Tekton Pro" pitchFamily="34" charset="0"/>
              </a:rPr>
              <a:t>:hasParent</a:t>
            </a:r>
            <a:endParaRPr lang="en-US" dirty="0">
              <a:solidFill>
                <a:schemeClr val="accent4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5" name="Pentagon 4"/>
          <p:cNvSpPr/>
          <p:nvPr/>
        </p:nvSpPr>
        <p:spPr>
          <a:xfrm>
            <a:off x="435059" y="1676400"/>
            <a:ext cx="2260600" cy="304800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4">
                    <a:lumMod val="50000"/>
                  </a:schemeClr>
                </a:solidFill>
                <a:latin typeface="Tekton Pro" pitchFamily="34" charset="0"/>
              </a:rPr>
              <a:t>:hasAncestor</a:t>
            </a:r>
            <a:endParaRPr lang="en-US" dirty="0">
              <a:solidFill>
                <a:schemeClr val="accent4">
                  <a:lumMod val="50000"/>
                </a:schemeClr>
              </a:solidFill>
              <a:latin typeface="Tekton Pro" pitchFamily="34" charset="0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1501859" y="2144486"/>
            <a:ext cx="0" cy="533400"/>
          </a:xfrm>
          <a:prstGeom prst="straightConnector1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>
            <a:off x="1425659" y="1992086"/>
            <a:ext cx="152400" cy="152400"/>
          </a:xfrm>
          <a:prstGeom prst="triangle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7"/>
          <p:cNvGrpSpPr/>
          <p:nvPr/>
        </p:nvGrpSpPr>
        <p:grpSpPr>
          <a:xfrm>
            <a:off x="3254459" y="1981200"/>
            <a:ext cx="5638800" cy="762000"/>
            <a:chOff x="3352800" y="1600200"/>
            <a:chExt cx="5638800" cy="762000"/>
          </a:xfrm>
        </p:grpSpPr>
        <p:sp>
          <p:nvSpPr>
            <p:cNvPr id="9" name="Oval 8"/>
            <p:cNvSpPr/>
            <p:nvPr/>
          </p:nvSpPr>
          <p:spPr>
            <a:xfrm>
              <a:off x="3352800" y="1676400"/>
              <a:ext cx="1905000" cy="6858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:_</a:t>
              </a:r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dave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  <p:cxnSp>
          <p:nvCxnSpPr>
            <p:cNvPr id="10" name="Straight Arrow Connector 9"/>
            <p:cNvCxnSpPr>
              <a:stCxn id="9" idx="6"/>
              <a:endCxn id="11" idx="2"/>
            </p:cNvCxnSpPr>
            <p:nvPr/>
          </p:nvCxnSpPr>
          <p:spPr>
            <a:xfrm>
              <a:off x="5257800" y="2019300"/>
              <a:ext cx="1828800" cy="0"/>
            </a:xfrm>
            <a:prstGeom prst="straightConnector1">
              <a:avLst/>
            </a:prstGeom>
            <a:ln w="317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/>
            <p:cNvSpPr/>
            <p:nvPr/>
          </p:nvSpPr>
          <p:spPr>
            <a:xfrm>
              <a:off x="7086600" y="1676400"/>
              <a:ext cx="1905000" cy="6858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:_john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547823" y="1600200"/>
              <a:ext cx="12030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:hasParent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</p:grp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49859" y="1524000"/>
            <a:ext cx="3090862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13"/>
          <p:cNvSpPr/>
          <p:nvPr/>
        </p:nvSpPr>
        <p:spPr>
          <a:xfrm>
            <a:off x="5410200" y="1066800"/>
            <a:ext cx="14636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:hasAncestor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85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248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Subproperties</a:t>
            </a:r>
          </a:p>
        </p:txBody>
      </p:sp>
      <p:sp>
        <p:nvSpPr>
          <p:cNvPr id="2" name="Rectangle 1"/>
          <p:cNvSpPr/>
          <p:nvPr/>
        </p:nvSpPr>
        <p:spPr>
          <a:xfrm>
            <a:off x="1981200" y="5867400"/>
            <a:ext cx="5105400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000" b="1" dirty="0" smtClean="0">
                <a:latin typeface="Graphite Light ATT" panose="03020402050402020203" pitchFamily="66" charset="0"/>
              </a:rPr>
              <a:t>Q: does the implication go the other way?</a:t>
            </a:r>
            <a:br>
              <a:rPr lang="en-US" sz="2000" b="1" dirty="0" smtClean="0">
                <a:latin typeface="Graphite Light ATT" panose="03020402050402020203" pitchFamily="66" charset="0"/>
              </a:rPr>
            </a:br>
            <a:r>
              <a:rPr lang="en-US" sz="2000" b="1" dirty="0" smtClean="0">
                <a:latin typeface="Graphite Light ATT" panose="03020402050402020203" pitchFamily="66" charset="0"/>
              </a:rPr>
              <a:t>      i.e. does hasAncestor imply hasParent?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33800" y="3419117"/>
            <a:ext cx="14636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:hasAncestor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44" name="Freeform 43"/>
          <p:cNvSpPr/>
          <p:nvPr/>
        </p:nvSpPr>
        <p:spPr>
          <a:xfrm>
            <a:off x="1352550" y="3342917"/>
            <a:ext cx="6324600" cy="952500"/>
          </a:xfrm>
          <a:custGeom>
            <a:avLst/>
            <a:gdLst>
              <a:gd name="connsiteX0" fmla="*/ 0 w 6324600"/>
              <a:gd name="connsiteY0" fmla="*/ 601662 h 601662"/>
              <a:gd name="connsiteX1" fmla="*/ 495300 w 6324600"/>
              <a:gd name="connsiteY1" fmla="*/ 496887 h 601662"/>
              <a:gd name="connsiteX2" fmla="*/ 2333625 w 6324600"/>
              <a:gd name="connsiteY2" fmla="*/ 58737 h 601662"/>
              <a:gd name="connsiteX3" fmla="*/ 4391025 w 6324600"/>
              <a:gd name="connsiteY3" fmla="*/ 144462 h 601662"/>
              <a:gd name="connsiteX4" fmla="*/ 6324600 w 6324600"/>
              <a:gd name="connsiteY4" fmla="*/ 582612 h 601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24600" h="601662">
                <a:moveTo>
                  <a:pt x="0" y="601662"/>
                </a:moveTo>
                <a:cubicBezTo>
                  <a:pt x="53181" y="594518"/>
                  <a:pt x="495300" y="496887"/>
                  <a:pt x="495300" y="496887"/>
                </a:cubicBezTo>
                <a:cubicBezTo>
                  <a:pt x="884238" y="406399"/>
                  <a:pt x="1684338" y="117474"/>
                  <a:pt x="2333625" y="58737"/>
                </a:cubicBezTo>
                <a:cubicBezTo>
                  <a:pt x="2982912" y="0"/>
                  <a:pt x="3725863" y="57150"/>
                  <a:pt x="4391025" y="144462"/>
                </a:cubicBezTo>
                <a:cubicBezTo>
                  <a:pt x="5056187" y="231774"/>
                  <a:pt x="5991225" y="481012"/>
                  <a:pt x="6324600" y="582612"/>
                </a:cubicBezTo>
              </a:path>
            </a:pathLst>
          </a:custGeom>
          <a:ln w="28575"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V="1">
            <a:off x="1371600" y="5095516"/>
            <a:ext cx="64770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51"/>
          <p:cNvGrpSpPr/>
          <p:nvPr/>
        </p:nvGrpSpPr>
        <p:grpSpPr>
          <a:xfrm>
            <a:off x="152400" y="4247791"/>
            <a:ext cx="8839200" cy="771526"/>
            <a:chOff x="152400" y="5143500"/>
            <a:chExt cx="8839200" cy="771526"/>
          </a:xfrm>
        </p:grpSpPr>
        <p:sp>
          <p:nvSpPr>
            <p:cNvPr id="22" name="Oval 21"/>
            <p:cNvSpPr/>
            <p:nvPr/>
          </p:nvSpPr>
          <p:spPr>
            <a:xfrm>
              <a:off x="152400" y="5229226"/>
              <a:ext cx="1905000" cy="6858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:_</a:t>
              </a:r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dave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2057400" y="5572126"/>
              <a:ext cx="1447800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/>
            <p:cNvSpPr/>
            <p:nvPr/>
          </p:nvSpPr>
          <p:spPr>
            <a:xfrm>
              <a:off x="3505200" y="5229226"/>
              <a:ext cx="1905000" cy="6858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:_john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5486400" y="5143500"/>
              <a:ext cx="12030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smtClean="0">
                  <a:solidFill>
                    <a:schemeClr val="bg1">
                      <a:lumMod val="65000"/>
                    </a:schemeClr>
                  </a:solidFill>
                  <a:latin typeface="Tekton Pro" pitchFamily="34" charset="0"/>
                </a:rPr>
                <a:t>:hasParent</a:t>
              </a:r>
              <a:endParaRPr lang="en-US" dirty="0">
                <a:solidFill>
                  <a:schemeClr val="bg1">
                    <a:lumMod val="65000"/>
                  </a:schemeClr>
                </a:solidFill>
                <a:latin typeface="Tekton Pro" pitchFamily="34" charset="0"/>
              </a:endParaRPr>
            </a:p>
          </p:txBody>
        </p:sp>
        <p:cxnSp>
          <p:nvCxnSpPr>
            <p:cNvPr id="38" name="Straight Arrow Connector 37"/>
            <p:cNvCxnSpPr/>
            <p:nvPr/>
          </p:nvCxnSpPr>
          <p:spPr>
            <a:xfrm>
              <a:off x="5410200" y="5572126"/>
              <a:ext cx="1447800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/>
            <p:cNvSpPr/>
            <p:nvPr/>
          </p:nvSpPr>
          <p:spPr>
            <a:xfrm>
              <a:off x="6858000" y="5229226"/>
              <a:ext cx="2133600" cy="6858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:_</a:t>
              </a:r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daves</a:t>
              </a:r>
              <a:endPara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  <a:p>
              <a:pPr algn="ctr"/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Grandpa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2209800" y="5143500"/>
              <a:ext cx="12030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smtClean="0">
                  <a:solidFill>
                    <a:schemeClr val="bg1">
                      <a:lumMod val="65000"/>
                    </a:schemeClr>
                  </a:solidFill>
                  <a:latin typeface="Tekton Pro" pitchFamily="34" charset="0"/>
                </a:rPr>
                <a:t>:hasParent</a:t>
              </a:r>
              <a:endParaRPr lang="en-US" dirty="0">
                <a:solidFill>
                  <a:schemeClr val="bg1">
                    <a:lumMod val="65000"/>
                  </a:schemeClr>
                </a:solidFill>
                <a:latin typeface="Tekton Pro" pitchFamily="34" charset="0"/>
              </a:endParaRPr>
            </a:p>
          </p:txBody>
        </p:sp>
      </p:grpSp>
      <p:sp>
        <p:nvSpPr>
          <p:cNvPr id="48" name="Rectangle 47"/>
          <p:cNvSpPr/>
          <p:nvPr/>
        </p:nvSpPr>
        <p:spPr>
          <a:xfrm>
            <a:off x="3886200" y="5200291"/>
            <a:ext cx="1203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:hasParent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60" name="Pentagon 59"/>
          <p:cNvSpPr/>
          <p:nvPr/>
        </p:nvSpPr>
        <p:spPr>
          <a:xfrm>
            <a:off x="408933" y="2699657"/>
            <a:ext cx="2260600" cy="304800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4">
                    <a:lumMod val="50000"/>
                  </a:schemeClr>
                </a:solidFill>
                <a:latin typeface="Tekton Pro" pitchFamily="34" charset="0"/>
              </a:rPr>
              <a:t>:hasParent</a:t>
            </a:r>
            <a:endParaRPr lang="en-US" dirty="0">
              <a:solidFill>
                <a:schemeClr val="accent4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61" name="Pentagon 60"/>
          <p:cNvSpPr/>
          <p:nvPr/>
        </p:nvSpPr>
        <p:spPr>
          <a:xfrm>
            <a:off x="435059" y="1676400"/>
            <a:ext cx="2260600" cy="304800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4">
                    <a:lumMod val="50000"/>
                  </a:schemeClr>
                </a:solidFill>
                <a:latin typeface="Tekton Pro" pitchFamily="34" charset="0"/>
              </a:rPr>
              <a:t>:hasAncestor</a:t>
            </a:r>
            <a:endParaRPr lang="en-US" dirty="0">
              <a:solidFill>
                <a:schemeClr val="accent4">
                  <a:lumMod val="50000"/>
                </a:schemeClr>
              </a:solidFill>
              <a:latin typeface="Tekton Pro" pitchFamily="34" charset="0"/>
            </a:endParaRPr>
          </a:p>
        </p:txBody>
      </p:sp>
      <p:cxnSp>
        <p:nvCxnSpPr>
          <p:cNvPr id="62" name="Straight Arrow Connector 61"/>
          <p:cNvCxnSpPr/>
          <p:nvPr/>
        </p:nvCxnSpPr>
        <p:spPr>
          <a:xfrm>
            <a:off x="1501859" y="2144486"/>
            <a:ext cx="0" cy="533400"/>
          </a:xfrm>
          <a:prstGeom prst="straightConnector1">
            <a:avLst/>
          </a:prstGeom>
          <a:ln w="127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Isosceles Triangle 62"/>
          <p:cNvSpPr/>
          <p:nvPr/>
        </p:nvSpPr>
        <p:spPr>
          <a:xfrm>
            <a:off x="1425659" y="1992086"/>
            <a:ext cx="152400" cy="152400"/>
          </a:xfrm>
          <a:prstGeom prst="triangle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70"/>
          <p:cNvGrpSpPr/>
          <p:nvPr/>
        </p:nvGrpSpPr>
        <p:grpSpPr>
          <a:xfrm>
            <a:off x="3254459" y="1066800"/>
            <a:ext cx="5638800" cy="1676400"/>
            <a:chOff x="3254459" y="1066800"/>
            <a:chExt cx="5638800" cy="1676400"/>
          </a:xfrm>
        </p:grpSpPr>
        <p:grpSp>
          <p:nvGrpSpPr>
            <p:cNvPr id="5" name="Group 63"/>
            <p:cNvGrpSpPr/>
            <p:nvPr/>
          </p:nvGrpSpPr>
          <p:grpSpPr>
            <a:xfrm>
              <a:off x="3254459" y="1981200"/>
              <a:ext cx="5638800" cy="762000"/>
              <a:chOff x="3352800" y="1600200"/>
              <a:chExt cx="5638800" cy="762000"/>
            </a:xfrm>
          </p:grpSpPr>
          <p:sp>
            <p:nvSpPr>
              <p:cNvPr id="65" name="Oval 64"/>
              <p:cNvSpPr/>
              <p:nvPr/>
            </p:nvSpPr>
            <p:spPr>
              <a:xfrm>
                <a:off x="3352800" y="1676400"/>
                <a:ext cx="1905000" cy="68580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chemeClr val="accent1">
                        <a:lumMod val="50000"/>
                      </a:schemeClr>
                    </a:solidFill>
                    <a:latin typeface="Tekton Pro" pitchFamily="34" charset="0"/>
                  </a:rPr>
                  <a:t>:_</a:t>
                </a:r>
                <a:r>
                  <a:rPr lang="en-US" dirty="0" err="1" smtClean="0">
                    <a:solidFill>
                      <a:schemeClr val="accent1">
                        <a:lumMod val="50000"/>
                      </a:schemeClr>
                    </a:solidFill>
                    <a:latin typeface="Tekton Pro" pitchFamily="34" charset="0"/>
                  </a:rPr>
                  <a:t>dave</a:t>
                </a:r>
                <a:endParaRPr lang="en-US" dirty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endParaRPr>
              </a:p>
            </p:txBody>
          </p:sp>
          <p:cxnSp>
            <p:nvCxnSpPr>
              <p:cNvPr id="66" name="Straight Arrow Connector 65"/>
              <p:cNvCxnSpPr>
                <a:stCxn id="65" idx="6"/>
                <a:endCxn id="67" idx="2"/>
              </p:cNvCxnSpPr>
              <p:nvPr/>
            </p:nvCxnSpPr>
            <p:spPr>
              <a:xfrm>
                <a:off x="5257800" y="2019300"/>
                <a:ext cx="182880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Oval 66"/>
              <p:cNvSpPr/>
              <p:nvPr/>
            </p:nvSpPr>
            <p:spPr>
              <a:xfrm>
                <a:off x="7086600" y="1676400"/>
                <a:ext cx="1905000" cy="68580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chemeClr val="accent1">
                        <a:lumMod val="50000"/>
                      </a:schemeClr>
                    </a:solidFill>
                    <a:latin typeface="Tekton Pro" pitchFamily="34" charset="0"/>
                  </a:rPr>
                  <a:t>:_john</a:t>
                </a:r>
                <a:endParaRPr lang="en-US" dirty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endParaRPr>
              </a:p>
            </p:txBody>
          </p:sp>
          <p:sp>
            <p:nvSpPr>
              <p:cNvPr id="68" name="Rectangle 67"/>
              <p:cNvSpPr/>
              <p:nvPr/>
            </p:nvSpPr>
            <p:spPr>
              <a:xfrm>
                <a:off x="5547823" y="1600200"/>
                <a:ext cx="12030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 smtClean="0">
                    <a:solidFill>
                      <a:schemeClr val="accent1">
                        <a:lumMod val="50000"/>
                      </a:schemeClr>
                    </a:solidFill>
                    <a:latin typeface="Tekton Pro" pitchFamily="34" charset="0"/>
                  </a:rPr>
                  <a:t>:hasParent</a:t>
                </a:r>
                <a:endParaRPr lang="en-US" dirty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endParaRPr>
              </a:p>
            </p:txBody>
          </p:sp>
        </p:grpSp>
        <p:pic>
          <p:nvPicPr>
            <p:cNvPr id="69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549859" y="1524000"/>
              <a:ext cx="3090862" cy="561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0" name="Rectangle 69"/>
            <p:cNvSpPr/>
            <p:nvPr/>
          </p:nvSpPr>
          <p:spPr>
            <a:xfrm>
              <a:off x="5410200" y="1066800"/>
              <a:ext cx="146360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:hasAncestor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</p:grpSp>
      <p:sp>
        <p:nvSpPr>
          <p:cNvPr id="72" name="TextBox 71"/>
          <p:cNvSpPr txBox="1"/>
          <p:nvPr/>
        </p:nvSpPr>
        <p:spPr>
          <a:xfrm>
            <a:off x="4267200" y="5209304"/>
            <a:ext cx="4988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>
                <a:solidFill>
                  <a:srgbClr val="FF0000"/>
                </a:solidFill>
                <a:latin typeface="Tekton Pro" pitchFamily="34" charset="0"/>
              </a:rPr>
              <a:t>X</a:t>
            </a:r>
            <a:endParaRPr lang="en-US" sz="4800" dirty="0">
              <a:solidFill>
                <a:srgbClr val="FF0000"/>
              </a:solidFill>
              <a:latin typeface="Tekton Pro" pitchFamily="34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257800" y="5124091"/>
            <a:ext cx="3994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smtClean="0">
                <a:latin typeface="Tekton Pro" pitchFamily="34" charset="0"/>
              </a:rPr>
              <a:t>?</a:t>
            </a:r>
            <a:endParaRPr lang="en-US" sz="3600" dirty="0"/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86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41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5" grpId="0"/>
      <p:bldP spid="44" grpId="0" animBg="1"/>
      <p:bldP spid="48" grpId="0"/>
      <p:bldP spid="72" grpId="0"/>
      <p:bldP spid="49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904" y="2057400"/>
            <a:ext cx="5803457" cy="42819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an object subproperty in Protégé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5660" y="1716442"/>
            <a:ext cx="3108231" cy="1609906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Graphite Light ATT" panose="03020402050402020203" pitchFamily="66" charset="0"/>
              </a:rPr>
              <a:t>3 </a:t>
            </a:r>
            <a:r>
              <a:rPr lang="en-US" sz="2400" b="1" dirty="0" smtClean="0">
                <a:latin typeface="Graphite Light ATT" panose="03020402050402020203" pitchFamily="66" charset="0"/>
              </a:rPr>
              <a:t>Different Methods</a:t>
            </a:r>
            <a:endParaRPr lang="en-US" sz="2400" b="1" dirty="0" smtClean="0">
              <a:latin typeface="Graphite Light ATT" panose="03020402050402020203" pitchFamily="66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b="1" dirty="0" smtClean="0">
                <a:latin typeface="Graphite Light ATT" panose="03020402050402020203" pitchFamily="66" charset="0"/>
              </a:rPr>
              <a:t>Create as a subproperty in the Object Property frame</a:t>
            </a:r>
            <a:endParaRPr lang="en-US" sz="2000" b="1" dirty="0">
              <a:latin typeface="Graphite Light ATT" panose="03020402050402020203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87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63941" y="3477448"/>
            <a:ext cx="2789839" cy="13219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gency FB" panose="020B0503020202020204" pitchFamily="34" charset="0"/>
              <a:buChar char="•"/>
              <a:defRPr sz="2800" kern="1200">
                <a:solidFill>
                  <a:schemeClr val="tx1"/>
                </a:solidFill>
                <a:latin typeface="Graphite MM" panose="020B0604020202020204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Graphite MM" panose="020B0604020202020204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Calibri" panose="020F0502020204030204" pitchFamily="34" charset="0"/>
              <a:buChar char="‒"/>
              <a:defRPr sz="1500" kern="1200">
                <a:solidFill>
                  <a:schemeClr val="tx1"/>
                </a:solidFill>
                <a:latin typeface="Graphite MM" panose="020B0604020202020204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5000000000000000000" pitchFamily="2" charset="2"/>
              <a:buChar char="§"/>
            </a:pPr>
            <a:r>
              <a:rPr lang="en-US" sz="2000" b="1" dirty="0" smtClean="0">
                <a:latin typeface="Graphite Light ATT" panose="03020402050402020203" pitchFamily="66" charset="0"/>
              </a:rPr>
              <a:t>Create, then declare as a subproperty in the Description frame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63942" y="5049834"/>
            <a:ext cx="2789839" cy="6847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gency FB" panose="020B0503020202020204" pitchFamily="34" charset="0"/>
              <a:buChar char="•"/>
              <a:defRPr sz="2800" kern="1200">
                <a:solidFill>
                  <a:schemeClr val="tx1"/>
                </a:solidFill>
                <a:latin typeface="Graphite MM" panose="020B0604020202020204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Graphite MM" panose="020B0604020202020204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Calibri" panose="020F0502020204030204" pitchFamily="34" charset="0"/>
              <a:buChar char="‒"/>
              <a:defRPr sz="1500" kern="1200">
                <a:solidFill>
                  <a:schemeClr val="tx1"/>
                </a:solidFill>
                <a:latin typeface="Graphite MM" panose="020B0604020202020204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5000000000000000000" pitchFamily="2" charset="2"/>
              <a:buChar char="§"/>
            </a:pPr>
            <a:r>
              <a:rPr lang="en-US" sz="2000" b="1" dirty="0" smtClean="0">
                <a:latin typeface="Graphite Light ATT" panose="03020402050402020203" pitchFamily="66" charset="0"/>
              </a:rPr>
              <a:t>Create, then </a:t>
            </a:r>
            <a:r>
              <a:rPr lang="en-US" sz="2000" b="1" dirty="0" err="1" smtClean="0">
                <a:latin typeface="Graphite Light ATT" panose="03020402050402020203" pitchFamily="66" charset="0"/>
              </a:rPr>
              <a:t>Drag’n’Drop</a:t>
            </a:r>
            <a:endParaRPr lang="en-US" sz="2000" b="1" dirty="0">
              <a:latin typeface="Graphite Light ATT" panose="03020402050402020203" pitchFamily="66" charset="0"/>
            </a:endParaRPr>
          </a:p>
        </p:txBody>
      </p:sp>
      <p:sp>
        <p:nvSpPr>
          <p:cNvPr id="8" name="Down Arrow 7"/>
          <p:cNvSpPr/>
          <p:nvPr/>
        </p:nvSpPr>
        <p:spPr>
          <a:xfrm>
            <a:off x="2744291" y="2740372"/>
            <a:ext cx="609600" cy="53340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own Arrow 8"/>
          <p:cNvSpPr/>
          <p:nvPr/>
        </p:nvSpPr>
        <p:spPr>
          <a:xfrm>
            <a:off x="6600012" y="3664988"/>
            <a:ext cx="609600" cy="53340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own Arrow 10"/>
          <p:cNvSpPr/>
          <p:nvPr/>
        </p:nvSpPr>
        <p:spPr>
          <a:xfrm>
            <a:off x="3861058" y="3566161"/>
            <a:ext cx="609600" cy="53340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/>
      <p:bldP spid="8" grpId="0" animBg="1"/>
      <p:bldP spid="9" grpId="0" animBg="1"/>
      <p:bldP spid="11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Subproperty inference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2183" y="1825625"/>
            <a:ext cx="3619331" cy="2478586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Graphite Light ATT" panose="03020402050402020203" pitchFamily="66" charset="0"/>
              </a:rPr>
              <a:t>The reasoner knows to infer the super-property (:</a:t>
            </a:r>
            <a:r>
              <a:rPr lang="en-US" sz="2400" b="1" dirty="0" err="1" smtClean="0">
                <a:latin typeface="Graphite Light ATT" panose="03020402050402020203" pitchFamily="66" charset="0"/>
              </a:rPr>
              <a:t>governedBy</a:t>
            </a:r>
            <a:r>
              <a:rPr lang="en-US" sz="2400" b="1" dirty="0" smtClean="0">
                <a:latin typeface="Graphite Light ATT" panose="03020402050402020203" pitchFamily="66" charset="0"/>
              </a:rPr>
              <a:t>) applies to the _</a:t>
            </a:r>
            <a:r>
              <a:rPr lang="en-US" sz="2400" b="1" dirty="0" err="1" smtClean="0">
                <a:latin typeface="Graphite Light ATT" panose="03020402050402020203" pitchFamily="66" charset="0"/>
              </a:rPr>
              <a:t>SiriusStar</a:t>
            </a:r>
            <a:r>
              <a:rPr lang="en-US" sz="2400" b="1" dirty="0" smtClean="0">
                <a:latin typeface="Graphite Light ATT" panose="03020402050402020203" pitchFamily="66" charset="0"/>
              </a:rPr>
              <a:t> because of the subproperty (:</a:t>
            </a:r>
            <a:r>
              <a:rPr lang="en-US" sz="2400" b="1" dirty="0" err="1" smtClean="0">
                <a:latin typeface="Graphite Light ATT" panose="03020402050402020203" pitchFamily="66" charset="0"/>
              </a:rPr>
              <a:t>flagOfRegistry</a:t>
            </a:r>
            <a:r>
              <a:rPr lang="en-US" sz="2400" b="1" dirty="0" smtClean="0">
                <a:latin typeface="Graphite Light ATT" panose="03020402050402020203" pitchFamily="66" charset="0"/>
              </a:rPr>
              <a:t>)</a:t>
            </a:r>
            <a:endParaRPr lang="en-US" sz="2400" b="1" dirty="0">
              <a:latin typeface="Graphite Light ATT" panose="03020402050402020203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88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09127" y="3474719"/>
            <a:ext cx="5497663" cy="2272937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3114415" y="5081451"/>
            <a:ext cx="4141998" cy="666205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114415" y="4415246"/>
            <a:ext cx="4141998" cy="666205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/>
          <p:cNvSpPr txBox="1"/>
          <p:nvPr/>
        </p:nvSpPr>
        <p:spPr>
          <a:xfrm>
            <a:off x="4940300" y="2325434"/>
            <a:ext cx="5715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Graphite MM" panose="02000206020000020004" pitchFamily="2" charset="0"/>
              </a:rPr>
              <a:t>[T]</a:t>
            </a:r>
            <a:endParaRPr lang="en-US" sz="2400" dirty="0">
              <a:solidFill>
                <a:srgbClr val="FF0000"/>
              </a:solidFill>
              <a:latin typeface="Graphite MM" panose="02000206020000020004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Graphite MM" panose="02000206020000020004" pitchFamily="2" charset="0"/>
              </a:rPr>
              <a:t>Transitive</a:t>
            </a:r>
            <a:endParaRPr lang="en-US" dirty="0">
              <a:latin typeface="Graphite MM" panose="02000206020000020004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2397"/>
            <a:ext cx="8229600" cy="680616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Graphite Light ATT" panose="03020402050402020203" pitchFamily="66" charset="0"/>
              </a:rPr>
              <a:t>This is what is going on with transitive</a:t>
            </a:r>
            <a:endParaRPr lang="en-US" sz="2400" b="1" dirty="0">
              <a:latin typeface="Graphite Light ATT" panose="03020402050402020203" pitchFamily="66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228600" y="4870531"/>
            <a:ext cx="1270000" cy="5334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Graphite MM" panose="02000206020000020004" pitchFamily="2" charset="0"/>
              </a:rPr>
              <a:t>: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  <a:latin typeface="Graphite MM" panose="02000206020000020004" pitchFamily="2" charset="0"/>
              </a:rPr>
              <a:t>sa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Graphite MM" panose="02000206020000020004" pitchFamily="2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425852" y="4870531"/>
            <a:ext cx="1371600" cy="5334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Graphite MM" panose="02000206020000020004" pitchFamily="2" charset="0"/>
              </a:rPr>
              <a:t>:FC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Graphite MM" panose="02000206020000020004" pitchFamily="2" charset="0"/>
            </a:endParaRPr>
          </a:p>
        </p:txBody>
      </p:sp>
      <p:cxnSp>
        <p:nvCxnSpPr>
          <p:cNvPr id="6" name="Straight Arrow Connector 5"/>
          <p:cNvCxnSpPr>
            <a:endCxn id="5" idx="2"/>
          </p:cNvCxnSpPr>
          <p:nvPr/>
        </p:nvCxnSpPr>
        <p:spPr>
          <a:xfrm>
            <a:off x="1498600" y="5137231"/>
            <a:ext cx="92725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432300" y="4710107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mtClean="0">
                <a:solidFill>
                  <a:schemeClr val="accent1">
                    <a:lumMod val="50000"/>
                  </a:schemeClr>
                </a:solidFill>
                <a:latin typeface="Graphite MM" panose="02000206020000020004" pitchFamily="2" charset="0"/>
              </a:rPr>
              <a:t>:locatedIn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Graphite MM" panose="02000206020000020004" pitchFamily="2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4724704" y="4870531"/>
            <a:ext cx="1371600" cy="5334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Graphite MM" panose="02000206020000020004" pitchFamily="2" charset="0"/>
              </a:rPr>
              <a:t>:CO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Graphite MM" panose="02000206020000020004" pitchFamily="2" charset="0"/>
            </a:endParaRPr>
          </a:p>
        </p:txBody>
      </p:sp>
      <p:cxnSp>
        <p:nvCxnSpPr>
          <p:cNvPr id="9" name="Straight Arrow Connector 8"/>
          <p:cNvCxnSpPr>
            <a:stCxn id="5" idx="6"/>
            <a:endCxn id="8" idx="2"/>
          </p:cNvCxnSpPr>
          <p:nvPr/>
        </p:nvCxnSpPr>
        <p:spPr>
          <a:xfrm>
            <a:off x="3797452" y="5137231"/>
            <a:ext cx="92725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entagon 9"/>
          <p:cNvSpPr/>
          <p:nvPr/>
        </p:nvSpPr>
        <p:spPr>
          <a:xfrm>
            <a:off x="2971800" y="2601684"/>
            <a:ext cx="2057400" cy="304801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accent1">
                    <a:lumMod val="50000"/>
                  </a:schemeClr>
                </a:solidFill>
                <a:latin typeface="Graphite MM" panose="02000206020000020004" pitchFamily="2" charset="0"/>
              </a:rPr>
              <a:t>:locatedIn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Graphite MM" panose="02000206020000020004" pitchFamily="2" charset="0"/>
            </a:endParaRPr>
          </a:p>
        </p:txBody>
      </p:sp>
      <p:sp>
        <p:nvSpPr>
          <p:cNvPr id="15" name="Freeform 14"/>
          <p:cNvSpPr/>
          <p:nvPr/>
        </p:nvSpPr>
        <p:spPr>
          <a:xfrm rot="10800000">
            <a:off x="519000" y="5298737"/>
            <a:ext cx="4815000" cy="537667"/>
          </a:xfrm>
          <a:custGeom>
            <a:avLst/>
            <a:gdLst>
              <a:gd name="connsiteX0" fmla="*/ 258839 w 6180667"/>
              <a:gd name="connsiteY0" fmla="*/ 437847 h 466876"/>
              <a:gd name="connsiteX1" fmla="*/ 810381 w 6180667"/>
              <a:gd name="connsiteY1" fmla="*/ 60476 h 466876"/>
              <a:gd name="connsiteX2" fmla="*/ 5121124 w 6180667"/>
              <a:gd name="connsiteY2" fmla="*/ 74990 h 466876"/>
              <a:gd name="connsiteX3" fmla="*/ 6180667 w 6180667"/>
              <a:gd name="connsiteY3" fmla="*/ 466876 h 46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0667" h="466876">
                <a:moveTo>
                  <a:pt x="258839" y="437847"/>
                </a:moveTo>
                <a:cubicBezTo>
                  <a:pt x="129419" y="279399"/>
                  <a:pt x="0" y="120952"/>
                  <a:pt x="810381" y="60476"/>
                </a:cubicBezTo>
                <a:cubicBezTo>
                  <a:pt x="1620762" y="0"/>
                  <a:pt x="4226077" y="7257"/>
                  <a:pt x="5121124" y="74990"/>
                </a:cubicBezTo>
                <a:cubicBezTo>
                  <a:pt x="6016171" y="142723"/>
                  <a:pt x="6098419" y="304799"/>
                  <a:pt x="6180667" y="466876"/>
                </a:cubicBezTo>
              </a:path>
            </a:pathLst>
          </a:custGeom>
          <a:ln w="31750">
            <a:prstDash val="dash"/>
            <a:headEnd type="arrow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Graphite MM" panose="02000206020000020004" pitchFamily="2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272644" y="5800167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mtClean="0">
                <a:solidFill>
                  <a:schemeClr val="accent1">
                    <a:lumMod val="50000"/>
                  </a:schemeClr>
                </a:solidFill>
                <a:latin typeface="Graphite MM" panose="02000206020000020004" pitchFamily="2" charset="0"/>
              </a:rPr>
              <a:t>:locatedIn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Graphite MM" panose="02000206020000020004" pitchFamily="2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722180" y="4710107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mtClean="0">
                <a:solidFill>
                  <a:schemeClr val="accent1">
                    <a:lumMod val="50000"/>
                  </a:schemeClr>
                </a:solidFill>
                <a:latin typeface="Graphite MM" panose="02000206020000020004" pitchFamily="2" charset="0"/>
              </a:rPr>
              <a:t>:locatedIn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Graphite MM" panose="02000206020000020004" pitchFamily="2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816289" y="2387514"/>
            <a:ext cx="758240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  <a:latin typeface="Graphite MM" panose="02000206020000020004" pitchFamily="2" charset="0"/>
              </a:rPr>
              <a:t>TBox</a:t>
            </a:r>
            <a:endParaRPr lang="en-US" sz="2000" dirty="0">
              <a:solidFill>
                <a:srgbClr val="FF0000"/>
              </a:solidFill>
              <a:latin typeface="Graphite MM" panose="02000206020000020004" pitchFamily="2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28600" y="3392703"/>
            <a:ext cx="8458200" cy="239849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raphite MM" panose="02000206020000020004" pitchFamily="2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816289" y="4107264"/>
            <a:ext cx="794311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  <a:latin typeface="Graphite MM" panose="02000206020000020004" pitchFamily="2" charset="0"/>
              </a:rPr>
              <a:t>ABox</a:t>
            </a:r>
            <a:endParaRPr lang="en-US" sz="2000" dirty="0">
              <a:solidFill>
                <a:srgbClr val="FF0000"/>
              </a:solidFill>
              <a:latin typeface="Graphite MM" panose="02000206020000020004" pitchFamily="2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28600" y="2381307"/>
            <a:ext cx="8458200" cy="791019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raphite MM" panose="02000206020000020004" pitchFamily="2" charset="0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7023555" y="4870531"/>
            <a:ext cx="1371600" cy="5334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Graphite MM" panose="02000206020000020004" pitchFamily="2" charset="0"/>
              </a:rPr>
              <a:t>:USA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Graphite MM" panose="02000206020000020004" pitchFamily="2" charset="0"/>
            </a:endParaRPr>
          </a:p>
        </p:txBody>
      </p:sp>
      <p:cxnSp>
        <p:nvCxnSpPr>
          <p:cNvPr id="27" name="Straight Arrow Connector 26"/>
          <p:cNvCxnSpPr>
            <a:stCxn id="8" idx="6"/>
          </p:cNvCxnSpPr>
          <p:nvPr/>
        </p:nvCxnSpPr>
        <p:spPr>
          <a:xfrm>
            <a:off x="6096304" y="5137231"/>
            <a:ext cx="92725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988735" y="4710107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mtClean="0">
                <a:solidFill>
                  <a:schemeClr val="accent1">
                    <a:lumMod val="50000"/>
                  </a:schemeClr>
                </a:solidFill>
                <a:latin typeface="Graphite MM" panose="02000206020000020004" pitchFamily="2" charset="0"/>
              </a:rPr>
              <a:t>:locatedIn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Graphite MM" panose="02000206020000020004" pitchFamily="2" charset="0"/>
            </a:endParaRPr>
          </a:p>
        </p:txBody>
      </p:sp>
      <p:sp>
        <p:nvSpPr>
          <p:cNvPr id="36" name="Freeform 35"/>
          <p:cNvSpPr/>
          <p:nvPr/>
        </p:nvSpPr>
        <p:spPr>
          <a:xfrm rot="10800000">
            <a:off x="3026766" y="5403931"/>
            <a:ext cx="4815000" cy="537667"/>
          </a:xfrm>
          <a:custGeom>
            <a:avLst/>
            <a:gdLst>
              <a:gd name="connsiteX0" fmla="*/ 258839 w 6180667"/>
              <a:gd name="connsiteY0" fmla="*/ 437847 h 466876"/>
              <a:gd name="connsiteX1" fmla="*/ 810381 w 6180667"/>
              <a:gd name="connsiteY1" fmla="*/ 60476 h 466876"/>
              <a:gd name="connsiteX2" fmla="*/ 5121124 w 6180667"/>
              <a:gd name="connsiteY2" fmla="*/ 74990 h 466876"/>
              <a:gd name="connsiteX3" fmla="*/ 6180667 w 6180667"/>
              <a:gd name="connsiteY3" fmla="*/ 466876 h 46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0667" h="466876">
                <a:moveTo>
                  <a:pt x="258839" y="437847"/>
                </a:moveTo>
                <a:cubicBezTo>
                  <a:pt x="129419" y="279399"/>
                  <a:pt x="0" y="120952"/>
                  <a:pt x="810381" y="60476"/>
                </a:cubicBezTo>
                <a:cubicBezTo>
                  <a:pt x="1620762" y="0"/>
                  <a:pt x="4226077" y="7257"/>
                  <a:pt x="5121124" y="74990"/>
                </a:cubicBezTo>
                <a:cubicBezTo>
                  <a:pt x="6016171" y="142723"/>
                  <a:pt x="6098419" y="304799"/>
                  <a:pt x="6180667" y="466876"/>
                </a:cubicBezTo>
              </a:path>
            </a:pathLst>
          </a:custGeom>
          <a:ln w="31750">
            <a:prstDash val="dash"/>
            <a:headEnd type="arrow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Graphite MM" panose="02000206020000020004" pitchFamily="2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949294" y="6034739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mtClean="0">
                <a:solidFill>
                  <a:schemeClr val="accent1">
                    <a:lumMod val="50000"/>
                  </a:schemeClr>
                </a:solidFill>
                <a:latin typeface="Graphite MM" panose="02000206020000020004" pitchFamily="2" charset="0"/>
              </a:rPr>
              <a:t>:locatedIn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Graphite MM" panose="02000206020000020004" pitchFamily="2" charset="0"/>
            </a:endParaRPr>
          </a:p>
        </p:txBody>
      </p:sp>
      <p:sp>
        <p:nvSpPr>
          <p:cNvPr id="38" name="Freeform 37"/>
          <p:cNvSpPr/>
          <p:nvPr/>
        </p:nvSpPr>
        <p:spPr>
          <a:xfrm rot="10800000" flipV="1">
            <a:off x="435426" y="4030168"/>
            <a:ext cx="7406337" cy="689963"/>
          </a:xfrm>
          <a:custGeom>
            <a:avLst/>
            <a:gdLst>
              <a:gd name="connsiteX0" fmla="*/ 258839 w 6180667"/>
              <a:gd name="connsiteY0" fmla="*/ 437847 h 466876"/>
              <a:gd name="connsiteX1" fmla="*/ 810381 w 6180667"/>
              <a:gd name="connsiteY1" fmla="*/ 60476 h 466876"/>
              <a:gd name="connsiteX2" fmla="*/ 5121124 w 6180667"/>
              <a:gd name="connsiteY2" fmla="*/ 74990 h 466876"/>
              <a:gd name="connsiteX3" fmla="*/ 6180667 w 6180667"/>
              <a:gd name="connsiteY3" fmla="*/ 466876 h 46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0667" h="466876">
                <a:moveTo>
                  <a:pt x="258839" y="437847"/>
                </a:moveTo>
                <a:cubicBezTo>
                  <a:pt x="129419" y="279399"/>
                  <a:pt x="0" y="120952"/>
                  <a:pt x="810381" y="60476"/>
                </a:cubicBezTo>
                <a:cubicBezTo>
                  <a:pt x="1620762" y="0"/>
                  <a:pt x="4226077" y="7257"/>
                  <a:pt x="5121124" y="74990"/>
                </a:cubicBezTo>
                <a:cubicBezTo>
                  <a:pt x="6016171" y="142723"/>
                  <a:pt x="6098419" y="304799"/>
                  <a:pt x="6180667" y="466876"/>
                </a:cubicBezTo>
              </a:path>
            </a:pathLst>
          </a:custGeom>
          <a:ln w="31750">
            <a:prstDash val="dash"/>
            <a:headEnd type="arrow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Graphite MM" panose="02000206020000020004" pitchFamily="2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850896" y="3697074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mtClean="0">
                <a:solidFill>
                  <a:schemeClr val="accent1">
                    <a:lumMod val="50000"/>
                  </a:schemeClr>
                </a:solidFill>
                <a:latin typeface="Graphite MM" panose="02000206020000020004" pitchFamily="2" charset="0"/>
              </a:rPr>
              <a:t>:locatedIn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Graphite MM" panose="02000206020000020004" pitchFamily="2" charset="0"/>
            </a:endParaRP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89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383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7" grpId="0"/>
      <p:bldP spid="8" grpId="0" animBg="1"/>
      <p:bldP spid="10" grpId="0" animBg="1"/>
      <p:bldP spid="15" grpId="0" animBg="1"/>
      <p:bldP spid="16" grpId="0"/>
      <p:bldP spid="17" grpId="0"/>
      <p:bldP spid="18" grpId="0" animBg="1"/>
      <p:bldP spid="19" grpId="0" animBg="1"/>
      <p:bldP spid="20" grpId="0" animBg="1"/>
      <p:bldP spid="21" grpId="0" animBg="1"/>
      <p:bldP spid="26" grpId="0" animBg="1"/>
      <p:bldP spid="30" grpId="0"/>
      <p:bldP spid="36" grpId="0" animBg="1"/>
      <p:bldP spid="37" grpId="0"/>
      <p:bldP spid="38" grpId="0" animBg="1"/>
      <p:bldP spid="39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2931558"/>
            <a:ext cx="6858000" cy="18690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Transitive Pattern</a:t>
            </a:r>
          </a:p>
        </p:txBody>
      </p:sp>
      <p:sp>
        <p:nvSpPr>
          <p:cNvPr id="29" name="Oval 28"/>
          <p:cNvSpPr/>
          <p:nvPr/>
        </p:nvSpPr>
        <p:spPr>
          <a:xfrm>
            <a:off x="609600" y="4876800"/>
            <a:ext cx="1219200" cy="5334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:_car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cxnSp>
        <p:nvCxnSpPr>
          <p:cNvPr id="30" name="Straight Arrow Connector 29"/>
          <p:cNvCxnSpPr>
            <a:stCxn id="29" idx="6"/>
            <a:endCxn id="31" idx="2"/>
          </p:cNvCxnSpPr>
          <p:nvPr/>
        </p:nvCxnSpPr>
        <p:spPr>
          <a:xfrm>
            <a:off x="1828800" y="5143500"/>
            <a:ext cx="842555" cy="0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671355" y="4800600"/>
            <a:ext cx="1518500" cy="6858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:_engine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828800" y="4724400"/>
            <a:ext cx="9917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hasPart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4267200"/>
            <a:ext cx="22860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" name="Rectangle 36"/>
          <p:cNvSpPr/>
          <p:nvPr/>
        </p:nvSpPr>
        <p:spPr>
          <a:xfrm>
            <a:off x="2333895" y="3907965"/>
            <a:ext cx="9917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hasPart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15" name="Pentagon 14"/>
          <p:cNvSpPr/>
          <p:nvPr/>
        </p:nvSpPr>
        <p:spPr>
          <a:xfrm>
            <a:off x="685800" y="1447800"/>
            <a:ext cx="2260600" cy="304800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  <a:latin typeface="Tekton Pro" pitchFamily="34" charset="0"/>
              </a:rPr>
              <a:t>hasPart</a:t>
            </a:r>
            <a:endParaRPr lang="en-US" dirty="0">
              <a:solidFill>
                <a:schemeClr val="accent4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057400" y="1093728"/>
            <a:ext cx="13694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accent4">
                    <a:lumMod val="75000"/>
                  </a:schemeClr>
                </a:solidFill>
                <a:latin typeface="Tekton Pro" panose="020F0603020208020904" pitchFamily="34" charset="0"/>
              </a:rPr>
              <a:t>+transitive</a:t>
            </a:r>
            <a:endParaRPr lang="en-US" sz="2000" dirty="0">
              <a:solidFill>
                <a:schemeClr val="accent4">
                  <a:lumMod val="75000"/>
                </a:schemeClr>
              </a:solidFill>
              <a:latin typeface="Tekton Pro" panose="020F0603020208020904" pitchFamily="34" charset="0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130800" y="4800600"/>
            <a:ext cx="1219200" cy="6858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:_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distr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cxnSp>
        <p:nvCxnSpPr>
          <p:cNvPr id="36" name="Straight Arrow Connector 35"/>
          <p:cNvCxnSpPr>
            <a:stCxn id="31" idx="6"/>
            <a:endCxn id="34" idx="2"/>
          </p:cNvCxnSpPr>
          <p:nvPr/>
        </p:nvCxnSpPr>
        <p:spPr>
          <a:xfrm>
            <a:off x="4189855" y="5143500"/>
            <a:ext cx="940945" cy="0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4038600" y="4724400"/>
            <a:ext cx="9917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hasPart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324600" y="4724400"/>
            <a:ext cx="9917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hasPart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7391399" y="4800600"/>
            <a:ext cx="1446655" cy="6858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:_points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cxnSp>
        <p:nvCxnSpPr>
          <p:cNvPr id="44" name="Straight Arrow Connector 43"/>
          <p:cNvCxnSpPr>
            <a:endCxn id="43" idx="2"/>
          </p:cNvCxnSpPr>
          <p:nvPr/>
        </p:nvCxnSpPr>
        <p:spPr>
          <a:xfrm>
            <a:off x="6400800" y="5143500"/>
            <a:ext cx="990599" cy="0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57600" y="4267200"/>
            <a:ext cx="22860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" name="Rectangle 45"/>
          <p:cNvSpPr/>
          <p:nvPr/>
        </p:nvSpPr>
        <p:spPr>
          <a:xfrm>
            <a:off x="4343400" y="3907965"/>
            <a:ext cx="9917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hasPart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pic>
        <p:nvPicPr>
          <p:cNvPr id="47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9800" y="4267200"/>
            <a:ext cx="22860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" name="Rectangle 47"/>
          <p:cNvSpPr/>
          <p:nvPr/>
        </p:nvSpPr>
        <p:spPr>
          <a:xfrm>
            <a:off x="6222286" y="3907965"/>
            <a:ext cx="9917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hasPart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pic>
        <p:nvPicPr>
          <p:cNvPr id="5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V="1">
            <a:off x="3733800" y="5486400"/>
            <a:ext cx="44196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" name="Rectangle 50"/>
          <p:cNvSpPr/>
          <p:nvPr/>
        </p:nvSpPr>
        <p:spPr>
          <a:xfrm>
            <a:off x="2133600" y="6019800"/>
            <a:ext cx="9917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hasPart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5638800" y="6096000"/>
            <a:ext cx="9917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hasPart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4343400" y="2514600"/>
            <a:ext cx="9917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hasPart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038600" y="990600"/>
            <a:ext cx="4953000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b="1" dirty="0" smtClean="0">
                <a:latin typeface="Tekton Pro" pitchFamily="34" charset="0"/>
              </a:rPr>
              <a:t>The direct assembly is a nice hierarchy. It would get lost in all the other links.</a:t>
            </a:r>
            <a:endParaRPr lang="en-US" sz="2400" dirty="0">
              <a:latin typeface="Tekton Pro" pitchFamily="34" charset="0"/>
            </a:endParaRPr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90</a:t>
            </a:fld>
            <a:endParaRPr lang="en-US" dirty="0"/>
          </a:p>
        </p:txBody>
      </p:sp>
      <p:pic>
        <p:nvPicPr>
          <p:cNvPr id="49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V="1">
            <a:off x="1371600" y="5486399"/>
            <a:ext cx="44196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7641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1" grpId="0" animBg="1"/>
      <p:bldP spid="32" grpId="0"/>
      <p:bldP spid="37" grpId="0"/>
      <p:bldP spid="34" grpId="0" animBg="1"/>
      <p:bldP spid="38" grpId="0"/>
      <p:bldP spid="42" grpId="0"/>
      <p:bldP spid="43" grpId="0" animBg="1"/>
      <p:bldP spid="46" grpId="0"/>
      <p:bldP spid="48" grpId="0"/>
      <p:bldP spid="51" grpId="0"/>
      <p:bldP spid="52" grpId="0"/>
      <p:bldP spid="54" grpId="0"/>
      <p:bldP spid="28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Transitive Pattern</a:t>
            </a:r>
          </a:p>
        </p:txBody>
      </p:sp>
      <p:sp>
        <p:nvSpPr>
          <p:cNvPr id="14" name="Pentagon 13"/>
          <p:cNvSpPr/>
          <p:nvPr/>
        </p:nvSpPr>
        <p:spPr>
          <a:xfrm>
            <a:off x="659674" y="2447925"/>
            <a:ext cx="2260600" cy="304800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FF0000"/>
                </a:solidFill>
                <a:latin typeface="Tekton Pro" pitchFamily="34" charset="0"/>
              </a:rPr>
              <a:t>hasDirectPart</a:t>
            </a:r>
            <a:endParaRPr lang="en-US" dirty="0">
              <a:solidFill>
                <a:srgbClr val="FF0000"/>
              </a:solidFill>
              <a:latin typeface="Tekton Pro" pitchFamily="34" charset="0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1752600" y="1892754"/>
            <a:ext cx="0" cy="533400"/>
          </a:xfrm>
          <a:prstGeom prst="straightConnector1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>
            <a:off x="1676400" y="1752600"/>
            <a:ext cx="152400" cy="152400"/>
          </a:xfrm>
          <a:prstGeom prst="triangle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038600" y="1337896"/>
            <a:ext cx="4831976" cy="4909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b="1" dirty="0" smtClean="0">
                <a:latin typeface="Tekton Pro" pitchFamily="34" charset="0"/>
              </a:rPr>
              <a:t>Do this instead.</a:t>
            </a:r>
            <a:endParaRPr lang="en-US" sz="2800" dirty="0">
              <a:latin typeface="Tekton Pro" pitchFamily="34" charset="0"/>
            </a:endParaRPr>
          </a:p>
        </p:txBody>
      </p:sp>
      <p:pic>
        <p:nvPicPr>
          <p:cNvPr id="2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27915" y="2971800"/>
            <a:ext cx="6858000" cy="1828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Oval 20"/>
          <p:cNvSpPr/>
          <p:nvPr/>
        </p:nvSpPr>
        <p:spPr>
          <a:xfrm>
            <a:off x="465915" y="4876800"/>
            <a:ext cx="1219200" cy="5334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:_car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cxnSp>
        <p:nvCxnSpPr>
          <p:cNvPr id="22" name="Straight Arrow Connector 21"/>
          <p:cNvCxnSpPr>
            <a:stCxn id="21" idx="6"/>
            <a:endCxn id="23" idx="2"/>
          </p:cNvCxnSpPr>
          <p:nvPr/>
        </p:nvCxnSpPr>
        <p:spPr>
          <a:xfrm>
            <a:off x="1685115" y="5143500"/>
            <a:ext cx="915549" cy="0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2600664" y="4800600"/>
            <a:ext cx="1532744" cy="6858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:_engine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385836" y="4724400"/>
            <a:ext cx="15903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ekton Pro" pitchFamily="34" charset="0"/>
              </a:rPr>
              <a:t>:</a:t>
            </a:r>
            <a:r>
              <a:rPr lang="en-US" dirty="0" err="1" smtClean="0">
                <a:solidFill>
                  <a:srgbClr val="FF0000"/>
                </a:solidFill>
                <a:latin typeface="Tekton Pro" pitchFamily="34" charset="0"/>
              </a:rPr>
              <a:t>hasDirectPart</a:t>
            </a:r>
            <a:endParaRPr lang="en-US" dirty="0">
              <a:solidFill>
                <a:srgbClr val="FF0000"/>
              </a:solidFill>
              <a:latin typeface="Tekton Pro" pitchFamily="34" charset="0"/>
            </a:endParaRPr>
          </a:p>
        </p:txBody>
      </p:sp>
      <p:pic>
        <p:nvPicPr>
          <p:cNvPr id="2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51715" y="4267200"/>
            <a:ext cx="22860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" name="Rectangle 25"/>
          <p:cNvSpPr/>
          <p:nvPr/>
        </p:nvSpPr>
        <p:spPr>
          <a:xfrm>
            <a:off x="1837515" y="3810000"/>
            <a:ext cx="9917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hasPart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4987115" y="4800600"/>
            <a:ext cx="1219200" cy="6858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:_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distr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cxnSp>
        <p:nvCxnSpPr>
          <p:cNvPr id="28" name="Straight Arrow Connector 27"/>
          <p:cNvCxnSpPr>
            <a:stCxn id="23" idx="6"/>
            <a:endCxn id="27" idx="2"/>
          </p:cNvCxnSpPr>
          <p:nvPr/>
        </p:nvCxnSpPr>
        <p:spPr>
          <a:xfrm>
            <a:off x="4133408" y="5143500"/>
            <a:ext cx="853707" cy="0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3595636" y="4724400"/>
            <a:ext cx="15903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ekton Pro" pitchFamily="34" charset="0"/>
              </a:rPr>
              <a:t>:</a:t>
            </a:r>
            <a:r>
              <a:rPr lang="en-US" dirty="0" err="1" smtClean="0">
                <a:solidFill>
                  <a:srgbClr val="FF0000"/>
                </a:solidFill>
                <a:latin typeface="Tekton Pro" pitchFamily="34" charset="0"/>
              </a:rPr>
              <a:t>hasDirectPart</a:t>
            </a:r>
            <a:endParaRPr lang="en-US" dirty="0">
              <a:solidFill>
                <a:srgbClr val="FF0000"/>
              </a:solidFill>
              <a:latin typeface="Tekton Pro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881636" y="4724400"/>
            <a:ext cx="15903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ekton Pro" pitchFamily="34" charset="0"/>
              </a:rPr>
              <a:t>:</a:t>
            </a:r>
            <a:r>
              <a:rPr lang="en-US" dirty="0" err="1" smtClean="0">
                <a:solidFill>
                  <a:srgbClr val="FF0000"/>
                </a:solidFill>
                <a:latin typeface="Tekton Pro" pitchFamily="34" charset="0"/>
              </a:rPr>
              <a:t>hasDirectPart</a:t>
            </a:r>
            <a:endParaRPr lang="en-US" dirty="0">
              <a:solidFill>
                <a:srgbClr val="FF0000"/>
              </a:solidFill>
              <a:latin typeface="Tekton Pro" pitchFamily="34" charset="0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7247714" y="4800600"/>
            <a:ext cx="1533893" cy="6858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:_points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6211398" y="5145980"/>
            <a:ext cx="990599" cy="0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13915" y="4267200"/>
            <a:ext cx="22860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" name="Rectangle 39"/>
          <p:cNvSpPr/>
          <p:nvPr/>
        </p:nvSpPr>
        <p:spPr>
          <a:xfrm>
            <a:off x="4199715" y="3810000"/>
            <a:ext cx="9917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hasPart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pic>
        <p:nvPicPr>
          <p:cNvPr id="41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76115" y="4267200"/>
            <a:ext cx="22860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2" name="Rectangle 41"/>
          <p:cNvSpPr/>
          <p:nvPr/>
        </p:nvSpPr>
        <p:spPr>
          <a:xfrm>
            <a:off x="6561915" y="3810000"/>
            <a:ext cx="9917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hasPart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pic>
        <p:nvPicPr>
          <p:cNvPr id="43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V="1">
            <a:off x="1227915" y="5486399"/>
            <a:ext cx="4419600" cy="58102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</p:pic>
      <p:pic>
        <p:nvPicPr>
          <p:cNvPr id="4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V="1">
            <a:off x="3590115" y="5486400"/>
            <a:ext cx="44196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" name="Rectangle 44"/>
          <p:cNvSpPr/>
          <p:nvPr/>
        </p:nvSpPr>
        <p:spPr>
          <a:xfrm>
            <a:off x="1989915" y="6019800"/>
            <a:ext cx="9917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hasPart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495115" y="6096000"/>
            <a:ext cx="9917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hasPart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199715" y="2514600"/>
            <a:ext cx="9917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hasPart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038600" y="1947496"/>
            <a:ext cx="4831976" cy="4909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b="1" dirty="0" smtClean="0">
                <a:latin typeface="Tekton Pro" pitchFamily="34" charset="0"/>
              </a:rPr>
              <a:t>Best of all worlds.</a:t>
            </a:r>
            <a:endParaRPr lang="en-US" sz="2800" dirty="0">
              <a:latin typeface="Tekton Pro" pitchFamily="34" charset="0"/>
            </a:endParaRPr>
          </a:p>
        </p:txBody>
      </p:sp>
      <p:sp>
        <p:nvSpPr>
          <p:cNvPr id="32" name="Pentagon 31"/>
          <p:cNvSpPr/>
          <p:nvPr/>
        </p:nvSpPr>
        <p:spPr>
          <a:xfrm>
            <a:off x="685800" y="1447800"/>
            <a:ext cx="2260600" cy="304800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  <a:latin typeface="Tekton Pro" pitchFamily="34" charset="0"/>
              </a:rPr>
              <a:t>hasPart</a:t>
            </a:r>
            <a:endParaRPr lang="en-US" dirty="0">
              <a:solidFill>
                <a:schemeClr val="accent4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057400" y="1093728"/>
            <a:ext cx="13694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accent4">
                    <a:lumMod val="75000"/>
                  </a:schemeClr>
                </a:solidFill>
                <a:latin typeface="Tekton Pro" panose="020F0603020208020904" pitchFamily="34" charset="0"/>
              </a:rPr>
              <a:t>+transitive</a:t>
            </a:r>
            <a:endParaRPr lang="en-US" sz="2000" dirty="0">
              <a:solidFill>
                <a:schemeClr val="accent4">
                  <a:lumMod val="75000"/>
                </a:schemeClr>
              </a:solidFill>
              <a:latin typeface="Tekton Pro" panose="020F0603020208020904" pitchFamily="34" charset="0"/>
            </a:endParaRPr>
          </a:p>
        </p:txBody>
      </p:sp>
      <p:sp>
        <p:nvSpPr>
          <p:cNvPr id="37" name="Slide Number Placeholder 36"/>
          <p:cNvSpPr>
            <a:spLocks noGrp="1"/>
          </p:cNvSpPr>
          <p:nvPr>
            <p:ph type="sldNum" sz="quarter" idx="10"/>
          </p:nvPr>
        </p:nvSpPr>
        <p:spPr>
          <a:xfrm>
            <a:off x="6314265" y="6356351"/>
            <a:ext cx="2057400" cy="365125"/>
          </a:xfrm>
        </p:spPr>
        <p:txBody>
          <a:bodyPr/>
          <a:lstStyle/>
          <a:p>
            <a:fld id="{2C2D308B-B31D-4C87-80A7-0C493512D792}" type="slidenum">
              <a:rPr lang="en-US" smtClean="0"/>
              <a:pPr/>
              <a:t>91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41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8" grpId="0" animBg="1"/>
      <p:bldP spid="19" grpId="0"/>
      <p:bldP spid="21" grpId="0" animBg="1"/>
      <p:bldP spid="23" grpId="0" animBg="1"/>
      <p:bldP spid="24" grpId="0"/>
      <p:bldP spid="26" grpId="0"/>
      <p:bldP spid="27" grpId="0" animBg="1"/>
      <p:bldP spid="33" grpId="0"/>
      <p:bldP spid="35" grpId="0"/>
      <p:bldP spid="36" grpId="0" animBg="1"/>
      <p:bldP spid="40" grpId="0"/>
      <p:bldP spid="42" grpId="0"/>
      <p:bldP spid="45" grpId="0"/>
      <p:bldP spid="46" grpId="0"/>
      <p:bldP spid="47" grpId="0"/>
      <p:bldP spid="48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Transitive Pattern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622766"/>
            <a:ext cx="8229600" cy="2625634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Graphite Light ATT" panose="03020402050402020203" pitchFamily="66" charset="0"/>
              </a:rPr>
              <a:t>Combines transitivity and subproperty</a:t>
            </a:r>
          </a:p>
          <a:p>
            <a:r>
              <a:rPr lang="en-US" sz="2400" b="1" dirty="0" smtClean="0">
                <a:latin typeface="Graphite Light ATT" panose="03020402050402020203" pitchFamily="66" charset="0"/>
              </a:rPr>
              <a:t>Whenever you use transitive properties, </a:t>
            </a:r>
            <a:br>
              <a:rPr lang="en-US" sz="2400" b="1" dirty="0" smtClean="0">
                <a:latin typeface="Graphite Light ATT" panose="03020402050402020203" pitchFamily="66" charset="0"/>
              </a:rPr>
            </a:br>
            <a:r>
              <a:rPr lang="en-US" sz="2400" b="1" dirty="0" smtClean="0">
                <a:latin typeface="Graphite Light ATT" panose="03020402050402020203" pitchFamily="66" charset="0"/>
              </a:rPr>
              <a:t>use this classic pattern</a:t>
            </a:r>
          </a:p>
        </p:txBody>
      </p:sp>
      <p:sp>
        <p:nvSpPr>
          <p:cNvPr id="4" name="Pentagon 3"/>
          <p:cNvSpPr/>
          <p:nvPr/>
        </p:nvSpPr>
        <p:spPr>
          <a:xfrm>
            <a:off x="3021874" y="2672729"/>
            <a:ext cx="2260600" cy="304800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4">
                    <a:lumMod val="50000"/>
                  </a:schemeClr>
                </a:solidFill>
                <a:latin typeface="Tekton Pro" pitchFamily="34" charset="0"/>
              </a:rPr>
              <a:t>hasParent</a:t>
            </a:r>
            <a:endParaRPr lang="en-US" dirty="0">
              <a:solidFill>
                <a:schemeClr val="accent4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5" name="Pentagon 4"/>
          <p:cNvSpPr/>
          <p:nvPr/>
        </p:nvSpPr>
        <p:spPr>
          <a:xfrm>
            <a:off x="3048000" y="1649472"/>
            <a:ext cx="2260600" cy="304800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4">
                    <a:lumMod val="50000"/>
                  </a:schemeClr>
                </a:solidFill>
                <a:latin typeface="Tekton Pro" pitchFamily="34" charset="0"/>
              </a:rPr>
              <a:t>hasAncestor</a:t>
            </a:r>
            <a:endParaRPr lang="en-US" dirty="0">
              <a:solidFill>
                <a:schemeClr val="accent4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19600" y="1295400"/>
            <a:ext cx="13694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accent4">
                    <a:lumMod val="75000"/>
                  </a:schemeClr>
                </a:solidFill>
                <a:latin typeface="Tekton Pro" panose="020F0603020208020904" pitchFamily="34" charset="0"/>
              </a:rPr>
              <a:t>+transitive</a:t>
            </a:r>
            <a:endParaRPr lang="en-US" sz="2000" dirty="0">
              <a:solidFill>
                <a:schemeClr val="accent4">
                  <a:lumMod val="75000"/>
                </a:schemeClr>
              </a:solidFill>
              <a:latin typeface="Tekton Pro" panose="020F0603020208020904" pitchFamily="34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114800" y="2117558"/>
            <a:ext cx="0" cy="533400"/>
          </a:xfrm>
          <a:prstGeom prst="straightConnector1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>
            <a:off x="4038600" y="1965158"/>
            <a:ext cx="152400" cy="152400"/>
          </a:xfrm>
          <a:prstGeom prst="triangle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943600" y="2659122"/>
            <a:ext cx="2395592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4">
                    <a:lumMod val="50000"/>
                  </a:schemeClr>
                </a:solidFill>
                <a:latin typeface="Tekton Pro" pitchFamily="34" charset="0"/>
              </a:rPr>
              <a:t>The direct asserted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623040"/>
            <a:ext cx="2473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4">
                    <a:lumMod val="50000"/>
                  </a:schemeClr>
                </a:solidFill>
                <a:latin typeface="Tekton Pro" pitchFamily="34" charset="0"/>
              </a:rPr>
              <a:t>The indirect inferred link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92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280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Transitive Pattern: Another Example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622765"/>
            <a:ext cx="8229600" cy="1400641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Graphite Light ATT" panose="03020402050402020203" pitchFamily="66" charset="0"/>
              </a:rPr>
              <a:t>Why make the transitive property the parent of a separate direct property?</a:t>
            </a:r>
          </a:p>
          <a:p>
            <a:r>
              <a:rPr lang="en-US" sz="2400" b="1" dirty="0" smtClean="0">
                <a:latin typeface="Graphite Light ATT" panose="03020402050402020203" pitchFamily="66" charset="0"/>
              </a:rPr>
              <a:t>Why not just have one property that is transitive?</a:t>
            </a:r>
            <a:endParaRPr lang="en-US" sz="2400" b="1" dirty="0">
              <a:latin typeface="Graphite Light ATT" panose="03020402050402020203" pitchFamily="66" charset="0"/>
            </a:endParaRPr>
          </a:p>
        </p:txBody>
      </p:sp>
      <p:sp>
        <p:nvSpPr>
          <p:cNvPr id="4" name="Pentagon 3"/>
          <p:cNvSpPr/>
          <p:nvPr/>
        </p:nvSpPr>
        <p:spPr>
          <a:xfrm>
            <a:off x="3021874" y="2672729"/>
            <a:ext cx="2260600" cy="304800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  <a:latin typeface="Tekton Pro" pitchFamily="34" charset="0"/>
              </a:rPr>
              <a:t>hasDirectPart</a:t>
            </a:r>
            <a:endParaRPr lang="en-US" dirty="0">
              <a:solidFill>
                <a:schemeClr val="accent4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5" name="Pentagon 4"/>
          <p:cNvSpPr/>
          <p:nvPr/>
        </p:nvSpPr>
        <p:spPr>
          <a:xfrm>
            <a:off x="3048000" y="1649472"/>
            <a:ext cx="2260600" cy="304800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  <a:latin typeface="Tekton Pro" pitchFamily="34" charset="0"/>
              </a:rPr>
              <a:t>hasPart</a:t>
            </a:r>
            <a:endParaRPr lang="en-US" dirty="0">
              <a:solidFill>
                <a:schemeClr val="accent4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19600" y="1295400"/>
            <a:ext cx="13694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accent4">
                    <a:lumMod val="75000"/>
                  </a:schemeClr>
                </a:solidFill>
                <a:latin typeface="Tekton Pro" panose="020F0603020208020904" pitchFamily="34" charset="0"/>
              </a:rPr>
              <a:t>+transitive</a:t>
            </a:r>
            <a:endParaRPr lang="en-US" sz="2000" dirty="0">
              <a:solidFill>
                <a:schemeClr val="accent4">
                  <a:lumMod val="75000"/>
                </a:schemeClr>
              </a:solidFill>
              <a:latin typeface="Tekton Pro" panose="020F0603020208020904" pitchFamily="34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114800" y="2117558"/>
            <a:ext cx="0" cy="533400"/>
          </a:xfrm>
          <a:prstGeom prst="straightConnector1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>
            <a:off x="4038600" y="1965158"/>
            <a:ext cx="152400" cy="152400"/>
          </a:xfrm>
          <a:prstGeom prst="triangle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943600" y="2659122"/>
            <a:ext cx="2395592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4">
                    <a:lumMod val="50000"/>
                  </a:schemeClr>
                </a:solidFill>
                <a:latin typeface="Tekton Pro" pitchFamily="34" charset="0"/>
              </a:rPr>
              <a:t>The direct asserted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623040"/>
            <a:ext cx="2473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4">
                    <a:lumMod val="50000"/>
                  </a:schemeClr>
                </a:solidFill>
                <a:latin typeface="Tekton Pro" pitchFamily="34" charset="0"/>
              </a:rPr>
              <a:t>The indirect inferred link</a:t>
            </a:r>
          </a:p>
        </p:txBody>
      </p:sp>
      <p:sp>
        <p:nvSpPr>
          <p:cNvPr id="11" name="Pentagon 10"/>
          <p:cNvSpPr/>
          <p:nvPr/>
        </p:nvSpPr>
        <p:spPr>
          <a:xfrm>
            <a:off x="5562600" y="5715000"/>
            <a:ext cx="2260600" cy="304800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  <a:latin typeface="Tekton Pro" pitchFamily="34" charset="0"/>
              </a:rPr>
              <a:t>hasPart</a:t>
            </a:r>
            <a:endParaRPr lang="en-US" dirty="0">
              <a:solidFill>
                <a:schemeClr val="accent4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34200" y="5360928"/>
            <a:ext cx="13694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accent4">
                    <a:lumMod val="75000"/>
                  </a:schemeClr>
                </a:solidFill>
                <a:latin typeface="Tekton Pro" panose="020F0603020208020904" pitchFamily="34" charset="0"/>
              </a:rPr>
              <a:t>+transitive</a:t>
            </a:r>
            <a:endParaRPr lang="en-US" sz="2000" dirty="0">
              <a:solidFill>
                <a:schemeClr val="accent4">
                  <a:lumMod val="75000"/>
                </a:schemeClr>
              </a:solidFill>
              <a:latin typeface="Tekton Pro" panose="020F0603020208020904" pitchFamily="34" charset="0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93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280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a transitive property in Protege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2183" y="1825625"/>
            <a:ext cx="6437107" cy="147927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2400" b="1" dirty="0" smtClean="0">
                <a:latin typeface="Graphite Light ATT" panose="03020402050402020203" pitchFamily="66" charset="0"/>
              </a:rPr>
              <a:t>Create the property </a:t>
            </a:r>
            <a:r>
              <a:rPr lang="en-US" sz="2400" b="1" dirty="0" err="1" smtClean="0">
                <a:latin typeface="Graphite Light ATT" panose="03020402050402020203" pitchFamily="66" charset="0"/>
              </a:rPr>
              <a:t>dbbo:geoLocatedIn</a:t>
            </a:r>
            <a:endParaRPr lang="en-US" sz="2400" b="1" dirty="0" smtClean="0">
              <a:latin typeface="Graphite Light ATT" panose="03020402050402020203" pitchFamily="66" charset="0"/>
            </a:endParaRP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000" b="1" dirty="0" smtClean="0">
                <a:latin typeface="Graphite Light ATT" panose="03020402050402020203" pitchFamily="66" charset="0"/>
              </a:rPr>
              <a:t>Click the “Transitive” box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000" b="1" dirty="0" smtClean="0">
                <a:latin typeface="Graphite Light ATT" panose="03020402050402020203" pitchFamily="66" charset="0"/>
              </a:rPr>
              <a:t>Select the </a:t>
            </a:r>
            <a:r>
              <a:rPr lang="en-US" sz="2000" b="1" dirty="0" err="1" smtClean="0">
                <a:latin typeface="Graphite Light ATT" panose="03020402050402020203" pitchFamily="66" charset="0"/>
              </a:rPr>
              <a:t>dbbo:geoDirectlyContainedIn</a:t>
            </a:r>
            <a:r>
              <a:rPr lang="en-US" sz="2000" b="1" dirty="0" smtClean="0">
                <a:latin typeface="Graphite Light ATT" panose="03020402050402020203" pitchFamily="66" charset="0"/>
              </a:rPr>
              <a:t> property and make it a subproperty of </a:t>
            </a:r>
            <a:r>
              <a:rPr lang="en-US" sz="2000" b="1" dirty="0" smtClean="0">
                <a:latin typeface="Graphite Light ATT" panose="03020402050402020203" pitchFamily="66" charset="0"/>
              </a:rPr>
              <a:t>:</a:t>
            </a:r>
            <a:r>
              <a:rPr lang="en-US" sz="2000" b="1" dirty="0" err="1" smtClean="0">
                <a:latin typeface="Graphite Light ATT" panose="03020402050402020203" pitchFamily="66" charset="0"/>
              </a:rPr>
              <a:t>geoL</a:t>
            </a:r>
            <a:r>
              <a:rPr lang="en-US" sz="2000" b="1" dirty="0" err="1" smtClean="0">
                <a:latin typeface="Graphite Light ATT" panose="03020402050402020203" pitchFamily="66" charset="0"/>
              </a:rPr>
              <a:t>ocatedIn</a:t>
            </a:r>
            <a:endParaRPr lang="en-US" sz="2000" b="1" dirty="0">
              <a:latin typeface="Graphite Light ATT" panose="03020402050402020203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94</a:t>
            </a:fld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32183" y="3415842"/>
            <a:ext cx="6125767" cy="21804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gency FB" panose="020B0503020202020204" pitchFamily="34" charset="0"/>
              <a:buChar char="•"/>
              <a:defRPr sz="2800" kern="1200">
                <a:solidFill>
                  <a:schemeClr val="tx1"/>
                </a:solidFill>
                <a:latin typeface="Graphite MM" panose="020B0604020202020204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Graphite MM" panose="020B0604020202020204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Calibri" panose="020F0502020204030204" pitchFamily="34" charset="0"/>
              <a:buChar char="‒"/>
              <a:defRPr sz="1500" kern="1200">
                <a:solidFill>
                  <a:schemeClr val="tx1"/>
                </a:solidFill>
                <a:latin typeface="Graphite MM" panose="020B0604020202020204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2400" b="1" dirty="0" smtClean="0">
                <a:latin typeface="Graphite Light ATT" panose="03020402050402020203" pitchFamily="66" charset="0"/>
              </a:rPr>
              <a:t>Now apply it:</a:t>
            </a:r>
            <a:endParaRPr lang="en-US" sz="1400" b="1" dirty="0" smtClean="0">
              <a:latin typeface="Graphite Light ATT" panose="03020402050402020203" pitchFamily="66" charset="0"/>
            </a:endParaRP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b="1" dirty="0" smtClean="0">
                <a:latin typeface="Graphite Light ATT" panose="03020402050402020203" pitchFamily="66" charset="0"/>
              </a:rPr>
              <a:t>:_</a:t>
            </a:r>
            <a:r>
              <a:rPr lang="en-US" b="1" dirty="0" err="1" smtClean="0">
                <a:latin typeface="Graphite Light ATT" panose="03020402050402020203" pitchFamily="66" charset="0"/>
              </a:rPr>
              <a:t>portArthur</a:t>
            </a:r>
            <a:r>
              <a:rPr lang="en-US" b="1" dirty="0" smtClean="0">
                <a:latin typeface="Graphite Light ATT" panose="03020402050402020203" pitchFamily="66" charset="0"/>
              </a:rPr>
              <a:t>  :</a:t>
            </a:r>
            <a:r>
              <a:rPr lang="en-US" b="1" dirty="0" err="1" smtClean="0">
                <a:latin typeface="Graphite Light ATT" panose="03020402050402020203" pitchFamily="66" charset="0"/>
              </a:rPr>
              <a:t>geoDirectlyContainedIn</a:t>
            </a:r>
            <a:r>
              <a:rPr lang="en-US" b="1" dirty="0" smtClean="0">
                <a:latin typeface="Graphite Light ATT" panose="03020402050402020203" pitchFamily="66" charset="0"/>
              </a:rPr>
              <a:t>  :_</a:t>
            </a:r>
            <a:r>
              <a:rPr lang="en-US" b="1" dirty="0" err="1" smtClean="0">
                <a:latin typeface="Graphite Light ATT" panose="03020402050402020203" pitchFamily="66" charset="0"/>
              </a:rPr>
              <a:t>jeffersonCounty</a:t>
            </a:r>
            <a:endParaRPr lang="en-US" b="1" dirty="0" smtClean="0">
              <a:latin typeface="Graphite Light ATT" panose="03020402050402020203" pitchFamily="66" charset="0"/>
            </a:endParaRP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b="1" dirty="0" smtClean="0">
                <a:latin typeface="Graphite Light ATT" panose="03020402050402020203" pitchFamily="66" charset="0"/>
              </a:rPr>
              <a:t>:_</a:t>
            </a:r>
            <a:r>
              <a:rPr lang="en-US" b="1" dirty="0" err="1" smtClean="0">
                <a:latin typeface="Graphite Light ATT" panose="03020402050402020203" pitchFamily="66" charset="0"/>
              </a:rPr>
              <a:t>jeffersonCounty</a:t>
            </a:r>
            <a:r>
              <a:rPr lang="en-US" b="1" dirty="0" smtClean="0">
                <a:latin typeface="Graphite Light ATT" panose="03020402050402020203" pitchFamily="66" charset="0"/>
              </a:rPr>
              <a:t>  :</a:t>
            </a:r>
            <a:r>
              <a:rPr lang="en-US" b="1" dirty="0" err="1" smtClean="0">
                <a:latin typeface="Graphite Light ATT" panose="03020402050402020203" pitchFamily="66" charset="0"/>
              </a:rPr>
              <a:t>geoDirectlyContainedIn</a:t>
            </a:r>
            <a:r>
              <a:rPr lang="en-US" b="1" dirty="0" smtClean="0">
                <a:latin typeface="Graphite Light ATT" panose="03020402050402020203" pitchFamily="66" charset="0"/>
              </a:rPr>
              <a:t>  :_</a:t>
            </a:r>
            <a:r>
              <a:rPr lang="en-US" b="1" dirty="0" err="1" smtClean="0">
                <a:latin typeface="Graphite Light ATT" panose="03020402050402020203" pitchFamily="66" charset="0"/>
              </a:rPr>
              <a:t>texas</a:t>
            </a:r>
            <a:endParaRPr lang="en-US" b="1" dirty="0" smtClean="0">
              <a:latin typeface="Graphite Light ATT" panose="03020402050402020203" pitchFamily="66" charset="0"/>
            </a:endParaRP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b="1" dirty="0" smtClean="0">
                <a:latin typeface="Graphite Light ATT" panose="03020402050402020203" pitchFamily="66" charset="0"/>
              </a:rPr>
              <a:t>:_</a:t>
            </a:r>
            <a:r>
              <a:rPr lang="en-US" b="1" dirty="0" err="1" smtClean="0">
                <a:latin typeface="Graphite Light ATT" panose="03020402050402020203" pitchFamily="66" charset="0"/>
              </a:rPr>
              <a:t>texas</a:t>
            </a:r>
            <a:r>
              <a:rPr lang="en-US" b="1" dirty="0" smtClean="0">
                <a:latin typeface="Graphite Light ATT" panose="03020402050402020203" pitchFamily="66" charset="0"/>
              </a:rPr>
              <a:t>  :</a:t>
            </a:r>
            <a:r>
              <a:rPr lang="en-US" b="1" dirty="0" err="1" smtClean="0">
                <a:latin typeface="Graphite Light ATT" panose="03020402050402020203" pitchFamily="66" charset="0"/>
              </a:rPr>
              <a:t>geoDirectlyContainedIn</a:t>
            </a:r>
            <a:r>
              <a:rPr lang="en-US" b="1" dirty="0" smtClean="0">
                <a:latin typeface="Graphite Light ATT" panose="03020402050402020203" pitchFamily="66" charset="0"/>
              </a:rPr>
              <a:t>  :_</a:t>
            </a:r>
            <a:r>
              <a:rPr lang="en-US" b="1" dirty="0" err="1" smtClean="0">
                <a:latin typeface="Graphite Light ATT" panose="03020402050402020203" pitchFamily="66" charset="0"/>
              </a:rPr>
              <a:t>usa</a:t>
            </a:r>
            <a:endParaRPr lang="en-US" b="1" dirty="0" smtClean="0">
              <a:latin typeface="Graphite Light ATT" panose="03020402050402020203" pitchFamily="66" charset="0"/>
            </a:endParaRP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b="1" dirty="0" smtClean="0">
                <a:latin typeface="Graphite Light ATT" panose="03020402050402020203" pitchFamily="66" charset="0"/>
              </a:rPr>
              <a:t>:_</a:t>
            </a:r>
            <a:r>
              <a:rPr lang="en-US" b="1" dirty="0" err="1" smtClean="0">
                <a:latin typeface="Graphite Light ATT" panose="03020402050402020203" pitchFamily="66" charset="0"/>
              </a:rPr>
              <a:t>usa</a:t>
            </a:r>
            <a:r>
              <a:rPr lang="en-US" b="1" dirty="0" smtClean="0">
                <a:latin typeface="Graphite Light ATT" panose="03020402050402020203" pitchFamily="66" charset="0"/>
              </a:rPr>
              <a:t>  :</a:t>
            </a:r>
            <a:r>
              <a:rPr lang="en-US" b="1" dirty="0" err="1" smtClean="0">
                <a:latin typeface="Graphite Light ATT" panose="03020402050402020203" pitchFamily="66" charset="0"/>
              </a:rPr>
              <a:t>geoDirectlyContainedIn</a:t>
            </a:r>
            <a:r>
              <a:rPr lang="en-US" b="1" dirty="0" smtClean="0">
                <a:latin typeface="Graphite Light ATT" panose="03020402050402020203" pitchFamily="66" charset="0"/>
              </a:rPr>
              <a:t>  :_</a:t>
            </a:r>
            <a:r>
              <a:rPr lang="en-US" b="1" dirty="0" err="1" smtClean="0">
                <a:latin typeface="Graphite Light ATT" panose="03020402050402020203" pitchFamily="66" charset="0"/>
              </a:rPr>
              <a:t>northAmerica</a:t>
            </a:r>
            <a:endParaRPr lang="en-US" b="1" dirty="0" smtClean="0">
              <a:latin typeface="Graphite Light ATT" panose="03020402050402020203" pitchFamily="66" charset="0"/>
            </a:endParaRP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b="1" dirty="0">
                <a:latin typeface="Graphite Light ATT" panose="03020402050402020203" pitchFamily="66" charset="0"/>
              </a:rPr>
              <a:t>:_</a:t>
            </a:r>
            <a:r>
              <a:rPr lang="en-US" b="1" dirty="0" err="1">
                <a:latin typeface="Graphite Light ATT" panose="03020402050402020203" pitchFamily="66" charset="0"/>
              </a:rPr>
              <a:t>portArthur</a:t>
            </a:r>
            <a:r>
              <a:rPr lang="en-US" b="1" dirty="0">
                <a:latin typeface="Graphite Light ATT" panose="03020402050402020203" pitchFamily="66" charset="0"/>
              </a:rPr>
              <a:t>  </a:t>
            </a:r>
            <a:r>
              <a:rPr lang="en-US" b="1" dirty="0" smtClean="0">
                <a:latin typeface="Graphite Light ATT" panose="03020402050402020203" pitchFamily="66" charset="0"/>
              </a:rPr>
              <a:t>:</a:t>
            </a:r>
            <a:r>
              <a:rPr lang="en-US" b="1" dirty="0" err="1" smtClean="0">
                <a:latin typeface="Graphite Light ATT" panose="03020402050402020203" pitchFamily="66" charset="0"/>
              </a:rPr>
              <a:t>geoDirectlyContainedIn</a:t>
            </a:r>
            <a:r>
              <a:rPr lang="en-US" b="1" dirty="0" smtClean="0">
                <a:latin typeface="Graphite Light ATT" panose="03020402050402020203" pitchFamily="66" charset="0"/>
              </a:rPr>
              <a:t>  :_</a:t>
            </a:r>
            <a:r>
              <a:rPr lang="en-US" b="1" dirty="0">
                <a:latin typeface="Graphite Light ATT" panose="03020402050402020203" pitchFamily="66" charset="0"/>
              </a:rPr>
              <a:t>padd3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b="1" dirty="0" smtClean="0">
                <a:latin typeface="Graphite Light ATT" panose="03020402050402020203" pitchFamily="66" charset="0"/>
              </a:rPr>
              <a:t>:_</a:t>
            </a:r>
            <a:r>
              <a:rPr lang="en-US" b="1" dirty="0" err="1" smtClean="0">
                <a:latin typeface="Graphite Light ATT" panose="03020402050402020203" pitchFamily="66" charset="0"/>
              </a:rPr>
              <a:t>texas</a:t>
            </a:r>
            <a:r>
              <a:rPr lang="en-US" b="1" dirty="0" smtClean="0">
                <a:latin typeface="Graphite Light ATT" panose="03020402050402020203" pitchFamily="66" charset="0"/>
              </a:rPr>
              <a:t>  :</a:t>
            </a:r>
            <a:r>
              <a:rPr lang="en-US" b="1" dirty="0" err="1" smtClean="0">
                <a:latin typeface="Graphite Light ATT" panose="03020402050402020203" pitchFamily="66" charset="0"/>
              </a:rPr>
              <a:t>geoDirectlyContainedIn</a:t>
            </a:r>
            <a:r>
              <a:rPr lang="en-US" b="1" dirty="0" smtClean="0">
                <a:latin typeface="Graphite Light ATT" panose="03020402050402020203" pitchFamily="66" charset="0"/>
              </a:rPr>
              <a:t>  </a:t>
            </a:r>
            <a:r>
              <a:rPr lang="en-US" b="1" dirty="0">
                <a:latin typeface="Graphite Light ATT" panose="03020402050402020203" pitchFamily="66" charset="0"/>
              </a:rPr>
              <a:t>:_</a:t>
            </a:r>
            <a:r>
              <a:rPr lang="en-US" b="1" dirty="0" smtClean="0">
                <a:latin typeface="Graphite Light ATT" panose="03020402050402020203" pitchFamily="66" charset="0"/>
              </a:rPr>
              <a:t>padd3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b="1" dirty="0" smtClean="0">
                <a:latin typeface="Graphite Light ATT" panose="03020402050402020203" pitchFamily="66" charset="0"/>
              </a:rPr>
              <a:t>:_padd3 :</a:t>
            </a:r>
            <a:r>
              <a:rPr lang="en-US" b="1" dirty="0" err="1" smtClean="0">
                <a:latin typeface="Graphite Light ATT" panose="03020402050402020203" pitchFamily="66" charset="0"/>
              </a:rPr>
              <a:t>geoDirectlyContainedIn</a:t>
            </a:r>
            <a:r>
              <a:rPr lang="en-US" b="1" dirty="0" smtClean="0">
                <a:latin typeface="Graphite Light ATT" panose="03020402050402020203" pitchFamily="66" charset="0"/>
              </a:rPr>
              <a:t> :_</a:t>
            </a:r>
            <a:r>
              <a:rPr lang="en-US" b="1" dirty="0" err="1" smtClean="0">
                <a:latin typeface="Graphite Light ATT" panose="03020402050402020203" pitchFamily="66" charset="0"/>
              </a:rPr>
              <a:t>usa</a:t>
            </a:r>
            <a:endParaRPr lang="en-US" b="1" dirty="0">
              <a:latin typeface="Graphite Light ATT" panose="03020402050402020203" pitchFamily="66" charset="0"/>
            </a:endParaRP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b="1" dirty="0" smtClean="0">
              <a:latin typeface="Graphite Light ATT" panose="03020402050402020203" pitchFamily="66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25800" y="5707236"/>
            <a:ext cx="2879103" cy="4605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gency FB" panose="020B0503020202020204" pitchFamily="34" charset="0"/>
              <a:buChar char="•"/>
              <a:defRPr sz="2800" kern="1200">
                <a:solidFill>
                  <a:schemeClr val="tx1"/>
                </a:solidFill>
                <a:latin typeface="Graphite MM" panose="020B0604020202020204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Graphite MM" panose="020B0604020202020204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Calibri" panose="020F0502020204030204" pitchFamily="34" charset="0"/>
              <a:buChar char="‒"/>
              <a:defRPr sz="1500" kern="1200">
                <a:solidFill>
                  <a:schemeClr val="tx1"/>
                </a:solidFill>
                <a:latin typeface="Graphite MM" panose="020B0604020202020204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2400" b="1" dirty="0" smtClean="0">
                <a:latin typeface="Graphite Light ATT" panose="03020402050402020203" pitchFamily="66" charset="0"/>
              </a:rPr>
              <a:t>Run the reasoner</a:t>
            </a:r>
            <a:endParaRPr lang="en-US" b="1" dirty="0" smtClean="0">
              <a:latin typeface="Graphite Light ATT" panose="03020402050402020203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 the reasoner for transitive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317" y="1711235"/>
            <a:ext cx="7544719" cy="757646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Graphite Light ATT" panose="03020402050402020203" pitchFamily="66" charset="0"/>
              </a:rPr>
              <a:t>We see that Jefferson County is in PADD-III, even though it was never explicitly stated to be so.</a:t>
            </a:r>
            <a:endParaRPr lang="en-US" sz="2400" b="1" dirty="0">
              <a:latin typeface="Graphite Light ATT" panose="03020402050402020203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95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0083" y="2468880"/>
            <a:ext cx="6860629" cy="3887471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4820197" y="4898571"/>
            <a:ext cx="2753282" cy="398418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Equivalent 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2183" y="1825625"/>
            <a:ext cx="8443913" cy="1747066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Graphite Light ATT" panose="03020402050402020203" pitchFamily="66" charset="0"/>
              </a:rPr>
              <a:t>Like classes, if two properties were subs of each other, they would be equivalent.</a:t>
            </a:r>
          </a:p>
          <a:p>
            <a:r>
              <a:rPr lang="en-US" sz="2400" b="1" dirty="0" smtClean="0">
                <a:latin typeface="Graphite Light ATT" panose="03020402050402020203" pitchFamily="66" charset="0"/>
              </a:rPr>
              <a:t>That is, asserting one would imply the other, and vice versa.</a:t>
            </a:r>
          </a:p>
          <a:p>
            <a:r>
              <a:rPr lang="en-US" sz="2400" b="1" dirty="0" smtClean="0">
                <a:latin typeface="Graphite Light ATT" panose="03020402050402020203" pitchFamily="66" charset="0"/>
              </a:rPr>
              <a:t>When would you want this?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96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07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Equivalent Properties</a:t>
            </a:r>
            <a:endParaRPr lang="en-US" dirty="0"/>
          </a:p>
        </p:txBody>
      </p:sp>
      <p:sp>
        <p:nvSpPr>
          <p:cNvPr id="5" name="Pentagon 4"/>
          <p:cNvSpPr/>
          <p:nvPr/>
        </p:nvSpPr>
        <p:spPr>
          <a:xfrm>
            <a:off x="1382485" y="2775857"/>
            <a:ext cx="2260600" cy="304800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4">
                    <a:lumMod val="50000"/>
                  </a:schemeClr>
                </a:solidFill>
                <a:latin typeface="Tekton Pro" pitchFamily="34" charset="0"/>
              </a:rPr>
              <a:t>: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  <a:latin typeface="Tekton Pro" pitchFamily="34" charset="0"/>
              </a:rPr>
              <a:t>geoContainedIn</a:t>
            </a:r>
            <a:endParaRPr lang="en-US" dirty="0">
              <a:solidFill>
                <a:schemeClr val="accent4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6" name="Pentagon 5"/>
          <p:cNvSpPr/>
          <p:nvPr/>
        </p:nvSpPr>
        <p:spPr>
          <a:xfrm>
            <a:off x="1408611" y="1752600"/>
            <a:ext cx="2260600" cy="304800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4">
                    <a:lumMod val="50000"/>
                  </a:schemeClr>
                </a:solidFill>
                <a:latin typeface="Tekton Pro" pitchFamily="34" charset="0"/>
              </a:rPr>
              <a:t>: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  <a:latin typeface="Tekton Pro" pitchFamily="34" charset="0"/>
              </a:rPr>
              <a:t>locatedIn</a:t>
            </a:r>
            <a:endParaRPr lang="en-US" dirty="0">
              <a:solidFill>
                <a:schemeClr val="accent4">
                  <a:lumMod val="50000"/>
                </a:schemeClr>
              </a:solidFill>
              <a:latin typeface="Tekton Pro" pitchFamily="34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475411" y="2220686"/>
            <a:ext cx="0" cy="533400"/>
          </a:xfrm>
          <a:prstGeom prst="straightConnector1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>
            <a:off x="2399211" y="2068286"/>
            <a:ext cx="152400" cy="152400"/>
          </a:xfrm>
          <a:prstGeom prst="triangle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entagon 8"/>
          <p:cNvSpPr/>
          <p:nvPr/>
        </p:nvSpPr>
        <p:spPr>
          <a:xfrm>
            <a:off x="5238205" y="2775857"/>
            <a:ext cx="2260600" cy="304800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accent4">
                    <a:lumMod val="50000"/>
                  </a:schemeClr>
                </a:solidFill>
                <a:latin typeface="Tekton Pro" pitchFamily="34" charset="0"/>
              </a:rPr>
              <a:t>:locatedIn</a:t>
            </a:r>
            <a:endParaRPr lang="en-US" dirty="0">
              <a:solidFill>
                <a:schemeClr val="accent4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10" name="Pentagon 9"/>
          <p:cNvSpPr/>
          <p:nvPr/>
        </p:nvSpPr>
        <p:spPr>
          <a:xfrm>
            <a:off x="5264331" y="1752600"/>
            <a:ext cx="2260600" cy="304800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4">
                    <a:lumMod val="50000"/>
                  </a:schemeClr>
                </a:solidFill>
                <a:latin typeface="Tekton Pro" pitchFamily="34" charset="0"/>
              </a:rPr>
              <a:t>: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  <a:latin typeface="Tekton Pro" pitchFamily="34" charset="0"/>
              </a:rPr>
              <a:t>geoContainedIn</a:t>
            </a:r>
            <a:endParaRPr lang="en-US" dirty="0">
              <a:solidFill>
                <a:schemeClr val="accent4">
                  <a:lumMod val="50000"/>
                </a:schemeClr>
              </a:solidFill>
              <a:latin typeface="Tekton Pro" pitchFamily="34" charset="0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6331131" y="2220686"/>
            <a:ext cx="0" cy="533400"/>
          </a:xfrm>
          <a:prstGeom prst="straightConnector1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>
            <a:off x="6254931" y="2068286"/>
            <a:ext cx="152400" cy="152400"/>
          </a:xfrm>
          <a:prstGeom prst="triangle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228600" y="4457700"/>
            <a:ext cx="1342154" cy="6096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:_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texas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cxnSp>
        <p:nvCxnSpPr>
          <p:cNvPr id="15" name="Straight Arrow Connector 14"/>
          <p:cNvCxnSpPr>
            <a:stCxn id="14" idx="6"/>
            <a:endCxn id="16" idx="2"/>
          </p:cNvCxnSpPr>
          <p:nvPr/>
        </p:nvCxnSpPr>
        <p:spPr>
          <a:xfrm>
            <a:off x="1570754" y="4762500"/>
            <a:ext cx="1782046" cy="0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352800" y="4419600"/>
            <a:ext cx="1371600" cy="6858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:_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usa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570754" y="4343400"/>
            <a:ext cx="16896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geoContainedIn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3886200"/>
            <a:ext cx="3090862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Rectangle 18"/>
          <p:cNvSpPr/>
          <p:nvPr/>
        </p:nvSpPr>
        <p:spPr>
          <a:xfrm>
            <a:off x="1950400" y="3429000"/>
            <a:ext cx="11122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:locatedIn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3925389" y="5867400"/>
            <a:ext cx="1484811" cy="6096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:_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texas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cxnSp>
        <p:nvCxnSpPr>
          <p:cNvPr id="21" name="Straight Arrow Connector 20"/>
          <p:cNvCxnSpPr>
            <a:stCxn id="20" idx="6"/>
            <a:endCxn id="22" idx="2"/>
          </p:cNvCxnSpPr>
          <p:nvPr/>
        </p:nvCxnSpPr>
        <p:spPr>
          <a:xfrm>
            <a:off x="5410200" y="6172200"/>
            <a:ext cx="1828800" cy="0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239000" y="5867400"/>
            <a:ext cx="1295400" cy="6096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usa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562600" y="4800600"/>
            <a:ext cx="16896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geoContainedIn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pic>
        <p:nvPicPr>
          <p:cNvPr id="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600" y="5257800"/>
            <a:ext cx="3090862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Rectangle 24"/>
          <p:cNvSpPr/>
          <p:nvPr/>
        </p:nvSpPr>
        <p:spPr>
          <a:xfrm>
            <a:off x="5791200" y="5715000"/>
            <a:ext cx="11122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:locatedIn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97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07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2" grpId="0" animBg="1"/>
      <p:bldP spid="14" grpId="0" animBg="1"/>
      <p:bldP spid="16" grpId="0" animBg="1"/>
      <p:bldP spid="17" grpId="0"/>
      <p:bldP spid="19" grpId="0"/>
      <p:bldP spid="20" grpId="0" animBg="1"/>
      <p:bldP spid="22" grpId="0" animBg="1"/>
      <p:bldP spid="23" grpId="0"/>
      <p:bldP spid="25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Equivalent Properties</a:t>
            </a:r>
            <a:endParaRPr lang="en-US" dirty="0"/>
          </a:p>
        </p:txBody>
      </p:sp>
      <p:sp>
        <p:nvSpPr>
          <p:cNvPr id="5" name="Pentagon 4"/>
          <p:cNvSpPr/>
          <p:nvPr/>
        </p:nvSpPr>
        <p:spPr>
          <a:xfrm>
            <a:off x="964474" y="2775857"/>
            <a:ext cx="2260600" cy="304800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4">
                    <a:lumMod val="50000"/>
                  </a:schemeClr>
                </a:solidFill>
                <a:latin typeface="Tekton Pro" pitchFamily="34" charset="0"/>
              </a:rPr>
              <a:t>: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  <a:latin typeface="Tekton Pro" pitchFamily="34" charset="0"/>
              </a:rPr>
              <a:t>geoContainedIn</a:t>
            </a:r>
            <a:endParaRPr lang="en-US" dirty="0">
              <a:solidFill>
                <a:schemeClr val="accent4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6" name="Pentagon 5"/>
          <p:cNvSpPr/>
          <p:nvPr/>
        </p:nvSpPr>
        <p:spPr>
          <a:xfrm>
            <a:off x="990600" y="1752600"/>
            <a:ext cx="2260600" cy="304800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accent4">
                    <a:lumMod val="50000"/>
                  </a:schemeClr>
                </a:solidFill>
                <a:latin typeface="Tekton Pro" pitchFamily="34" charset="0"/>
              </a:rPr>
              <a:t>:locatedIn</a:t>
            </a:r>
            <a:endParaRPr lang="en-US" dirty="0">
              <a:solidFill>
                <a:schemeClr val="accent4">
                  <a:lumMod val="50000"/>
                </a:schemeClr>
              </a:solidFill>
              <a:latin typeface="Tekton Pro" pitchFamily="34" charset="0"/>
            </a:endParaRPr>
          </a:p>
        </p:txBody>
      </p:sp>
      <p:cxnSp>
        <p:nvCxnSpPr>
          <p:cNvPr id="7" name="Straight Arrow Connector 6"/>
          <p:cNvCxnSpPr>
            <a:endCxn id="12" idx="3"/>
          </p:cNvCxnSpPr>
          <p:nvPr/>
        </p:nvCxnSpPr>
        <p:spPr>
          <a:xfrm>
            <a:off x="2057400" y="2220686"/>
            <a:ext cx="0" cy="370114"/>
          </a:xfrm>
          <a:prstGeom prst="straightConnector1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>
            <a:off x="1981200" y="2068286"/>
            <a:ext cx="152400" cy="152400"/>
          </a:xfrm>
          <a:prstGeom prst="triangle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/>
          <p:cNvSpPr/>
          <p:nvPr/>
        </p:nvSpPr>
        <p:spPr>
          <a:xfrm rot="10800000">
            <a:off x="1981200" y="2590800"/>
            <a:ext cx="152400" cy="152400"/>
          </a:xfrm>
          <a:prstGeom prst="triangle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228600" y="4457700"/>
            <a:ext cx="1295400" cy="6096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fc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cxnSp>
        <p:nvCxnSpPr>
          <p:cNvPr id="15" name="Straight Arrow Connector 14"/>
          <p:cNvCxnSpPr>
            <a:stCxn id="14" idx="6"/>
            <a:endCxn id="16" idx="2"/>
          </p:cNvCxnSpPr>
          <p:nvPr/>
        </p:nvCxnSpPr>
        <p:spPr>
          <a:xfrm>
            <a:off x="1524000" y="4762500"/>
            <a:ext cx="1828800" cy="0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352800" y="4419600"/>
            <a:ext cx="1371600" cy="6858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:CO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570754" y="4343400"/>
            <a:ext cx="16896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geoContainedIn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3886200"/>
            <a:ext cx="3090862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Rectangle 18"/>
          <p:cNvSpPr/>
          <p:nvPr/>
        </p:nvSpPr>
        <p:spPr>
          <a:xfrm>
            <a:off x="1950400" y="3429000"/>
            <a:ext cx="11122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:locatedIn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114800" y="5867400"/>
            <a:ext cx="1295400" cy="6096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:CO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cxnSp>
        <p:nvCxnSpPr>
          <p:cNvPr id="21" name="Straight Arrow Connector 20"/>
          <p:cNvCxnSpPr>
            <a:stCxn id="20" idx="6"/>
            <a:endCxn id="22" idx="2"/>
          </p:cNvCxnSpPr>
          <p:nvPr/>
        </p:nvCxnSpPr>
        <p:spPr>
          <a:xfrm>
            <a:off x="5410200" y="6172200"/>
            <a:ext cx="1828800" cy="0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239000" y="5867400"/>
            <a:ext cx="1295400" cy="6096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usa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562600" y="4800600"/>
            <a:ext cx="16896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geoContainedIn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pic>
        <p:nvPicPr>
          <p:cNvPr id="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600" y="5257800"/>
            <a:ext cx="3090862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Rectangle 24"/>
          <p:cNvSpPr/>
          <p:nvPr/>
        </p:nvSpPr>
        <p:spPr>
          <a:xfrm>
            <a:off x="5791200" y="5715000"/>
            <a:ext cx="11122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:locatedIn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918857" y="1458690"/>
            <a:ext cx="5074920" cy="2751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b="1" dirty="0">
                <a:latin typeface="Graphite Light ATT" panose="03020402050402020203" pitchFamily="66" charset="0"/>
              </a:rPr>
              <a:t>In your own </a:t>
            </a:r>
            <a:r>
              <a:rPr lang="en-US" sz="2400" b="1" dirty="0" smtClean="0">
                <a:latin typeface="Graphite Light ATT" panose="03020402050402020203" pitchFamily="66" charset="0"/>
              </a:rPr>
              <a:t>ontology, </a:t>
            </a:r>
            <a:r>
              <a:rPr lang="en-US" sz="2400" b="1" dirty="0">
                <a:latin typeface="Graphite Light ATT" panose="03020402050402020203" pitchFamily="66" charset="0"/>
              </a:rPr>
              <a:t>you typically wouldn't create two properties for the same thing, but this happens all the time when you combine two ontologies. </a:t>
            </a:r>
            <a:r>
              <a:rPr lang="en-US" sz="2400" b="1" dirty="0" smtClean="0">
                <a:latin typeface="Graphite Light ATT" panose="03020402050402020203" pitchFamily="66" charset="0"/>
              </a:rPr>
              <a:t>You </a:t>
            </a:r>
            <a:r>
              <a:rPr lang="en-US" sz="2400" b="1" dirty="0">
                <a:latin typeface="Graphite Light ATT" panose="03020402050402020203" pitchFamily="66" charset="0"/>
              </a:rPr>
              <a:t>will find that other </a:t>
            </a:r>
            <a:r>
              <a:rPr lang="en-US" sz="2400" b="1" dirty="0" smtClean="0">
                <a:latin typeface="Graphite Light ATT" panose="03020402050402020203" pitchFamily="66" charset="0"/>
              </a:rPr>
              <a:t>ontologists </a:t>
            </a:r>
            <a:r>
              <a:rPr lang="en-US" sz="2400" b="1" dirty="0">
                <a:latin typeface="Graphite Light ATT" panose="03020402050402020203" pitchFamily="66" charset="0"/>
              </a:rPr>
              <a:t>have used a different term for what is the really the same property.</a:t>
            </a:r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98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07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Symmetric Properties</a:t>
            </a:r>
            <a:endParaRPr lang="en-US" dirty="0"/>
          </a:p>
        </p:txBody>
      </p:sp>
      <p:sp>
        <p:nvSpPr>
          <p:cNvPr id="6" name="Pentagon 5"/>
          <p:cNvSpPr/>
          <p:nvPr/>
        </p:nvSpPr>
        <p:spPr>
          <a:xfrm>
            <a:off x="609600" y="1219200"/>
            <a:ext cx="2260600" cy="304800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ekton Pro" pitchFamily="34" charset="0"/>
              </a:rPr>
              <a:t>:hasParent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ekton Pro" pitchFamily="34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228600" y="4457700"/>
            <a:ext cx="1295400" cy="6096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:us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cxnSp>
        <p:nvCxnSpPr>
          <p:cNvPr id="15" name="Straight Arrow Connector 14"/>
          <p:cNvCxnSpPr>
            <a:stCxn id="14" idx="6"/>
            <a:endCxn id="16" idx="2"/>
          </p:cNvCxnSpPr>
          <p:nvPr/>
        </p:nvCxnSpPr>
        <p:spPr>
          <a:xfrm>
            <a:off x="1524000" y="4762500"/>
            <a:ext cx="1828800" cy="0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352800" y="4419600"/>
            <a:ext cx="1371600" cy="6858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:ca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575725" y="4343400"/>
            <a:ext cx="16796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hasBorderWith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0800000">
            <a:off x="990600" y="5181600"/>
            <a:ext cx="3090862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19"/>
          <p:cNvGrpSpPr/>
          <p:nvPr/>
        </p:nvGrpSpPr>
        <p:grpSpPr>
          <a:xfrm>
            <a:off x="457200" y="1491343"/>
            <a:ext cx="2260600" cy="369332"/>
            <a:chOff x="457200" y="1491343"/>
            <a:chExt cx="2260600" cy="369332"/>
          </a:xfrm>
        </p:grpSpPr>
        <p:sp>
          <p:nvSpPr>
            <p:cNvPr id="5" name="Pentagon 4"/>
            <p:cNvSpPr/>
            <p:nvPr/>
          </p:nvSpPr>
          <p:spPr>
            <a:xfrm rot="10800000">
              <a:off x="457200" y="1524000"/>
              <a:ext cx="2260600" cy="304800"/>
            </a:xfrm>
            <a:prstGeom prst="homePlat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Tekton Pro" pitchFamily="34" charset="0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092926" y="1491343"/>
              <a:ext cx="103355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smtClean="0">
                  <a:solidFill>
                    <a:schemeClr val="accent1">
                      <a:lumMod val="75000"/>
                    </a:schemeClr>
                  </a:solidFill>
                  <a:latin typeface="Tekton Pro" pitchFamily="34" charset="0"/>
                </a:rPr>
                <a:t>:hasChild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Tekton Pro" pitchFamily="34" charset="0"/>
              </a:endParaRPr>
            </a:p>
          </p:txBody>
        </p:sp>
      </p:grpSp>
      <p:sp>
        <p:nvSpPr>
          <p:cNvPr id="27" name="Rectangle 26"/>
          <p:cNvSpPr/>
          <p:nvPr/>
        </p:nvSpPr>
        <p:spPr>
          <a:xfrm>
            <a:off x="3733800" y="1104900"/>
            <a:ext cx="5029200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b="1" dirty="0" smtClean="0">
                <a:latin typeface="Graphite Light ATT" panose="03020402050402020203" pitchFamily="66" charset="0"/>
              </a:rPr>
              <a:t>Remember Inverses?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b="1" dirty="0" smtClean="0">
                <a:latin typeface="Graphite Light ATT" panose="03020402050402020203" pitchFamily="66" charset="0"/>
              </a:rPr>
              <a:t>The property going the other way</a:t>
            </a:r>
            <a:endParaRPr lang="en-US" sz="2400" dirty="0">
              <a:latin typeface="Graphite Light ATT" panose="03020402050402020203" pitchFamily="66" charset="0"/>
            </a:endParaRPr>
          </a:p>
        </p:txBody>
      </p:sp>
      <p:sp>
        <p:nvSpPr>
          <p:cNvPr id="30" name="Pentagon 29"/>
          <p:cNvSpPr/>
          <p:nvPr/>
        </p:nvSpPr>
        <p:spPr>
          <a:xfrm rot="10800000">
            <a:off x="533400" y="2590800"/>
            <a:ext cx="2260600" cy="304800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Tekton Pro" pitchFamily="34" charset="0"/>
            </a:endParaRPr>
          </a:p>
        </p:txBody>
      </p:sp>
      <p:sp>
        <p:nvSpPr>
          <p:cNvPr id="31" name="Pentagon 30"/>
          <p:cNvSpPr/>
          <p:nvPr/>
        </p:nvSpPr>
        <p:spPr>
          <a:xfrm>
            <a:off x="685800" y="2286000"/>
            <a:ext cx="2260600" cy="304800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ekton Pro" pitchFamily="34" charset="0"/>
              </a:rPr>
              <a:t>: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  <a:latin typeface="Tekton Pro" pitchFamily="34" charset="0"/>
              </a:rPr>
              <a:t>hasBorderWith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ekton Pro" pitchFamily="34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46059" y="2558143"/>
            <a:ext cx="16796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ekton Pro" pitchFamily="34" charset="0"/>
              </a:rPr>
              <a:t>: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  <a:latin typeface="Tekton Pro" pitchFamily="34" charset="0"/>
              </a:rPr>
              <a:t>hasBorderWith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ekton Pro" pitchFamily="34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810000" y="2223623"/>
            <a:ext cx="5181600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b="1" dirty="0" smtClean="0">
                <a:latin typeface="Graphite Light ATT" panose="03020402050402020203" pitchFamily="66" charset="0"/>
              </a:rPr>
              <a:t>When a property </a:t>
            </a:r>
            <a:r>
              <a:rPr lang="en-US" sz="2400" b="1" u="sng" dirty="0" smtClean="0">
                <a:latin typeface="Graphite Light ATT" panose="03020402050402020203" pitchFamily="66" charset="0"/>
              </a:rPr>
              <a:t>always</a:t>
            </a:r>
            <a:r>
              <a:rPr lang="en-US" sz="2400" b="1" dirty="0" smtClean="0">
                <a:latin typeface="Graphite Light ATT" panose="03020402050402020203" pitchFamily="66" charset="0"/>
              </a:rPr>
              <a:t> goes both ways, it is </a:t>
            </a:r>
            <a:r>
              <a:rPr lang="en-US" sz="2400" b="1" smtClean="0">
                <a:latin typeface="Graphite Light ATT" panose="03020402050402020203" pitchFamily="66" charset="0"/>
              </a:rPr>
              <a:t>called “symmetric”.  </a:t>
            </a:r>
            <a:endParaRPr lang="en-US" sz="2400" b="1" dirty="0" smtClean="0">
              <a:latin typeface="Graphite Light ATT" panose="03020402050402020203" pitchFamily="66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b="1" dirty="0" smtClean="0">
                <a:latin typeface="Graphite Light ATT" panose="03020402050402020203" pitchFamily="66" charset="0"/>
              </a:rPr>
              <a:t>A symmetric property is its own inverse. </a:t>
            </a:r>
            <a:endParaRPr lang="en-US" sz="2400" dirty="0">
              <a:latin typeface="Graphite Light ATT" panose="03020402050402020203" pitchFamily="66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828800" y="5791200"/>
            <a:ext cx="16796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hasBorderWith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99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07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7" grpId="0"/>
      <p:bldP spid="27" grpId="0"/>
      <p:bldP spid="30" grpId="0" animBg="1"/>
      <p:bldP spid="31" grpId="0" animBg="1"/>
      <p:bldP spid="32" grpId="0"/>
      <p:bldP spid="33" grpId="0"/>
      <p:bldP spid="34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Making Distinctions only when Needed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74520"/>
            <a:ext cx="8382000" cy="3141617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Graphite Light ATT" panose="03020402050402020203" pitchFamily="66" charset="0"/>
              </a:rPr>
              <a:t>You can distinguish borrower from lender if you need to (e.g. using SPARQL)</a:t>
            </a:r>
          </a:p>
          <a:p>
            <a:r>
              <a:rPr lang="en-US" sz="2400" b="1" dirty="0" smtClean="0">
                <a:latin typeface="Graphite Light ATT" panose="03020402050402020203" pitchFamily="66" charset="0"/>
              </a:rPr>
              <a:t>If you don’t, you can just ask about the parties;  you get that for free from sub-property inference.</a:t>
            </a:r>
          </a:p>
          <a:p>
            <a:r>
              <a:rPr lang="en-US" sz="2400" b="1" dirty="0" smtClean="0">
                <a:latin typeface="Graphite Light ATT" panose="03020402050402020203" pitchFamily="66" charset="0"/>
              </a:rPr>
              <a:t>Then it occurs to you that one individual can’t be the borrower and lender on the same loan.</a:t>
            </a:r>
          </a:p>
          <a:p>
            <a:r>
              <a:rPr lang="en-US" sz="2400" b="1" dirty="0" smtClean="0">
                <a:latin typeface="Graphite Light ATT" panose="03020402050402020203" pitchFamily="66" charset="0"/>
              </a:rPr>
              <a:t>This is where we </a:t>
            </a:r>
            <a:r>
              <a:rPr lang="en-US" sz="2400" b="1" smtClean="0">
                <a:latin typeface="Graphite Light ATT" panose="03020402050402020203" pitchFamily="66" charset="0"/>
              </a:rPr>
              <a:t>need “disjoint properties”</a:t>
            </a:r>
            <a:endParaRPr lang="en-US" sz="2400" b="1" dirty="0">
              <a:latin typeface="Graphite Light ATT" panose="03020402050402020203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100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285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Disjoint Properties</a:t>
            </a:r>
            <a:endParaRPr lang="en-US" dirty="0"/>
          </a:p>
        </p:txBody>
      </p:sp>
      <p:sp>
        <p:nvSpPr>
          <p:cNvPr id="4" name="Pentagon 3"/>
          <p:cNvSpPr/>
          <p:nvPr/>
        </p:nvSpPr>
        <p:spPr>
          <a:xfrm>
            <a:off x="5495835" y="1447800"/>
            <a:ext cx="2260600" cy="304800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  <a:latin typeface="Tekton Pro" pitchFamily="34" charset="0"/>
              </a:rPr>
              <a:t>hasLender</a:t>
            </a:r>
            <a:endParaRPr lang="en-US" dirty="0">
              <a:solidFill>
                <a:schemeClr val="accent4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8" name="Pentagon 7"/>
          <p:cNvSpPr/>
          <p:nvPr/>
        </p:nvSpPr>
        <p:spPr>
          <a:xfrm>
            <a:off x="1295400" y="1447800"/>
            <a:ext cx="2260600" cy="304800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  <a:latin typeface="Tekton Pro" pitchFamily="34" charset="0"/>
              </a:rPr>
              <a:t>hasBorrower</a:t>
            </a:r>
            <a:endParaRPr lang="en-US" dirty="0">
              <a:solidFill>
                <a:schemeClr val="accent4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381000" y="2209800"/>
            <a:ext cx="8229600" cy="1219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Tekton Pro Cond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b="1" kern="1200">
                <a:solidFill>
                  <a:schemeClr val="tx1"/>
                </a:solidFill>
                <a:latin typeface="Tekton Pro Cond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kern="1200">
                <a:solidFill>
                  <a:schemeClr val="tx1"/>
                </a:solidFill>
                <a:latin typeface="Tekton Pro Cond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b="0" kern="1200">
                <a:solidFill>
                  <a:schemeClr val="tx1"/>
                </a:solidFill>
                <a:latin typeface="Tekton Pro Cond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b="0" kern="1200">
                <a:solidFill>
                  <a:schemeClr val="tx1"/>
                </a:solidFill>
                <a:latin typeface="Tekton Pro Cond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latin typeface="Graphite Light ATT" panose="03020402050402020203" pitchFamily="66" charset="0"/>
              </a:rPr>
              <a:t>If someone is a borrower on a given loan, they cannot also be the lender, and vice versa </a:t>
            </a:r>
            <a:endParaRPr lang="en-US" sz="2400" dirty="0">
              <a:latin typeface="Graphite Light ATT" panose="03020402050402020203" pitchFamily="66" charset="0"/>
            </a:endParaRPr>
          </a:p>
        </p:txBody>
      </p:sp>
      <p:grpSp>
        <p:nvGrpSpPr>
          <p:cNvPr id="3" name="Group 26"/>
          <p:cNvGrpSpPr/>
          <p:nvPr/>
        </p:nvGrpSpPr>
        <p:grpSpPr>
          <a:xfrm>
            <a:off x="3556000" y="1307813"/>
            <a:ext cx="1939835" cy="584775"/>
            <a:chOff x="3556000" y="1307813"/>
            <a:chExt cx="1939835" cy="584775"/>
          </a:xfrm>
        </p:grpSpPr>
        <p:cxnSp>
          <p:nvCxnSpPr>
            <p:cNvPr id="15" name="Straight Arrow Connector 14"/>
            <p:cNvCxnSpPr>
              <a:stCxn id="8" idx="3"/>
              <a:endCxn id="4" idx="1"/>
            </p:cNvCxnSpPr>
            <p:nvPr/>
          </p:nvCxnSpPr>
          <p:spPr>
            <a:xfrm>
              <a:off x="3556000" y="1600200"/>
              <a:ext cx="1939835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arrow" w="lg" len="lg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4251235" y="1307813"/>
              <a:ext cx="39466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FF0000"/>
                  </a:solidFill>
                  <a:latin typeface="Tekton Pro" pitchFamily="34" charset="0"/>
                </a:rPr>
                <a:t>X</a:t>
              </a:r>
              <a:endParaRPr lang="en-US" sz="3200" dirty="0">
                <a:solidFill>
                  <a:srgbClr val="FF0000"/>
                </a:solidFill>
                <a:latin typeface="Tekton Pro" pitchFamily="34" charset="0"/>
              </a:endParaRPr>
            </a:p>
          </p:txBody>
        </p:sp>
      </p:grpSp>
      <p:grpSp>
        <p:nvGrpSpPr>
          <p:cNvPr id="5" name="Group 21"/>
          <p:cNvGrpSpPr/>
          <p:nvPr/>
        </p:nvGrpSpPr>
        <p:grpSpPr>
          <a:xfrm>
            <a:off x="304800" y="4724400"/>
            <a:ext cx="4495800" cy="685800"/>
            <a:chOff x="304800" y="4724400"/>
            <a:chExt cx="4495800" cy="685800"/>
          </a:xfrm>
        </p:grpSpPr>
        <p:sp>
          <p:nvSpPr>
            <p:cNvPr id="18" name="Oval 17"/>
            <p:cNvSpPr/>
            <p:nvPr/>
          </p:nvSpPr>
          <p:spPr>
            <a:xfrm>
              <a:off x="304800" y="4762500"/>
              <a:ext cx="1295400" cy="6096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:loan1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  <p:cxnSp>
          <p:nvCxnSpPr>
            <p:cNvPr id="19" name="Straight Arrow Connector 18"/>
            <p:cNvCxnSpPr>
              <a:stCxn id="18" idx="6"/>
              <a:endCxn id="20" idx="2"/>
            </p:cNvCxnSpPr>
            <p:nvPr/>
          </p:nvCxnSpPr>
          <p:spPr>
            <a:xfrm>
              <a:off x="1600200" y="5067300"/>
              <a:ext cx="1828800" cy="0"/>
            </a:xfrm>
            <a:prstGeom prst="straightConnector1">
              <a:avLst/>
            </a:prstGeom>
            <a:ln w="317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/>
            <p:nvPr/>
          </p:nvSpPr>
          <p:spPr>
            <a:xfrm>
              <a:off x="3429000" y="4724400"/>
              <a:ext cx="1371600" cy="6858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:</a:t>
              </a:r>
              <a:r>
                <a:rPr lang="en-US" dirty="0" err="1" smtClean="0">
                  <a:solidFill>
                    <a:schemeClr val="accent1">
                      <a:lumMod val="50000"/>
                    </a:schemeClr>
                  </a:solidFill>
                  <a:latin typeface="Tekton Pro" pitchFamily="34" charset="0"/>
                </a:rPr>
                <a:t>jones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endParaRPr>
            </a:p>
          </p:txBody>
        </p:sp>
      </p:grpSp>
      <p:sp>
        <p:nvSpPr>
          <p:cNvPr id="21" name="Rectangle 20"/>
          <p:cNvSpPr/>
          <p:nvPr/>
        </p:nvSpPr>
        <p:spPr>
          <a:xfrm>
            <a:off x="1828800" y="5181600"/>
            <a:ext cx="14516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hasBorrower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978959" y="3733800"/>
            <a:ext cx="12075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ekton Pro" pitchFamily="34" charset="0"/>
              </a:rPr>
              <a:t>:</a:t>
            </a:r>
            <a:r>
              <a:rPr lang="en-US" dirty="0" err="1" smtClean="0">
                <a:solidFill>
                  <a:srgbClr val="FF0000"/>
                </a:solidFill>
                <a:latin typeface="Tekton Pro" pitchFamily="34" charset="0"/>
              </a:rPr>
              <a:t>hasLender</a:t>
            </a:r>
            <a:endParaRPr lang="en-US" dirty="0">
              <a:solidFill>
                <a:srgbClr val="FF0000"/>
              </a:solidFill>
              <a:latin typeface="Tekton Pro" pitchFamily="34" charset="0"/>
            </a:endParaRPr>
          </a:p>
        </p:txBody>
      </p:sp>
      <p:grpSp>
        <p:nvGrpSpPr>
          <p:cNvPr id="6" name="Group 25"/>
          <p:cNvGrpSpPr/>
          <p:nvPr/>
        </p:nvGrpSpPr>
        <p:grpSpPr>
          <a:xfrm>
            <a:off x="1219200" y="4038600"/>
            <a:ext cx="2828925" cy="742950"/>
            <a:chOff x="1219200" y="4038600"/>
            <a:chExt cx="2828925" cy="742950"/>
          </a:xfrm>
        </p:grpSpPr>
        <p:pic>
          <p:nvPicPr>
            <p:cNvPr id="61442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219200" y="4267200"/>
              <a:ext cx="2828925" cy="514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4" name="TextBox 23"/>
            <p:cNvSpPr txBox="1"/>
            <p:nvPr/>
          </p:nvSpPr>
          <p:spPr>
            <a:xfrm>
              <a:off x="2438400" y="4038600"/>
              <a:ext cx="39466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FF0000"/>
                  </a:solidFill>
                  <a:latin typeface="Tekton Pro" pitchFamily="34" charset="0"/>
                </a:rPr>
                <a:t>X</a:t>
              </a:r>
              <a:endParaRPr lang="en-US" sz="3200" dirty="0">
                <a:solidFill>
                  <a:srgbClr val="FF0000"/>
                </a:solidFill>
                <a:latin typeface="Tekton Pro" pitchFamily="34" charset="0"/>
              </a:endParaRPr>
            </a:p>
          </p:txBody>
        </p:sp>
      </p:grpSp>
      <p:sp>
        <p:nvSpPr>
          <p:cNvPr id="25" name="Rectangle 24"/>
          <p:cNvSpPr/>
          <p:nvPr/>
        </p:nvSpPr>
        <p:spPr>
          <a:xfrm>
            <a:off x="5143500" y="3870120"/>
            <a:ext cx="3733800" cy="2086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b="1" dirty="0" smtClean="0">
                <a:latin typeface="Graphite Light ATT" panose="03020402050402020203" pitchFamily="66" charset="0"/>
              </a:rPr>
              <a:t>The inference engine knows as soon as you make the borrower assertion (and run reasoner) that that loan cannot have jones as a lender.</a:t>
            </a:r>
            <a:endParaRPr lang="en-US" sz="2400" dirty="0">
              <a:latin typeface="Graphite Light ATT" panose="03020402050402020203" pitchFamily="66" charset="0"/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101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445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5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1"/>
          <p:cNvSpPr>
            <a:spLocks noGrp="1"/>
          </p:cNvSpPr>
          <p:nvPr>
            <p:ph type="title" idx="4294967295"/>
          </p:nvPr>
        </p:nvSpPr>
        <p:spPr>
          <a:xfrm>
            <a:off x="457200" y="274637"/>
            <a:ext cx="8229600" cy="124065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4000" dirty="0" smtClean="0"/>
              <a:t>Disjoint Properties</a:t>
            </a:r>
          </a:p>
        </p:txBody>
      </p:sp>
      <p:sp>
        <p:nvSpPr>
          <p:cNvPr id="93187" name="Content Placeholder 11"/>
          <p:cNvSpPr>
            <a:spLocks noGrp="1"/>
          </p:cNvSpPr>
          <p:nvPr>
            <p:ph idx="4294967295"/>
          </p:nvPr>
        </p:nvSpPr>
        <p:spPr>
          <a:xfrm>
            <a:off x="457200" y="1600200"/>
            <a:ext cx="8323263" cy="3983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2800" b="1" dirty="0" smtClean="0">
                <a:latin typeface="Graphite Light ATT" panose="03020402050402020203" pitchFamily="66" charset="0"/>
              </a:rPr>
              <a:t>Disjoint Object Properties</a:t>
            </a:r>
          </a:p>
          <a:p>
            <a:pPr lvl="1"/>
            <a:r>
              <a:rPr lang="en-US" sz="2400" b="1" dirty="0" smtClean="0">
                <a:latin typeface="Graphite Light ATT" panose="03020402050402020203" pitchFamily="66" charset="0"/>
              </a:rPr>
              <a:t>If two object properties are disjoint, no pair of individuals can be related by both properties, </a:t>
            </a:r>
            <a:br>
              <a:rPr lang="en-US" sz="2400" b="1" dirty="0" smtClean="0">
                <a:latin typeface="Graphite Light ATT" panose="03020402050402020203" pitchFamily="66" charset="0"/>
              </a:rPr>
            </a:br>
            <a:r>
              <a:rPr lang="en-US" sz="2400" b="1" dirty="0" smtClean="0">
                <a:latin typeface="Graphite Light ATT" panose="03020402050402020203" pitchFamily="66" charset="0"/>
              </a:rPr>
              <a:t>i.e., they are pair-wise incompatible.</a:t>
            </a:r>
          </a:p>
          <a:p>
            <a:pPr lvl="1"/>
            <a:endParaRPr lang="en-US" sz="2400" b="1" dirty="0" smtClean="0">
              <a:latin typeface="Graphite Light ATT" panose="03020402050402020203" pitchFamily="66" charset="0"/>
            </a:endParaRPr>
          </a:p>
          <a:p>
            <a:r>
              <a:rPr lang="en-US" sz="2800" b="1" dirty="0" smtClean="0">
                <a:latin typeface="Graphite Light ATT" panose="03020402050402020203" pitchFamily="66" charset="0"/>
              </a:rPr>
              <a:t>Disjoint Datatype Properties</a:t>
            </a:r>
          </a:p>
          <a:p>
            <a:pPr lvl="1"/>
            <a:r>
              <a:rPr lang="en-US" sz="2400" b="1" dirty="0" smtClean="0">
                <a:latin typeface="Graphite Light ATT" panose="03020402050402020203" pitchFamily="66" charset="0"/>
              </a:rPr>
              <a:t>If two datatype properties are disjoint, no individual can have same value for both properties.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56D00-7E3A-474F-A645-5B00B94AB3EE}" type="slidenum">
              <a:rPr lang="en-US" smtClean="0"/>
              <a:pPr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064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Asymmetric Properties</a:t>
            </a: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228600" y="4457700"/>
            <a:ext cx="1295400" cy="6096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:bob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cxnSp>
        <p:nvCxnSpPr>
          <p:cNvPr id="15" name="Straight Arrow Connector 14"/>
          <p:cNvCxnSpPr>
            <a:stCxn id="14" idx="6"/>
            <a:endCxn id="16" idx="2"/>
          </p:cNvCxnSpPr>
          <p:nvPr/>
        </p:nvCxnSpPr>
        <p:spPr>
          <a:xfrm>
            <a:off x="1524000" y="4762500"/>
            <a:ext cx="1828800" cy="0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352800" y="4419600"/>
            <a:ext cx="1371600" cy="6858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:bill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898797" y="4343400"/>
            <a:ext cx="10335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Tekton Pro" pitchFamily="34" charset="0"/>
              </a:rPr>
              <a:t>:hasChild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733800" y="1099673"/>
            <a:ext cx="5181600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b="1" dirty="0" smtClean="0">
                <a:latin typeface="Graphite Light ATT" panose="03020402050402020203" pitchFamily="66" charset="0"/>
              </a:rPr>
              <a:t>When a property </a:t>
            </a:r>
            <a:r>
              <a:rPr lang="en-US" sz="2400" b="1" u="sng" dirty="0" smtClean="0">
                <a:latin typeface="Graphite Light ATT" panose="03020402050402020203" pitchFamily="66" charset="0"/>
              </a:rPr>
              <a:t>never</a:t>
            </a:r>
            <a:r>
              <a:rPr lang="en-US" sz="2400" b="1" dirty="0" smtClean="0">
                <a:latin typeface="Graphite Light ATT" panose="03020402050402020203" pitchFamily="66" charset="0"/>
              </a:rPr>
              <a:t> goes both ways, it is </a:t>
            </a:r>
            <a:r>
              <a:rPr lang="en-US" sz="2400" b="1" smtClean="0">
                <a:latin typeface="Graphite Light ATT" panose="03020402050402020203" pitchFamily="66" charset="0"/>
              </a:rPr>
              <a:t>called “asymmetric”.  </a:t>
            </a:r>
            <a:endParaRPr lang="en-US" sz="2400" b="1" dirty="0" smtClean="0">
              <a:latin typeface="Graphite Light ATT" panose="03020402050402020203" pitchFamily="66" charset="0"/>
            </a:endParaRPr>
          </a:p>
          <a:p>
            <a:pPr>
              <a:lnSpc>
                <a:spcPct val="90000"/>
              </a:lnSpc>
            </a:pPr>
            <a:r>
              <a:rPr lang="en-US" sz="2400" b="1" dirty="0" smtClean="0">
                <a:latin typeface="Graphite Light ATT" panose="03020402050402020203" pitchFamily="66" charset="0"/>
              </a:rPr>
              <a:t>An asymmetric property is disjoint with its inverse. </a:t>
            </a:r>
            <a:endParaRPr lang="en-US" sz="2400" dirty="0">
              <a:latin typeface="Graphite Light ATT" panose="03020402050402020203" pitchFamily="66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905000" y="5791200"/>
            <a:ext cx="10335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ekton Pro" pitchFamily="34" charset="0"/>
              </a:rPr>
              <a:t>:hasChild</a:t>
            </a:r>
            <a:endParaRPr lang="en-US" dirty="0">
              <a:solidFill>
                <a:srgbClr val="FF0000"/>
              </a:solidFill>
              <a:latin typeface="Tekton Pro" pitchFamily="34" charset="0"/>
            </a:endParaRPr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0800000">
            <a:off x="1066800" y="5105400"/>
            <a:ext cx="2828925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TextBox 22"/>
          <p:cNvSpPr txBox="1"/>
          <p:nvPr/>
        </p:nvSpPr>
        <p:spPr>
          <a:xfrm>
            <a:off x="2286000" y="5257800"/>
            <a:ext cx="3946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Tekton Pro" pitchFamily="34" charset="0"/>
              </a:rPr>
              <a:t>X</a:t>
            </a:r>
            <a:endParaRPr lang="en-US" sz="3200" dirty="0">
              <a:solidFill>
                <a:srgbClr val="FF0000"/>
              </a:solidFill>
              <a:latin typeface="Tekton Pro" pitchFamily="34" charset="0"/>
            </a:endParaRPr>
          </a:p>
        </p:txBody>
      </p:sp>
      <p:sp>
        <p:nvSpPr>
          <p:cNvPr id="18" name="Pentagon 17"/>
          <p:cNvSpPr/>
          <p:nvPr/>
        </p:nvSpPr>
        <p:spPr>
          <a:xfrm rot="10800000">
            <a:off x="457200" y="1524000"/>
            <a:ext cx="2260600" cy="304800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Tekton Pro" pitchFamily="34" charset="0"/>
            </a:endParaRPr>
          </a:p>
        </p:txBody>
      </p:sp>
      <p:sp>
        <p:nvSpPr>
          <p:cNvPr id="19" name="Pentagon 18"/>
          <p:cNvSpPr/>
          <p:nvPr/>
        </p:nvSpPr>
        <p:spPr>
          <a:xfrm>
            <a:off x="609600" y="1219200"/>
            <a:ext cx="2260600" cy="304800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ekton Pro" pitchFamily="34" charset="0"/>
              </a:rPr>
              <a:t>:hasChild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ekton Pro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092926" y="1491343"/>
            <a:ext cx="10335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ekton Pro" pitchFamily="34" charset="0"/>
              </a:rPr>
              <a:t>:hasChild</a:t>
            </a:r>
            <a:endParaRPr lang="en-US" dirty="0">
              <a:solidFill>
                <a:srgbClr val="FF0000"/>
              </a:solidFill>
              <a:latin typeface="Tekton Pro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209800" y="1371600"/>
            <a:ext cx="3946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Tekton Pro" pitchFamily="34" charset="0"/>
              </a:rPr>
              <a:t>X</a:t>
            </a:r>
            <a:endParaRPr lang="en-US" sz="3200" dirty="0">
              <a:solidFill>
                <a:srgbClr val="FF0000"/>
              </a:solidFill>
              <a:latin typeface="Tekton Pro" pitchFamily="34" charset="0"/>
            </a:endParaRPr>
          </a:p>
        </p:txBody>
      </p:sp>
      <p:sp>
        <p:nvSpPr>
          <p:cNvPr id="25" name="Rounded Rectangular Callout 24"/>
          <p:cNvSpPr/>
          <p:nvPr/>
        </p:nvSpPr>
        <p:spPr>
          <a:xfrm>
            <a:off x="5791200" y="3124200"/>
            <a:ext cx="2362200" cy="838200"/>
          </a:xfrm>
          <a:prstGeom prst="wedgeRoundRectCallout">
            <a:avLst>
              <a:gd name="adj1" fmla="val 33015"/>
              <a:gd name="adj2" fmla="val -165909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  <a:latin typeface="Tekton Pro" pitchFamily="34" charset="0"/>
              </a:rPr>
              <a:t>We’ll talk about disjoint properties shortly</a:t>
            </a:r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103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07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7" grpId="0"/>
      <p:bldP spid="27" grpId="0"/>
      <p:bldP spid="21" grpId="0"/>
      <p:bldP spid="23" grpId="0"/>
      <p:bldP spid="20" grpId="0"/>
      <p:bldP spid="25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 Distinctions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19199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Graphite Light ATT" panose="03020402050402020203" pitchFamily="66" charset="0"/>
              </a:rPr>
              <a:t>Let’s say you were doing a loan system.</a:t>
            </a:r>
          </a:p>
          <a:p>
            <a:r>
              <a:rPr lang="en-US" sz="2400" dirty="0" smtClean="0">
                <a:latin typeface="Graphite Light ATT" panose="03020402050402020203" pitchFamily="66" charset="0"/>
              </a:rPr>
              <a:t>You would probably create something </a:t>
            </a:r>
            <a:r>
              <a:rPr lang="en-US" sz="2400" smtClean="0">
                <a:latin typeface="Graphite Light ATT" panose="03020402050402020203" pitchFamily="66" charset="0"/>
              </a:rPr>
              <a:t>like “hasParty” </a:t>
            </a:r>
            <a:r>
              <a:rPr lang="en-US" sz="2400" dirty="0" smtClean="0">
                <a:latin typeface="Graphite Light ATT" panose="03020402050402020203" pitchFamily="66" charset="0"/>
              </a:rPr>
              <a:t>(to the loan contracts).</a:t>
            </a:r>
            <a:endParaRPr lang="en-US" sz="2400" dirty="0">
              <a:latin typeface="Graphite Light ATT" panose="03020402050402020203" pitchFamily="66" charset="0"/>
            </a:endParaRPr>
          </a:p>
        </p:txBody>
      </p:sp>
      <p:sp>
        <p:nvSpPr>
          <p:cNvPr id="4" name="Pentagon 3"/>
          <p:cNvSpPr/>
          <p:nvPr/>
        </p:nvSpPr>
        <p:spPr>
          <a:xfrm>
            <a:off x="4366260" y="4133612"/>
            <a:ext cx="2260600" cy="304800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  <a:latin typeface="Tekton Pro" pitchFamily="34" charset="0"/>
              </a:rPr>
              <a:t>hasLender</a:t>
            </a:r>
            <a:endParaRPr lang="en-US" dirty="0">
              <a:solidFill>
                <a:schemeClr val="accent4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5" name="Pentagon 4"/>
          <p:cNvSpPr/>
          <p:nvPr/>
        </p:nvSpPr>
        <p:spPr>
          <a:xfrm>
            <a:off x="2819400" y="3124200"/>
            <a:ext cx="2260600" cy="304800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  <a:latin typeface="Tekton Pro" pitchFamily="34" charset="0"/>
              </a:rPr>
              <a:t>hasParty</a:t>
            </a:r>
            <a:endParaRPr lang="en-US" dirty="0">
              <a:solidFill>
                <a:schemeClr val="accent4">
                  <a:lumMod val="50000"/>
                </a:schemeClr>
              </a:solidFill>
              <a:latin typeface="Tekton Pro" pitchFamily="34" charset="0"/>
            </a:endParaRPr>
          </a:p>
        </p:txBody>
      </p:sp>
      <p:sp>
        <p:nvSpPr>
          <p:cNvPr id="7" name="Isosceles Triangle 6"/>
          <p:cNvSpPr/>
          <p:nvPr/>
        </p:nvSpPr>
        <p:spPr>
          <a:xfrm>
            <a:off x="3810000" y="3439886"/>
            <a:ext cx="152400" cy="152400"/>
          </a:xfrm>
          <a:prstGeom prst="triangle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entagon 7"/>
          <p:cNvSpPr/>
          <p:nvPr/>
        </p:nvSpPr>
        <p:spPr>
          <a:xfrm>
            <a:off x="1258025" y="4133612"/>
            <a:ext cx="2260600" cy="304800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  <a:latin typeface="Tekton Pro" pitchFamily="34" charset="0"/>
              </a:rPr>
              <a:t>hasBorrower</a:t>
            </a:r>
            <a:endParaRPr lang="en-US" dirty="0">
              <a:solidFill>
                <a:schemeClr val="accent4">
                  <a:lumMod val="50000"/>
                </a:schemeClr>
              </a:solidFill>
              <a:latin typeface="Tekton Pro" pitchFamily="34" charset="0"/>
            </a:endParaRPr>
          </a:p>
        </p:txBody>
      </p:sp>
      <p:cxnSp>
        <p:nvCxnSpPr>
          <p:cNvPr id="10" name="Elbow Connector 9"/>
          <p:cNvCxnSpPr>
            <a:stCxn id="7" idx="3"/>
            <a:endCxn id="4" idx="0"/>
          </p:cNvCxnSpPr>
          <p:nvPr/>
        </p:nvCxnSpPr>
        <p:spPr>
          <a:xfrm rot="16200000" flipH="1">
            <a:off x="4382617" y="3095869"/>
            <a:ext cx="541326" cy="1534160"/>
          </a:xfrm>
          <a:prstGeom prst="bent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stCxn id="7" idx="3"/>
            <a:endCxn id="8" idx="0"/>
          </p:cNvCxnSpPr>
          <p:nvPr/>
        </p:nvCxnSpPr>
        <p:spPr>
          <a:xfrm rot="5400000">
            <a:off x="2828500" y="3075912"/>
            <a:ext cx="541326" cy="1574075"/>
          </a:xfrm>
          <a:prstGeom prst="bent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/>
          <p:cNvSpPr txBox="1">
            <a:spLocks/>
          </p:cNvSpPr>
          <p:nvPr/>
        </p:nvSpPr>
        <p:spPr>
          <a:xfrm>
            <a:off x="441960" y="4738857"/>
            <a:ext cx="8229600" cy="1219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Tekton Pro Cond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b="1" kern="1200">
                <a:solidFill>
                  <a:schemeClr val="tx1"/>
                </a:solidFill>
                <a:latin typeface="Tekton Pro Cond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kern="1200">
                <a:solidFill>
                  <a:schemeClr val="tx1"/>
                </a:solidFill>
                <a:latin typeface="Tekton Pro Cond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b="0" kern="1200">
                <a:solidFill>
                  <a:schemeClr val="tx1"/>
                </a:solidFill>
                <a:latin typeface="Tekton Pro Cond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b="0" kern="1200">
                <a:solidFill>
                  <a:schemeClr val="tx1"/>
                </a:solidFill>
                <a:latin typeface="Tekton Pro Cond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0" dirty="0">
                <a:latin typeface="Graphite Light ATT" panose="03020402050402020203" pitchFamily="66" charset="0"/>
              </a:rPr>
              <a:t>After a </a:t>
            </a:r>
            <a:r>
              <a:rPr lang="en-US" sz="2400" b="0" dirty="0" smtClean="0">
                <a:latin typeface="Graphite Light ATT" panose="03020402050402020203" pitchFamily="66" charset="0"/>
              </a:rPr>
              <a:t>while, </a:t>
            </a:r>
            <a:r>
              <a:rPr lang="en-US" sz="2400" b="0" dirty="0">
                <a:latin typeface="Graphite Light ATT" panose="03020402050402020203" pitchFamily="66" charset="0"/>
              </a:rPr>
              <a:t>you’d realize that you have to distinguish the borrower from the lender.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104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445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7" grpId="0" animBg="1"/>
      <p:bldP spid="8" grpId="0" animBg="1"/>
      <p:bldP spid="17" grpId="0" build="p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Another kind of inference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2183" y="1825625"/>
            <a:ext cx="8443913" cy="989421"/>
          </a:xfrm>
        </p:spPr>
        <p:txBody>
          <a:bodyPr>
            <a:normAutofit lnSpcReduction="10000"/>
          </a:bodyPr>
          <a:lstStyle/>
          <a:p>
            <a:r>
              <a:rPr lang="en-US" sz="2400" b="1" dirty="0" smtClean="0">
                <a:latin typeface="Graphite Light ATT" panose="03020402050402020203" pitchFamily="66" charset="0"/>
              </a:rPr>
              <a:t>Super Properties (also called Property Chains) are a very specific way to infer the existence of a new triple from the existence of existing triples.</a:t>
            </a:r>
            <a:endParaRPr lang="en-US" sz="2400" b="1" dirty="0">
              <a:latin typeface="Graphite Light ATT" panose="03020402050402020203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105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607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Property Chain 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243" y="1339133"/>
            <a:ext cx="6714309" cy="4333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smtClean="0">
                <a:latin typeface="Graphite Light ATT" panose="03020402050402020203" pitchFamily="66" charset="0"/>
              </a:rPr>
              <a:t>Define a new property, say </a:t>
            </a:r>
            <a:r>
              <a:rPr lang="en-US" sz="2000" b="1" dirty="0" err="1" smtClean="0">
                <a:latin typeface="Graphite Light ATT" panose="03020402050402020203" pitchFamily="66" charset="0"/>
              </a:rPr>
              <a:t>dbbo:hasShipsInFleet</a:t>
            </a:r>
            <a:endParaRPr lang="en-US" sz="2000" b="1" dirty="0" smtClean="0">
              <a:latin typeface="Graphite Light ATT" panose="03020402050402020203" pitchFamily="66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64243" y="1883578"/>
            <a:ext cx="2100199" cy="84004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R="0" lvl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te Light ATT" panose="03020402050402020203" pitchFamily="66" charset="0"/>
              </a:rPr>
              <a:t>Click on </a:t>
            </a:r>
            <a:r>
              <a:rPr kumimoji="0" 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te Light ATT" panose="03020402050402020203" pitchFamily="66" charset="0"/>
              </a:rPr>
              <a:t>SuperProperty</a:t>
            </a: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te Light ATT" panose="03020402050402020203" pitchFamily="66" charset="0"/>
              </a:rPr>
              <a:t> Of (Chains)</a:t>
            </a:r>
            <a:endParaRPr lang="en-US" sz="2000" b="1" dirty="0" smtClean="0">
              <a:latin typeface="Graphite Light ATT" panose="03020402050402020203" pitchFamily="66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106</a:t>
            </a:fld>
            <a:endParaRPr lang="en-US" dirty="0"/>
          </a:p>
        </p:txBody>
      </p:sp>
      <p:sp>
        <p:nvSpPr>
          <p:cNvPr id="11" name="Down Arrow 10"/>
          <p:cNvSpPr/>
          <p:nvPr/>
        </p:nvSpPr>
        <p:spPr>
          <a:xfrm>
            <a:off x="2685508" y="3400484"/>
            <a:ext cx="609600" cy="53340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/>
          <p:cNvSpPr/>
          <p:nvPr/>
        </p:nvSpPr>
        <p:spPr>
          <a:xfrm rot="5400000">
            <a:off x="6992639" y="4932318"/>
            <a:ext cx="609600" cy="53340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/>
          <p:cNvSpPr/>
          <p:nvPr/>
        </p:nvSpPr>
        <p:spPr>
          <a:xfrm>
            <a:off x="4160308" y="3340781"/>
            <a:ext cx="609600" cy="533400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164244" y="2874736"/>
            <a:ext cx="2100199" cy="2259538"/>
          </a:xfrm>
          <a:prstGeom prst="rect">
            <a:avLst/>
          </a:prstGeom>
        </p:spPr>
        <p:txBody>
          <a:bodyPr>
            <a:normAutofit/>
          </a:bodyPr>
          <a:lstStyle/>
          <a:p>
            <a:pPr marR="0" lvl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000" b="1" baseline="0" dirty="0" smtClean="0">
                <a:latin typeface="Graphite Light ATT" panose="03020402050402020203" pitchFamily="66" charset="0"/>
              </a:rPr>
              <a:t>Enter: </a:t>
            </a:r>
          </a:p>
          <a:p>
            <a:pPr marR="0" lvl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000" b="1" baseline="0" smtClean="0">
                <a:latin typeface="Graphite Light ATT" panose="03020402050402020203" pitchFamily="66" charset="0"/>
              </a:rPr>
              <a:t>“dbbo:owns o</a:t>
            </a:r>
            <a:r>
              <a:rPr lang="en-US" sz="2000" b="1" smtClean="0">
                <a:latin typeface="Graphite Light ATT" panose="03020402050402020203" pitchFamily="66" charset="0"/>
              </a:rPr>
              <a:t> dbbo:memberIn”</a:t>
            </a:r>
            <a:endParaRPr lang="en-US" sz="2000" b="1" dirty="0" smtClean="0">
              <a:latin typeface="Graphite Light ATT" panose="03020402050402020203" pitchFamily="66" charset="0"/>
            </a:endParaRPr>
          </a:p>
          <a:p>
            <a:pPr marR="0" lvl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000" b="1" dirty="0" smtClean="0">
                <a:latin typeface="Graphite Light ATT" panose="03020402050402020203" pitchFamily="66" charset="0"/>
              </a:rPr>
              <a:t>(NOTE: the syntax used will vary between ontology tools.)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164242" y="5232802"/>
            <a:ext cx="2100199" cy="462604"/>
          </a:xfrm>
          <a:prstGeom prst="rect">
            <a:avLst/>
          </a:prstGeom>
        </p:spPr>
        <p:txBody>
          <a:bodyPr>
            <a:normAutofit/>
          </a:bodyPr>
          <a:lstStyle/>
          <a:p>
            <a:pPr marR="0" lvl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te Light ATT" panose="03020402050402020203" pitchFamily="66" charset="0"/>
              </a:rPr>
              <a:t>Click OK</a:t>
            </a:r>
            <a:endParaRPr lang="en-US" sz="2000" b="1" dirty="0" smtClean="0">
              <a:latin typeface="Graphite Light ATT" panose="03020402050402020203" pitchFamily="66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353583" y="2148789"/>
            <a:ext cx="6659788" cy="4262509"/>
            <a:chOff x="2264443" y="1785594"/>
            <a:chExt cx="6659788" cy="4262509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64443" y="1785594"/>
              <a:ext cx="6659788" cy="4262509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3891429" y="3400484"/>
              <a:ext cx="3776468" cy="1230299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89884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/>
      <p:bldP spid="11" grpId="0" animBg="1"/>
      <p:bldP spid="12" grpId="0" animBg="1"/>
      <p:bldP spid="13" grpId="0" animBg="1"/>
      <p:bldP spid="14" grpId="0"/>
      <p:bldP spid="15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 inferences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32183" y="1825625"/>
            <a:ext cx="8443913" cy="2080169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Graphite Light ATT" panose="03020402050402020203" pitchFamily="66" charset="0"/>
              </a:rPr>
              <a:t>Ensure you have the following assertions: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Graphite Light ATT" panose="03020402050402020203" pitchFamily="66" charset="0"/>
              </a:rPr>
              <a:t>:_vela :owns :_</a:t>
            </a:r>
            <a:r>
              <a:rPr lang="en-US" sz="2000" dirty="0" err="1" smtClean="0">
                <a:latin typeface="Graphite Light ATT" panose="03020402050402020203" pitchFamily="66" charset="0"/>
              </a:rPr>
              <a:t>SiriusStar</a:t>
            </a:r>
            <a:endParaRPr lang="en-US" sz="2000" dirty="0" smtClean="0">
              <a:latin typeface="Graphite Light ATT" panose="03020402050402020203" pitchFamily="66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Graphite Light ATT" panose="03020402050402020203" pitchFamily="66" charset="0"/>
              </a:rPr>
              <a:t>:_</a:t>
            </a:r>
            <a:r>
              <a:rPr lang="en-US" sz="2000" dirty="0" err="1" smtClean="0">
                <a:latin typeface="Graphite Light ATT" panose="03020402050402020203" pitchFamily="66" charset="0"/>
              </a:rPr>
              <a:t>SiriusStar</a:t>
            </a:r>
            <a:r>
              <a:rPr lang="en-US" sz="2000" dirty="0" smtClean="0">
                <a:latin typeface="Graphite Light ATT" panose="03020402050402020203" pitchFamily="66" charset="0"/>
              </a:rPr>
              <a:t> :</a:t>
            </a:r>
            <a:r>
              <a:rPr lang="en-US" sz="2000" dirty="0" err="1" smtClean="0">
                <a:latin typeface="Graphite Light ATT" panose="03020402050402020203" pitchFamily="66" charset="0"/>
              </a:rPr>
              <a:t>memberIn</a:t>
            </a:r>
            <a:r>
              <a:rPr lang="en-US" sz="2000" dirty="0" smtClean="0">
                <a:latin typeface="Graphite Light ATT" panose="03020402050402020203" pitchFamily="66" charset="0"/>
              </a:rPr>
              <a:t> :_</a:t>
            </a:r>
            <a:r>
              <a:rPr lang="en-US" sz="2000" dirty="0" err="1" smtClean="0">
                <a:latin typeface="Graphite Light ATT" panose="03020402050402020203" pitchFamily="66" charset="0"/>
              </a:rPr>
              <a:t>velaFleet</a:t>
            </a:r>
            <a:endParaRPr lang="en-US" sz="2000" dirty="0" smtClean="0">
              <a:latin typeface="Graphite Light ATT" panose="03020402050402020203" pitchFamily="66" charset="0"/>
            </a:endParaRPr>
          </a:p>
          <a:p>
            <a:r>
              <a:rPr lang="en-US" sz="2400" dirty="0" smtClean="0">
                <a:latin typeface="Graphite Light ATT" panose="03020402050402020203" pitchFamily="66" charset="0"/>
              </a:rPr>
              <a:t>Run the reasoner</a:t>
            </a:r>
          </a:p>
          <a:p>
            <a:r>
              <a:rPr lang="en-US" sz="2400" dirty="0" smtClean="0">
                <a:latin typeface="Graphite Light ATT" panose="03020402050402020203" pitchFamily="66" charset="0"/>
              </a:rPr>
              <a:t>Look at the assertions frame for :_vela</a:t>
            </a:r>
            <a:endParaRPr lang="en-US" sz="2400" dirty="0">
              <a:latin typeface="Graphite Light ATT" panose="03020402050402020203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107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47213" y="4017871"/>
            <a:ext cx="6017378" cy="19910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and Metadata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2183" y="1825625"/>
            <a:ext cx="8443913" cy="300763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Graphite Light ATT" panose="03020402050402020203" pitchFamily="66" charset="0"/>
              </a:rPr>
              <a:t>Let’s pause and reflect.</a:t>
            </a:r>
          </a:p>
          <a:p>
            <a:r>
              <a:rPr lang="en-US" sz="2400" b="1" dirty="0" smtClean="0">
                <a:latin typeface="Graphite Light ATT" panose="03020402050402020203" pitchFamily="66" charset="0"/>
              </a:rPr>
              <a:t>We are essentially adding metadata (</a:t>
            </a:r>
            <a:r>
              <a:rPr lang="en-US" sz="2400" b="1" dirty="0" err="1" smtClean="0">
                <a:latin typeface="Graphite Light ATT" panose="03020402050402020203" pitchFamily="66" charset="0"/>
              </a:rPr>
              <a:t>hasShipsInFleet</a:t>
            </a:r>
            <a:r>
              <a:rPr lang="en-US" sz="2400" b="1" dirty="0" smtClean="0">
                <a:latin typeface="Graphite Light ATT" panose="03020402050402020203" pitchFamily="66" charset="0"/>
              </a:rPr>
              <a:t> is a new property) to a data base with existing data that was created </a:t>
            </a:r>
            <a:r>
              <a:rPr lang="en-US" sz="2400" b="1" u="sng" dirty="0" smtClean="0">
                <a:latin typeface="Graphite Light ATT" panose="03020402050402020203" pitchFamily="66" charset="0"/>
              </a:rPr>
              <a:t>before</a:t>
            </a:r>
            <a:r>
              <a:rPr lang="en-US" sz="2400" b="1" dirty="0" smtClean="0">
                <a:latin typeface="Graphite Light ATT" panose="03020402050402020203" pitchFamily="66" charset="0"/>
              </a:rPr>
              <a:t> this part of the </a:t>
            </a:r>
            <a:r>
              <a:rPr lang="en-US" sz="2400" b="1" dirty="0" smtClean="0">
                <a:latin typeface="Graphite Light ATT" panose="03020402050402020203" pitchFamily="66" charset="0"/>
              </a:rPr>
              <a:t>metadata</a:t>
            </a:r>
            <a:r>
              <a:rPr lang="en-US" sz="2400" b="1" dirty="0" smtClean="0">
                <a:latin typeface="Graphite Light ATT" panose="03020402050402020203" pitchFamily="66" charset="0"/>
              </a:rPr>
              <a:t>.</a:t>
            </a:r>
          </a:p>
          <a:p>
            <a:r>
              <a:rPr lang="en-US" sz="2400" b="1" dirty="0" smtClean="0">
                <a:latin typeface="Graphite Light ATT" panose="03020402050402020203" pitchFamily="66" charset="0"/>
              </a:rPr>
              <a:t>And yet, it’s </a:t>
            </a:r>
            <a:r>
              <a:rPr lang="en-US" sz="2400" b="1" dirty="0" smtClean="0">
                <a:latin typeface="Graphite Light ATT" panose="03020402050402020203" pitchFamily="66" charset="0"/>
              </a:rPr>
              <a:t>okay to do that.</a:t>
            </a:r>
            <a:endParaRPr lang="en-US" sz="2400" b="1" dirty="0">
              <a:latin typeface="Graphite Light ATT" panose="03020402050402020203" pitchFamily="66" charset="0"/>
            </a:endParaRPr>
          </a:p>
          <a:p>
            <a:endParaRPr lang="en-US" sz="2400" b="1" dirty="0">
              <a:latin typeface="Graphite Light ATT" panose="03020402050402020203" pitchFamily="66" charset="0"/>
            </a:endParaRPr>
          </a:p>
          <a:p>
            <a:r>
              <a:rPr lang="en-US" sz="2400" b="1" dirty="0">
                <a:latin typeface="Graphite Light ATT" panose="03020402050402020203" pitchFamily="66" charset="0"/>
              </a:rPr>
              <a:t>We will have more about this tomorrow</a:t>
            </a:r>
          </a:p>
          <a:p>
            <a:pPr marL="0" indent="0">
              <a:buNone/>
            </a:pPr>
            <a:endParaRPr lang="en-US" sz="2400" b="1" dirty="0">
              <a:latin typeface="Graphite Light ATT" panose="03020402050402020203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108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Wrap up </a:t>
            </a:r>
            <a:r>
              <a:rPr lang="en-US" dirty="0" smtClean="0">
                <a:latin typeface="Cambria"/>
              </a:rPr>
              <a:t>―</a:t>
            </a:r>
            <a:r>
              <a:rPr lang="en-US" dirty="0" smtClean="0"/>
              <a:t> Inference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95800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Graphite Light ATT" panose="03020402050402020203" pitchFamily="66" charset="0"/>
              </a:rPr>
              <a:t>Inference is a process for deriving new information in the form of triples from existing </a:t>
            </a:r>
            <a:r>
              <a:rPr lang="en-US" sz="2400" b="1" dirty="0" smtClean="0">
                <a:latin typeface="Graphite Light ATT" panose="03020402050402020203" pitchFamily="66" charset="0"/>
              </a:rPr>
              <a:t>triples.</a:t>
            </a:r>
            <a:endParaRPr lang="en-US" sz="2400" b="1" dirty="0" smtClean="0">
              <a:latin typeface="Graphite Light ATT" panose="03020402050402020203" pitchFamily="66" charset="0"/>
            </a:endParaRPr>
          </a:p>
          <a:p>
            <a:r>
              <a:rPr lang="en-US" sz="2400" b="1" dirty="0" smtClean="0">
                <a:latin typeface="Graphite Light ATT" panose="03020402050402020203" pitchFamily="66" charset="0"/>
              </a:rPr>
              <a:t>Inference can be done by querying with SPARQL or by using the OWL inference engine directly.</a:t>
            </a:r>
          </a:p>
          <a:p>
            <a:r>
              <a:rPr lang="en-US" sz="2400" b="1" dirty="0" smtClean="0">
                <a:latin typeface="Graphite Light ATT" panose="03020402050402020203" pitchFamily="66" charset="0"/>
              </a:rPr>
              <a:t>These inferred triples are available to [many] SPARQL engines.</a:t>
            </a:r>
          </a:p>
          <a:p>
            <a:r>
              <a:rPr lang="en-US" sz="2400" b="1" dirty="0" smtClean="0">
                <a:latin typeface="Graphite Light ATT" panose="03020402050402020203" pitchFamily="66" charset="0"/>
              </a:rPr>
              <a:t>The advantage of using inference over querying is that inference is available to all the consumers of the information, whereas with a query, they have to know to execute it.</a:t>
            </a:r>
          </a:p>
          <a:p>
            <a:r>
              <a:rPr lang="en-US" sz="2400" b="1" dirty="0" smtClean="0">
                <a:latin typeface="Graphite Light ATT" panose="03020402050402020203" pitchFamily="66" charset="0"/>
              </a:rPr>
              <a:t>However (as we’ll see), there are some things you can do with queries that you can’t do with inference.</a:t>
            </a:r>
          </a:p>
          <a:p>
            <a:endParaRPr lang="en-US" sz="2400" b="1" dirty="0">
              <a:latin typeface="Graphite Light ATT" panose="03020402050402020203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109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731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Wrap up </a:t>
            </a:r>
            <a:r>
              <a:rPr lang="en-US" dirty="0">
                <a:latin typeface="Cambria"/>
              </a:rPr>
              <a:t>―</a:t>
            </a:r>
            <a:r>
              <a:rPr lang="en-US" dirty="0" smtClean="0"/>
              <a:t> Chains and Transitivity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67199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Graphite Light ATT" panose="03020402050402020203" pitchFamily="66" charset="0"/>
              </a:rPr>
              <a:t>We’ve looked at two simple forms of OWL inference.</a:t>
            </a:r>
          </a:p>
          <a:p>
            <a:r>
              <a:rPr lang="en-US" sz="2400" b="1" dirty="0" smtClean="0">
                <a:latin typeface="Graphite Light ATT" panose="03020402050402020203" pitchFamily="66" charset="0"/>
              </a:rPr>
              <a:t>Transitivity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b="1" dirty="0" smtClean="0">
                <a:latin typeface="Graphite Light ATT" panose="03020402050402020203" pitchFamily="66" charset="0"/>
              </a:rPr>
              <a:t>Inferring assertions between individuals that are connected by the same property, through any number of jumps.</a:t>
            </a:r>
          </a:p>
          <a:p>
            <a:r>
              <a:rPr lang="en-US" sz="2400" b="1" dirty="0">
                <a:latin typeface="Graphite Light ATT" panose="03020402050402020203" pitchFamily="66" charset="0"/>
              </a:rPr>
              <a:t>Property Chains: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b="1" dirty="0">
                <a:latin typeface="Graphite Light ATT" panose="03020402050402020203" pitchFamily="66" charset="0"/>
              </a:rPr>
              <a:t>Inferring an assertion between two individuals based on the discovery of a path between them of conforming assertions.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b="1" dirty="0">
                <a:latin typeface="Graphite Light ATT" panose="03020402050402020203" pitchFamily="66" charset="0"/>
              </a:rPr>
              <a:t>The chain can be of an arbitrary, but fixed, length.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2000" b="1" dirty="0" smtClean="0">
              <a:latin typeface="Graphite Light ATT" panose="03020402050402020203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110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952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Recap </a:t>
            </a:r>
            <a:r>
              <a:rPr lang="en-US" sz="4000" dirty="0" smtClean="0"/>
              <a:t>(1/2)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7269480" cy="4358640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Graphite Light ATT" panose="03020402050402020203" pitchFamily="66" charset="0"/>
              </a:rPr>
              <a:t>Properties are first-class objects </a:t>
            </a:r>
          </a:p>
          <a:p>
            <a:r>
              <a:rPr lang="en-US" sz="2400" b="1" dirty="0" smtClean="0">
                <a:latin typeface="Graphite Light ATT" panose="03020402050402020203" pitchFamily="66" charset="0"/>
              </a:rPr>
              <a:t>They have their own characteristics: </a:t>
            </a:r>
            <a:br>
              <a:rPr lang="en-US" sz="2400" b="1" dirty="0" smtClean="0">
                <a:latin typeface="Graphite Light ATT" panose="03020402050402020203" pitchFamily="66" charset="0"/>
              </a:rPr>
            </a:br>
            <a:r>
              <a:rPr lang="en-US" sz="2400" b="1" dirty="0" smtClean="0">
                <a:solidFill>
                  <a:srgbClr val="CB9F2A"/>
                </a:solidFill>
                <a:latin typeface="Graphite Light ATT" panose="03020402050402020203" pitchFamily="66" charset="0"/>
              </a:rPr>
              <a:t>e.g. transitive, (a)symmetric</a:t>
            </a:r>
          </a:p>
          <a:p>
            <a:r>
              <a:rPr lang="en-US" sz="2400" b="1" dirty="0" smtClean="0">
                <a:latin typeface="Graphite Light ATT" panose="03020402050402020203" pitchFamily="66" charset="0"/>
              </a:rPr>
              <a:t>We can relate properties to other properties</a:t>
            </a:r>
            <a:endParaRPr lang="en-US" sz="2400" b="1" dirty="0" smtClean="0">
              <a:solidFill>
                <a:schemeClr val="bg1">
                  <a:lumMod val="65000"/>
                </a:schemeClr>
              </a:solidFill>
              <a:latin typeface="Graphite Light ATT" panose="03020402050402020203" pitchFamily="66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b="1" dirty="0" smtClean="0">
                <a:latin typeface="Graphite Light ATT" panose="03020402050402020203" pitchFamily="66" charset="0"/>
              </a:rPr>
              <a:t>They can participate in  sub-property hierarchies </a:t>
            </a:r>
            <a:br>
              <a:rPr lang="en-US" sz="2000" b="1" dirty="0" smtClean="0">
                <a:latin typeface="Graphite Light ATT" panose="03020402050402020203" pitchFamily="66" charset="0"/>
              </a:rPr>
            </a:br>
            <a:r>
              <a:rPr lang="en-US" sz="2000" b="1" dirty="0" smtClean="0">
                <a:solidFill>
                  <a:srgbClr val="CB9F2A"/>
                </a:solidFill>
                <a:latin typeface="Graphite Light ATT" panose="03020402050402020203" pitchFamily="66" charset="0"/>
              </a:rPr>
              <a:t>e.g. hasParent is subproperty of hasAncestor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b="1" dirty="0" smtClean="0">
                <a:latin typeface="Graphite Light ATT" panose="03020402050402020203" pitchFamily="66" charset="0"/>
              </a:rPr>
              <a:t>They can be set to be equivalent to one another</a:t>
            </a:r>
            <a:br>
              <a:rPr lang="en-US" sz="2000" b="1" dirty="0" smtClean="0">
                <a:latin typeface="Graphite Light ATT" panose="03020402050402020203" pitchFamily="66" charset="0"/>
              </a:rPr>
            </a:br>
            <a:r>
              <a:rPr lang="en-US" sz="2000" b="1" dirty="0">
                <a:solidFill>
                  <a:srgbClr val="CB9F2A"/>
                </a:solidFill>
                <a:latin typeface="Graphite Light ATT" panose="03020402050402020203" pitchFamily="66" charset="0"/>
              </a:rPr>
              <a:t>e.g. when merging disparate data sources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b="1" dirty="0" smtClean="0">
                <a:latin typeface="Graphite Light ATT" panose="03020402050402020203" pitchFamily="66" charset="0"/>
              </a:rPr>
              <a:t>They can be set to be disjoint from one another</a:t>
            </a:r>
            <a:br>
              <a:rPr lang="en-US" sz="2000" b="1" dirty="0" smtClean="0">
                <a:latin typeface="Graphite Light ATT" panose="03020402050402020203" pitchFamily="66" charset="0"/>
              </a:rPr>
            </a:br>
            <a:r>
              <a:rPr lang="en-US" sz="2000" b="1" dirty="0">
                <a:solidFill>
                  <a:srgbClr val="CB9F2A"/>
                </a:solidFill>
                <a:latin typeface="Graphite Light ATT" panose="03020402050402020203" pitchFamily="66" charset="0"/>
              </a:rPr>
              <a:t>e.g. borrower disjoint from lender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b="1" dirty="0" smtClean="0">
                <a:latin typeface="Graphite Light ATT" panose="03020402050402020203" pitchFamily="66" charset="0"/>
              </a:rPr>
              <a:t>It works just like it does for classes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111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584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Recap </a:t>
            </a:r>
            <a:r>
              <a:rPr lang="en-US" sz="4000" dirty="0" smtClean="0"/>
              <a:t>(2/2)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1051"/>
            <a:ext cx="8534400" cy="3018496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Graphite Light ATT" panose="03020402050402020203" pitchFamily="66" charset="0"/>
              </a:rPr>
              <a:t>Properties can be re-used in Restrictions </a:t>
            </a:r>
            <a:br>
              <a:rPr lang="en-US" sz="2400" b="1" dirty="0" smtClean="0">
                <a:latin typeface="Graphite Light ATT" panose="03020402050402020203" pitchFamily="66" charset="0"/>
              </a:rPr>
            </a:br>
            <a:r>
              <a:rPr lang="en-US" sz="2400" b="1" dirty="0" smtClean="0">
                <a:solidFill>
                  <a:srgbClr val="CB9F2A"/>
                </a:solidFill>
                <a:latin typeface="Graphite Light ATT" panose="03020402050402020203" pitchFamily="66" charset="0"/>
              </a:rPr>
              <a:t>e.g. owns House and owns Vehicle </a:t>
            </a:r>
          </a:p>
          <a:p>
            <a:r>
              <a:rPr lang="en-US" sz="2400" b="1" dirty="0" smtClean="0">
                <a:latin typeface="Graphite Light ATT" panose="03020402050402020203" pitchFamily="66" charset="0"/>
              </a:rPr>
              <a:t>This dramatically reduces the need to make up lots of new properties that only differ in their domain or range… </a:t>
            </a:r>
          </a:p>
          <a:p>
            <a:r>
              <a:rPr lang="en-US" sz="2400" b="1" dirty="0" smtClean="0">
                <a:latin typeface="Graphite Light ATT" panose="03020402050402020203" pitchFamily="66" charset="0"/>
              </a:rPr>
              <a:t>… which in turn eliminates one of the major sources of complexity in enterprise software.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24200" y="5257800"/>
            <a:ext cx="2513830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Graphite MM" panose="02000206020000020004" pitchFamily="2" charset="0"/>
              </a:rPr>
              <a:t>This is Fantastic!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D308B-B31D-4C87-80A7-0C493512D792}" type="slidenum">
              <a:rPr lang="en-US" smtClean="0"/>
              <a:pPr/>
              <a:t>112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584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ntaraTemplate.potx" id="{24DFB919-EFFB-4CAE-B783-5A25F10A5E41}" vid="{8CC4ABEB-A191-4D87-BCFF-68BF0B8E027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12198</TotalTime>
  <Words>4458</Words>
  <Application>Microsoft Office PowerPoint</Application>
  <PresentationFormat>On-screen Show (4:3)</PresentationFormat>
  <Paragraphs>993</Paragraphs>
  <Slides>112</Slides>
  <Notes>111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112</vt:i4>
      </vt:variant>
    </vt:vector>
  </HeadingPairs>
  <TitlesOfParts>
    <vt:vector size="125" baseType="lpstr">
      <vt:lpstr>Agency FB</vt:lpstr>
      <vt:lpstr>Arial</vt:lpstr>
      <vt:lpstr>Calibri</vt:lpstr>
      <vt:lpstr>Cambria</vt:lpstr>
      <vt:lpstr>Courier New</vt:lpstr>
      <vt:lpstr>Graphite Light ATT</vt:lpstr>
      <vt:lpstr>Graphite MM</vt:lpstr>
      <vt:lpstr>Tekton Pro</vt:lpstr>
      <vt:lpstr>Tekton Pro Cond</vt:lpstr>
      <vt:lpstr>Times</vt:lpstr>
      <vt:lpstr>Wingdings</vt:lpstr>
      <vt:lpstr>Office Theme</vt:lpstr>
      <vt:lpstr>Visio</vt:lpstr>
      <vt:lpstr>Hands On Building an Ontology</vt:lpstr>
      <vt:lpstr>Thoughts </vt:lpstr>
      <vt:lpstr>Five Important Distinctions</vt:lpstr>
      <vt:lpstr>Instance (aka Individual)</vt:lpstr>
      <vt:lpstr>Value (literal)</vt:lpstr>
      <vt:lpstr>Relation (Relationship / Property)</vt:lpstr>
      <vt:lpstr>Class</vt:lpstr>
      <vt:lpstr>Taxonomy (Term, Category)</vt:lpstr>
      <vt:lpstr>Remove the PRS slides</vt:lpstr>
      <vt:lpstr>PRS</vt:lpstr>
      <vt:lpstr>PRS *** be nice to put the blue and purple on here too</vt:lpstr>
      <vt:lpstr>Protégé is…</vt:lpstr>
      <vt:lpstr>Protégé Check in</vt:lpstr>
      <vt:lpstr>Elsewhere on your desktop</vt:lpstr>
      <vt:lpstr>Protégé Quick Tour</vt:lpstr>
      <vt:lpstr>Longer quick tour</vt:lpstr>
      <vt:lpstr>Back to the ontology… </vt:lpstr>
      <vt:lpstr>Rethink how we name the ontology</vt:lpstr>
      <vt:lpstr>Naming your ontology</vt:lpstr>
      <vt:lpstr>Looking at the text file</vt:lpstr>
      <vt:lpstr>Create a Qname for your Namespace</vt:lpstr>
      <vt:lpstr>Create a Qname for your Namespace</vt:lpstr>
      <vt:lpstr>Save this (empty) ontology</vt:lpstr>
      <vt:lpstr>Note: </vt:lpstr>
      <vt:lpstr>Recall, In Semantics, All Data is Expressed as Triples</vt:lpstr>
      <vt:lpstr>Individuals</vt:lpstr>
      <vt:lpstr>We didn’t mention</vt:lpstr>
      <vt:lpstr>Redo example with 007</vt:lpstr>
      <vt:lpstr>Useful Global Identifiers</vt:lpstr>
      <vt:lpstr>There are problems with this approach</vt:lpstr>
      <vt:lpstr>This is one reason existing systems are complex</vt:lpstr>
      <vt:lpstr>This is one reason existing systems are complex</vt:lpstr>
      <vt:lpstr>We need global identifiers</vt:lpstr>
      <vt:lpstr>Semantic Technology Finesses this with the “URI”</vt:lpstr>
      <vt:lpstr>Using URIs (similar to URLs) as identifiers</vt:lpstr>
      <vt:lpstr>Semantic Identifiers</vt:lpstr>
      <vt:lpstr>Let’s create an individual</vt:lpstr>
      <vt:lpstr>Create some more individuals</vt:lpstr>
      <vt:lpstr>Just in case… (correcting errors)</vt:lpstr>
      <vt:lpstr>Let’s look at this ontology in a text editor</vt:lpstr>
      <vt:lpstr>Let’s look at this ontology in a text editor</vt:lpstr>
      <vt:lpstr>Go back and re-save it but this time pick a different format (Turtle)</vt:lpstr>
      <vt:lpstr>Turtle gives us a simpler to read file</vt:lpstr>
      <vt:lpstr>Turtle gives us a simpler to read file</vt:lpstr>
      <vt:lpstr>This is the RDF level of the cake</vt:lpstr>
      <vt:lpstr>Any fact can be expressed as a triple</vt:lpstr>
      <vt:lpstr>Individuals without Class  (no disrespect intended)</vt:lpstr>
      <vt:lpstr>Save Classes for RDFS day</vt:lpstr>
      <vt:lpstr>Properties in OWL</vt:lpstr>
      <vt:lpstr>URIs/IRIs</vt:lpstr>
      <vt:lpstr>Triples, built on URIs, allow self-assembling data structures</vt:lpstr>
      <vt:lpstr>Let’s Visualize this Process</vt:lpstr>
      <vt:lpstr>Graphs instead of tables</vt:lpstr>
      <vt:lpstr>Metadata discussion later</vt:lpstr>
      <vt:lpstr>Properties must be declared…</vt:lpstr>
      <vt:lpstr>Let’s define one, then use it</vt:lpstr>
      <vt:lpstr>Add the property</vt:lpstr>
      <vt:lpstr>Do the same for the Datatype Properties</vt:lpstr>
      <vt:lpstr>Add datatype properties</vt:lpstr>
      <vt:lpstr>Now we’ll make some object assertions</vt:lpstr>
      <vt:lpstr>Select your predicate and object</vt:lpstr>
      <vt:lpstr>You’ve now created this triple</vt:lpstr>
      <vt:lpstr>Create some datatype assertions</vt:lpstr>
      <vt:lpstr>You’ve created</vt:lpstr>
      <vt:lpstr>Break</vt:lpstr>
      <vt:lpstr>Once we’ve assembled a graph…</vt:lpstr>
      <vt:lpstr>Reasoner or Inference Engine</vt:lpstr>
      <vt:lpstr>Our first inference</vt:lpstr>
      <vt:lpstr>Implied relation</vt:lpstr>
      <vt:lpstr>We’re going to create an Inverse Property</vt:lpstr>
      <vt:lpstr>What we’re doing</vt:lpstr>
      <vt:lpstr>What we’re doing</vt:lpstr>
      <vt:lpstr>Running the Reasoner in Protégé</vt:lpstr>
      <vt:lpstr>Discarding inferences</vt:lpstr>
      <vt:lpstr>Creating information</vt:lpstr>
      <vt:lpstr>As we said…</vt:lpstr>
      <vt:lpstr>Some implications</vt:lpstr>
      <vt:lpstr>Add in example of ownedBy</vt:lpstr>
      <vt:lpstr>Maybe drop the sparql bit</vt:lpstr>
      <vt:lpstr>Do you need an inverse?</vt:lpstr>
      <vt:lpstr>Datatype properties cannot have inverses</vt:lpstr>
      <vt:lpstr>When to have inverses</vt:lpstr>
      <vt:lpstr>Property Characteristics</vt:lpstr>
      <vt:lpstr>Concept: Transitivity</vt:lpstr>
      <vt:lpstr>Subproperties</vt:lpstr>
      <vt:lpstr>Subproperties</vt:lpstr>
      <vt:lpstr>Create an object subproperty in Protégé</vt:lpstr>
      <vt:lpstr>Subproperty inference</vt:lpstr>
      <vt:lpstr>Transitive</vt:lpstr>
      <vt:lpstr>Transitive Pattern</vt:lpstr>
      <vt:lpstr>Transitive Pattern</vt:lpstr>
      <vt:lpstr>Transitive Pattern</vt:lpstr>
      <vt:lpstr>Transitive Pattern: Another Example</vt:lpstr>
      <vt:lpstr>Create a transitive property in Protege</vt:lpstr>
      <vt:lpstr>Do the reasoner for transitive</vt:lpstr>
      <vt:lpstr>Equivalent Properties</vt:lpstr>
      <vt:lpstr>Equivalent Properties</vt:lpstr>
      <vt:lpstr>Equivalent Properties</vt:lpstr>
      <vt:lpstr>Symmetric Properties</vt:lpstr>
      <vt:lpstr>Making Distinctions only when Needed</vt:lpstr>
      <vt:lpstr>Disjoint Properties</vt:lpstr>
      <vt:lpstr>Disjoint Properties</vt:lpstr>
      <vt:lpstr>Asymmetric Properties</vt:lpstr>
      <vt:lpstr>Properties Distinctions</vt:lpstr>
      <vt:lpstr>Another kind of inference</vt:lpstr>
      <vt:lpstr>Property Chain exercise</vt:lpstr>
      <vt:lpstr>Run inferences</vt:lpstr>
      <vt:lpstr>Data and Metadata</vt:lpstr>
      <vt:lpstr>Wrap up ― Inference</vt:lpstr>
      <vt:lpstr>Wrap up ― Chains and Transitivity</vt:lpstr>
      <vt:lpstr>Recap (1/2) </vt:lpstr>
      <vt:lpstr>Recap (2/2)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Uschold</dc:creator>
  <cp:lastModifiedBy>Dan Carey</cp:lastModifiedBy>
  <cp:revision>407</cp:revision>
  <cp:lastPrinted>2015-06-19T22:34:31Z</cp:lastPrinted>
  <dcterms:created xsi:type="dcterms:W3CDTF">2015-02-12T01:34:27Z</dcterms:created>
  <dcterms:modified xsi:type="dcterms:W3CDTF">2015-11-04T00:39:28Z</dcterms:modified>
</cp:coreProperties>
</file>