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8" r:id="rId8"/>
    <p:sldId id="269" r:id="rId9"/>
    <p:sldId id="270" r:id="rId10"/>
    <p:sldId id="262" r:id="rId11"/>
    <p:sldId id="263" r:id="rId12"/>
    <p:sldId id="264" r:id="rId13"/>
    <p:sldId id="271" r:id="rId14"/>
    <p:sldId id="265" r:id="rId15"/>
    <p:sldId id="266" r:id="rId16"/>
    <p:sldId id="267" r:id="rId1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browse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75" d="100"/>
          <a:sy n="75" d="100"/>
        </p:scale>
        <p:origin x="950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0CA48D-D1C1-81FC-64C7-9B9FF3F63E6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CAFAD82-487A-4F30-10C0-DEEDA3B2618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9564961-7E39-695D-97F8-77B0BC85CC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9C91D1-BD8C-4B02-BF22-B3F70FE2ED29}" type="datetimeFigureOut">
              <a:rPr lang="en-US" smtClean="0"/>
              <a:t>19-Sep-23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46D6D9A-7F06-47BD-972C-DEABA67B98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4E1C9A-1FB1-5ED7-E036-594E6D5EC9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94ABCD-C5AA-485E-9835-F6528A49A4E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71814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6F470A-BAF2-1251-5D21-BBAD9A43BA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8F20AC4-F362-CDA7-60BD-E057E2E8B12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72CE0B0-B17E-C4CB-2FFA-D948AB9844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9C91D1-BD8C-4B02-BF22-B3F70FE2ED29}" type="datetimeFigureOut">
              <a:rPr lang="en-US" smtClean="0"/>
              <a:t>19-Sep-23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304D5E1-2145-BE46-1D04-96373CFD97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BB64EAB-F8EF-58BB-EE63-B3A3F6C0B0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94ABCD-C5AA-485E-9835-F6528A49A4E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063157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C63DCC-31C2-6300-7C36-CFC8DEA013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7427799-2B83-3D08-59B5-1C28F304B5B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486A43-0A9D-1CB7-8E2D-116AE60831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9C91D1-BD8C-4B02-BF22-B3F70FE2ED29}" type="datetimeFigureOut">
              <a:rPr lang="en-US" smtClean="0"/>
              <a:t>19-Sep-23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52B362F-0B93-78E2-61AD-8E449B3778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1D5BF95-9784-70E9-E7D3-26739B2EE8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94ABCD-C5AA-485E-9835-F6528A49A4E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16101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B3C9B0-B501-FCFB-0633-558A66747A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D3BC670-F809-3AF9-9CA5-28E947D2DD2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D82D1DC-D4FC-B520-1DF9-D403ACE8B81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226C4E2-4536-500E-0176-03BE594458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9C91D1-BD8C-4B02-BF22-B3F70FE2ED29}" type="datetimeFigureOut">
              <a:rPr lang="en-US" smtClean="0"/>
              <a:t>19-Sep-23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7FC2CA1-1E43-B775-B1F7-24833C60D4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33FCDE1-C1B5-1B10-F848-A80C7C49D3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94ABCD-C5AA-485E-9835-F6528A49A4E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936040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6B3131-B675-0B25-5506-7A15196F26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A0B7C4F-832A-DECD-72BD-34F4157AB5F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C34A90B-CA42-25DA-0FD2-CC625FB80D3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33EAB17-0CB5-B6CF-ECAA-C5ADCDB8333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D38E34F-0B3E-D30D-2856-3FD89FD4E48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17123CB-9C3E-596D-4DB0-40A1E23C4D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9C91D1-BD8C-4B02-BF22-B3F70FE2ED29}" type="datetimeFigureOut">
              <a:rPr lang="en-US" smtClean="0"/>
              <a:t>19-Sep-23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6D70EB4-CE67-D598-E16E-85F2A47ADF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F24E053-99CB-9E2B-5C4D-B1E7F8FBFB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94ABCD-C5AA-485E-9835-F6528A49A4E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65004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6A2EAA-9C4E-8942-9CE9-DF41CE743F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59A16BD-C2F4-2B63-D425-670FD31B89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9C91D1-BD8C-4B02-BF22-B3F70FE2ED29}" type="datetimeFigureOut">
              <a:rPr lang="en-US" smtClean="0"/>
              <a:t>19-Sep-23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396362D-4842-675F-8868-75FB5414A0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D123FF8-E381-D24F-931C-5C69CCFE6F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94ABCD-C5AA-485E-9835-F6528A49A4E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70463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895D0B4-0C6A-F300-23A1-70ABAB8B0B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9C91D1-BD8C-4B02-BF22-B3F70FE2ED29}" type="datetimeFigureOut">
              <a:rPr lang="en-US" smtClean="0"/>
              <a:t>19-Sep-23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51C0F60-5DD0-EB62-BEFB-CD19020E9E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09D637A-B1C9-8BB7-372C-A5CC46C63B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94ABCD-C5AA-485E-9835-F6528A49A4E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733151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B6EFA0-D7F3-2992-E9B8-7168DB4996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4803B78-BE90-3EE0-D00A-2E90EE2D7DB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D34E417-2F35-72BE-50F2-C14E928D078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9C2A8A3-2795-ADB9-BCB4-C4AB8A8013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9C91D1-BD8C-4B02-BF22-B3F70FE2ED29}" type="datetimeFigureOut">
              <a:rPr lang="en-US" smtClean="0"/>
              <a:t>19-Sep-23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77A3DA9-331C-78F8-45A2-09677C715E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259E117-9FBE-32A6-BFEC-8CA9362F31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94ABCD-C5AA-485E-9835-F6528A49A4E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593605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1CB324-3AD4-5C32-2B93-934DE72A50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6E76429-A75F-C596-F74F-687755EA51D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F7A0B68-CC64-9661-175C-6F926243769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1B1FDCD-EDE5-AC9F-A847-66A15148F1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9C91D1-BD8C-4B02-BF22-B3F70FE2ED29}" type="datetimeFigureOut">
              <a:rPr lang="en-US" smtClean="0"/>
              <a:t>19-Sep-23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B513653-7262-1458-7E4C-99F422CF3A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7567A45-E447-B4A2-7C85-0D147CCEF8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94ABCD-C5AA-485E-9835-F6528A49A4E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98084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90120C-D174-0674-C30C-C9B4353D69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EFA7ADF-DF46-5503-B388-0305482E2EC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05678A4-E3DE-5A16-48BB-7095447447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9C91D1-BD8C-4B02-BF22-B3F70FE2ED29}" type="datetimeFigureOut">
              <a:rPr lang="en-US" smtClean="0"/>
              <a:t>19-Sep-23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640D6CD-5597-C825-6D08-2CEE20DFA8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EE575C5-2024-7567-D95A-2BA7B247D2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94ABCD-C5AA-485E-9835-F6528A49A4E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321216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2D8188B-77E5-E93B-2EC7-3F99DA3C1EB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73B868F-C508-5283-EBF0-C9E414DA054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E2F8CF2-FDFA-3DBE-4C8E-835763D410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9C91D1-BD8C-4B02-BF22-B3F70FE2ED29}" type="datetimeFigureOut">
              <a:rPr lang="en-US" smtClean="0"/>
              <a:t>19-Sep-23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D569BE5-808D-4980-DFBA-415D69533F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E594723-6127-7F55-DEC9-45092F2A44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94ABCD-C5AA-485E-9835-F6528A49A4E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351165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9BB0780-15E1-7387-90CE-C09B0E2CD5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A16609D-FEE2-AB4F-D216-7EA3EE1CEAD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85A997D-FA17-CF25-4F15-04987B80B2B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89C91D1-BD8C-4B02-BF22-B3F70FE2ED29}" type="datetimeFigureOut">
              <a:rPr lang="en-US" smtClean="0"/>
              <a:t>19-Sep-23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D98C7FD-E17B-0FE1-01FE-A2F95C2429A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4F073B3-2B8F-BC11-F75C-D31C98EB773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894ABCD-C5AA-485E-9835-F6528A49A4E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99902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28213F-638A-69F0-1D6D-23958A69E62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Ontology Examples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B57B22E-EC40-97B0-1F6E-64A6972E19F3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042872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2C875E-A7D8-20F9-EAB6-89CC5AFEF4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Motivation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3491858-6C5C-1B66-87E5-614B6A84836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To clarify intended uses of ontology concepts</a:t>
            </a:r>
          </a:p>
          <a:p>
            <a:r>
              <a:rPr lang="en-US" dirty="0"/>
              <a:t>Domains and ranges (actual and intended) give important clues</a:t>
            </a:r>
          </a:p>
          <a:p>
            <a:r>
              <a:rPr lang="en-US" dirty="0"/>
              <a:t>Seeing real examples makes it so much easier</a:t>
            </a:r>
          </a:p>
        </p:txBody>
      </p:sp>
    </p:spTree>
    <p:extLst>
      <p:ext uri="{BB962C8B-B14F-4D97-AF65-F5344CB8AC3E}">
        <p14:creationId xmlns:p14="http://schemas.microsoft.com/office/powerpoint/2010/main" val="197942219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67198A-40BB-5A0D-090B-4625377A58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 Examples: Operators Ontology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382169A-0AA5-72E0-B8D1-E8FB5332F0E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Operators Ontology</a:t>
            </a:r>
          </a:p>
          <a:p>
            <a:r>
              <a:rPr lang="en-US" dirty="0"/>
              <a:t>Originated 10+ years ago as part of product specifications</a:t>
            </a:r>
          </a:p>
          <a:p>
            <a:r>
              <a:rPr lang="en-US" dirty="0"/>
              <a:t>For specifying the acceptable range of the value for some characteristic.</a:t>
            </a:r>
          </a:p>
          <a:p>
            <a:r>
              <a:rPr lang="en-US" dirty="0"/>
              <a:t>Several years later was separated out from the specification ontology to be used for version dependencies </a:t>
            </a:r>
          </a:p>
          <a:p>
            <a:r>
              <a:rPr lang="en-US" dirty="0"/>
              <a:t>Here are two examples of using the operators ontology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7576992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F7EDA9-5365-FECB-1FEA-A7BB26810B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Product Specifications </a:t>
            </a:r>
          </a:p>
        </p:txBody>
      </p:sp>
      <p:pic>
        <p:nvPicPr>
          <p:cNvPr id="5" name="Content Placeholder 4" descr="A diagram of a computer flowchart&#10;&#10;Description automatically generated">
            <a:extLst>
              <a:ext uri="{FF2B5EF4-FFF2-40B4-BE49-F238E27FC236}">
                <a16:creationId xmlns:a16="http://schemas.microsoft.com/office/drawing/2014/main" id="{7EE6FE36-FA56-F271-D142-D0F0132EA8E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3798" y="3509817"/>
            <a:ext cx="11449457" cy="2736348"/>
          </a:xfrm>
        </p:spPr>
      </p:pic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7893FBB8-084E-AD91-9451-3EAD8761EF95}"/>
              </a:ext>
            </a:extLst>
          </p:cNvPr>
          <p:cNvSpPr txBox="1">
            <a:spLocks/>
          </p:cNvSpPr>
          <p:nvPr/>
        </p:nvSpPr>
        <p:spPr>
          <a:xfrm>
            <a:off x="838200" y="1690688"/>
            <a:ext cx="4795982" cy="165749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A smart phone must have</a:t>
            </a:r>
          </a:p>
          <a:p>
            <a:pPr lvl="1"/>
            <a:r>
              <a:rPr lang="en-US" dirty="0"/>
              <a:t>GE 12 </a:t>
            </a:r>
            <a:r>
              <a:rPr lang="en-US" dirty="0" err="1"/>
              <a:t>hrs</a:t>
            </a:r>
            <a:r>
              <a:rPr lang="en-US" dirty="0"/>
              <a:t> battery life</a:t>
            </a:r>
          </a:p>
          <a:p>
            <a:pPr lvl="1"/>
            <a:r>
              <a:rPr lang="en-US" dirty="0"/>
              <a:t>weight LE 15 oz</a:t>
            </a:r>
          </a:p>
          <a:p>
            <a:pPr lvl="1"/>
            <a:r>
              <a:rPr lang="en-US" dirty="0"/>
              <a:t>exactly 4 buttons</a:t>
            </a:r>
          </a:p>
        </p:txBody>
      </p:sp>
    </p:spTree>
    <p:extLst>
      <p:ext uri="{BB962C8B-B14F-4D97-AF65-F5344CB8AC3E}">
        <p14:creationId xmlns:p14="http://schemas.microsoft.com/office/powerpoint/2010/main" val="12598544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CBFFB2-2424-064D-9CA4-6F1570185E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Version Dependencies 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DAACFFAF-6D61-73E2-54DE-C553EC566932}"/>
              </a:ext>
            </a:extLst>
          </p:cNvPr>
          <p:cNvSpPr txBox="1">
            <a:spLocks noGrp="1"/>
          </p:cNvSpPr>
          <p:nvPr>
            <p:ph idx="1"/>
          </p:nvPr>
        </p:nvSpPr>
        <p:spPr>
          <a:xfrm>
            <a:off x="838200" y="1690688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The semantic version number for the disease taxonomy is 6.3.0. </a:t>
            </a:r>
          </a:p>
          <a:p>
            <a:r>
              <a:rPr lang="en-US" dirty="0"/>
              <a:t>This version depends on </a:t>
            </a:r>
          </a:p>
          <a:p>
            <a:pPr lvl="1"/>
            <a:r>
              <a:rPr lang="en-US" dirty="0"/>
              <a:t>the version of the disease ontology being between 3.1.0 and 4.0.0</a:t>
            </a:r>
          </a:p>
          <a:p>
            <a:pPr lvl="1"/>
            <a:r>
              <a:rPr lang="en-US" dirty="0"/>
              <a:t>the version of gist core being between 12.1.0 and 13.0.0</a:t>
            </a:r>
          </a:p>
        </p:txBody>
      </p:sp>
    </p:spTree>
    <p:extLst>
      <p:ext uri="{BB962C8B-B14F-4D97-AF65-F5344CB8AC3E}">
        <p14:creationId xmlns:p14="http://schemas.microsoft.com/office/powerpoint/2010/main" val="307771018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CBFFB2-2424-064D-9CA4-6F1570185E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Version Dependencies </a:t>
            </a:r>
          </a:p>
        </p:txBody>
      </p:sp>
      <p:pic>
        <p:nvPicPr>
          <p:cNvPr id="5" name="Content Placeholder 4" descr="A screenshot of a computer&#10;&#10;Description automatically generated">
            <a:extLst>
              <a:ext uri="{FF2B5EF4-FFF2-40B4-BE49-F238E27FC236}">
                <a16:creationId xmlns:a16="http://schemas.microsoft.com/office/drawing/2014/main" id="{CFB9DF0D-30A3-F65F-83D8-A73EEAED4ED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1431636"/>
            <a:ext cx="10607334" cy="5095251"/>
          </a:xfrm>
        </p:spPr>
      </p:pic>
    </p:spTree>
    <p:extLst>
      <p:ext uri="{BB962C8B-B14F-4D97-AF65-F5344CB8AC3E}">
        <p14:creationId xmlns:p14="http://schemas.microsoft.com/office/powerpoint/2010/main" val="174784924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D682A2-DFE1-4B21-BDC8-34038D18F4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Ordered Collections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8F7F6318-0D28-972D-8718-C325E08BEC4A}"/>
              </a:ext>
            </a:extLst>
          </p:cNvPr>
          <p:cNvSpPr txBox="1">
            <a:spLocks/>
          </p:cNvSpPr>
          <p:nvPr/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John and Jane are competing in two races. </a:t>
            </a:r>
          </a:p>
          <a:p>
            <a:r>
              <a:rPr lang="en-US" dirty="0"/>
              <a:t>In one race, John comes in first and Jane second.</a:t>
            </a:r>
          </a:p>
          <a:p>
            <a:r>
              <a:rPr lang="en-US" dirty="0"/>
              <a:t>In the other race Jane comes in first and John second.</a:t>
            </a:r>
          </a:p>
          <a:p>
            <a:r>
              <a:rPr lang="en-US" dirty="0"/>
              <a:t>We need two ordered collections, one for each finishing order.</a:t>
            </a:r>
          </a:p>
        </p:txBody>
      </p:sp>
      <p:pic>
        <p:nvPicPr>
          <p:cNvPr id="4" name="Picture 4">
            <a:extLst>
              <a:ext uri="{FF2B5EF4-FFF2-40B4-BE49-F238E27FC236}">
                <a16:creationId xmlns:a16="http://schemas.microsoft.com/office/drawing/2014/main" id="{7DA95630-B8B2-7D82-91A1-1FFAB3957FA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12121" y="5056176"/>
            <a:ext cx="9175935" cy="14366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Speech Bubble: Rectangle with Corners Rounded 7">
            <a:extLst>
              <a:ext uri="{FF2B5EF4-FFF2-40B4-BE49-F238E27FC236}">
                <a16:creationId xmlns:a16="http://schemas.microsoft.com/office/drawing/2014/main" id="{D6EC1C0C-DB94-77A9-1F95-C22A2A569469}"/>
              </a:ext>
            </a:extLst>
          </p:cNvPr>
          <p:cNvSpPr/>
          <p:nvPr/>
        </p:nvSpPr>
        <p:spPr>
          <a:xfrm>
            <a:off x="2204983" y="4433735"/>
            <a:ext cx="1863586" cy="498013"/>
          </a:xfrm>
          <a:prstGeom prst="wedgeRoundRectCallout">
            <a:avLst>
              <a:gd name="adj1" fmla="val 107607"/>
              <a:gd name="adj2" fmla="val 109439"/>
              <a:gd name="adj3" fmla="val 16667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/>
              <a:t>Triple patterns</a:t>
            </a:r>
          </a:p>
        </p:txBody>
      </p:sp>
    </p:spTree>
    <p:extLst>
      <p:ext uri="{BB962C8B-B14F-4D97-AF65-F5344CB8AC3E}">
        <p14:creationId xmlns:p14="http://schemas.microsoft.com/office/powerpoint/2010/main" val="10709343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>
            <a:extLst>
              <a:ext uri="{FF2B5EF4-FFF2-40B4-BE49-F238E27FC236}">
                <a16:creationId xmlns:a16="http://schemas.microsoft.com/office/drawing/2014/main" id="{C831F677-E6B0-81FE-F843-A56A2C52EADE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03944" y="1447616"/>
            <a:ext cx="8840655" cy="50452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095B08E8-3DE2-C9A5-428A-55C31795B2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Two Ordered Collections (as Arrays)</a:t>
            </a: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588CDEDA-9B88-FEC4-5CB6-0CA7D97710C1}"/>
              </a:ext>
            </a:extLst>
          </p:cNvPr>
          <p:cNvGrpSpPr/>
          <p:nvPr/>
        </p:nvGrpSpPr>
        <p:grpSpPr>
          <a:xfrm>
            <a:off x="1647401" y="5025696"/>
            <a:ext cx="9175935" cy="1436699"/>
            <a:chOff x="1302890" y="4814807"/>
            <a:chExt cx="9175935" cy="1436699"/>
          </a:xfrm>
        </p:grpSpPr>
        <p:pic>
          <p:nvPicPr>
            <p:cNvPr id="3076" name="Picture 4">
              <a:extLst>
                <a:ext uri="{FF2B5EF4-FFF2-40B4-BE49-F238E27FC236}">
                  <a16:creationId xmlns:a16="http://schemas.microsoft.com/office/drawing/2014/main" id="{F8BF5662-6709-89D3-0328-19FF10D5E6B8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302890" y="4814807"/>
              <a:ext cx="9175935" cy="1436699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87842B49-4A3F-3912-A209-154221FD0A3D}"/>
                </a:ext>
              </a:extLst>
            </p:cNvPr>
            <p:cNvSpPr/>
            <p:nvPr/>
          </p:nvSpPr>
          <p:spPr>
            <a:xfrm>
              <a:off x="3311471" y="5925143"/>
              <a:ext cx="1942454" cy="134828"/>
            </a:xfrm>
            <a:custGeom>
              <a:avLst/>
              <a:gdLst>
                <a:gd name="connsiteX0" fmla="*/ 0 w 1942454"/>
                <a:gd name="connsiteY0" fmla="*/ 31372 h 134828"/>
                <a:gd name="connsiteX1" fmla="*/ 966061 w 1942454"/>
                <a:gd name="connsiteY1" fmla="*/ 134694 h 134828"/>
                <a:gd name="connsiteX2" fmla="*/ 1730644 w 1942454"/>
                <a:gd name="connsiteY2" fmla="*/ 52037 h 134828"/>
                <a:gd name="connsiteX3" fmla="*/ 1942454 w 1942454"/>
                <a:gd name="connsiteY3" fmla="*/ 376 h 1348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42454" h="134828">
                  <a:moveTo>
                    <a:pt x="0" y="31372"/>
                  </a:moveTo>
                  <a:cubicBezTo>
                    <a:pt x="338810" y="81311"/>
                    <a:pt x="677620" y="131250"/>
                    <a:pt x="966061" y="134694"/>
                  </a:cubicBezTo>
                  <a:cubicBezTo>
                    <a:pt x="1254502" y="138138"/>
                    <a:pt x="1567912" y="74423"/>
                    <a:pt x="1730644" y="52037"/>
                  </a:cubicBezTo>
                  <a:cubicBezTo>
                    <a:pt x="1893376" y="29651"/>
                    <a:pt x="1865824" y="-3929"/>
                    <a:pt x="1942454" y="376"/>
                  </a:cubicBezTo>
                </a:path>
              </a:pathLst>
            </a:custGeom>
            <a:noFill/>
            <a:ln w="28575">
              <a:solidFill>
                <a:srgbClr val="00B05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Freeform: Shape 9">
              <a:extLst>
                <a:ext uri="{FF2B5EF4-FFF2-40B4-BE49-F238E27FC236}">
                  <a16:creationId xmlns:a16="http://schemas.microsoft.com/office/drawing/2014/main" id="{9EDD66E6-C07C-CB5F-2E60-82B045054952}"/>
                </a:ext>
              </a:extLst>
            </p:cNvPr>
            <p:cNvSpPr/>
            <p:nvPr/>
          </p:nvSpPr>
          <p:spPr>
            <a:xfrm>
              <a:off x="7196380" y="5858359"/>
              <a:ext cx="1994115" cy="175648"/>
            </a:xfrm>
            <a:custGeom>
              <a:avLst/>
              <a:gdLst>
                <a:gd name="connsiteX0" fmla="*/ 0 w 1994115"/>
                <a:gd name="connsiteY0" fmla="*/ 0 h 175648"/>
                <a:gd name="connsiteX1" fmla="*/ 1074549 w 1994115"/>
                <a:gd name="connsiteY1" fmla="*/ 103322 h 175648"/>
                <a:gd name="connsiteX2" fmla="*/ 1994115 w 1994115"/>
                <a:gd name="connsiteY2" fmla="*/ 175648 h 1756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994115" h="175648">
                  <a:moveTo>
                    <a:pt x="0" y="0"/>
                  </a:moveTo>
                  <a:lnTo>
                    <a:pt x="1074549" y="103322"/>
                  </a:lnTo>
                  <a:lnTo>
                    <a:pt x="1994115" y="175648"/>
                  </a:lnTo>
                </a:path>
              </a:pathLst>
            </a:custGeom>
            <a:noFill/>
            <a:ln w="28575">
              <a:solidFill>
                <a:srgbClr val="00B05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2" name="Speech Bubble: Rectangle with Corners Rounded 11">
            <a:extLst>
              <a:ext uri="{FF2B5EF4-FFF2-40B4-BE49-F238E27FC236}">
                <a16:creationId xmlns:a16="http://schemas.microsoft.com/office/drawing/2014/main" id="{7A782037-4E44-8250-CD56-2FCED82FD3CF}"/>
              </a:ext>
            </a:extLst>
          </p:cNvPr>
          <p:cNvSpPr/>
          <p:nvPr/>
        </p:nvSpPr>
        <p:spPr>
          <a:xfrm>
            <a:off x="2204983" y="4433735"/>
            <a:ext cx="1863586" cy="498013"/>
          </a:xfrm>
          <a:prstGeom prst="wedgeRoundRectCallout">
            <a:avLst>
              <a:gd name="adj1" fmla="val 107607"/>
              <a:gd name="adj2" fmla="val 109439"/>
              <a:gd name="adj3" fmla="val 16667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/>
              <a:t>Triple patterns</a:t>
            </a:r>
          </a:p>
        </p:txBody>
      </p:sp>
    </p:spTree>
    <p:extLst>
      <p:ext uri="{BB962C8B-B14F-4D97-AF65-F5344CB8AC3E}">
        <p14:creationId xmlns:p14="http://schemas.microsoft.com/office/powerpoint/2010/main" val="36753101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5B08E8-3DE2-C9A5-428A-55C31795B2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Two Ordered Collections (as Linked Lists)</a:t>
            </a:r>
          </a:p>
        </p:txBody>
      </p:sp>
      <p:sp>
        <p:nvSpPr>
          <p:cNvPr id="5" name="Freeform: Shape 4">
            <a:extLst>
              <a:ext uri="{FF2B5EF4-FFF2-40B4-BE49-F238E27FC236}">
                <a16:creationId xmlns:a16="http://schemas.microsoft.com/office/drawing/2014/main" id="{4A154ECB-B2FF-AD4F-EF67-CFED1D81FEF3}"/>
              </a:ext>
            </a:extLst>
          </p:cNvPr>
          <p:cNvSpPr/>
          <p:nvPr/>
        </p:nvSpPr>
        <p:spPr>
          <a:xfrm>
            <a:off x="3632752" y="5476461"/>
            <a:ext cx="1863587" cy="491987"/>
          </a:xfrm>
          <a:custGeom>
            <a:avLst/>
            <a:gdLst>
              <a:gd name="connsiteX0" fmla="*/ 0 w 1863587"/>
              <a:gd name="connsiteY0" fmla="*/ 0 h 491987"/>
              <a:gd name="connsiteX1" fmla="*/ 815009 w 1863587"/>
              <a:gd name="connsiteY1" fmla="*/ 233569 h 491987"/>
              <a:gd name="connsiteX2" fmla="*/ 1863587 w 1863587"/>
              <a:gd name="connsiteY2" fmla="*/ 491987 h 4919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863587" h="491987">
                <a:moveTo>
                  <a:pt x="0" y="0"/>
                </a:moveTo>
                <a:cubicBezTo>
                  <a:pt x="272498" y="80341"/>
                  <a:pt x="504411" y="151571"/>
                  <a:pt x="815009" y="233569"/>
                </a:cubicBezTo>
                <a:cubicBezTo>
                  <a:pt x="1125607" y="315567"/>
                  <a:pt x="1683854" y="445604"/>
                  <a:pt x="1863587" y="491987"/>
                </a:cubicBezTo>
              </a:path>
            </a:pathLst>
          </a:custGeom>
          <a:noFill/>
          <a:ln w="28575"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Freeform: Shape 6">
            <a:extLst>
              <a:ext uri="{FF2B5EF4-FFF2-40B4-BE49-F238E27FC236}">
                <a16:creationId xmlns:a16="http://schemas.microsoft.com/office/drawing/2014/main" id="{8E5657E0-1B90-7822-1B3F-27BE6680D9B3}"/>
              </a:ext>
            </a:extLst>
          </p:cNvPr>
          <p:cNvSpPr/>
          <p:nvPr/>
        </p:nvSpPr>
        <p:spPr>
          <a:xfrm>
            <a:off x="7056783" y="6147352"/>
            <a:ext cx="1848678" cy="14909"/>
          </a:xfrm>
          <a:custGeom>
            <a:avLst/>
            <a:gdLst>
              <a:gd name="connsiteX0" fmla="*/ 0 w 1848678"/>
              <a:gd name="connsiteY0" fmla="*/ 14909 h 14909"/>
              <a:gd name="connsiteX1" fmla="*/ 839856 w 1848678"/>
              <a:gd name="connsiteY1" fmla="*/ 0 h 14909"/>
              <a:gd name="connsiteX2" fmla="*/ 1848678 w 1848678"/>
              <a:gd name="connsiteY2" fmla="*/ 4970 h 149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848678" h="14909">
                <a:moveTo>
                  <a:pt x="0" y="14909"/>
                </a:moveTo>
                <a:lnTo>
                  <a:pt x="839856" y="0"/>
                </a:lnTo>
                <a:lnTo>
                  <a:pt x="1848678" y="4970"/>
                </a:lnTo>
              </a:path>
            </a:pathLst>
          </a:custGeom>
          <a:noFill/>
          <a:ln w="28575"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8094B85D-6EC2-3AF8-7416-12EAF6C3B05F}"/>
              </a:ext>
            </a:extLst>
          </p:cNvPr>
          <p:cNvSpPr/>
          <p:nvPr/>
        </p:nvSpPr>
        <p:spPr>
          <a:xfrm>
            <a:off x="7002117" y="5342283"/>
            <a:ext cx="2012674" cy="601317"/>
          </a:xfrm>
          <a:custGeom>
            <a:avLst/>
            <a:gdLst>
              <a:gd name="connsiteX0" fmla="*/ 0 w 2012674"/>
              <a:gd name="connsiteY0" fmla="*/ 601317 h 601317"/>
              <a:gd name="connsiteX1" fmla="*/ 1302026 w 2012674"/>
              <a:gd name="connsiteY1" fmla="*/ 218660 h 601317"/>
              <a:gd name="connsiteX2" fmla="*/ 2012674 w 2012674"/>
              <a:gd name="connsiteY2" fmla="*/ 0 h 60131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012674" h="601317">
                <a:moveTo>
                  <a:pt x="0" y="601317"/>
                </a:moveTo>
                <a:lnTo>
                  <a:pt x="1302026" y="218660"/>
                </a:lnTo>
                <a:lnTo>
                  <a:pt x="2012674" y="0"/>
                </a:lnTo>
              </a:path>
            </a:pathLst>
          </a:custGeom>
          <a:noFill/>
          <a:ln w="28575"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Picture 4">
            <a:extLst>
              <a:ext uri="{FF2B5EF4-FFF2-40B4-BE49-F238E27FC236}">
                <a16:creationId xmlns:a16="http://schemas.microsoft.com/office/drawing/2014/main" id="{19EE5BC1-76AC-4332-E08A-A10AEFF9A19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12121" y="5056176"/>
            <a:ext cx="9175935" cy="14366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Freeform: Shape 8">
            <a:extLst>
              <a:ext uri="{FF2B5EF4-FFF2-40B4-BE49-F238E27FC236}">
                <a16:creationId xmlns:a16="http://schemas.microsoft.com/office/drawing/2014/main" id="{5D2C33EF-CA54-82E7-4A1B-47FEB5F76E0D}"/>
              </a:ext>
            </a:extLst>
          </p:cNvPr>
          <p:cNvSpPr/>
          <p:nvPr/>
        </p:nvSpPr>
        <p:spPr>
          <a:xfrm>
            <a:off x="3320702" y="6166512"/>
            <a:ext cx="1942454" cy="134828"/>
          </a:xfrm>
          <a:custGeom>
            <a:avLst/>
            <a:gdLst>
              <a:gd name="connsiteX0" fmla="*/ 0 w 1942454"/>
              <a:gd name="connsiteY0" fmla="*/ 31372 h 134828"/>
              <a:gd name="connsiteX1" fmla="*/ 966061 w 1942454"/>
              <a:gd name="connsiteY1" fmla="*/ 134694 h 134828"/>
              <a:gd name="connsiteX2" fmla="*/ 1730644 w 1942454"/>
              <a:gd name="connsiteY2" fmla="*/ 52037 h 134828"/>
              <a:gd name="connsiteX3" fmla="*/ 1942454 w 1942454"/>
              <a:gd name="connsiteY3" fmla="*/ 376 h 1348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42454" h="134828">
                <a:moveTo>
                  <a:pt x="0" y="31372"/>
                </a:moveTo>
                <a:cubicBezTo>
                  <a:pt x="338810" y="81311"/>
                  <a:pt x="677620" y="131250"/>
                  <a:pt x="966061" y="134694"/>
                </a:cubicBezTo>
                <a:cubicBezTo>
                  <a:pt x="1254502" y="138138"/>
                  <a:pt x="1567912" y="74423"/>
                  <a:pt x="1730644" y="52037"/>
                </a:cubicBezTo>
                <a:cubicBezTo>
                  <a:pt x="1893376" y="29651"/>
                  <a:pt x="1865824" y="-3929"/>
                  <a:pt x="1942454" y="376"/>
                </a:cubicBezTo>
              </a:path>
            </a:pathLst>
          </a:custGeom>
          <a:noFill/>
          <a:ln w="28575"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D29CD61A-8598-E832-CD7F-4B275A2D6692}"/>
              </a:ext>
            </a:extLst>
          </p:cNvPr>
          <p:cNvSpPr/>
          <p:nvPr/>
        </p:nvSpPr>
        <p:spPr>
          <a:xfrm>
            <a:off x="6023632" y="5414325"/>
            <a:ext cx="524488" cy="160975"/>
          </a:xfrm>
          <a:custGeom>
            <a:avLst/>
            <a:gdLst>
              <a:gd name="connsiteX0" fmla="*/ 1248 w 524488"/>
              <a:gd name="connsiteY0" fmla="*/ 160975 h 160975"/>
              <a:gd name="connsiteX1" fmla="*/ 26648 w 524488"/>
              <a:gd name="connsiteY1" fmla="*/ 44135 h 160975"/>
              <a:gd name="connsiteX2" fmla="*/ 181588 w 524488"/>
              <a:gd name="connsiteY2" fmla="*/ 955 h 160975"/>
              <a:gd name="connsiteX3" fmla="*/ 382248 w 524488"/>
              <a:gd name="connsiteY3" fmla="*/ 16195 h 160975"/>
              <a:gd name="connsiteX4" fmla="*/ 488928 w 524488"/>
              <a:gd name="connsiteY4" fmla="*/ 39055 h 160975"/>
              <a:gd name="connsiteX5" fmla="*/ 524488 w 524488"/>
              <a:gd name="connsiteY5" fmla="*/ 94935 h 1609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24488" h="160975">
                <a:moveTo>
                  <a:pt x="1248" y="160975"/>
                </a:moveTo>
                <a:cubicBezTo>
                  <a:pt x="-1081" y="115890"/>
                  <a:pt x="-3409" y="70805"/>
                  <a:pt x="26648" y="44135"/>
                </a:cubicBezTo>
                <a:cubicBezTo>
                  <a:pt x="56705" y="17465"/>
                  <a:pt x="122321" y="5612"/>
                  <a:pt x="181588" y="955"/>
                </a:cubicBezTo>
                <a:cubicBezTo>
                  <a:pt x="240855" y="-3702"/>
                  <a:pt x="331025" y="9845"/>
                  <a:pt x="382248" y="16195"/>
                </a:cubicBezTo>
                <a:cubicBezTo>
                  <a:pt x="433471" y="22545"/>
                  <a:pt x="465221" y="25932"/>
                  <a:pt x="488928" y="39055"/>
                </a:cubicBezTo>
                <a:cubicBezTo>
                  <a:pt x="512635" y="52178"/>
                  <a:pt x="518561" y="73556"/>
                  <a:pt x="524488" y="94935"/>
                </a:cubicBezTo>
              </a:path>
            </a:pathLst>
          </a:custGeom>
          <a:noFill/>
          <a:ln w="28575"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46984C98-7290-4CF7-C5F6-12730E9EA3E0}"/>
              </a:ext>
            </a:extLst>
          </p:cNvPr>
          <p:cNvSpPr/>
          <p:nvPr/>
        </p:nvSpPr>
        <p:spPr>
          <a:xfrm>
            <a:off x="7259320" y="5610860"/>
            <a:ext cx="1983740" cy="203200"/>
          </a:xfrm>
          <a:custGeom>
            <a:avLst/>
            <a:gdLst>
              <a:gd name="connsiteX0" fmla="*/ 0 w 1983740"/>
              <a:gd name="connsiteY0" fmla="*/ 203200 h 203200"/>
              <a:gd name="connsiteX1" fmla="*/ 1000760 w 1983740"/>
              <a:gd name="connsiteY1" fmla="*/ 91440 h 203200"/>
              <a:gd name="connsiteX2" fmla="*/ 1983740 w 1983740"/>
              <a:gd name="connsiteY2" fmla="*/ 0 h 203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983740" h="203200">
                <a:moveTo>
                  <a:pt x="0" y="203200"/>
                </a:moveTo>
                <a:lnTo>
                  <a:pt x="1000760" y="91440"/>
                </a:lnTo>
                <a:lnTo>
                  <a:pt x="1983740" y="0"/>
                </a:lnTo>
              </a:path>
            </a:pathLst>
          </a:custGeom>
          <a:noFill/>
          <a:ln w="28575"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0C146B24-BB39-6FE6-81EA-A47664D83510}"/>
              </a:ext>
            </a:extLst>
          </p:cNvPr>
          <p:cNvSpPr/>
          <p:nvPr/>
        </p:nvSpPr>
        <p:spPr>
          <a:xfrm>
            <a:off x="3394710" y="5859780"/>
            <a:ext cx="1775460" cy="11430"/>
          </a:xfrm>
          <a:custGeom>
            <a:avLst/>
            <a:gdLst>
              <a:gd name="connsiteX0" fmla="*/ 0 w 1775460"/>
              <a:gd name="connsiteY0" fmla="*/ 3810 h 11430"/>
              <a:gd name="connsiteX1" fmla="*/ 849630 w 1775460"/>
              <a:gd name="connsiteY1" fmla="*/ 7620 h 11430"/>
              <a:gd name="connsiteX2" fmla="*/ 1489710 w 1775460"/>
              <a:gd name="connsiteY2" fmla="*/ 0 h 11430"/>
              <a:gd name="connsiteX3" fmla="*/ 1775460 w 1775460"/>
              <a:gd name="connsiteY3" fmla="*/ 11430 h 1143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775460" h="11430">
                <a:moveTo>
                  <a:pt x="0" y="3810"/>
                </a:moveTo>
                <a:lnTo>
                  <a:pt x="849630" y="7620"/>
                </a:lnTo>
                <a:lnTo>
                  <a:pt x="1489710" y="0"/>
                </a:lnTo>
                <a:cubicBezTo>
                  <a:pt x="1644015" y="635"/>
                  <a:pt x="1709737" y="6032"/>
                  <a:pt x="1775460" y="11430"/>
                </a:cubicBezTo>
              </a:path>
            </a:pathLst>
          </a:custGeom>
          <a:noFill/>
          <a:ln w="28575"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100" name="Picture 4">
            <a:extLst>
              <a:ext uri="{FF2B5EF4-FFF2-40B4-BE49-F238E27FC236}">
                <a16:creationId xmlns:a16="http://schemas.microsoft.com/office/drawing/2014/main" id="{ADC28090-FB05-D1BD-12F5-E46F3C3F2E1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9857" y="1639822"/>
            <a:ext cx="11636165" cy="88180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02" name="Picture 6">
            <a:extLst>
              <a:ext uri="{FF2B5EF4-FFF2-40B4-BE49-F238E27FC236}">
                <a16:creationId xmlns:a16="http://schemas.microsoft.com/office/drawing/2014/main" id="{350E83FC-A4A5-0409-1ABF-71ED392288E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9857" y="3112770"/>
            <a:ext cx="11636165" cy="88180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21" name="Group 20">
            <a:extLst>
              <a:ext uri="{FF2B5EF4-FFF2-40B4-BE49-F238E27FC236}">
                <a16:creationId xmlns:a16="http://schemas.microsoft.com/office/drawing/2014/main" id="{1BE419FD-C983-7C93-CA72-02F1415E626D}"/>
              </a:ext>
            </a:extLst>
          </p:cNvPr>
          <p:cNvGrpSpPr/>
          <p:nvPr/>
        </p:nvGrpSpPr>
        <p:grpSpPr>
          <a:xfrm>
            <a:off x="7981122" y="3115818"/>
            <a:ext cx="3930462" cy="881803"/>
            <a:chOff x="7981122" y="3115818"/>
            <a:chExt cx="3930462" cy="881803"/>
          </a:xfrm>
        </p:grpSpPr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21DF07DA-0B90-B090-663F-42D6E0E3BD1D}"/>
                </a:ext>
              </a:extLst>
            </p:cNvPr>
            <p:cNvSpPr/>
            <p:nvPr/>
          </p:nvSpPr>
          <p:spPr>
            <a:xfrm>
              <a:off x="10908792" y="3636939"/>
              <a:ext cx="1002792" cy="360682"/>
            </a:xfrm>
            <a:prstGeom prst="rect">
              <a:avLst/>
            </a:prstGeom>
            <a:noFill/>
            <a:ln w="28575">
              <a:solidFill>
                <a:srgbClr val="00B05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48431670-3166-FC5C-13AE-BCAF9D626CA5}"/>
                </a:ext>
              </a:extLst>
            </p:cNvPr>
            <p:cNvSpPr/>
            <p:nvPr/>
          </p:nvSpPr>
          <p:spPr>
            <a:xfrm>
              <a:off x="7981122" y="3115818"/>
              <a:ext cx="1002792" cy="360682"/>
            </a:xfrm>
            <a:prstGeom prst="rect">
              <a:avLst/>
            </a:prstGeom>
            <a:noFill/>
            <a:ln w="28575">
              <a:solidFill>
                <a:schemeClr val="accent4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20" name="Group 19">
            <a:extLst>
              <a:ext uri="{FF2B5EF4-FFF2-40B4-BE49-F238E27FC236}">
                <a16:creationId xmlns:a16="http://schemas.microsoft.com/office/drawing/2014/main" id="{70E60CAA-7FA6-A260-2A59-4722F84084C8}"/>
              </a:ext>
            </a:extLst>
          </p:cNvPr>
          <p:cNvGrpSpPr/>
          <p:nvPr/>
        </p:nvGrpSpPr>
        <p:grpSpPr>
          <a:xfrm>
            <a:off x="7988808" y="1642870"/>
            <a:ext cx="3905518" cy="884426"/>
            <a:chOff x="7988808" y="1642870"/>
            <a:chExt cx="3905518" cy="884426"/>
          </a:xfrm>
        </p:grpSpPr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99815FDF-BFA6-6D0C-28DB-8BD85921B16C}"/>
                </a:ext>
              </a:extLst>
            </p:cNvPr>
            <p:cNvSpPr/>
            <p:nvPr/>
          </p:nvSpPr>
          <p:spPr>
            <a:xfrm>
              <a:off x="7988808" y="1642870"/>
              <a:ext cx="1002792" cy="360682"/>
            </a:xfrm>
            <a:prstGeom prst="rect">
              <a:avLst/>
            </a:prstGeom>
            <a:noFill/>
            <a:ln w="28575">
              <a:solidFill>
                <a:srgbClr val="00B05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7C646BC2-6D10-1EF3-5127-26817EC62282}"/>
                </a:ext>
              </a:extLst>
            </p:cNvPr>
            <p:cNvSpPr/>
            <p:nvPr/>
          </p:nvSpPr>
          <p:spPr>
            <a:xfrm>
              <a:off x="10891534" y="2166614"/>
              <a:ext cx="1002792" cy="360682"/>
            </a:xfrm>
            <a:prstGeom prst="rect">
              <a:avLst/>
            </a:prstGeom>
            <a:noFill/>
            <a:ln w="28575">
              <a:solidFill>
                <a:schemeClr val="accent4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9" name="Speech Bubble: Rectangle with Corners Rounded 18">
            <a:extLst>
              <a:ext uri="{FF2B5EF4-FFF2-40B4-BE49-F238E27FC236}">
                <a16:creationId xmlns:a16="http://schemas.microsoft.com/office/drawing/2014/main" id="{F58136A4-AB2E-9C07-2707-35CFBDF0F55C}"/>
              </a:ext>
            </a:extLst>
          </p:cNvPr>
          <p:cNvSpPr/>
          <p:nvPr/>
        </p:nvSpPr>
        <p:spPr>
          <a:xfrm>
            <a:off x="2204983" y="4433735"/>
            <a:ext cx="1863586" cy="498013"/>
          </a:xfrm>
          <a:prstGeom prst="wedgeRoundRectCallout">
            <a:avLst>
              <a:gd name="adj1" fmla="val 107607"/>
              <a:gd name="adj2" fmla="val 109439"/>
              <a:gd name="adj3" fmla="val 16667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/>
              <a:t>Triple patterns</a:t>
            </a:r>
          </a:p>
        </p:txBody>
      </p:sp>
    </p:spTree>
    <p:extLst>
      <p:ext uri="{BB962C8B-B14F-4D97-AF65-F5344CB8AC3E}">
        <p14:creationId xmlns:p14="http://schemas.microsoft.com/office/powerpoint/2010/main" val="31792868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D682A2-DFE1-4B21-BDC8-34038D18F4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 New Wrinkle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8F7F6318-0D28-972D-8718-C325E08BEC4A}"/>
              </a:ext>
            </a:extLst>
          </p:cNvPr>
          <p:cNvSpPr txBox="1">
            <a:spLocks/>
          </p:cNvSpPr>
          <p:nvPr/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John and Jane are competing in two races. </a:t>
            </a:r>
          </a:p>
          <a:p>
            <a:r>
              <a:rPr lang="en-US" dirty="0"/>
              <a:t>Winners are ordered by both </a:t>
            </a:r>
            <a:r>
              <a:rPr lang="en-US" b="1" dirty="0"/>
              <a:t>finish time </a:t>
            </a:r>
            <a:r>
              <a:rPr lang="en-US" dirty="0"/>
              <a:t>and by </a:t>
            </a:r>
            <a:r>
              <a:rPr lang="en-US" b="1" dirty="0"/>
              <a:t>1</a:t>
            </a:r>
            <a:r>
              <a:rPr lang="en-US" b="1" baseline="30000" dirty="0"/>
              <a:t>st</a:t>
            </a:r>
            <a:r>
              <a:rPr lang="en-US" b="1" dirty="0"/>
              <a:t> 10 meters time</a:t>
            </a:r>
            <a:r>
              <a:rPr lang="en-US" dirty="0"/>
              <a:t>.</a:t>
            </a:r>
          </a:p>
          <a:p>
            <a:r>
              <a:rPr lang="en-US" dirty="0">
                <a:solidFill>
                  <a:srgbClr val="1F2328"/>
                </a:solidFill>
                <a:latin typeface="-apple-system"/>
              </a:rPr>
              <a:t>There are four orderings: 2 races, 2 aspects each.</a:t>
            </a:r>
            <a:endParaRPr lang="en-US" dirty="0"/>
          </a:p>
          <a:p>
            <a:r>
              <a:rPr lang="en-US" b="1" i="0" dirty="0">
                <a:solidFill>
                  <a:srgbClr val="1F2328"/>
                </a:solidFill>
                <a:effectLst/>
                <a:latin typeface="-apple-system"/>
              </a:rPr>
              <a:t>Race 1</a:t>
            </a:r>
            <a:r>
              <a:rPr lang="en-US" b="0" i="0" dirty="0">
                <a:solidFill>
                  <a:srgbClr val="1F2328"/>
                </a:solidFill>
                <a:effectLst/>
                <a:latin typeface="-apple-system"/>
              </a:rPr>
              <a:t>: John comes in first and Jane comes in second for both aspects (finish and 1st 10m)</a:t>
            </a:r>
            <a:br>
              <a:rPr lang="en-US" dirty="0"/>
            </a:br>
            <a:r>
              <a:rPr lang="en-US" b="1" i="0" dirty="0">
                <a:solidFill>
                  <a:srgbClr val="1F2328"/>
                </a:solidFill>
                <a:effectLst/>
                <a:latin typeface="-apple-system"/>
              </a:rPr>
              <a:t>Race 2</a:t>
            </a:r>
            <a:r>
              <a:rPr lang="en-US" b="0" i="0" dirty="0">
                <a:solidFill>
                  <a:srgbClr val="1F2328"/>
                </a:solidFill>
                <a:effectLst/>
                <a:latin typeface="-apple-system"/>
              </a:rPr>
              <a:t>: For the finish time, again it is John first and Jane 2nd. But the order is reversed for the first 10m time.</a:t>
            </a:r>
          </a:p>
          <a:p>
            <a:endParaRPr lang="en-US" b="0" i="0" dirty="0">
              <a:solidFill>
                <a:srgbClr val="1F2328"/>
              </a:solidFill>
              <a:effectLst/>
              <a:latin typeface="-apple-system"/>
            </a:endParaRPr>
          </a:p>
        </p:txBody>
      </p:sp>
    </p:spTree>
    <p:extLst>
      <p:ext uri="{BB962C8B-B14F-4D97-AF65-F5344CB8AC3E}">
        <p14:creationId xmlns:p14="http://schemas.microsoft.com/office/powerpoint/2010/main" val="280312699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D682A2-DFE1-4B21-BDC8-34038D18F4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Ordered Collections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8F7F6318-0D28-972D-8718-C325E08BEC4A}"/>
              </a:ext>
            </a:extLst>
          </p:cNvPr>
          <p:cNvSpPr txBox="1">
            <a:spLocks/>
          </p:cNvSpPr>
          <p:nvPr/>
        </p:nvSpPr>
        <p:spPr>
          <a:xfrm>
            <a:off x="7715410" y="250398"/>
            <a:ext cx="4141054" cy="1962604"/>
          </a:xfrm>
          <a:prstGeom prst="rect">
            <a:avLst/>
          </a:prstGeom>
        </p:spPr>
        <p:txBody>
          <a:bodyPr vert="horz" lIns="91440" tIns="45720" rIns="91440" bIns="45720" rtlCol="0">
            <a:normAutofit fontScale="475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John and Jane are competing in two races. </a:t>
            </a:r>
          </a:p>
          <a:p>
            <a:r>
              <a:rPr lang="en-US" dirty="0"/>
              <a:t>Winners are ordered by both finish time and by 1st 10 meters time.</a:t>
            </a:r>
          </a:p>
          <a:p>
            <a:r>
              <a:rPr lang="en-US" dirty="0"/>
              <a:t>There are four orderings: 2 races, 2 aspects each.</a:t>
            </a:r>
          </a:p>
          <a:p>
            <a:r>
              <a:rPr lang="en-US" b="1" dirty="0"/>
              <a:t>Race 1</a:t>
            </a:r>
            <a:r>
              <a:rPr lang="en-US" dirty="0"/>
              <a:t>: John comes in first and Jane comes in second for both aspects (finish and 1st 10m)</a:t>
            </a:r>
            <a:br>
              <a:rPr lang="en-US" dirty="0"/>
            </a:br>
            <a:r>
              <a:rPr lang="en-US" b="1" dirty="0"/>
              <a:t>Race 2</a:t>
            </a:r>
            <a:r>
              <a:rPr lang="en-US" dirty="0"/>
              <a:t>: For the finish time, again it is John first and Jane 2nd. But the order is reversed for the first 10m time.</a:t>
            </a:r>
          </a:p>
        </p:txBody>
      </p:sp>
      <p:pic>
        <p:nvPicPr>
          <p:cNvPr id="4" name="Picture 3" descr="A diagram of a computer&#10;&#10;Description automatically generated with medium confidence">
            <a:extLst>
              <a:ext uri="{FF2B5EF4-FFF2-40B4-BE49-F238E27FC236}">
                <a16:creationId xmlns:a16="http://schemas.microsoft.com/office/drawing/2014/main" id="{E9C57FCA-0D34-0BCD-23E6-71CADC905B2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16574" y="2541065"/>
            <a:ext cx="9318130" cy="3758840"/>
          </a:xfrm>
          <a:prstGeom prst="rect">
            <a:avLst/>
          </a:prstGeom>
        </p:spPr>
      </p:pic>
      <p:sp>
        <p:nvSpPr>
          <p:cNvPr id="5" name="Speech Bubble: Rectangle with Corners Rounded 4">
            <a:extLst>
              <a:ext uri="{FF2B5EF4-FFF2-40B4-BE49-F238E27FC236}">
                <a16:creationId xmlns:a16="http://schemas.microsoft.com/office/drawing/2014/main" id="{7F1A33A0-BC7D-9B7D-751B-477E64784FB8}"/>
              </a:ext>
            </a:extLst>
          </p:cNvPr>
          <p:cNvSpPr/>
          <p:nvPr/>
        </p:nvSpPr>
        <p:spPr>
          <a:xfrm>
            <a:off x="1905769" y="4754880"/>
            <a:ext cx="1675119" cy="535620"/>
          </a:xfrm>
          <a:prstGeom prst="wedgeRoundRectCallout">
            <a:avLst>
              <a:gd name="adj1" fmla="val 106091"/>
              <a:gd name="adj2" fmla="val 73399"/>
              <a:gd name="adj3" fmla="val 16667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/>
              <a:t>More </a:t>
            </a:r>
          </a:p>
          <a:p>
            <a:pPr algn="ctr"/>
            <a:r>
              <a:rPr lang="en-US" sz="1600" dirty="0"/>
              <a:t>Triple patterns</a:t>
            </a: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53036421-DE1F-FA2D-2D83-F6191EF3A032}"/>
              </a:ext>
            </a:extLst>
          </p:cNvPr>
          <p:cNvGrpSpPr/>
          <p:nvPr/>
        </p:nvGrpSpPr>
        <p:grpSpPr>
          <a:xfrm>
            <a:off x="10689131" y="3254809"/>
            <a:ext cx="1329338" cy="533419"/>
            <a:chOff x="10689131" y="3254809"/>
            <a:chExt cx="1329338" cy="533419"/>
          </a:xfrm>
        </p:grpSpPr>
        <p:sp>
          <p:nvSpPr>
            <p:cNvPr id="7" name="Speech Bubble: Rectangle with Corners Rounded 6">
              <a:extLst>
                <a:ext uri="{FF2B5EF4-FFF2-40B4-BE49-F238E27FC236}">
                  <a16:creationId xmlns:a16="http://schemas.microsoft.com/office/drawing/2014/main" id="{8731D213-F0E0-BF04-34F7-96A0C362B071}"/>
                </a:ext>
              </a:extLst>
            </p:cNvPr>
            <p:cNvSpPr/>
            <p:nvPr/>
          </p:nvSpPr>
          <p:spPr>
            <a:xfrm>
              <a:off x="10689131" y="3254809"/>
              <a:ext cx="1329338" cy="533419"/>
            </a:xfrm>
            <a:prstGeom prst="wedgeRoundRectCallout">
              <a:avLst>
                <a:gd name="adj1" fmla="val -55760"/>
                <a:gd name="adj2" fmla="val -124481"/>
                <a:gd name="adj3" fmla="val 16667"/>
              </a:avLst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/>
                <a:t>Needs to be expanded </a:t>
              </a:r>
            </a:p>
          </p:txBody>
        </p:sp>
        <p:sp>
          <p:nvSpPr>
            <p:cNvPr id="8" name="Speech Bubble: Rectangle with Corners Rounded 7">
              <a:extLst>
                <a:ext uri="{FF2B5EF4-FFF2-40B4-BE49-F238E27FC236}">
                  <a16:creationId xmlns:a16="http://schemas.microsoft.com/office/drawing/2014/main" id="{A3400136-20BA-6B61-0F8D-223D705EA6E7}"/>
                </a:ext>
              </a:extLst>
            </p:cNvPr>
            <p:cNvSpPr/>
            <p:nvPr/>
          </p:nvSpPr>
          <p:spPr>
            <a:xfrm>
              <a:off x="10689131" y="3254809"/>
              <a:ext cx="1329338" cy="533419"/>
            </a:xfrm>
            <a:prstGeom prst="wedgeRoundRectCallout">
              <a:avLst>
                <a:gd name="adj1" fmla="val -55043"/>
                <a:gd name="adj2" fmla="val 238005"/>
                <a:gd name="adj3" fmla="val 16667"/>
              </a:avLst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/>
                <a:t>From before</a:t>
              </a:r>
            </a:p>
          </p:txBody>
        </p:sp>
      </p:grpSp>
      <p:sp>
        <p:nvSpPr>
          <p:cNvPr id="11" name="TextBox 10">
            <a:extLst>
              <a:ext uri="{FF2B5EF4-FFF2-40B4-BE49-F238E27FC236}">
                <a16:creationId xmlns:a16="http://schemas.microsoft.com/office/drawing/2014/main" id="{C157F37A-6FD0-DE81-33FF-F14D93489358}"/>
              </a:ext>
            </a:extLst>
          </p:cNvPr>
          <p:cNvSpPr txBox="1"/>
          <p:nvPr/>
        </p:nvSpPr>
        <p:spPr>
          <a:xfrm>
            <a:off x="838200" y="1628680"/>
            <a:ext cx="431800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>
                <a:solidFill>
                  <a:srgbClr val="1F2328"/>
                </a:solidFill>
                <a:latin typeface="-apple-system"/>
              </a:rPr>
              <a:t>Two orderings collapse into one, </a:t>
            </a:r>
          </a:p>
          <a:p>
            <a:r>
              <a:rPr lang="en-US" sz="2000" dirty="0">
                <a:solidFill>
                  <a:srgbClr val="1F2328"/>
                </a:solidFill>
                <a:latin typeface="-apple-system"/>
              </a:rPr>
              <a:t>same people, same order, same aspect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38611357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DB2C38-B260-73A8-94AB-5514CE7DD3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Combined Triple Patterns</a:t>
            </a:r>
          </a:p>
        </p:txBody>
      </p:sp>
      <p:pic>
        <p:nvPicPr>
          <p:cNvPr id="5122" name="Picture 2">
            <a:extLst>
              <a:ext uri="{FF2B5EF4-FFF2-40B4-BE49-F238E27FC236}">
                <a16:creationId xmlns:a16="http://schemas.microsoft.com/office/drawing/2014/main" id="{85DDD98F-B5C0-9338-2CE0-12B36906091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3254" y="2250440"/>
            <a:ext cx="10225492" cy="305530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9032869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DB2C38-B260-73A8-94AB-5514CE7DD3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Conventions – Suggestions and Questions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C9C1BF3-57EA-B4C5-0C7B-AD7191A60DA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US" dirty="0"/>
              <a:t>Separate folder for examples</a:t>
            </a:r>
          </a:p>
          <a:p>
            <a:r>
              <a:rPr lang="en-US" dirty="0"/>
              <a:t>File naming convention</a:t>
            </a:r>
          </a:p>
          <a:p>
            <a:pPr lvl="1"/>
            <a:r>
              <a:rPr lang="en-US" dirty="0" err="1"/>
              <a:t>examplesProductSpec.ttl</a:t>
            </a:r>
            <a:endParaRPr lang="en-US" dirty="0"/>
          </a:p>
          <a:p>
            <a:pPr lvl="1"/>
            <a:r>
              <a:rPr lang="en-US" dirty="0" err="1"/>
              <a:t>examplesVersionDependency.ttl</a:t>
            </a:r>
            <a:endParaRPr lang="en-US" dirty="0"/>
          </a:p>
          <a:p>
            <a:pPr lvl="1"/>
            <a:r>
              <a:rPr lang="en-US" dirty="0" err="1"/>
              <a:t>gistExamplesOrderedCollections.ttl</a:t>
            </a:r>
            <a:endParaRPr lang="en-US" dirty="0"/>
          </a:p>
          <a:p>
            <a:r>
              <a:rPr lang="en-US" dirty="0"/>
              <a:t>Show triple patterns as well as data examples</a:t>
            </a:r>
          </a:p>
          <a:p>
            <a:r>
              <a:rPr lang="en-US" dirty="0"/>
              <a:t>Namespaces: </a:t>
            </a:r>
          </a:p>
          <a:p>
            <a:pPr lvl="1"/>
            <a:r>
              <a:rPr lang="en-US" dirty="0"/>
              <a:t>ex: &lt;http://example.com/examples/&gt; </a:t>
            </a:r>
          </a:p>
          <a:p>
            <a:r>
              <a:rPr lang="en-US" dirty="0"/>
              <a:t>Do we need to explicitly import gist?</a:t>
            </a:r>
          </a:p>
          <a:p>
            <a:r>
              <a:rPr lang="en-US" dirty="0"/>
              <a:t>What about stand-alone ontologies like operators and versioning. </a:t>
            </a:r>
          </a:p>
          <a:p>
            <a:pPr lvl="1"/>
            <a:r>
              <a:rPr lang="en-US" dirty="0"/>
              <a:t>will not import gist</a:t>
            </a:r>
          </a:p>
          <a:p>
            <a:pPr lvl="1"/>
            <a:r>
              <a:rPr lang="en-US" dirty="0"/>
              <a:t>will recreate some gist concepts in ex: namespace</a:t>
            </a:r>
          </a:p>
          <a:p>
            <a:pPr lvl="2"/>
            <a:r>
              <a:rPr lang="en-US" dirty="0" err="1"/>
              <a:t>ex:Magnitude</a:t>
            </a:r>
            <a:r>
              <a:rPr lang="en-US" dirty="0"/>
              <a:t> &amp; </a:t>
            </a:r>
            <a:r>
              <a:rPr lang="en-US" dirty="0" err="1"/>
              <a:t>ex:Aspect</a:t>
            </a:r>
            <a:endParaRPr lang="en-US" dirty="0"/>
          </a:p>
          <a:p>
            <a:pPr lvl="2"/>
            <a:r>
              <a:rPr lang="en-US" dirty="0" err="1"/>
              <a:t>ex:hasUnitOfMeasure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683703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D3A8F6-7076-3BBC-2F9D-801A699DA4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Product Spec Examples in Protege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41EEF1B4-2D6B-E12F-35BB-3681311CE3C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919714" y="1781175"/>
            <a:ext cx="8895686" cy="2838450"/>
          </a:xfrm>
        </p:spPr>
      </p:pic>
    </p:spTree>
    <p:extLst>
      <p:ext uri="{BB962C8B-B14F-4D97-AF65-F5344CB8AC3E}">
        <p14:creationId xmlns:p14="http://schemas.microsoft.com/office/powerpoint/2010/main" val="46712416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95CE03-CDCE-6603-68B4-A8B7A79204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Gist Examples – Class Perspective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97E0DD-8036-E763-2BD9-D0BD589FCFE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numCol="2">
            <a:normAutofit/>
          </a:bodyPr>
          <a:lstStyle/>
          <a:p>
            <a:r>
              <a:rPr lang="en-US" dirty="0"/>
              <a:t>Identifiers</a:t>
            </a:r>
          </a:p>
          <a:p>
            <a:r>
              <a:rPr lang="en-US" dirty="0"/>
              <a:t>Category / Class pattern</a:t>
            </a:r>
          </a:p>
          <a:p>
            <a:r>
              <a:rPr lang="en-US" dirty="0"/>
              <a:t>Taxonomies of Categories </a:t>
            </a:r>
          </a:p>
          <a:p>
            <a:r>
              <a:rPr lang="en-US" dirty="0"/>
              <a:t>Unit and Magnitudes </a:t>
            </a:r>
          </a:p>
          <a:p>
            <a:r>
              <a:rPr lang="en-US" dirty="0"/>
              <a:t>Aspect &amp; Specifications</a:t>
            </a:r>
          </a:p>
          <a:p>
            <a:r>
              <a:rPr lang="en-US" dirty="0"/>
              <a:t>Addresses</a:t>
            </a:r>
          </a:p>
          <a:p>
            <a:r>
              <a:rPr lang="en-US" dirty="0"/>
              <a:t>Content: authoring, date published, topic etc.</a:t>
            </a:r>
          </a:p>
          <a:p>
            <a:r>
              <a:rPr lang="en-US" dirty="0"/>
              <a:t>Sensors / Controllers / Actuator</a:t>
            </a:r>
          </a:p>
          <a:p>
            <a:r>
              <a:rPr lang="en-US" dirty="0"/>
              <a:t>Geo stuff / occupies</a:t>
            </a:r>
          </a:p>
          <a:p>
            <a:r>
              <a:rPr lang="en-US" dirty="0"/>
              <a:t>Collections &amp; </a:t>
            </a:r>
            <a:r>
              <a:rPr lang="en-US" dirty="0" err="1"/>
              <a:t>ORderedCollections</a:t>
            </a:r>
            <a:endParaRPr lang="en-US" dirty="0"/>
          </a:p>
          <a:p>
            <a:r>
              <a:rPr lang="en-US" dirty="0"/>
              <a:t>Commitments, Contracts &amp; Obligations</a:t>
            </a:r>
          </a:p>
          <a:p>
            <a:r>
              <a:rPr lang="en-US" dirty="0"/>
              <a:t>Accounts and Transactions </a:t>
            </a:r>
          </a:p>
          <a:p>
            <a:r>
              <a:rPr lang="en-US" dirty="0"/>
              <a:t>Events</a:t>
            </a:r>
          </a:p>
          <a:p>
            <a:r>
              <a:rPr lang="en-US" dirty="0"/>
              <a:t>Temporal Relations</a:t>
            </a:r>
          </a:p>
        </p:txBody>
      </p:sp>
    </p:spTree>
    <p:extLst>
      <p:ext uri="{BB962C8B-B14F-4D97-AF65-F5344CB8AC3E}">
        <p14:creationId xmlns:p14="http://schemas.microsoft.com/office/powerpoint/2010/main" val="344375112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95CE03-CDCE-6603-68B4-A8B7A79204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Gist Examples – Property Perspective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97E0DD-8036-E763-2BD9-D0BD589FCFE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numCol="2">
            <a:normAutofit/>
          </a:bodyPr>
          <a:lstStyle/>
          <a:p>
            <a:r>
              <a:rPr lang="en-US" dirty="0" err="1"/>
              <a:t>comesFrom</a:t>
            </a:r>
            <a:r>
              <a:rPr lang="en-US" dirty="0"/>
              <a:t>/</a:t>
            </a:r>
            <a:r>
              <a:rPr lang="en-US" dirty="0" err="1"/>
              <a:t>goesTo</a:t>
            </a:r>
            <a:r>
              <a:rPr lang="en-US" dirty="0"/>
              <a:t> place</a:t>
            </a:r>
          </a:p>
          <a:p>
            <a:r>
              <a:rPr lang="en-US" dirty="0" err="1"/>
              <a:t>conformsTo</a:t>
            </a:r>
            <a:endParaRPr lang="en-US" dirty="0"/>
          </a:p>
          <a:p>
            <a:r>
              <a:rPr lang="en-US" dirty="0" err="1"/>
              <a:t>contributesTo</a:t>
            </a:r>
            <a:endParaRPr lang="en-US" dirty="0"/>
          </a:p>
          <a:p>
            <a:r>
              <a:rPr lang="en-US" dirty="0" err="1"/>
              <a:t>hasPart</a:t>
            </a:r>
            <a:endParaRPr lang="en-US" dirty="0"/>
          </a:p>
          <a:p>
            <a:r>
              <a:rPr lang="en-US" dirty="0" err="1"/>
              <a:t>hasParticipant</a:t>
            </a:r>
            <a:endParaRPr lang="en-US" dirty="0"/>
          </a:p>
          <a:p>
            <a:r>
              <a:rPr lang="en-US" dirty="0" err="1"/>
              <a:t>hasPhysicalLocation</a:t>
            </a:r>
            <a:endParaRPr lang="en-US" dirty="0"/>
          </a:p>
          <a:p>
            <a:r>
              <a:rPr lang="en-US" dirty="0" err="1"/>
              <a:t>isAbout</a:t>
            </a:r>
            <a:endParaRPr lang="en-US" dirty="0"/>
          </a:p>
          <a:p>
            <a:r>
              <a:rPr lang="en-US" dirty="0" err="1"/>
              <a:t>isBasedOn</a:t>
            </a:r>
            <a:endParaRPr lang="en-US" dirty="0"/>
          </a:p>
          <a:p>
            <a:r>
              <a:rPr lang="en-US" dirty="0" err="1"/>
              <a:t>occursIn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6843409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466</TotalTime>
  <Words>568</Words>
  <Application>Microsoft Office PowerPoint</Application>
  <PresentationFormat>Widescreen</PresentationFormat>
  <Paragraphs>90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1" baseType="lpstr">
      <vt:lpstr>-apple-system</vt:lpstr>
      <vt:lpstr>Arial</vt:lpstr>
      <vt:lpstr>Calibri</vt:lpstr>
      <vt:lpstr>Calibri Light</vt:lpstr>
      <vt:lpstr>Office Theme</vt:lpstr>
      <vt:lpstr>Ontology Examples</vt:lpstr>
      <vt:lpstr>Motivation </vt:lpstr>
      <vt:lpstr>Example Examples: Operators Ontology</vt:lpstr>
      <vt:lpstr>Product Specifications </vt:lpstr>
      <vt:lpstr>Version Dependencies </vt:lpstr>
      <vt:lpstr>Version Dependencies </vt:lpstr>
      <vt:lpstr>Ordered Collections</vt:lpstr>
      <vt:lpstr>Two Ordered Collections (as Arrays)</vt:lpstr>
      <vt:lpstr>Two Ordered Collections (as Linked Lists)</vt:lpstr>
      <vt:lpstr>A New Wrinkle</vt:lpstr>
      <vt:lpstr>Ordered Collections</vt:lpstr>
      <vt:lpstr>Combined Triple Patterns</vt:lpstr>
      <vt:lpstr>Conventions – Suggestions and Questions </vt:lpstr>
      <vt:lpstr>Product Spec Examples in Protege</vt:lpstr>
      <vt:lpstr>Gist Examples – Class Perspective </vt:lpstr>
      <vt:lpstr>Gist Examples – Property Perspective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Ontology Examples</dc:title>
  <dc:creator>Michael Uschold</dc:creator>
  <cp:lastModifiedBy>Michael Uschold</cp:lastModifiedBy>
  <cp:revision>3</cp:revision>
  <dcterms:created xsi:type="dcterms:W3CDTF">2023-09-19T14:42:23Z</dcterms:created>
  <dcterms:modified xsi:type="dcterms:W3CDTF">2023-09-19T22:28:43Z</dcterms:modified>
</cp:coreProperties>
</file>